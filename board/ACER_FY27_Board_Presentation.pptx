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A4A9"/>
              </a:solidFill>
              <a:effectLst/>
            </c:spPr>
          </c:dPt>
          <c:dPt>
            <c:idx val="1"/>
            <c:bubble3D val="0"/>
            <c:spPr>
              <a:solidFill>
                <a:srgbClr val="CBA85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FD interest</c:v>
                </c:pt>
                <c:pt idx="1">
                  <c:v>Ratings revenue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953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37E83"/>
              </a:solidFill>
              <a:effectLst/>
            </c:spPr>
          </c:dPt>
          <c:dPt>
            <c:idx val="1"/>
            <c:bubble3D val="0"/>
            <c:spPr>
              <a:solidFill>
                <a:srgbClr val="3AA4A9"/>
              </a:solidFill>
              <a:effectLst/>
            </c:spPr>
          </c:dPt>
          <c:dPt>
            <c:idx val="2"/>
            <c:bubble3D val="0"/>
            <c:spPr>
              <a:solidFill>
                <a:srgbClr val="6FC0C4"/>
              </a:solidFill>
              <a:effectLst/>
            </c:spPr>
          </c:dPt>
          <c:dPt>
            <c:idx val="3"/>
            <c:bubble3D val="0"/>
            <c:spPr>
              <a:solidFill>
                <a:srgbClr val="9AD3D5"/>
              </a:solidFill>
              <a:effectLst/>
            </c:spPr>
          </c:dPt>
          <c:dPt>
            <c:idx val="4"/>
            <c:bubble3D val="0"/>
            <c:spPr>
              <a:solidFill>
                <a:srgbClr val="CBA85C"/>
              </a:solidFill>
              <a:effectLst/>
            </c:spPr>
          </c:dPt>
          <c:dPt>
            <c:idx val="5"/>
            <c:bubble3D val="0"/>
            <c:spPr>
              <a:solidFill>
                <a:srgbClr val="C9B98A"/>
              </a:solidFill>
              <a:effectLst/>
            </c:spPr>
          </c:dPt>
          <c:dPt>
            <c:idx val="6"/>
            <c:bubble3D val="0"/>
            <c:spPr>
              <a:solidFill>
                <a:srgbClr val="D98A2B"/>
              </a:solidFill>
              <a:effectLst/>
            </c:spPr>
          </c:dPt>
          <c:dPt>
            <c:idx val="7"/>
            <c:bubble3D val="0"/>
            <c:spPr>
              <a:solidFill>
                <a:srgbClr val="C4D2D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Payroll</c:v>
                </c:pt>
                <c:pt idx="1">
                  <c:v>Facilities</c:v>
                </c:pt>
                <c:pt idx="2">
                  <c:v>Professional</c:v>
                </c:pt>
                <c:pt idx="3">
                  <c:v>Board fees</c:v>
                </c:pt>
                <c:pt idx="4">
                  <c:v>Technology</c:v>
                </c:pt>
                <c:pt idx="5">
                  <c:v>Admin</c:v>
                </c:pt>
                <c:pt idx="6">
                  <c:v>Travel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60.9</c:v>
                </c:pt>
                <c:pt idx="1">
                  <c:v>15.3</c:v>
                </c:pt>
                <c:pt idx="2">
                  <c:v>4.9</c:v>
                </c:pt>
                <c:pt idx="3">
                  <c:v>4.5</c:v>
                </c:pt>
                <c:pt idx="4">
                  <c:v>4.2</c:v>
                </c:pt>
                <c:pt idx="5">
                  <c:v>4.2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3953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 Cr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Non-BLR income</c:v>
                  </c:pt>
                  <c:pt idx="1">
                    <c:v>Cost base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2.47</c:v>
                </c:pt>
                <c:pt idx="1">
                  <c:v>5.27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 Cr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A4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C0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37E8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Initial fees / yr</c:v>
                  </c:pt>
                  <c:pt idx="1">
                    <c:v>Surveillance / yr</c:v>
                  </c:pt>
                  <c:pt idx="2">
                    <c:v>Full run-rate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5.76</c:v>
                </c:pt>
                <c:pt idx="1">
                  <c:v>2.88</c:v>
                </c:pt>
                <c:pt idx="2">
                  <c:v>8.64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DC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FY27 net</c:v>
                </c:pt>
              </c:strCache>
            </c:strRef>
          </c:tx>
          <c:spPr>
            <a:solidFill>
              <a:srgbClr val="CBA8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  BLR by Oct</c:v>
                  </c:pt>
                  <c:pt idx="1">
                    <c:v>S2  BLR by Jan</c:v>
                  </c:pt>
                  <c:pt idx="2">
                    <c:v>S3  No BLR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-0.93</c:v>
                </c:pt>
                <c:pt idx="1">
                  <c:v>-2.29</c:v>
                </c:pt>
                <c:pt idx="2">
                  <c:v>-2.8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FY28 net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  BLR by Oct</c:v>
                  </c:pt>
                  <c:pt idx="1">
                    <c:v>S2  BLR by Jan</c:v>
                  </c:pt>
                  <c:pt idx="2">
                    <c:v>S3  No BLR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5.36</c:v>
                </c:pt>
                <c:pt idx="1">
                  <c:v>4.4</c:v>
                </c:pt>
                <c:pt idx="2">
                  <c:v>-2.8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4"/>
        </c:scaling>
        <c:delete val="0"/>
        <c:axPos val="l"/>
        <c:majorGridlines>
          <c:spPr>
            <a:ln w="12700" cap="flat">
              <a:solidFill>
                <a:srgbClr val="DC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953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income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20.6</c:v>
                </c:pt>
                <c:pt idx="1">
                  <c:v>20.6</c:v>
                </c:pt>
                <c:pt idx="2">
                  <c:v>20.6</c:v>
                </c:pt>
                <c:pt idx="3">
                  <c:v>20.6</c:v>
                </c:pt>
                <c:pt idx="4">
                  <c:v>20.6</c:v>
                </c:pt>
                <c:pt idx="5">
                  <c:v>20.6</c:v>
                </c:pt>
                <c:pt idx="6">
                  <c:v>28.9</c:v>
                </c:pt>
                <c:pt idx="7">
                  <c:v>37.6</c:v>
                </c:pt>
                <c:pt idx="8">
                  <c:v>46.6</c:v>
                </c:pt>
                <c:pt idx="9">
                  <c:v>55.9</c:v>
                </c:pt>
                <c:pt idx="10">
                  <c:v>65.6</c:v>
                </c:pt>
                <c:pt idx="11">
                  <c:v>75.6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Monthly expense</c:v>
                </c:pt>
              </c:strCache>
            </c:strRef>
          </c:tx>
          <c:spPr>
            <a:solidFill>
              <a:srgbClr val="CE5B47"/>
            </a:solidFill>
            <a:ln w="31750" cap="flat">
              <a:solidFill>
                <a:srgbClr val="CE5B47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E5B47"/>
              </a:solidFill>
              <a:ln w="9525" cap="flat">
                <a:solidFill>
                  <a:srgbClr val="CE5B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43.9</c:v>
                </c:pt>
                <c:pt idx="1">
                  <c:v>43.9</c:v>
                </c:pt>
                <c:pt idx="2">
                  <c:v>43.9</c:v>
                </c:pt>
                <c:pt idx="3">
                  <c:v>43.9</c:v>
                </c:pt>
                <c:pt idx="4">
                  <c:v>43.9</c:v>
                </c:pt>
                <c:pt idx="5">
                  <c:v>43.9</c:v>
                </c:pt>
                <c:pt idx="6">
                  <c:v>43.9</c:v>
                </c:pt>
                <c:pt idx="7">
                  <c:v>43.9</c:v>
                </c:pt>
                <c:pt idx="8">
                  <c:v>43.9</c:v>
                </c:pt>
                <c:pt idx="9">
                  <c:v>43.9</c:v>
                </c:pt>
                <c:pt idx="10">
                  <c:v>43.9</c:v>
                </c:pt>
                <c:pt idx="11">
                  <c:v>43.9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DC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C918E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7C918E"/>
                    </a:solidFill>
                    <a:latin typeface="Calibri"/>
                  </a:rPr>
                  <a:t>Rs Lakh per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953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income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20.6</c:v>
                </c:pt>
                <c:pt idx="1">
                  <c:v>20.6</c:v>
                </c:pt>
                <c:pt idx="2">
                  <c:v>20.6</c:v>
                </c:pt>
                <c:pt idx="3">
                  <c:v>20.6</c:v>
                </c:pt>
                <c:pt idx="4">
                  <c:v>20.6</c:v>
                </c:pt>
                <c:pt idx="5">
                  <c:v>20.6</c:v>
                </c:pt>
                <c:pt idx="6">
                  <c:v>20.6</c:v>
                </c:pt>
                <c:pt idx="7">
                  <c:v>20.6</c:v>
                </c:pt>
                <c:pt idx="8">
                  <c:v>20.6</c:v>
                </c:pt>
                <c:pt idx="9">
                  <c:v>28.9</c:v>
                </c:pt>
                <c:pt idx="10">
                  <c:v>37.6</c:v>
                </c:pt>
                <c:pt idx="11">
                  <c:v>46.6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Monthly expense</c:v>
                </c:pt>
              </c:strCache>
            </c:strRef>
          </c:tx>
          <c:spPr>
            <a:solidFill>
              <a:srgbClr val="CE5B47"/>
            </a:solidFill>
            <a:ln w="31750" cap="flat">
              <a:solidFill>
                <a:srgbClr val="CE5B47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E5B47"/>
              </a:solidFill>
              <a:ln w="9525" cap="flat">
                <a:solidFill>
                  <a:srgbClr val="CE5B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43.9</c:v>
                </c:pt>
                <c:pt idx="1">
                  <c:v>43.9</c:v>
                </c:pt>
                <c:pt idx="2">
                  <c:v>43.9</c:v>
                </c:pt>
                <c:pt idx="3">
                  <c:v>43.9</c:v>
                </c:pt>
                <c:pt idx="4">
                  <c:v>43.9</c:v>
                </c:pt>
                <c:pt idx="5">
                  <c:v>43.9</c:v>
                </c:pt>
                <c:pt idx="6">
                  <c:v>43.9</c:v>
                </c:pt>
                <c:pt idx="7">
                  <c:v>43.9</c:v>
                </c:pt>
                <c:pt idx="8">
                  <c:v>43.9</c:v>
                </c:pt>
                <c:pt idx="9">
                  <c:v>43.9</c:v>
                </c:pt>
                <c:pt idx="10">
                  <c:v>43.9</c:v>
                </c:pt>
                <c:pt idx="11">
                  <c:v>43.9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DC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C918E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7C918E"/>
                    </a:solidFill>
                    <a:latin typeface="Calibri"/>
                  </a:rPr>
                  <a:t>Rs Lakh per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953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income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20.6</c:v>
                </c:pt>
                <c:pt idx="1">
                  <c:v>20.6</c:v>
                </c:pt>
                <c:pt idx="2">
                  <c:v>20.6</c:v>
                </c:pt>
                <c:pt idx="3">
                  <c:v>20.6</c:v>
                </c:pt>
                <c:pt idx="4">
                  <c:v>20.6</c:v>
                </c:pt>
                <c:pt idx="5">
                  <c:v>20.6</c:v>
                </c:pt>
                <c:pt idx="6">
                  <c:v>20.6</c:v>
                </c:pt>
                <c:pt idx="7">
                  <c:v>20.6</c:v>
                </c:pt>
                <c:pt idx="8">
                  <c:v>20.6</c:v>
                </c:pt>
                <c:pt idx="9">
                  <c:v>20.6</c:v>
                </c:pt>
                <c:pt idx="10">
                  <c:v>20.6</c:v>
                </c:pt>
                <c:pt idx="11">
                  <c:v>20.6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Monthly expense</c:v>
                </c:pt>
              </c:strCache>
            </c:strRef>
          </c:tx>
          <c:spPr>
            <a:solidFill>
              <a:srgbClr val="CE5B47"/>
            </a:solidFill>
            <a:ln w="31750" cap="flat">
              <a:solidFill>
                <a:srgbClr val="CE5B47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E5B47"/>
              </a:solidFill>
              <a:ln w="9525" cap="flat">
                <a:solidFill>
                  <a:srgbClr val="CE5B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43.9</c:v>
                </c:pt>
                <c:pt idx="1">
                  <c:v>43.9</c:v>
                </c:pt>
                <c:pt idx="2">
                  <c:v>43.9</c:v>
                </c:pt>
                <c:pt idx="3">
                  <c:v>43.9</c:v>
                </c:pt>
                <c:pt idx="4">
                  <c:v>43.9</c:v>
                </c:pt>
                <c:pt idx="5">
                  <c:v>43.9</c:v>
                </c:pt>
                <c:pt idx="6">
                  <c:v>43.9</c:v>
                </c:pt>
                <c:pt idx="7">
                  <c:v>43.9</c:v>
                </c:pt>
                <c:pt idx="8">
                  <c:v>43.9</c:v>
                </c:pt>
                <c:pt idx="9">
                  <c:v>43.9</c:v>
                </c:pt>
                <c:pt idx="10">
                  <c:v>43.9</c:v>
                </c:pt>
                <c:pt idx="11">
                  <c:v>43.9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DC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C918E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7C918E"/>
                    </a:solidFill>
                    <a:latin typeface="Calibri"/>
                  </a:rPr>
                  <a:t>Rs Lakh per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953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-0.7</c:v>
                </c:pt>
                <c:pt idx="1">
                  <c:v>-0.7</c:v>
                </c:pt>
                <c:pt idx="2">
                  <c:v>-0.19</c:v>
                </c:pt>
                <c:pt idx="3">
                  <c:v>0.65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l"/>
        <c:majorGridlines>
          <c:spPr>
            <a:ln w="12700" cap="flat">
              <a:solidFill>
                <a:srgbClr val="DC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Corpus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37E83"/>
              </a:solidFill>
              <a:effectLst/>
            </c:spPr>
          </c:dPt>
          <c:dPt>
            <c:idx val="1"/>
            <c:bubble3D val="0"/>
            <c:spPr>
              <a:solidFill>
                <a:srgbClr val="3AA4A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Locked, SEBI net worth</c:v>
                </c:pt>
                <c:pt idx="1">
                  <c:v>Other liquid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25</c:v>
                </c:pt>
                <c:pt idx="1">
                  <c:v>1.1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953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 Cr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0.08</c:v>
                </c:pt>
                <c:pt idx="1">
                  <c:v>3.85</c:v>
                </c:pt>
                <c:pt idx="2">
                  <c:v>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12700" cap="flat">
              <a:solidFill>
                <a:srgbClr val="DC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 Cr</c:v>
                </c:pt>
              </c:strCache>
            </c:strRef>
          </c:tx>
          <c:spPr>
            <a:solidFill>
              <a:srgbClr val="3AA4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1328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CRISIL</c:v>
                  </c:pt>
                  <c:pt idx="1">
                    <c:v>CARE</c:v>
                  </c:pt>
                  <c:pt idx="2">
                    <c:v>ICRA</c:v>
                  </c:pt>
                  <c:pt idx="3">
                    <c:v>India Ratings</c:v>
                  </c:pt>
                  <c:pt idx="4">
                    <c:v>Infomerics</c:v>
                  </c:pt>
                  <c:pt idx="5">
                    <c:v>Acuite</c:v>
                  </c:pt>
                  <c:pt idx="6">
                    <c:v>Brickwork</c:v>
                  </c:pt>
                  <c:pt idx="7">
                    <c:v>ACER FY28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1078.7</c:v>
                </c:pt>
                <c:pt idx="1">
                  <c:v>423</c:v>
                </c:pt>
                <c:pt idx="2">
                  <c:v>340</c:v>
                </c:pt>
                <c:pt idx="3">
                  <c:v>250.9</c:v>
                </c:pt>
                <c:pt idx="4">
                  <c:v>95.3</c:v>
                </c:pt>
                <c:pt idx="5">
                  <c:v>57.3</c:v>
                </c:pt>
                <c:pt idx="6">
                  <c:v>5.9</c:v>
                </c:pt>
                <c:pt idx="7">
                  <c:v>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50" u="none">
                  <a:solidFill>
                    <a:srgbClr val="1328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CE8E7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953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91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8A2B"/>
              </a:solidFill>
              <a:effectLst/>
            </c:spPr>
          </c:dPt>
          <c:dPt>
            <c:idx val="1"/>
            <c:bubble3D val="0"/>
            <c:spPr>
              <a:solidFill>
                <a:srgbClr val="E4ECE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13282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ACER, 1.9%</c:v>
                </c:pt>
                <c:pt idx="1">
                  <c:v>Rest of issuance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1.9</c:v>
                </c:pt>
                <c:pt idx="1">
                  <c:v>98.1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953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solvency is secure on the 26 Cr corpus. The question for the board is operational self-sufficiency, and BLR timing is the swing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ANNUAL OPERATING PLAN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874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FD-interest treasury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Bank Loan Rating franchise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case for an investment year, and the single licence that decides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 Cr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5285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corpus, 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28416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5.27 Cr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328416" y="5285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cost base, 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89904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Cr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89904" y="5285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rateable per month, 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51392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26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851392" y="5285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break-even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Pvt. Ltd.   ·   Apr 2026 to Mar 2027   ·   Board Presentation   ·  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earn like a treasury, not yet a rating agency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26.1 Cr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22951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Fixed-deposit corpus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34381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FY26 income was FD interest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 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45811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ratings revenue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28.5 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" y="57241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Q1 ratings, 3.5x all of FY26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1737360"/>
            <a:ext cx="74980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income mix</a:t>
            </a:r>
            <a:endParaRPr lang="en-US" sz="15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297680" y="228600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8595360" y="274320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throws off about Rs 1.5 Cr a year of interest.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interest, not the rating operation, is what keeps the lights on today. The plan is to change which engine pays the bills.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management accounts, FY26 and FY27 to 21-Jul-2026.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gap of Rs 2.80 Cr, this is the job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cost composition, share of spend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2286000"/>
          <a:ext cx="52120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2.47 Cr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0" y="2340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Non-BLR income per year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5.27 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144000" y="2340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cost base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0" y="3017520"/>
            <a:ext cx="5212080" cy="288036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2940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cost, Rs Cr</a:t>
            </a:r>
            <a:endParaRPr lang="en-US" sz="13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6537960" y="3429000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6400800" y="5532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close: Rs 2.80 Cr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management accounts, FY27 to 21-Jul-2026. Payroll run-rate about Rs 3.95 Cr per year.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licence turns idle capital into an operating engine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71672" cy="2148840"/>
          </a:xfrm>
          <a:prstGeom prst="roundRect">
            <a:avLst>
              <a:gd name="adj" fmla="val 3830"/>
            </a:avLst>
          </a:prstGeom>
          <a:solidFill>
            <a:srgbClr val="E9F5F4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029968"/>
            <a:ext cx="301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487168"/>
            <a:ext cx="30144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Ratings, via RBI ECAI accreditation. Every bank borrower is a candidate, a far larger pool than bonds alone.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8640" y="1828800"/>
            <a:ext cx="347167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87240" y="2029968"/>
            <a:ext cx="301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ACER wins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7240" y="2487168"/>
            <a:ext cx="30144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3 bps pricing, faster turnaround, and real demand for a credible second rating open the door for a new CRA.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0352" y="1828800"/>
            <a:ext cx="347167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78952" y="2029968"/>
            <a:ext cx="301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annuity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78952" y="2487168"/>
            <a:ext cx="30144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rating is billed once up front, then earns a surveillance fee every year it stays live. The book compounds.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297680"/>
            <a:ext cx="11055096" cy="1600200"/>
          </a:xfrm>
          <a:prstGeom prst="roundRect">
            <a:avLst>
              <a:gd name="adj" fmla="val 5143"/>
            </a:avLst>
          </a:prstGeom>
          <a:solidFill>
            <a:srgbClr val="123B3E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526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6968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per month, 4 BDs x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48456" y="4526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1,600 Cr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48456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rated per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9944" y="4526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19,200 Cr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9944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rated per year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71432" y="4526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bps + 1.5 bps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71432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fee, then annual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fee parameters are management assumptions, not booked revenue.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Rs 100 Cr ticket earns fees now, and every year after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3.0 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2340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fee per ticket, 3 bps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1.5 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3483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surveillance, 1.5 bps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48 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4626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fees per month at capacity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0" y="1783080"/>
            <a:ext cx="7772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full run-rate, Rs Cr</a:t>
            </a:r>
            <a:endParaRPr lang="en-US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977640" y="2331720"/>
          <a:ext cx="7406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16 cases per month of Rs 100 Cr. Surveillance shown at one full year of book; it compounds as the book grows.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AND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BLR timing alone decides whether FY27 breaks even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7665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P&amp;L by scenario, Rs Cr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4088" y="2331720"/>
          <a:ext cx="6492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78308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E9F5F4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0" y="2039112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6"/>
          <p:cNvSpPr/>
          <p:nvPr/>
        </p:nvSpPr>
        <p:spPr>
          <a:xfrm>
            <a:off x="8110728" y="19659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BLR by 1 October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10728" y="23500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December 2026 · FY28 +Rs 5.36 Cr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35240" y="320040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F4FAF9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0" y="3456432"/>
            <a:ext cx="146304" cy="14630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3" name="Text 10"/>
          <p:cNvSpPr/>
          <p:nvPr/>
        </p:nvSpPr>
        <p:spPr>
          <a:xfrm>
            <a:off x="8110728" y="33832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BLR by 1 January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10728" y="37673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March 2027 · FY28 +Rs 4.40 Cr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461772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F4FAF9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63840" y="4873752"/>
            <a:ext cx="146304" cy="146304"/>
          </a:xfrm>
          <a:prstGeom prst="ellipse">
            <a:avLst/>
          </a:prstGeom>
          <a:solidFill>
            <a:srgbClr val="CE5B47"/>
          </a:solidFill>
          <a:ln/>
        </p:spPr>
      </p:sp>
      <p:sp>
        <p:nvSpPr>
          <p:cNvPr id="17" name="Text 14"/>
          <p:cNvSpPr/>
          <p:nvPr/>
        </p:nvSpPr>
        <p:spPr>
          <a:xfrm>
            <a:off x="8110728" y="48006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No BLR this year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110728" y="51846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break-even · funded from reserves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16-case capacity assumed from go-live, ramping over 6 months. Cost and non-BLR income held flat.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BREAK-EVEN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 BLR live by October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5096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01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crosses the Rs 43.9 L monthly cost line in December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49808" y="2331720"/>
          <a:ext cx="105156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57784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E9F5F4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" y="5614416"/>
            <a:ext cx="10607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  </a:t>
            </a:r>
            <a:pPr indent="0" marL="0">
              <a:buNone/>
            </a:pPr>
            <a:r>
              <a:rPr lang="en-US" sz="1250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mandates lift income past cost from December. FY27 loss narrows to Rs 0.93 Cr and FY28 turns firmly positive.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to Jun actual, internal ledger; Jul to Mar projected. Income = FD interest + existing sales + BLR fees. Rs Lakh.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BREAK-EVEN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 BLR live by January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5096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01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carried all year, income steps up only in the final quarter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49808" y="2331720"/>
          <a:ext cx="105156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57784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E9F5F4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" y="5614416"/>
            <a:ext cx="10607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  </a:t>
            </a:r>
            <a:pPr indent="0" marL="0">
              <a:buNone/>
            </a:pPr>
            <a:r>
              <a:rPr lang="en-US" sz="1250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on payroll all year but revenue lands only in Q4, so FY27 stays a clear Rs 2.29 Cr loss. FY28 still turns positive.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to Jun actual, internal ledger; Jul to Mar projected. Income = FD interest + existing sales + BLR fees. Rs Lakh.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BREAK-EVEN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 No BLR this financial year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5096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01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stays flat below the cost line all year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49808" y="2331720"/>
          <a:ext cx="105156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57784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E9F5F4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" y="5614416"/>
            <a:ext cx="10607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  </a:t>
            </a:r>
            <a:pPr indent="0" marL="0">
              <a:buNone/>
            </a:pPr>
            <a:r>
              <a:rPr lang="en-US" sz="1250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BLR, income holds near Rs 20.6 L a month against Rs 43.9 L of cost. A full-year Rs 2.80 Cr loss, funded from reserves.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to Jun actual, internal ledger; Jul to Mar projected. Income = FD interest + existing sales + BLR fees. Rs Lakh.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fixed at Rs 5.27 Cr; the year turns on revenue timing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94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net P&amp;L, base case, Rs Cr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4088" y="2331720"/>
          <a:ext cx="66751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paise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0" y="24323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rupee is payroll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0" y="3063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43.9 L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0" y="35753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run-rate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0" y="47183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quarter in the black, base case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build derived from the monthly base-case model. Cost heads from internal actuals to 21-Jul-2026.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AND RUNWAY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year is never a solvency risk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corpus, Rs Cr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2286000"/>
          <a:ext cx="52120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26.1 Cr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0" y="2432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FD corpus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25.0 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144000" y="2432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as net worth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~Rs 1.9 Cr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00800" y="3758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Drawable liquidity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~Rs 23.3 L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144000" y="3758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burn per month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0" y="4572000"/>
            <a:ext cx="5212080" cy="1325880"/>
          </a:xfrm>
          <a:prstGeom prst="roundRect">
            <a:avLst>
              <a:gd name="adj" fmla="val 6207"/>
            </a:avLst>
          </a:prstGeom>
          <a:solidFill>
            <a:srgbClr val="E9F5F4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29400" y="4709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 months of runway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drawable liquidity before the locked corpus is ever touched. The 26 Cr net-worth base keeps ACER solvent throughout.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management accounts. The Rs 25 Cr FD is treated as the SEBI net-worth lock, pending formal confirmation.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fees fund the turn, surveillance compounds the climb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7680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rating revenue, base case, Rs Cr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4088" y="2331720"/>
          <a:ext cx="7406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48x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03920" y="2523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to FY27 revenue step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0392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9.6 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503920" y="37581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 operating revenue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0392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503920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year of profit, base case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actual; FY27 and FY28 modelled at capacity (existing sales plus BLR fees). Base case, BLR live by 1 October.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at the foot of a Rs 2,250 Cr market and climb a real ladder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037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476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revenue by agency, latest disclosed FY, Rs Cr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228600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699248" y="18288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99248" y="2240280"/>
            <a:ext cx="3886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82128" y="23865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82128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2,250 Cr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070848" y="24048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All-India rating revenue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99248" y="3410712"/>
            <a:ext cx="3886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82128" y="35570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82128" y="3913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409 Cr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70848" y="357530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BLR-led tier we compete in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99248" y="4581144"/>
            <a:ext cx="3886200" cy="1051560"/>
          </a:xfrm>
          <a:prstGeom prst="roundRect">
            <a:avLst>
              <a:gd name="adj" fmla="val 7826"/>
            </a:avLst>
          </a:prstGeom>
          <a:solidFill>
            <a:srgbClr val="E9F5F4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882128" y="47274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82128" y="5084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8.6 Cr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70848" y="4745736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FY28 at capacity, 0.38% of TAM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official disclosures, CRISIL, CARE, ICRA, India Ratings, Infomerics, Acuite, Brickwork. ICRA segment derived; ACER FY28 is the capacity model.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Rs 1,600 Cr a month is a small slice of a vast market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47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yearly volume vs bond issuance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2286000"/>
          <a:ext cx="49377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126480" y="2478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Rs 9.9 lakh cr annual bond issuance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6968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869680" y="2478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Rs 182 lakh cr bank credit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26480" y="3803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a year at capacity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86968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~19,500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69680" y="3803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 CRISIL alone rates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466344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E9F5F4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4791456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not the constraint.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one small peer rates far more than ACER targets in a year. The binding constraint is winning mandates, which is why execution and the licence set the pace.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issuance about Rs 9.9 lakh cr FY25; bank credit about Rs 182 lakh cr, RBI Mar-2025.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path, tracked on hard KPIs, with risks owned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1248" y="2103120"/>
            <a:ext cx="8551469" cy="0"/>
          </a:xfrm>
          <a:prstGeom prst="line">
            <a:avLst/>
          </a:prstGeom>
          <a:noFill/>
          <a:ln w="25400">
            <a:solidFill>
              <a:srgbClr val="DCE8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20240"/>
            <a:ext cx="365760" cy="365760"/>
          </a:xfrm>
          <a:prstGeom prst="ellipse">
            <a:avLst/>
          </a:prstGeom>
          <a:solidFill>
            <a:srgbClr val="3AA4A9"/>
          </a:solidFill>
          <a:ln w="19050">
            <a:solidFill>
              <a:srgbClr val="237E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423160"/>
            <a:ext cx="21378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761488"/>
            <a:ext cx="200070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registered, 4 BDs onboarded, team in place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7675" y="1920240"/>
            <a:ext cx="365760" cy="365760"/>
          </a:xfrm>
          <a:prstGeom prst="ellipse">
            <a:avLst/>
          </a:prstGeom>
          <a:solidFill>
            <a:srgbClr val="3AA4A9"/>
          </a:solidFill>
          <a:ln w="19050">
            <a:solidFill>
              <a:srgbClr val="237E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7675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04795" y="2423160"/>
            <a:ext cx="21378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04795" y="2761488"/>
            <a:ext cx="200070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RBI ECAI, build the mandate pipeline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5542" y="1920240"/>
            <a:ext cx="365760" cy="365760"/>
          </a:xfrm>
          <a:prstGeom prst="ellipse">
            <a:avLst/>
          </a:prstGeom>
          <a:solidFill>
            <a:srgbClr val="3AA4A9"/>
          </a:solidFill>
          <a:ln w="19050">
            <a:solidFill>
              <a:srgbClr val="237E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554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2662" y="2423160"/>
            <a:ext cx="21378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FY27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42662" y="2761488"/>
            <a:ext cx="200070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BLR live, first mandates land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63410" y="1920240"/>
            <a:ext cx="365760" cy="365760"/>
          </a:xfrm>
          <a:prstGeom prst="ellipse">
            <a:avLst/>
          </a:prstGeom>
          <a:solidFill>
            <a:srgbClr val="E9F5F4"/>
          </a:solidFill>
          <a:ln w="19050">
            <a:solidFill>
              <a:srgbClr val="237E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341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80530" y="2423160"/>
            <a:ext cx="21378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80530" y="2761488"/>
            <a:ext cx="200070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toward capacity, surveillance book builds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01277" y="1920240"/>
            <a:ext cx="365760" cy="365760"/>
          </a:xfrm>
          <a:prstGeom prst="ellipse">
            <a:avLst/>
          </a:prstGeom>
          <a:solidFill>
            <a:srgbClr val="E9F5F4"/>
          </a:solidFill>
          <a:ln w="19050">
            <a:solidFill>
              <a:srgbClr val="237E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1277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8397" y="2423160"/>
            <a:ext cx="21378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18397" y="2761488"/>
            <a:ext cx="200070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BLR, target operational profit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16052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5528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the board will see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468172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per month and cumulative rated debt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share of income, revenue vs plan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 and monthly burn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quality and turnaround time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4160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set now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468172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Cost-discipline trigger if BLR slips past January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Rating-quality gate that scales with volume</a:t>
            </a:r>
            <a:endParaRPr lang="en-US" sz="12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Revenue-ramp milestone review vs the plan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 ·  FY27 Annual Operating Plan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 investment year, with a clear trigger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457200" cy="457200"/>
          </a:xfrm>
          <a:prstGeom prst="ellipse">
            <a:avLst/>
          </a:prstGeom>
          <a:solidFill>
            <a:srgbClr val="3AA4A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2728" y="226771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FY27 operating budget of Rs 5.27 Cr, salary-led and fixed.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3218688"/>
            <a:ext cx="457200" cy="457200"/>
          </a:xfrm>
          <a:prstGeom prst="ellipse">
            <a:avLst/>
          </a:prstGeom>
          <a:solidFill>
            <a:srgbClr val="3AA4A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2728" y="32004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base case: BLR live by 1 October, break-even from December.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151376"/>
            <a:ext cx="457200" cy="457200"/>
          </a:xfrm>
          <a:prstGeom prst="ellipse">
            <a:avLst/>
          </a:prstGeom>
          <a:solidFill>
            <a:srgbClr val="3AA4A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2728" y="41330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cost-discipline trigger if the licence slips past January.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5257800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18494C"/>
          </a:solidFill>
          <a:ln w="12700">
            <a:solidFill>
              <a:srgbClr val="DC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B9C7C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53949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A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variable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is secure. Operational self-sufficiency by FY28 is the goal, and the BLR licence is the single lever that gets us there.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management accounts and the FY27 AOP model. Peer figures from official disclosures.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ACER FY27 Annual Operating Plan</dc:title>
  <dc:subject>PptxGenJS Presentation</dc:subject>
  <dc:creator>ACER Credit Rating</dc:creator>
  <cp:lastModifiedBy>ACER Credit Rating</cp:lastModifiedBy>
  <cp:revision>1</cp:revision>
  <dcterms:created xsi:type="dcterms:W3CDTF">2026-07-27T06:21:15Z</dcterms:created>
  <dcterms:modified xsi:type="dcterms:W3CDTF">2026-07-27T06:21:15Z</dcterms:modified>
</cp:coreProperties>
</file>
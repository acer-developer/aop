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plan on one page. We are asking the Board to approve a Rs 5.24 Cr budget for FY27 to fund the transition from a treasury that lives on FD interest into an actual rating business. The switch that makes that happen is the RBI Bank Loan Rating licence, and we already have first proof the demand is real: Q1 ratings revenue was 3.5 times all of last year. In the base case, with the licence live by October, we finish net positive and break even from October. I want to be unambiguous on risk: in none of our scenarios do we touch the Rs 25 Cr SEBI minimum net worth. Losses are funded from roughly Rs 3 Cr of accessible reserves and Rs 1.8 Cr a year of interest, so our registration is never at risk. The decision in front of you is how fast we compound the annuity, not whether we survive.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we stand. The balance sheet is genuinely strong, but I want the Board to see it clearly: of the Rs 26.1 Cr FD corpus, Rs 25 Cr is our SEBI minimum net worth and is locked, so real working liquidity is about Rs 3 Cr plus roughly Rs 1.8 Cr a year of FD interest. This is not a choice to sit on idle cash earning interest; that Rs 25 Cr is the floor that keeps the licence alive, and losing it is what ends the business. The interest has been carrying us, 95% of last year's income, while the actual ratings desk earned only Rs 8 lakh against a cost base that is mostly salary. The reason we are optimistic is the inflection: Q1 already booked Rs 28.5 lakh, 3.5 times all of last year. We still expect roughly a Rs 2.6 Cr run-rate loss before BLR, but it is funded from the accessible layer and never the protected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important thing to internalise: today 95% of our income is interest on our own reserves, not rating fees. That is a treasury, not a rating agency. The BLR licence is the one switch that changes it. The economics are annuity-rich, a small initial fee plus a recurring surveillance fee that compounds every year the loan is outstanding. On the honest question of whether 16 cases a month is a spreadsheet number: it is a target, not today's run-rate. Q1's Rs 28.5 lakh proves demand exists, but it implies only a handful of cases in the quarter. Sixteen a month is what the four onboarded BDs are staffed to reach, and I want it tracked as the number one monthly KPI. The January cost trigger exists precisely because we have not yet demonstrated that throughput.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to take away is that we are not betting on disrupting CRISIL. The Rs 8 Cr FY28 target is roughly four-tenths of one percent of the industry, a rounding error for the market but a real business for us. On the fair challenge of whether a Rs 8 Cr player can compete against CRISIL at Rs 909 Cr and ICRA at Rs 498 Cr, the answer is that we are not trying to. Acuite at Rs 57 Cr and Infomerics, which rode BLR from Rs 64 to Rs 95 Cr in three years, prove viable businesses exist well below the leaders. In the Rs 100 Cr-plus ticket the large agencies run commodity volume; we compete on senior attention and speed, and we give banks a challenger relationship.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scenarios are the same business with one variable changed, the date the licence goes live. Costs are locked at Rs 5.24 Cr whichever way it goes, and FD interest contributes Rs 1.80 Cr in every case, so the entire spread is BLR fee income. I want to be candid about the base case. The +Rs 0.31 Cr credits only a partial-year BLR ramp against the fixed cost base and interest; full run-rate would be Rs 8.64 Cr a year, but S1 income is only Rs 5.55 Cr because it bakes in a ramp, not full throughput. The Rs 0.31 Cr is thin and swings to a Rs 1.13 Cr loss on a single quarter's slip, so I am presenting S1 as break-even, not profit. No BLR at all and we stay a treasury losing Rs 2.57 Cr; the Q1 momentum does not scale without the licence.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budget is Rs 5.24 Cr, fixed regardless of when the licence lands, because roughly 58% is salary we carry to build capacity. What changes across scenarios is only revenue timing. On the fair question of why we sit on Rs 25 Cr earning interest instead of deploying it, it is not a choice: that Rs 25 Cr is the SEBI minimum net-worth floor, locked and untouchable. Only about Rs 3 Cr is genuinely ours to spend. On the flip side, if BLR never lands, we lose Rs 2.57 Cr and stay FD-dependent; that is fully funded from the accessible layer, so registration is never at risk, but it is a real cash burn, and it is exactly why I want the hard January cost review. Beyond FY27, the surveillance annuity compounds cohort on cohort toward Rs 16 Cr by FY30, the same path Infomerics 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the Board clear-eyed on risk. The financial downside is real but bounded: even in the worst case we draw on accessible reserves and interest, and the Rs 25 Cr statutory net worth stays locked, so registration is never in financial jeopardy. The risk that actually ends this business is compliance. On the fair concern about chasing volume in small-issuer BLR, that is the one risk that ends the business, not just a bad year. Brickwork lost registration in 2022 over process lapses and watched revenue fall from about Rs 48.5 Cr to Rs 5 Cr. That is precisely why process integrity and independence rank ahead of the 16-case target, and why the Rs 25 Cr floor stays ring-fenced in every scenario. We build around that discipline, not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entire FY27 turn rests on the licence and on converting 16 cases a month at a Rs 100 Cr minimum ticket. The cost base is fixed at Rs 5.24 Cr across every scenario, so the only variable that matters is when the licence lands. I will report to the Board every month on cases won against the 16 target, ratings share of income, FD interest, and cost adherence, so throughput is visible in real time rather than discovered at year-end. The revenue engine is not theoretical, Q1 already came in at 3.5 times all of FY26, and Infomerics ran exactly this playbook to Rs 95 Cr.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ask is three things. First, approve the Rs 5.24 Cr budget. Second, endorse the base case of BLR live by October at sixteen cases a month. Third, give management a pre-agreed cost trigger if the licence slips past January, so we act on a plan rather than under pressure. I want to close on the frame: this is not a survival question. The Rs 25 Cr floor is locked, every loss scenario is self-funded from accessible reserves, and registration is never at risk. What the Board is really deciding is how fast we compound the BLR annuity, from Rs 3.8 Cr this year toward Rs 16 Cr by FY30. The balance sheet absorbs the downside, the January trigger caps it, and compliance discipline protects the licence that makes all of it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2011680"/>
            <a:ext cx="822960" cy="91440"/>
          </a:xfrm>
          <a:prstGeom prst="rect">
            <a:avLst/>
          </a:prstGeom>
          <a:solidFill>
            <a:srgbClr val="0F766E"/>
          </a:solidFill>
          <a:ln/>
        </p:spPr>
      </p:sp>
      <p:sp>
        <p:nvSpPr>
          <p:cNvPr id="3" name="Text 1"/>
          <p:cNvSpPr/>
          <p:nvPr/>
        </p:nvSpPr>
        <p:spPr>
          <a:xfrm>
            <a:off x="640080" y="2286000"/>
            <a:ext cx="10515600" cy="274320"/>
          </a:xfrm>
          <a:prstGeom prst="rect">
            <a:avLst/>
          </a:prstGeom>
          <a:noFill/>
          <a:ln/>
        </p:spPr>
        <p:txBody>
          <a:bodyPr wrap="square" rtlCol="0" anchor="ctr"/>
          <a:lstStyle/>
          <a:p>
            <a:pPr indent="0" marL="0">
              <a:buNone/>
            </a:pPr>
            <a:r>
              <a:rPr lang="en-US" sz="1200" b="1" spc="200" kern="0" dirty="0">
                <a:solidFill>
                  <a:srgbClr val="0F766E"/>
                </a:solidFill>
                <a:latin typeface="Calibri" pitchFamily="34" charset="0"/>
                <a:ea typeface="Calibri" pitchFamily="34" charset="-122"/>
                <a:cs typeface="Calibri" pitchFamily="34" charset="-120"/>
              </a:rPr>
              <a:t>FY27 ANNUAL OPERATING PLAN  ·  EXECUTIVE DECK  ·  CONFIDENTIAL</a:t>
            </a:r>
            <a:endParaRPr lang="en-US" sz="1200" dirty="0"/>
          </a:p>
        </p:txBody>
      </p:sp>
      <p:sp>
        <p:nvSpPr>
          <p:cNvPr id="4" name="Text 2"/>
          <p:cNvSpPr/>
          <p:nvPr/>
        </p:nvSpPr>
        <p:spPr>
          <a:xfrm>
            <a:off x="640080" y="2651760"/>
            <a:ext cx="10515600" cy="822960"/>
          </a:xfrm>
          <a:prstGeom prst="rect">
            <a:avLst/>
          </a:prstGeom>
          <a:noFill/>
          <a:ln/>
        </p:spPr>
        <p:txBody>
          <a:bodyPr wrap="square" rtlCol="0" anchor="ctr"/>
          <a:lstStyle/>
          <a:p>
            <a:pPr indent="0" marL="0">
              <a:buNone/>
            </a:pPr>
            <a:r>
              <a:rPr lang="en-US" sz="4400" b="1" dirty="0">
                <a:solidFill>
                  <a:srgbClr val="0A1F33"/>
                </a:solidFill>
                <a:latin typeface="Cambria" pitchFamily="34" charset="0"/>
                <a:ea typeface="Cambria" pitchFamily="34" charset="-122"/>
                <a:cs typeface="Cambria" pitchFamily="34" charset="-120"/>
              </a:rPr>
              <a:t>ACER Credit Rating</a:t>
            </a:r>
            <a:endParaRPr lang="en-US" sz="4400" dirty="0"/>
          </a:p>
        </p:txBody>
      </p:sp>
      <p:sp>
        <p:nvSpPr>
          <p:cNvPr id="5" name="Text 3"/>
          <p:cNvSpPr/>
          <p:nvPr/>
        </p:nvSpPr>
        <p:spPr>
          <a:xfrm>
            <a:off x="640080" y="3657600"/>
            <a:ext cx="9601200" cy="731520"/>
          </a:xfrm>
          <a:prstGeom prst="rect">
            <a:avLst/>
          </a:prstGeom>
          <a:noFill/>
          <a:ln/>
        </p:spPr>
        <p:txBody>
          <a:bodyPr wrap="square" rtlCol="0" anchor="ctr"/>
          <a:lstStyle/>
          <a:p>
            <a:pPr indent="0" marL="0">
              <a:buNone/>
            </a:pPr>
            <a:r>
              <a:rPr lang="en-US" sz="1600" dirty="0">
                <a:solidFill>
                  <a:srgbClr val="5B6B7B"/>
                </a:solidFill>
                <a:latin typeface="Calibri" pitchFamily="34" charset="0"/>
                <a:ea typeface="Calibri" pitchFamily="34" charset="-122"/>
                <a:cs typeface="Calibri" pitchFamily="34" charset="-120"/>
              </a:rPr>
              <a:t>From an FD-interest treasury to a Bank Loan Rating franchise. The board case, in ten slides.</a:t>
            </a:r>
            <a:endParaRPr lang="en-US" sz="1600" dirty="0"/>
          </a:p>
        </p:txBody>
      </p:sp>
      <p:sp>
        <p:nvSpPr>
          <p:cNvPr id="6" name="Text 4"/>
          <p:cNvSpPr/>
          <p:nvPr/>
        </p:nvSpPr>
        <p:spPr>
          <a:xfrm>
            <a:off x="640080" y="5760720"/>
            <a:ext cx="10515600" cy="274320"/>
          </a:xfrm>
          <a:prstGeom prst="rect">
            <a:avLst/>
          </a:prstGeom>
          <a:noFill/>
          <a:ln/>
        </p:spPr>
        <p:txBody>
          <a:bodyPr wrap="square" rtlCol="0" anchor="ctr"/>
          <a:lstStyle/>
          <a:p>
            <a:pPr indent="0" marL="0">
              <a:buNone/>
            </a:pPr>
            <a:r>
              <a:rPr lang="en-US" sz="1200" dirty="0">
                <a:solidFill>
                  <a:srgbClr val="9AA7B4"/>
                </a:solidFill>
                <a:latin typeface="Calibri" pitchFamily="34" charset="0"/>
                <a:ea typeface="Calibri" pitchFamily="34" charset="-122"/>
                <a:cs typeface="Calibri" pitchFamily="34" charset="-120"/>
              </a:rPr>
              <a:t>Prepared for the Board  ·  Apr 2026 to Mar 2027  ·  Base case: BLR live by 1 October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515600" cy="274320"/>
          </a:xfrm>
          <a:prstGeom prst="rect">
            <a:avLst/>
          </a:prstGeom>
          <a:noFill/>
          <a:ln/>
        </p:spPr>
        <p:txBody>
          <a:bodyPr wrap="square"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BLUF</a:t>
            </a:r>
            <a:endParaRPr lang="en-US" sz="1100" dirty="0"/>
          </a:p>
        </p:txBody>
      </p:sp>
      <p:sp>
        <p:nvSpPr>
          <p:cNvPr id="3" name="Text 1"/>
          <p:cNvSpPr/>
          <p:nvPr/>
        </p:nvSpPr>
        <p:spPr>
          <a:xfrm>
            <a:off x="640080" y="749808"/>
            <a:ext cx="10911535" cy="1371600"/>
          </a:xfrm>
          <a:prstGeom prst="rect">
            <a:avLst/>
          </a:prstGeom>
          <a:noFill/>
          <a:ln/>
        </p:spPr>
        <p:txBody>
          <a:bodyPr wrap="square" rtlCol="0" anchor="t"/>
          <a:lstStyle/>
          <a:p>
            <a:pPr indent="0" marL="0">
              <a:lnSpc>
                <a:spcPct val="104000"/>
              </a:lnSpc>
              <a:buNone/>
            </a:pPr>
            <a:r>
              <a:rPr lang="en-US" sz="2000" b="1" dirty="0">
                <a:solidFill>
                  <a:srgbClr val="0A1F33"/>
                </a:solidFill>
                <a:latin typeface="Cambria" pitchFamily="34" charset="0"/>
                <a:ea typeface="Cambria" pitchFamily="34" charset="-122"/>
                <a:cs typeface="Cambria" pitchFamily="34" charset="-120"/>
              </a:rPr>
              <a:t>FY27 AOP: approve a Rs 5.24 Cr budget to convert an FD-interest treasury into a real ratings business, funded entirely from accessible reserves with SEBI net worth never touched</a:t>
            </a:r>
            <a:endParaRPr lang="en-US" sz="2000" dirty="0"/>
          </a:p>
        </p:txBody>
      </p:sp>
      <p:sp>
        <p:nvSpPr>
          <p:cNvPr id="4" name="Text 2"/>
          <p:cNvSpPr/>
          <p:nvPr/>
        </p:nvSpPr>
        <p:spPr>
          <a:xfrm>
            <a:off x="640080" y="2286000"/>
            <a:ext cx="10911535" cy="3017520"/>
          </a:xfrm>
          <a:prstGeom prst="rect">
            <a:avLst/>
          </a:prstGeom>
          <a:noFill/>
          <a:ln/>
        </p:spPr>
        <p:txBody>
          <a:bodyPr wrap="square" rtlCol="0" anchor="t"/>
          <a:lstStyle/>
          <a:p>
            <a:pPr marL="203200" indent="-203200">
              <a:spcAft>
                <a:spcPts val="900"/>
              </a:spcAft>
              <a:buSzPct val="100000"/>
              <a:buChar char="•"/>
            </a:pPr>
            <a:r>
              <a:rPr lang="en-US" sz="1300" dirty="0">
                <a:solidFill>
                  <a:srgbClr val="2B3F52"/>
                </a:solidFill>
                <a:latin typeface="Calibri" pitchFamily="34" charset="0"/>
                <a:ea typeface="Calibri" pitchFamily="34" charset="-122"/>
                <a:cs typeface="Calibri" pitchFamily="34" charset="-120"/>
              </a:rPr>
              <a:t>The bet: the RBI ECAI (Bank Loan Rating) licence is the one switch that turns 95%-FD-interest income into rating fees; Q1 FY27 ratings of Rs 28.5 L (3.5x all of FY26) is the first proof the engine is turning</a:t>
            </a:r>
            <a:endParaRPr lang="en-US" sz="1300" dirty="0"/>
          </a:p>
          <a:p>
            <a:pPr marL="203200" indent="-203200">
              <a:spcAft>
                <a:spcPts val="900"/>
              </a:spcAft>
              <a:buSzPct val="100000"/>
              <a:buChar char="•"/>
            </a:pPr>
            <a:r>
              <a:rPr lang="en-US" sz="1300" dirty="0">
                <a:solidFill>
                  <a:srgbClr val="2B3F52"/>
                </a:solidFill>
                <a:latin typeface="Calibri" pitchFamily="34" charset="0"/>
                <a:ea typeface="Calibri" pitchFamily="34" charset="-122"/>
                <a:cs typeface="Calibri" pitchFamily="34" charset="-120"/>
              </a:rPr>
              <a:t>Base case (BLR live by 1 Oct): income Rs 5.55 Cr, net +Rs 0.31 Cr, break-even from October; every downside is self-funded and reversible</a:t>
            </a:r>
            <a:endParaRPr lang="en-US" sz="1300" dirty="0"/>
          </a:p>
          <a:p>
            <a:pPr marL="203200" indent="-203200">
              <a:spcAft>
                <a:spcPts val="900"/>
              </a:spcAft>
              <a:buSzPct val="100000"/>
              <a:buChar char="•"/>
            </a:pPr>
            <a:r>
              <a:rPr lang="en-US" sz="1300" dirty="0">
                <a:solidFill>
                  <a:srgbClr val="2B3F52"/>
                </a:solidFill>
                <a:latin typeface="Calibri" pitchFamily="34" charset="0"/>
                <a:ea typeface="Calibri" pitchFamily="34" charset="-122"/>
                <a:cs typeface="Calibri" pitchFamily="34" charset="-120"/>
              </a:rPr>
              <a:t>Solvency is never the question: losses draw only on ~Rs 3.0 Cr accessible reserves plus Rs 1.8 Cr/yr FD interest; the Rs 25 Cr SEBI net-worth floor is ring-fenced in all three scenarios</a:t>
            </a:r>
            <a:endParaRPr lang="en-US" sz="1300" dirty="0"/>
          </a:p>
          <a:p>
            <a:pPr marL="203200" indent="-203200">
              <a:spcAft>
                <a:spcPts val="900"/>
              </a:spcAft>
              <a:buSzPct val="100000"/>
              <a:buChar char="•"/>
            </a:pPr>
            <a:r>
              <a:rPr lang="en-US" sz="1300" dirty="0">
                <a:solidFill>
                  <a:srgbClr val="2B3F52"/>
                </a:solidFill>
                <a:latin typeface="Calibri" pitchFamily="34" charset="0"/>
                <a:ea typeface="Calibri" pitchFamily="34" charset="-122"/>
                <a:cs typeface="Calibri" pitchFamily="34" charset="-120"/>
              </a:rPr>
              <a:t>The ask: (1) approve Rs 5.24 Cr FY27 budget; (2) endorse base case at 16 cases/month; (3) authorise a cost-reduction trigger if the licence slips past January</a:t>
            </a:r>
            <a:endParaRPr lang="en-US" sz="1300" dirty="0"/>
          </a:p>
        </p:txBody>
      </p:sp>
      <p:sp>
        <p:nvSpPr>
          <p:cNvPr id="5" name="Shape 3"/>
          <p:cNvSpPr/>
          <p:nvPr/>
        </p:nvSpPr>
        <p:spPr>
          <a:xfrm>
            <a:off x="640080" y="5486400"/>
            <a:ext cx="10911535" cy="777240"/>
          </a:xfrm>
          <a:prstGeom prst="rect">
            <a:avLst/>
          </a:prstGeom>
          <a:solidFill>
            <a:srgbClr val="EEF4F3"/>
          </a:solidFill>
          <a:ln/>
        </p:spPr>
      </p:sp>
      <p:sp>
        <p:nvSpPr>
          <p:cNvPr id="6" name="Shape 4"/>
          <p:cNvSpPr/>
          <p:nvPr/>
        </p:nvSpPr>
        <p:spPr>
          <a:xfrm>
            <a:off x="640080" y="5486400"/>
            <a:ext cx="82296" cy="777240"/>
          </a:xfrm>
          <a:prstGeom prst="rect">
            <a:avLst/>
          </a:prstGeom>
          <a:solidFill>
            <a:srgbClr val="0F766E"/>
          </a:solidFill>
          <a:ln/>
        </p:spPr>
      </p:sp>
      <p:sp>
        <p:nvSpPr>
          <p:cNvPr id="7" name="Text 5"/>
          <p:cNvSpPr/>
          <p:nvPr/>
        </p:nvSpPr>
        <p:spPr>
          <a:xfrm>
            <a:off x="896112" y="5486400"/>
            <a:ext cx="10454335" cy="777240"/>
          </a:xfrm>
          <a:prstGeom prst="rect">
            <a:avLst/>
          </a:prstGeom>
          <a:noFill/>
          <a:ln/>
        </p:spPr>
        <p:txBody>
          <a:bodyPr wrap="square" rtlCol="0" anchor="ctr"/>
          <a:lstStyle/>
          <a:p>
            <a:pPr indent="0" marL="0">
              <a:buNone/>
            </a:pPr>
            <a:r>
              <a:rPr lang="en-US" sz="1000" b="1" spc="100" kern="0" dirty="0">
                <a:solidFill>
                  <a:srgbClr val="0F766E"/>
                </a:solidFill>
                <a:latin typeface="Calibri" pitchFamily="34" charset="0"/>
                <a:ea typeface="Calibri" pitchFamily="34" charset="-122"/>
                <a:cs typeface="Calibri" pitchFamily="34" charset="-120"/>
              </a:rPr>
              <a:t>THE TAKEAWAY   </a:t>
            </a:r>
            <a:pPr indent="0" marL="0">
              <a:buNone/>
            </a:pPr>
            <a:r>
              <a:rPr lang="en-US" sz="1250" b="1" dirty="0">
                <a:solidFill>
                  <a:srgbClr val="0A1F33"/>
                </a:solidFill>
                <a:latin typeface="Calibri" pitchFamily="34" charset="0"/>
                <a:ea typeface="Calibri" pitchFamily="34" charset="-122"/>
                <a:cs typeface="Calibri" pitchFamily="34" charset="-120"/>
              </a:rPr>
              <a:t>This is a compounding decision, not a survival decision: approve the budget and hold the January trigger.</a:t>
            </a:r>
            <a:endParaRPr lang="en-US" sz="1000" dirty="0"/>
          </a:p>
        </p:txBody>
      </p:sp>
      <p:sp>
        <p:nvSpPr>
          <p:cNvPr id="8" name="Text 6"/>
          <p:cNvSpPr/>
          <p:nvPr/>
        </p:nvSpPr>
        <p:spPr>
          <a:xfrm>
            <a:off x="11155680" y="6400800"/>
            <a:ext cx="457200" cy="274320"/>
          </a:xfrm>
          <a:prstGeom prst="rect">
            <a:avLst/>
          </a:prstGeom>
          <a:noFill/>
          <a:ln/>
        </p:spPr>
        <p:txBody>
          <a:bodyPr wrap="square" rtlCol="0" anchor="ctr"/>
          <a:lstStyle/>
          <a:p>
            <a:pPr algn="r" indent="0" marL="0">
              <a:buNone/>
            </a:pPr>
            <a:r>
              <a:rPr lang="en-US" sz="900" dirty="0">
                <a:solidFill>
                  <a:srgbClr val="9AA7B4"/>
                </a:solidFill>
                <a:latin typeface="Calibri" pitchFamily="34" charset="0"/>
                <a:ea typeface="Calibri" pitchFamily="34" charset="-122"/>
                <a:cs typeface="Calibri" pitchFamily="34" charset="-120"/>
              </a:rPr>
              <a:t>01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515600" cy="274320"/>
          </a:xfrm>
          <a:prstGeom prst="rect">
            <a:avLst/>
          </a:prstGeom>
          <a:noFill/>
          <a:ln/>
        </p:spPr>
        <p:txBody>
          <a:bodyPr wrap="square"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SITUATION</a:t>
            </a:r>
            <a:endParaRPr lang="en-US" sz="1100" dirty="0"/>
          </a:p>
        </p:txBody>
      </p:sp>
      <p:sp>
        <p:nvSpPr>
          <p:cNvPr id="3" name="Text 1"/>
          <p:cNvSpPr/>
          <p:nvPr/>
        </p:nvSpPr>
        <p:spPr>
          <a:xfrm>
            <a:off x="640080" y="749808"/>
            <a:ext cx="10911535" cy="1371600"/>
          </a:xfrm>
          <a:prstGeom prst="rect">
            <a:avLst/>
          </a:prstGeom>
          <a:noFill/>
          <a:ln/>
        </p:spPr>
        <p:txBody>
          <a:bodyPr wrap="square" rtlCol="0" anchor="t"/>
          <a:lstStyle/>
          <a:p>
            <a:pPr indent="0" marL="0">
              <a:lnSpc>
                <a:spcPct val="104000"/>
              </a:lnSpc>
              <a:buNone/>
            </a:pPr>
            <a:r>
              <a:rPr lang="en-US" sz="2000" b="1" dirty="0">
                <a:solidFill>
                  <a:srgbClr val="0A1F33"/>
                </a:solidFill>
                <a:latin typeface="Cambria" pitchFamily="34" charset="0"/>
                <a:ea typeface="Cambria" pitchFamily="34" charset="-122"/>
                <a:cs typeface="Cambria" pitchFamily="34" charset="-120"/>
              </a:rPr>
              <a:t>ACER is capital-rich but interest-led: FD interest was 95% of FY26 income and ratings earned just Rs 8 L, against a Rs 5.24 Cr cost base</a:t>
            </a:r>
            <a:endParaRPr lang="en-US" sz="2000" dirty="0"/>
          </a:p>
        </p:txBody>
      </p:sp>
      <p:sp>
        <p:nvSpPr>
          <p:cNvPr id="4" name="Text 2"/>
          <p:cNvSpPr/>
          <p:nvPr/>
        </p:nvSpPr>
        <p:spPr>
          <a:xfrm>
            <a:off x="640080" y="2286000"/>
            <a:ext cx="10911535" cy="3017520"/>
          </a:xfrm>
          <a:prstGeom prst="rect">
            <a:avLst/>
          </a:prstGeom>
          <a:noFill/>
          <a:ln/>
        </p:spPr>
        <p:txBody>
          <a:bodyPr wrap="square" rtlCol="0" anchor="t"/>
          <a:lstStyle/>
          <a:p>
            <a:pPr marL="203200" indent="-203200">
              <a:spcAft>
                <a:spcPts val="900"/>
              </a:spcAft>
              <a:buSzPct val="100000"/>
              <a:buChar char="•"/>
            </a:pPr>
            <a:r>
              <a:rPr lang="en-US" sz="1300" dirty="0">
                <a:solidFill>
                  <a:srgbClr val="2B3F52"/>
                </a:solidFill>
                <a:latin typeface="Calibri" pitchFamily="34" charset="0"/>
                <a:ea typeface="Calibri" pitchFamily="34" charset="-122"/>
                <a:cs typeface="Calibri" pitchFamily="34" charset="-120"/>
              </a:rPr>
              <a:t>Reserves are a fortress, not a war chest: Rs 26.1 Cr FD corpus, but Rs 25 Cr is the SEBI minimum net worth, locked and untouchable; only ~Rs 3.0 Cr is genuinely ours to spend, plus ~Rs 1.8 Cr/yr FD interest</a:t>
            </a:r>
            <a:endParaRPr lang="en-US" sz="1300" dirty="0"/>
          </a:p>
          <a:p>
            <a:pPr marL="203200" indent="-203200">
              <a:spcAft>
                <a:spcPts val="900"/>
              </a:spcAft>
              <a:buSzPct val="100000"/>
              <a:buChar char="•"/>
            </a:pPr>
            <a:r>
              <a:rPr lang="en-US" sz="1300" dirty="0">
                <a:solidFill>
                  <a:srgbClr val="2B3F52"/>
                </a:solidFill>
                <a:latin typeface="Calibri" pitchFamily="34" charset="0"/>
                <a:ea typeface="Calibri" pitchFamily="34" charset="-122"/>
                <a:cs typeface="Calibri" pitchFamily="34" charset="-120"/>
              </a:rPr>
              <a:t>The core business barely exists yet: FD interest was 95% of FY26 income; ratings revenue was just Rs 8 L against a Rs 5.24 Cr FY27 cost base (~58% salary)</a:t>
            </a:r>
            <a:endParaRPr lang="en-US" sz="1300" dirty="0"/>
          </a:p>
          <a:p>
            <a:pPr marL="203200" indent="-203200">
              <a:spcAft>
                <a:spcPts val="900"/>
              </a:spcAft>
              <a:buSzPct val="100000"/>
              <a:buChar char="•"/>
            </a:pPr>
            <a:r>
              <a:rPr lang="en-US" sz="1300" dirty="0">
                <a:solidFill>
                  <a:srgbClr val="2B3F52"/>
                </a:solidFill>
                <a:latin typeface="Calibri" pitchFamily="34" charset="0"/>
                <a:ea typeface="Calibri" pitchFamily="34" charset="-122"/>
                <a:cs typeface="Calibri" pitchFamily="34" charset="-120"/>
              </a:rPr>
              <a:t>But the inflection is real: Q1 FY27 ratings revenue of Rs 28.5 L already ran 3.5x all of FY26, with 4 BDs onboarded; pre-BLR run-rate still points to a ~Rs 2.6 Cr loss</a:t>
            </a:r>
            <a:endParaRPr lang="en-US" sz="1300" dirty="0"/>
          </a:p>
          <a:p>
            <a:pPr marL="203200" indent="-203200">
              <a:spcAft>
                <a:spcPts val="900"/>
              </a:spcAft>
              <a:buSzPct val="100000"/>
              <a:buChar char="•"/>
            </a:pPr>
            <a:r>
              <a:rPr lang="en-US" sz="1300" dirty="0">
                <a:solidFill>
                  <a:srgbClr val="2B3F52"/>
                </a:solidFill>
                <a:latin typeface="Calibri" pitchFamily="34" charset="0"/>
                <a:ea typeface="Calibri" pitchFamily="34" charset="-122"/>
                <a:cs typeface="Calibri" pitchFamily="34" charset="-120"/>
              </a:rPr>
              <a:t>That ~Rs 2.6 Cr run-rate loss is funded from accessible reserves and never touches the Rs 25 Cr floor, so registration is never at risk</a:t>
            </a:r>
            <a:endParaRPr lang="en-US" sz="1300" dirty="0"/>
          </a:p>
        </p:txBody>
      </p:sp>
      <p:sp>
        <p:nvSpPr>
          <p:cNvPr id="5" name="Shape 3"/>
          <p:cNvSpPr/>
          <p:nvPr/>
        </p:nvSpPr>
        <p:spPr>
          <a:xfrm>
            <a:off x="640080" y="5486400"/>
            <a:ext cx="10911535" cy="777240"/>
          </a:xfrm>
          <a:prstGeom prst="rect">
            <a:avLst/>
          </a:prstGeom>
          <a:solidFill>
            <a:srgbClr val="EEF4F3"/>
          </a:solidFill>
          <a:ln/>
        </p:spPr>
      </p:sp>
      <p:sp>
        <p:nvSpPr>
          <p:cNvPr id="6" name="Shape 4"/>
          <p:cNvSpPr/>
          <p:nvPr/>
        </p:nvSpPr>
        <p:spPr>
          <a:xfrm>
            <a:off x="640080" y="5486400"/>
            <a:ext cx="82296" cy="777240"/>
          </a:xfrm>
          <a:prstGeom prst="rect">
            <a:avLst/>
          </a:prstGeom>
          <a:solidFill>
            <a:srgbClr val="0F766E"/>
          </a:solidFill>
          <a:ln/>
        </p:spPr>
      </p:sp>
      <p:sp>
        <p:nvSpPr>
          <p:cNvPr id="7" name="Text 5"/>
          <p:cNvSpPr/>
          <p:nvPr/>
        </p:nvSpPr>
        <p:spPr>
          <a:xfrm>
            <a:off x="896112" y="5486400"/>
            <a:ext cx="10454335" cy="777240"/>
          </a:xfrm>
          <a:prstGeom prst="rect">
            <a:avLst/>
          </a:prstGeom>
          <a:noFill/>
          <a:ln/>
        </p:spPr>
        <p:txBody>
          <a:bodyPr wrap="square" rtlCol="0" anchor="ctr"/>
          <a:lstStyle/>
          <a:p>
            <a:pPr indent="0" marL="0">
              <a:buNone/>
            </a:pPr>
            <a:r>
              <a:rPr lang="en-US" sz="1000" b="1" spc="100" kern="0" dirty="0">
                <a:solidFill>
                  <a:srgbClr val="0F766E"/>
                </a:solidFill>
                <a:latin typeface="Calibri" pitchFamily="34" charset="0"/>
                <a:ea typeface="Calibri" pitchFamily="34" charset="-122"/>
                <a:cs typeface="Calibri" pitchFamily="34" charset="-120"/>
              </a:rPr>
              <a:t>THE TAKEAWAY   </a:t>
            </a:r>
            <a:pPr indent="0" marL="0">
              <a:buNone/>
            </a:pPr>
            <a:r>
              <a:rPr lang="en-US" sz="1250" b="1" dirty="0">
                <a:solidFill>
                  <a:srgbClr val="0A1F33"/>
                </a:solidFill>
                <a:latin typeface="Calibri" pitchFamily="34" charset="0"/>
                <a:ea typeface="Calibri" pitchFamily="34" charset="-122"/>
                <a:cs typeface="Calibri" pitchFamily="34" charset="-120"/>
              </a:rPr>
              <a:t>We have the balance sheet to fund the transition and the first proof the ratings engine is turning; the task is to convert interest income into a franchise before it matters.</a:t>
            </a:r>
            <a:endParaRPr lang="en-US" sz="1000" dirty="0"/>
          </a:p>
        </p:txBody>
      </p:sp>
      <p:sp>
        <p:nvSpPr>
          <p:cNvPr id="8" name="Text 6"/>
          <p:cNvSpPr/>
          <p:nvPr/>
        </p:nvSpPr>
        <p:spPr>
          <a:xfrm>
            <a:off x="11155680" y="6400800"/>
            <a:ext cx="457200" cy="274320"/>
          </a:xfrm>
          <a:prstGeom prst="rect">
            <a:avLst/>
          </a:prstGeom>
          <a:noFill/>
          <a:ln/>
        </p:spPr>
        <p:txBody>
          <a:bodyPr wrap="square" rtlCol="0" anchor="ctr"/>
          <a:lstStyle/>
          <a:p>
            <a:pPr algn="r" indent="0" marL="0">
              <a:buNone/>
            </a:pPr>
            <a:r>
              <a:rPr lang="en-US" sz="900" dirty="0">
                <a:solidFill>
                  <a:srgbClr val="9AA7B4"/>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515600" cy="274320"/>
          </a:xfrm>
          <a:prstGeom prst="rect">
            <a:avLst/>
          </a:prstGeom>
          <a:noFill/>
          <a:ln/>
        </p:spPr>
        <p:txBody>
          <a:bodyPr wrap="square"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STRATEGY &amp; ENGINE</a:t>
            </a:r>
            <a:endParaRPr lang="en-US" sz="1100" dirty="0"/>
          </a:p>
        </p:txBody>
      </p:sp>
      <p:sp>
        <p:nvSpPr>
          <p:cNvPr id="3" name="Text 1"/>
          <p:cNvSpPr/>
          <p:nvPr/>
        </p:nvSpPr>
        <p:spPr>
          <a:xfrm>
            <a:off x="640080" y="749808"/>
            <a:ext cx="10911535" cy="1371600"/>
          </a:xfrm>
          <a:prstGeom prst="rect">
            <a:avLst/>
          </a:prstGeom>
          <a:noFill/>
          <a:ln/>
        </p:spPr>
        <p:txBody>
          <a:bodyPr wrap="square" rtlCol="0" anchor="t"/>
          <a:lstStyle/>
          <a:p>
            <a:pPr indent="0" marL="0">
              <a:lnSpc>
                <a:spcPct val="104000"/>
              </a:lnSpc>
              <a:buNone/>
            </a:pPr>
            <a:r>
              <a:rPr lang="en-US" sz="2000" b="1" dirty="0">
                <a:solidFill>
                  <a:srgbClr val="0A1F33"/>
                </a:solidFill>
                <a:latin typeface="Cambria" pitchFamily="34" charset="0"/>
                <a:ea typeface="Cambria" pitchFamily="34" charset="-122"/>
                <a:cs typeface="Cambria" pitchFamily="34" charset="-120"/>
              </a:rPr>
              <a:t>The RBI ECAI (BLR) licence is the switch that turns ACER from a treasury into a rating business, with annuity economics on every Rs 100 Cr ticket</a:t>
            </a:r>
            <a:endParaRPr lang="en-US" sz="2000" dirty="0"/>
          </a:p>
        </p:txBody>
      </p:sp>
      <p:sp>
        <p:nvSpPr>
          <p:cNvPr id="4" name="Text 2"/>
          <p:cNvSpPr/>
          <p:nvPr/>
        </p:nvSpPr>
        <p:spPr>
          <a:xfrm>
            <a:off x="640080" y="2286000"/>
            <a:ext cx="10911535" cy="3017520"/>
          </a:xfrm>
          <a:prstGeom prst="rect">
            <a:avLst/>
          </a:prstGeom>
          <a:noFill/>
          <a:ln/>
        </p:spPr>
        <p:txBody>
          <a:bodyPr wrap="square" rtlCol="0" anchor="t"/>
          <a:lstStyle/>
          <a:p>
            <a:pPr marL="203200" indent="-203200">
              <a:spcAft>
                <a:spcPts val="900"/>
              </a:spcAft>
              <a:buSzPct val="100000"/>
              <a:buChar char="•"/>
            </a:pPr>
            <a:r>
              <a:rPr lang="en-US" sz="1300" dirty="0">
                <a:solidFill>
                  <a:srgbClr val="2B3F52"/>
                </a:solidFill>
                <a:latin typeface="Calibri" pitchFamily="34" charset="0"/>
                <a:ea typeface="Calibri" pitchFamily="34" charset="-122"/>
                <a:cs typeface="Calibri" pitchFamily="34" charset="-120"/>
              </a:rPr>
              <a:t>Without BLR we are an FD portfolio with a rating licence; with it, ratings revenue becomes the majority of income (68% in the base case) instead of 5%</a:t>
            </a:r>
            <a:endParaRPr lang="en-US" sz="1300" dirty="0"/>
          </a:p>
          <a:p>
            <a:pPr marL="203200" indent="-203200">
              <a:spcAft>
                <a:spcPts val="900"/>
              </a:spcAft>
              <a:buSzPct val="100000"/>
              <a:buChar char="•"/>
            </a:pPr>
            <a:r>
              <a:rPr lang="en-US" sz="1300" dirty="0">
                <a:solidFill>
                  <a:srgbClr val="2B3F52"/>
                </a:solidFill>
                <a:latin typeface="Calibri" pitchFamily="34" charset="0"/>
                <a:ea typeface="Calibri" pitchFamily="34" charset="-122"/>
                <a:cs typeface="Calibri" pitchFamily="34" charset="-120"/>
              </a:rPr>
              <a:t>BLR unit economics: Rs 100 Cr minimum ticket, 3 bps initial fee = Rs 3.0 L, plus 1.5 bps annual surveillance = Rs 1.5 L recurring per case that compounds each year the loan is outstanding</a:t>
            </a:r>
            <a:endParaRPr lang="en-US" sz="1300" dirty="0"/>
          </a:p>
          <a:p>
            <a:pPr marL="203200" indent="-203200">
              <a:spcAft>
                <a:spcPts val="900"/>
              </a:spcAft>
              <a:buSzPct val="100000"/>
              <a:buChar char="•"/>
            </a:pPr>
            <a:r>
              <a:rPr lang="en-US" sz="1300" dirty="0">
                <a:solidFill>
                  <a:srgbClr val="2B3F52"/>
                </a:solidFill>
                <a:latin typeface="Calibri" pitchFamily="34" charset="0"/>
                <a:ea typeface="Calibri" pitchFamily="34" charset="-122"/>
                <a:cs typeface="Calibri" pitchFamily="34" charset="-120"/>
              </a:rPr>
              <a:t>4 BDs already onboarded; target 16 cases/month = Rs 1,600 Cr rated monthly (~Rs 19,200 Cr/yr); full run-rate is Rs 5.76 Cr initial fees plus a Rs 2.88 Cr surveillance annuity</a:t>
            </a:r>
            <a:endParaRPr lang="en-US" sz="1300" dirty="0"/>
          </a:p>
          <a:p>
            <a:pPr marL="203200" indent="-203200">
              <a:spcAft>
                <a:spcPts val="900"/>
              </a:spcAft>
              <a:buSzPct val="100000"/>
              <a:buChar char="•"/>
            </a:pPr>
            <a:r>
              <a:rPr lang="en-US" sz="1300" dirty="0">
                <a:solidFill>
                  <a:srgbClr val="2B3F52"/>
                </a:solidFill>
                <a:latin typeface="Calibri" pitchFamily="34" charset="0"/>
                <a:ea typeface="Calibri" pitchFamily="34" charset="-122"/>
                <a:cs typeface="Calibri" pitchFamily="34" charset="-120"/>
              </a:rPr>
              <a:t>16 cases/month is the target and the #1 monthly KPI, not today's run-rate; the January cost trigger exists precisely because throughput is not yet proven</a:t>
            </a:r>
            <a:endParaRPr lang="en-US" sz="1300" dirty="0"/>
          </a:p>
        </p:txBody>
      </p:sp>
      <p:sp>
        <p:nvSpPr>
          <p:cNvPr id="5" name="Shape 3"/>
          <p:cNvSpPr/>
          <p:nvPr/>
        </p:nvSpPr>
        <p:spPr>
          <a:xfrm>
            <a:off x="640080" y="5486400"/>
            <a:ext cx="10911535" cy="777240"/>
          </a:xfrm>
          <a:prstGeom prst="rect">
            <a:avLst/>
          </a:prstGeom>
          <a:solidFill>
            <a:srgbClr val="EEF4F3"/>
          </a:solidFill>
          <a:ln/>
        </p:spPr>
      </p:sp>
      <p:sp>
        <p:nvSpPr>
          <p:cNvPr id="6" name="Shape 4"/>
          <p:cNvSpPr/>
          <p:nvPr/>
        </p:nvSpPr>
        <p:spPr>
          <a:xfrm>
            <a:off x="640080" y="5486400"/>
            <a:ext cx="82296" cy="777240"/>
          </a:xfrm>
          <a:prstGeom prst="rect">
            <a:avLst/>
          </a:prstGeom>
          <a:solidFill>
            <a:srgbClr val="0F766E"/>
          </a:solidFill>
          <a:ln/>
        </p:spPr>
      </p:sp>
      <p:sp>
        <p:nvSpPr>
          <p:cNvPr id="7" name="Text 5"/>
          <p:cNvSpPr/>
          <p:nvPr/>
        </p:nvSpPr>
        <p:spPr>
          <a:xfrm>
            <a:off x="896112" y="5486400"/>
            <a:ext cx="10454335" cy="777240"/>
          </a:xfrm>
          <a:prstGeom prst="rect">
            <a:avLst/>
          </a:prstGeom>
          <a:noFill/>
          <a:ln/>
        </p:spPr>
        <p:txBody>
          <a:bodyPr wrap="square" rtlCol="0" anchor="ctr"/>
          <a:lstStyle/>
          <a:p>
            <a:pPr indent="0" marL="0">
              <a:buNone/>
            </a:pPr>
            <a:r>
              <a:rPr lang="en-US" sz="1000" b="1" spc="100" kern="0" dirty="0">
                <a:solidFill>
                  <a:srgbClr val="0F766E"/>
                </a:solidFill>
                <a:latin typeface="Calibri" pitchFamily="34" charset="0"/>
                <a:ea typeface="Calibri" pitchFamily="34" charset="-122"/>
                <a:cs typeface="Calibri" pitchFamily="34" charset="-120"/>
              </a:rPr>
              <a:t>THE TAKEAWAY   </a:t>
            </a:r>
            <a:pPr indent="0" marL="0">
              <a:buNone/>
            </a:pPr>
            <a:r>
              <a:rPr lang="en-US" sz="1250" b="1" dirty="0">
                <a:solidFill>
                  <a:srgbClr val="0A1F33"/>
                </a:solidFill>
                <a:latin typeface="Calibri" pitchFamily="34" charset="0"/>
                <a:ea typeface="Calibri" pitchFamily="34" charset="-122"/>
                <a:cs typeface="Calibri" pitchFamily="34" charset="-120"/>
              </a:rPr>
              <a:t>Every Rs 100 Cr ticket adds Rs 3.0 L now and Rs 1.5 L every year after; the surveillance annuity is the prize, and 16/month is the metric we hold management to.</a:t>
            </a:r>
            <a:endParaRPr lang="en-US" sz="1000" dirty="0"/>
          </a:p>
        </p:txBody>
      </p:sp>
      <p:sp>
        <p:nvSpPr>
          <p:cNvPr id="8" name="Text 6"/>
          <p:cNvSpPr/>
          <p:nvPr/>
        </p:nvSpPr>
        <p:spPr>
          <a:xfrm>
            <a:off x="11155680" y="6400800"/>
            <a:ext cx="457200" cy="274320"/>
          </a:xfrm>
          <a:prstGeom prst="rect">
            <a:avLst/>
          </a:prstGeom>
          <a:noFill/>
          <a:ln/>
        </p:spPr>
        <p:txBody>
          <a:bodyPr wrap="square" rtlCol="0" anchor="ctr"/>
          <a:lstStyle/>
          <a:p>
            <a:pPr algn="r" indent="0" marL="0">
              <a:buNone/>
            </a:pPr>
            <a:r>
              <a:rPr lang="en-US" sz="900" dirty="0">
                <a:solidFill>
                  <a:srgbClr val="9AA7B4"/>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515600" cy="274320"/>
          </a:xfrm>
          <a:prstGeom prst="rect">
            <a:avLst/>
          </a:prstGeom>
          <a:noFill/>
          <a:ln/>
        </p:spPr>
        <p:txBody>
          <a:bodyPr wrap="square"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MARKET &amp; DOABILITY</a:t>
            </a:r>
            <a:endParaRPr lang="en-US" sz="1100" dirty="0"/>
          </a:p>
        </p:txBody>
      </p:sp>
      <p:sp>
        <p:nvSpPr>
          <p:cNvPr id="3" name="Text 1"/>
          <p:cNvSpPr/>
          <p:nvPr/>
        </p:nvSpPr>
        <p:spPr>
          <a:xfrm>
            <a:off x="640080" y="749808"/>
            <a:ext cx="10911535" cy="1371600"/>
          </a:xfrm>
          <a:prstGeom prst="rect">
            <a:avLst/>
          </a:prstGeom>
          <a:noFill/>
          <a:ln/>
        </p:spPr>
        <p:txBody>
          <a:bodyPr wrap="square" rtlCol="0" anchor="t"/>
          <a:lstStyle/>
          <a:p>
            <a:pPr indent="0" marL="0">
              <a:lnSpc>
                <a:spcPct val="104000"/>
              </a:lnSpc>
              <a:buNone/>
            </a:pPr>
            <a:r>
              <a:rPr lang="en-US" sz="2000" b="1" dirty="0">
                <a:solidFill>
                  <a:srgbClr val="0A1F33"/>
                </a:solidFill>
                <a:latin typeface="Cambria" pitchFamily="34" charset="0"/>
                <a:ea typeface="Cambria" pitchFamily="34" charset="-122"/>
                <a:cs typeface="Cambria" pitchFamily="34" charset="-120"/>
              </a:rPr>
              <a:t>A Rs 2,000 Cr rating market has room for a disciplined entrant: our FY28 target of Rs 8 Cr is a credible 0.4% slice, not a land grab</a:t>
            </a:r>
            <a:endParaRPr lang="en-US" sz="2000" dirty="0"/>
          </a:p>
        </p:txBody>
      </p:sp>
      <p:sp>
        <p:nvSpPr>
          <p:cNvPr id="4" name="Text 2"/>
          <p:cNvSpPr/>
          <p:nvPr/>
        </p:nvSpPr>
        <p:spPr>
          <a:xfrm>
            <a:off x="640080" y="2286000"/>
            <a:ext cx="10911535" cy="3017520"/>
          </a:xfrm>
          <a:prstGeom prst="rect">
            <a:avLst/>
          </a:prstGeom>
          <a:noFill/>
          <a:ln/>
        </p:spPr>
        <p:txBody>
          <a:bodyPr wrap="square" rtlCol="0" anchor="t"/>
          <a:lstStyle/>
          <a:p>
            <a:pPr marL="203200" indent="-203200">
              <a:spcAft>
                <a:spcPts val="900"/>
              </a:spcAft>
              <a:buSzPct val="100000"/>
              <a:buChar char="•"/>
            </a:pPr>
            <a:r>
              <a:rPr lang="en-US" sz="1300" dirty="0">
                <a:solidFill>
                  <a:srgbClr val="2B3F52"/>
                </a:solidFill>
                <a:latin typeface="Calibri" pitchFamily="34" charset="0"/>
                <a:ea typeface="Calibri" pitchFamily="34" charset="-122"/>
                <a:cs typeface="Calibri" pitchFamily="34" charset="-120"/>
              </a:rPr>
              <a:t>We are not competing for the market: TAM Rs 2,000 Cr, SAM Rs 500 Cr in the Rs 100 Cr+ BLR segment, ACER SOM ~Rs 8 Cr by FY28 = ~0.4% of industry and ~1.6% of the BLR SAM</a:t>
            </a:r>
            <a:endParaRPr lang="en-US" sz="1300" dirty="0"/>
          </a:p>
          <a:p>
            <a:pPr marL="203200" indent="-203200">
              <a:spcAft>
                <a:spcPts val="900"/>
              </a:spcAft>
              <a:buSzPct val="100000"/>
              <a:buChar char="•"/>
            </a:pPr>
            <a:r>
              <a:rPr lang="en-US" sz="1300" dirty="0">
                <a:solidFill>
                  <a:srgbClr val="2B3F52"/>
                </a:solidFill>
                <a:latin typeface="Calibri" pitchFamily="34" charset="0"/>
                <a:ea typeface="Calibri" pitchFamily="34" charset="-122"/>
                <a:cs typeface="Calibri" pitchFamily="34" charset="-120"/>
              </a:rPr>
              <a:t>Peers span a wide scale: CRISIL Rs 909 Cr, ICRA Rs 498 Cr, CARE Rs 423 Cr, India Ratings Rs 251 Cr at the top; Infomerics Rs 95 Cr, Acuite Rs 57 Cr, Brickwork Rs 5.9 Cr prove viable businesses exist well below the leaders</a:t>
            </a:r>
            <a:endParaRPr lang="en-US" sz="1300" dirty="0"/>
          </a:p>
          <a:p>
            <a:pPr marL="203200" indent="-203200">
              <a:spcAft>
                <a:spcPts val="900"/>
              </a:spcAft>
              <a:buSzPct val="100000"/>
              <a:buChar char="•"/>
            </a:pPr>
            <a:r>
              <a:rPr lang="en-US" sz="1300" dirty="0">
                <a:solidFill>
                  <a:srgbClr val="2B3F52"/>
                </a:solidFill>
                <a:latin typeface="Calibri" pitchFamily="34" charset="0"/>
                <a:ea typeface="Calibri" pitchFamily="34" charset="-122"/>
                <a:cs typeface="Calibri" pitchFamily="34" charset="-120"/>
              </a:rPr>
              <a:t>Why a borrower picks ACER: dedicated senior attention and turnaround speed on the Rs 100 Cr+ ticket that larger CRAs treat as commodity volume; a genuine challenger relationship for banks</a:t>
            </a:r>
            <a:endParaRPr lang="en-US" sz="1300" dirty="0"/>
          </a:p>
          <a:p>
            <a:pPr marL="203200" indent="-203200">
              <a:spcAft>
                <a:spcPts val="900"/>
              </a:spcAft>
              <a:buSzPct val="100000"/>
              <a:buChar char="•"/>
            </a:pPr>
            <a:r>
              <a:rPr lang="en-US" sz="1300" dirty="0">
                <a:solidFill>
                  <a:srgbClr val="2B3F52"/>
                </a:solidFill>
                <a:latin typeface="Calibri" pitchFamily="34" charset="0"/>
                <a:ea typeface="Calibri" pitchFamily="34" charset="-122"/>
                <a:cs typeface="Calibri" pitchFamily="34" charset="-120"/>
              </a:rPr>
              <a:t>Infomerics is the template, not a theory: BLR-led, its rating revenue grew from Rs 64 Cr to Rs 95 Cr in three years on exactly this segment</a:t>
            </a:r>
            <a:endParaRPr lang="en-US" sz="1300" dirty="0"/>
          </a:p>
        </p:txBody>
      </p:sp>
      <p:sp>
        <p:nvSpPr>
          <p:cNvPr id="5" name="Shape 3"/>
          <p:cNvSpPr/>
          <p:nvPr/>
        </p:nvSpPr>
        <p:spPr>
          <a:xfrm>
            <a:off x="640080" y="5486400"/>
            <a:ext cx="10911535" cy="777240"/>
          </a:xfrm>
          <a:prstGeom prst="rect">
            <a:avLst/>
          </a:prstGeom>
          <a:solidFill>
            <a:srgbClr val="EEF4F3"/>
          </a:solidFill>
          <a:ln/>
        </p:spPr>
      </p:sp>
      <p:sp>
        <p:nvSpPr>
          <p:cNvPr id="6" name="Shape 4"/>
          <p:cNvSpPr/>
          <p:nvPr/>
        </p:nvSpPr>
        <p:spPr>
          <a:xfrm>
            <a:off x="640080" y="5486400"/>
            <a:ext cx="82296" cy="777240"/>
          </a:xfrm>
          <a:prstGeom prst="rect">
            <a:avLst/>
          </a:prstGeom>
          <a:solidFill>
            <a:srgbClr val="0F766E"/>
          </a:solidFill>
          <a:ln/>
        </p:spPr>
      </p:sp>
      <p:sp>
        <p:nvSpPr>
          <p:cNvPr id="7" name="Text 5"/>
          <p:cNvSpPr/>
          <p:nvPr/>
        </p:nvSpPr>
        <p:spPr>
          <a:xfrm>
            <a:off x="896112" y="5486400"/>
            <a:ext cx="10454335" cy="777240"/>
          </a:xfrm>
          <a:prstGeom prst="rect">
            <a:avLst/>
          </a:prstGeom>
          <a:noFill/>
          <a:ln/>
        </p:spPr>
        <p:txBody>
          <a:bodyPr wrap="square" rtlCol="0" anchor="ctr"/>
          <a:lstStyle/>
          <a:p>
            <a:pPr indent="0" marL="0">
              <a:buNone/>
            </a:pPr>
            <a:r>
              <a:rPr lang="en-US" sz="1000" b="1" spc="100" kern="0" dirty="0">
                <a:solidFill>
                  <a:srgbClr val="0F766E"/>
                </a:solidFill>
                <a:latin typeface="Calibri" pitchFamily="34" charset="0"/>
                <a:ea typeface="Calibri" pitchFamily="34" charset="-122"/>
                <a:cs typeface="Calibri" pitchFamily="34" charset="-120"/>
              </a:rPr>
              <a:t>THE TAKEAWAY   </a:t>
            </a:r>
            <a:pPr indent="0" marL="0">
              <a:buNone/>
            </a:pPr>
            <a:r>
              <a:rPr lang="en-US" sz="1250" b="1" dirty="0">
                <a:solidFill>
                  <a:srgbClr val="0A1F33"/>
                </a:solidFill>
                <a:latin typeface="Calibri" pitchFamily="34" charset="0"/>
                <a:ea typeface="Calibri" pitchFamily="34" charset="-122"/>
                <a:cs typeface="Calibri" pitchFamily="34" charset="-120"/>
              </a:rPr>
              <a:t>Ambition sized to credibility: a fractional share of a real, growing market that a Rs 8 Cr player can defensibly win.</a:t>
            </a:r>
            <a:endParaRPr lang="en-US" sz="1000" dirty="0"/>
          </a:p>
        </p:txBody>
      </p:sp>
      <p:sp>
        <p:nvSpPr>
          <p:cNvPr id="8" name="Text 6"/>
          <p:cNvSpPr/>
          <p:nvPr/>
        </p:nvSpPr>
        <p:spPr>
          <a:xfrm>
            <a:off x="11155680" y="6400800"/>
            <a:ext cx="457200" cy="274320"/>
          </a:xfrm>
          <a:prstGeom prst="rect">
            <a:avLst/>
          </a:prstGeom>
          <a:noFill/>
          <a:ln/>
        </p:spPr>
        <p:txBody>
          <a:bodyPr wrap="square" rtlCol="0" anchor="ctr"/>
          <a:lstStyle/>
          <a:p>
            <a:pPr algn="r" indent="0" marL="0">
              <a:buNone/>
            </a:pPr>
            <a:r>
              <a:rPr lang="en-US" sz="900" dirty="0">
                <a:solidFill>
                  <a:srgbClr val="9AA7B4"/>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515600" cy="274320"/>
          </a:xfrm>
          <a:prstGeom prst="rect">
            <a:avLst/>
          </a:prstGeom>
          <a:noFill/>
          <a:ln/>
        </p:spPr>
        <p:txBody>
          <a:bodyPr wrap="square"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SCENARIOS &amp; BREAK-EVEN</a:t>
            </a:r>
            <a:endParaRPr lang="en-US" sz="1100" dirty="0"/>
          </a:p>
        </p:txBody>
      </p:sp>
      <p:sp>
        <p:nvSpPr>
          <p:cNvPr id="3" name="Text 1"/>
          <p:cNvSpPr/>
          <p:nvPr/>
        </p:nvSpPr>
        <p:spPr>
          <a:xfrm>
            <a:off x="640080" y="749808"/>
            <a:ext cx="10911535" cy="1371600"/>
          </a:xfrm>
          <a:prstGeom prst="rect">
            <a:avLst/>
          </a:prstGeom>
          <a:noFill/>
          <a:ln/>
        </p:spPr>
        <p:txBody>
          <a:bodyPr wrap="square" rtlCol="0" anchor="t"/>
          <a:lstStyle/>
          <a:p>
            <a:pPr indent="0" marL="0">
              <a:lnSpc>
                <a:spcPct val="104000"/>
              </a:lnSpc>
              <a:buNone/>
            </a:pPr>
            <a:r>
              <a:rPr lang="en-US" sz="2000" b="1" dirty="0">
                <a:solidFill>
                  <a:srgbClr val="0A1F33"/>
                </a:solidFill>
                <a:latin typeface="Cambria" pitchFamily="34" charset="0"/>
                <a:ea typeface="Cambria" pitchFamily="34" charset="-122"/>
                <a:cs typeface="Cambria" pitchFamily="34" charset="-120"/>
              </a:rPr>
              <a:t>Only the BLR licence date decides whether FY27 turns cash positive; the Rs 5.24 Cr cost base and Rs 1.80 Cr FD interest are identical in all three cases</a:t>
            </a:r>
            <a:endParaRPr lang="en-US" sz="2000" dirty="0"/>
          </a:p>
        </p:txBody>
      </p:sp>
      <p:sp>
        <p:nvSpPr>
          <p:cNvPr id="4" name="Text 2"/>
          <p:cNvSpPr/>
          <p:nvPr/>
        </p:nvSpPr>
        <p:spPr>
          <a:xfrm>
            <a:off x="640080" y="2286000"/>
            <a:ext cx="10911535" cy="3017520"/>
          </a:xfrm>
          <a:prstGeom prst="rect">
            <a:avLst/>
          </a:prstGeom>
          <a:noFill/>
          <a:ln/>
        </p:spPr>
        <p:txBody>
          <a:bodyPr wrap="square" rtlCol="0" anchor="t"/>
          <a:lstStyle/>
          <a:p>
            <a:pPr marL="203200" indent="-203200">
              <a:spcAft>
                <a:spcPts val="900"/>
              </a:spcAft>
              <a:buSzPct val="100000"/>
              <a:buChar char="•"/>
            </a:pPr>
            <a:r>
              <a:rPr lang="en-US" sz="1300" dirty="0">
                <a:solidFill>
                  <a:srgbClr val="2B3F52"/>
                </a:solidFill>
                <a:latin typeface="Calibri" pitchFamily="34" charset="0"/>
                <a:ea typeface="Calibri" pitchFamily="34" charset="-122"/>
                <a:cs typeface="Calibri" pitchFamily="34" charset="-120"/>
              </a:rPr>
              <a:t>S1 - BLR live by 1 Oct: income Rs 5.55 Cr, net +Rs 0.31 Cr, ratings 68% of income, cash positive from October</a:t>
            </a:r>
            <a:endParaRPr lang="en-US" sz="1300" dirty="0"/>
          </a:p>
          <a:p>
            <a:pPr marL="203200" indent="-203200">
              <a:spcAft>
                <a:spcPts val="900"/>
              </a:spcAft>
              <a:buSzPct val="100000"/>
              <a:buChar char="•"/>
            </a:pPr>
            <a:r>
              <a:rPr lang="en-US" sz="1300" dirty="0">
                <a:solidFill>
                  <a:srgbClr val="2B3F52"/>
                </a:solidFill>
                <a:latin typeface="Calibri" pitchFamily="34" charset="0"/>
                <a:ea typeface="Calibri" pitchFamily="34" charset="-122"/>
                <a:cs typeface="Calibri" pitchFamily="34" charset="-120"/>
              </a:rPr>
              <a:t>S2 - BLR live by 1 Jan: income Rs 4.11 Cr, net -Rs 1.13 Cr, ratings 56%, break-even only in January</a:t>
            </a:r>
            <a:endParaRPr lang="en-US" sz="1300" dirty="0"/>
          </a:p>
          <a:p>
            <a:pPr marL="203200" indent="-203200">
              <a:spcAft>
                <a:spcPts val="900"/>
              </a:spcAft>
              <a:buSzPct val="100000"/>
              <a:buChar char="•"/>
            </a:pPr>
            <a:r>
              <a:rPr lang="en-US" sz="1300" dirty="0">
                <a:solidFill>
                  <a:srgbClr val="2B3F52"/>
                </a:solidFill>
                <a:latin typeface="Calibri" pitchFamily="34" charset="0"/>
                <a:ea typeface="Calibri" pitchFamily="34" charset="-122"/>
                <a:cs typeface="Calibri" pitchFamily="34" charset="-120"/>
              </a:rPr>
              <a:t>S3 - No BLR in FY27: income Rs 2.67 Cr, net -Rs 2.57 Cr, ratings 33%, no break-even, still FD-dependent</a:t>
            </a:r>
            <a:endParaRPr lang="en-US" sz="1300" dirty="0"/>
          </a:p>
          <a:p>
            <a:pPr marL="203200" indent="-203200">
              <a:spcAft>
                <a:spcPts val="900"/>
              </a:spcAft>
              <a:buSzPct val="100000"/>
              <a:buChar char="•"/>
            </a:pPr>
            <a:r>
              <a:rPr lang="en-US" sz="1300" dirty="0">
                <a:solidFill>
                  <a:srgbClr val="2B3F52"/>
                </a:solidFill>
                <a:latin typeface="Calibri" pitchFamily="34" charset="0"/>
                <a:ea typeface="Calibri" pitchFamily="34" charset="-122"/>
                <a:cs typeface="Calibri" pitchFamily="34" charset="-120"/>
              </a:rPr>
              <a:t>The entire swing from +Rs 0.31 Cr to -Rs 2.57 Cr is BLR fee income; the S1 +Rs 0.31 Cr is thin (partial-year ramp on a fixed cost base) and flips to a loss on a single quarter's slip</a:t>
            </a:r>
            <a:endParaRPr lang="en-US" sz="1300" dirty="0"/>
          </a:p>
        </p:txBody>
      </p:sp>
      <p:sp>
        <p:nvSpPr>
          <p:cNvPr id="5" name="Shape 3"/>
          <p:cNvSpPr/>
          <p:nvPr/>
        </p:nvSpPr>
        <p:spPr>
          <a:xfrm>
            <a:off x="640080" y="5486400"/>
            <a:ext cx="10911535" cy="777240"/>
          </a:xfrm>
          <a:prstGeom prst="rect">
            <a:avLst/>
          </a:prstGeom>
          <a:solidFill>
            <a:srgbClr val="EEF4F3"/>
          </a:solidFill>
          <a:ln/>
        </p:spPr>
      </p:sp>
      <p:sp>
        <p:nvSpPr>
          <p:cNvPr id="6" name="Shape 4"/>
          <p:cNvSpPr/>
          <p:nvPr/>
        </p:nvSpPr>
        <p:spPr>
          <a:xfrm>
            <a:off x="640080" y="5486400"/>
            <a:ext cx="82296" cy="777240"/>
          </a:xfrm>
          <a:prstGeom prst="rect">
            <a:avLst/>
          </a:prstGeom>
          <a:solidFill>
            <a:srgbClr val="0F766E"/>
          </a:solidFill>
          <a:ln/>
        </p:spPr>
      </p:sp>
      <p:sp>
        <p:nvSpPr>
          <p:cNvPr id="7" name="Text 5"/>
          <p:cNvSpPr/>
          <p:nvPr/>
        </p:nvSpPr>
        <p:spPr>
          <a:xfrm>
            <a:off x="896112" y="5486400"/>
            <a:ext cx="10454335" cy="777240"/>
          </a:xfrm>
          <a:prstGeom prst="rect">
            <a:avLst/>
          </a:prstGeom>
          <a:noFill/>
          <a:ln/>
        </p:spPr>
        <p:txBody>
          <a:bodyPr wrap="square" rtlCol="0" anchor="ctr"/>
          <a:lstStyle/>
          <a:p>
            <a:pPr indent="0" marL="0">
              <a:buNone/>
            </a:pPr>
            <a:r>
              <a:rPr lang="en-US" sz="1000" b="1" spc="100" kern="0" dirty="0">
                <a:solidFill>
                  <a:srgbClr val="0F766E"/>
                </a:solidFill>
                <a:latin typeface="Calibri" pitchFamily="34" charset="0"/>
                <a:ea typeface="Calibri" pitchFamily="34" charset="-122"/>
                <a:cs typeface="Calibri" pitchFamily="34" charset="-120"/>
              </a:rPr>
              <a:t>THE TAKEAWAY   </a:t>
            </a:r>
            <a:pPr indent="0" marL="0">
              <a:buNone/>
            </a:pPr>
            <a:r>
              <a:rPr lang="en-US" sz="1250" b="1" dirty="0">
                <a:solidFill>
                  <a:srgbClr val="0A1F33"/>
                </a:solidFill>
                <a:latin typeface="Calibri" pitchFamily="34" charset="0"/>
                <a:ea typeface="Calibri" pitchFamily="34" charset="-122"/>
                <a:cs typeface="Calibri" pitchFamily="34" charset="-120"/>
              </a:rPr>
              <a:t>Every quarter BLR slips erases the base-case profit; we present S1 as break-even, not profit, and every month of delay pushes break-even out.</a:t>
            </a:r>
            <a:endParaRPr lang="en-US" sz="1000" dirty="0"/>
          </a:p>
        </p:txBody>
      </p:sp>
      <p:sp>
        <p:nvSpPr>
          <p:cNvPr id="8" name="Text 6"/>
          <p:cNvSpPr/>
          <p:nvPr/>
        </p:nvSpPr>
        <p:spPr>
          <a:xfrm>
            <a:off x="11155680" y="6400800"/>
            <a:ext cx="457200" cy="274320"/>
          </a:xfrm>
          <a:prstGeom prst="rect">
            <a:avLst/>
          </a:prstGeom>
          <a:noFill/>
          <a:ln/>
        </p:spPr>
        <p:txBody>
          <a:bodyPr wrap="square" rtlCol="0" anchor="ctr"/>
          <a:lstStyle/>
          <a:p>
            <a:pPr algn="r" indent="0" marL="0">
              <a:buNone/>
            </a:pPr>
            <a:r>
              <a:rPr lang="en-US" sz="900" dirty="0">
                <a:solidFill>
                  <a:srgbClr val="9AA7B4"/>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515600" cy="274320"/>
          </a:xfrm>
          <a:prstGeom prst="rect">
            <a:avLst/>
          </a:prstGeom>
          <a:noFill/>
          <a:ln/>
        </p:spPr>
        <p:txBody>
          <a:bodyPr wrap="square"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BUDGET &amp; FUNDING</a:t>
            </a:r>
            <a:endParaRPr lang="en-US" sz="1100" dirty="0"/>
          </a:p>
        </p:txBody>
      </p:sp>
      <p:sp>
        <p:nvSpPr>
          <p:cNvPr id="3" name="Text 1"/>
          <p:cNvSpPr/>
          <p:nvPr/>
        </p:nvSpPr>
        <p:spPr>
          <a:xfrm>
            <a:off x="640080" y="749808"/>
            <a:ext cx="10911535" cy="1371600"/>
          </a:xfrm>
          <a:prstGeom prst="rect">
            <a:avLst/>
          </a:prstGeom>
          <a:noFill/>
          <a:ln/>
        </p:spPr>
        <p:txBody>
          <a:bodyPr wrap="square" rtlCol="0" anchor="t"/>
          <a:lstStyle/>
          <a:p>
            <a:pPr indent="0" marL="0">
              <a:lnSpc>
                <a:spcPct val="104000"/>
              </a:lnSpc>
              <a:buNone/>
            </a:pPr>
            <a:r>
              <a:rPr lang="en-US" sz="2000" b="1" dirty="0">
                <a:solidFill>
                  <a:srgbClr val="0A1F33"/>
                </a:solidFill>
                <a:latin typeface="Cambria" pitchFamily="34" charset="0"/>
                <a:ea typeface="Cambria" pitchFamily="34" charset="-122"/>
                <a:cs typeface="Cambria" pitchFamily="34" charset="-120"/>
              </a:rPr>
              <a:t>Approve the Rs 5.24 Cr FY27 budget: reserves fully absorb any loss year and the Rs 25 Cr SEBI net worth is never touched, so a loss is a funding choice, not a solvency risk</a:t>
            </a:r>
            <a:endParaRPr lang="en-US" sz="2000" dirty="0"/>
          </a:p>
        </p:txBody>
      </p:sp>
      <p:sp>
        <p:nvSpPr>
          <p:cNvPr id="4" name="Text 2"/>
          <p:cNvSpPr/>
          <p:nvPr/>
        </p:nvSpPr>
        <p:spPr>
          <a:xfrm>
            <a:off x="640080" y="2286000"/>
            <a:ext cx="10911535" cy="3017520"/>
          </a:xfrm>
          <a:prstGeom prst="rect">
            <a:avLst/>
          </a:prstGeom>
          <a:noFill/>
          <a:ln/>
        </p:spPr>
        <p:txBody>
          <a:bodyPr wrap="square" rtlCol="0" anchor="t"/>
          <a:lstStyle/>
          <a:p>
            <a:pPr marL="203200" indent="-203200">
              <a:spcAft>
                <a:spcPts val="900"/>
              </a:spcAft>
              <a:buSzPct val="100000"/>
              <a:buChar char="•"/>
            </a:pPr>
            <a:r>
              <a:rPr lang="en-US" sz="1300" dirty="0">
                <a:solidFill>
                  <a:srgbClr val="2B3F52"/>
                </a:solidFill>
                <a:latin typeface="Calibri" pitchFamily="34" charset="0"/>
                <a:ea typeface="Calibri" pitchFamily="34" charset="-122"/>
                <a:cs typeface="Calibri" pitchFamily="34" charset="-120"/>
              </a:rPr>
              <a:t>Cost base Rs 5.24 Cr fixed across all scenarios (~58% salary); FD interest of Rs 1.80 Cr recurs regardless of licence timing</a:t>
            </a:r>
            <a:endParaRPr lang="en-US" sz="1300" dirty="0"/>
          </a:p>
          <a:p>
            <a:pPr marL="203200" indent="-203200">
              <a:spcAft>
                <a:spcPts val="900"/>
              </a:spcAft>
              <a:buSzPct val="100000"/>
              <a:buChar char="•"/>
            </a:pPr>
            <a:r>
              <a:rPr lang="en-US" sz="1300" dirty="0">
                <a:solidFill>
                  <a:srgbClr val="2B3F52"/>
                </a:solidFill>
                <a:latin typeface="Calibri" pitchFamily="34" charset="0"/>
                <a:ea typeface="Calibri" pitchFamily="34" charset="-122"/>
                <a:cs typeface="Calibri" pitchFamily="34" charset="-120"/>
              </a:rPr>
              <a:t>Any loss is funded from ~Rs 3.0 Cr accessible funds plus Rs 1.8 Cr/yr FD interest; the Rs 25 Cr SEBI net worth is locked and never touched in any scenario</a:t>
            </a:r>
            <a:endParaRPr lang="en-US" sz="1300" dirty="0"/>
          </a:p>
          <a:p>
            <a:pPr marL="203200" indent="-203200">
              <a:spcAft>
                <a:spcPts val="900"/>
              </a:spcAft>
              <a:buSzPct val="100000"/>
              <a:buChar char="•"/>
            </a:pPr>
            <a:r>
              <a:rPr lang="en-US" sz="1300" dirty="0">
                <a:solidFill>
                  <a:srgbClr val="2B3F52"/>
                </a:solidFill>
                <a:latin typeface="Calibri" pitchFamily="34" charset="0"/>
                <a:ea typeface="Calibri" pitchFamily="34" charset="-122"/>
                <a:cs typeface="Calibri" pitchFamily="34" charset="-120"/>
              </a:rPr>
              <a:t>Worst case (S3, no BLR): we lose Rs 2.57 Cr and stay FD-dependent at 33% ratings share, fully funded, registration never at risk, but a real cash burn and the reason for the hard January review</a:t>
            </a:r>
            <a:endParaRPr lang="en-US" sz="1300" dirty="0"/>
          </a:p>
          <a:p>
            <a:pPr marL="203200" indent="-203200">
              <a:spcAft>
                <a:spcPts val="900"/>
              </a:spcAft>
              <a:buSzPct val="100000"/>
              <a:buChar char="•"/>
            </a:pPr>
            <a:r>
              <a:rPr lang="en-US" sz="1300" dirty="0">
                <a:solidFill>
                  <a:srgbClr val="2B3F52"/>
                </a:solidFill>
                <a:latin typeface="Calibri" pitchFamily="34" charset="0"/>
                <a:ea typeface="Calibri" pitchFamily="34" charset="-122"/>
                <a:cs typeface="Calibri" pitchFamily="34" charset="-120"/>
              </a:rPr>
              <a:t>Base-case trajectory once BLR compounds: operating revenue Rs 3.8 Cr FY27, Rs 8.3 Cr FY28 (BLR initial Rs 5.76 Cr + surveillance Rs 1.44 Cr + existing Rs 1.10 Cr), Rs 11.3 Cr FY29, Rs 16 Cr FY30</a:t>
            </a:r>
            <a:endParaRPr lang="en-US" sz="1300" dirty="0"/>
          </a:p>
        </p:txBody>
      </p:sp>
      <p:sp>
        <p:nvSpPr>
          <p:cNvPr id="5" name="Shape 3"/>
          <p:cNvSpPr/>
          <p:nvPr/>
        </p:nvSpPr>
        <p:spPr>
          <a:xfrm>
            <a:off x="640080" y="5486400"/>
            <a:ext cx="10911535" cy="777240"/>
          </a:xfrm>
          <a:prstGeom prst="rect">
            <a:avLst/>
          </a:prstGeom>
          <a:solidFill>
            <a:srgbClr val="EEF4F3"/>
          </a:solidFill>
          <a:ln/>
        </p:spPr>
      </p:sp>
      <p:sp>
        <p:nvSpPr>
          <p:cNvPr id="6" name="Shape 4"/>
          <p:cNvSpPr/>
          <p:nvPr/>
        </p:nvSpPr>
        <p:spPr>
          <a:xfrm>
            <a:off x="640080" y="5486400"/>
            <a:ext cx="82296" cy="777240"/>
          </a:xfrm>
          <a:prstGeom prst="rect">
            <a:avLst/>
          </a:prstGeom>
          <a:solidFill>
            <a:srgbClr val="0F766E"/>
          </a:solidFill>
          <a:ln/>
        </p:spPr>
      </p:sp>
      <p:sp>
        <p:nvSpPr>
          <p:cNvPr id="7" name="Text 5"/>
          <p:cNvSpPr/>
          <p:nvPr/>
        </p:nvSpPr>
        <p:spPr>
          <a:xfrm>
            <a:off x="896112" y="5486400"/>
            <a:ext cx="10454335" cy="777240"/>
          </a:xfrm>
          <a:prstGeom prst="rect">
            <a:avLst/>
          </a:prstGeom>
          <a:noFill/>
          <a:ln/>
        </p:spPr>
        <p:txBody>
          <a:bodyPr wrap="square" rtlCol="0" anchor="ctr"/>
          <a:lstStyle/>
          <a:p>
            <a:pPr indent="0" marL="0">
              <a:buNone/>
            </a:pPr>
            <a:r>
              <a:rPr lang="en-US" sz="1000" b="1" spc="100" kern="0" dirty="0">
                <a:solidFill>
                  <a:srgbClr val="0F766E"/>
                </a:solidFill>
                <a:latin typeface="Calibri" pitchFamily="34" charset="0"/>
                <a:ea typeface="Calibri" pitchFamily="34" charset="-122"/>
                <a:cs typeface="Calibri" pitchFamily="34" charset="-120"/>
              </a:rPr>
              <a:t>THE TAKEAWAY   </a:t>
            </a:r>
            <a:pPr indent="0" marL="0">
              <a:buNone/>
            </a:pPr>
            <a:r>
              <a:rPr lang="en-US" sz="1250" b="1" dirty="0">
                <a:solidFill>
                  <a:srgbClr val="0A1F33"/>
                </a:solidFill>
                <a:latin typeface="Calibri" pitchFamily="34" charset="0"/>
                <a:ea typeface="Calibri" pitchFamily="34" charset="-122"/>
                <a:cs typeface="Calibri" pitchFamily="34" charset="-120"/>
              </a:rPr>
              <a:t>A loss year here is a deliberate investment absorbed by accessible reserves, never a solvency event, with a hard cost trigger if BLR slips past January.</a:t>
            </a:r>
            <a:endParaRPr lang="en-US" sz="1000" dirty="0"/>
          </a:p>
        </p:txBody>
      </p:sp>
      <p:sp>
        <p:nvSpPr>
          <p:cNvPr id="8" name="Text 6"/>
          <p:cNvSpPr/>
          <p:nvPr/>
        </p:nvSpPr>
        <p:spPr>
          <a:xfrm>
            <a:off x="11155680" y="6400800"/>
            <a:ext cx="457200" cy="274320"/>
          </a:xfrm>
          <a:prstGeom prst="rect">
            <a:avLst/>
          </a:prstGeom>
          <a:noFill/>
          <a:ln/>
        </p:spPr>
        <p:txBody>
          <a:bodyPr wrap="square" rtlCol="0" anchor="ctr"/>
          <a:lstStyle/>
          <a:p>
            <a:pPr algn="r" indent="0" marL="0">
              <a:buNone/>
            </a:pPr>
            <a:r>
              <a:rPr lang="en-US" sz="900" dirty="0">
                <a:solidFill>
                  <a:srgbClr val="9AA7B4"/>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515600" cy="274320"/>
          </a:xfrm>
          <a:prstGeom prst="rect">
            <a:avLst/>
          </a:prstGeom>
          <a:noFill/>
          <a:ln/>
        </p:spPr>
        <p:txBody>
          <a:bodyPr wrap="square"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RISK</a:t>
            </a:r>
            <a:endParaRPr lang="en-US" sz="1100" dirty="0"/>
          </a:p>
        </p:txBody>
      </p:sp>
      <p:sp>
        <p:nvSpPr>
          <p:cNvPr id="3" name="Text 1"/>
          <p:cNvSpPr/>
          <p:nvPr/>
        </p:nvSpPr>
        <p:spPr>
          <a:xfrm>
            <a:off x="640080" y="749808"/>
            <a:ext cx="10911535" cy="1371600"/>
          </a:xfrm>
          <a:prstGeom prst="rect">
            <a:avLst/>
          </a:prstGeom>
          <a:noFill/>
          <a:ln/>
        </p:spPr>
        <p:txBody>
          <a:bodyPr wrap="square" rtlCol="0" anchor="t"/>
          <a:lstStyle/>
          <a:p>
            <a:pPr indent="0" marL="0">
              <a:lnSpc>
                <a:spcPct val="104000"/>
              </a:lnSpc>
              <a:buNone/>
            </a:pPr>
            <a:r>
              <a:rPr lang="en-US" sz="2000" b="1" dirty="0">
                <a:solidFill>
                  <a:srgbClr val="0A1F33"/>
                </a:solidFill>
                <a:latin typeface="Cambria" pitchFamily="34" charset="0"/>
                <a:ea typeface="Cambria" pitchFamily="34" charset="-122"/>
                <a:cs typeface="Cambria" pitchFamily="34" charset="-120"/>
              </a:rPr>
              <a:t>Compliance is the one risk that ends the business, not just a bad year: Brickwork lost its SEBI registration in 2022 and rating revenue collapsed from ~Rs 48.5 Cr to ~Rs 5 Cr</a:t>
            </a:r>
            <a:endParaRPr lang="en-US" sz="2000" dirty="0"/>
          </a:p>
        </p:txBody>
      </p:sp>
      <p:sp>
        <p:nvSpPr>
          <p:cNvPr id="4" name="Text 2"/>
          <p:cNvSpPr/>
          <p:nvPr/>
        </p:nvSpPr>
        <p:spPr>
          <a:xfrm>
            <a:off x="640080" y="2286000"/>
            <a:ext cx="10911535" cy="3017520"/>
          </a:xfrm>
          <a:prstGeom prst="rect">
            <a:avLst/>
          </a:prstGeom>
          <a:noFill/>
          <a:ln/>
        </p:spPr>
        <p:txBody>
          <a:bodyPr wrap="square" rtlCol="0" anchor="t"/>
          <a:lstStyle/>
          <a:p>
            <a:pPr marL="203200" indent="-203200">
              <a:spcAft>
                <a:spcPts val="900"/>
              </a:spcAft>
              <a:buSzPct val="100000"/>
              <a:buChar char="•"/>
            </a:pPr>
            <a:r>
              <a:rPr lang="en-US" sz="1300" dirty="0">
                <a:solidFill>
                  <a:srgbClr val="2B3F52"/>
                </a:solidFill>
                <a:latin typeface="Calibri" pitchFamily="34" charset="0"/>
                <a:ea typeface="Calibri" pitchFamily="34" charset="-122"/>
                <a:cs typeface="Calibri" pitchFamily="34" charset="-120"/>
              </a:rPr>
              <a:t>Existential risk: rating-process lapses cost Brickwork its licence and ~90% of its revenue; process integrity and independence rank ahead of the 16-case target, and the Rs 25 Cr floor stays ring-fenced in every scenario</a:t>
            </a:r>
            <a:endParaRPr lang="en-US" sz="1300" dirty="0"/>
          </a:p>
          <a:p>
            <a:pPr marL="203200" indent="-203200">
              <a:spcAft>
                <a:spcPts val="900"/>
              </a:spcAft>
              <a:buSzPct val="100000"/>
              <a:buChar char="•"/>
            </a:pPr>
            <a:r>
              <a:rPr lang="en-US" sz="1300" dirty="0">
                <a:solidFill>
                  <a:srgbClr val="2B3F52"/>
                </a:solidFill>
                <a:latin typeface="Calibri" pitchFamily="34" charset="0"/>
                <a:ea typeface="Calibri" pitchFamily="34" charset="-122"/>
                <a:cs typeface="Calibri" pitchFamily="34" charset="-120"/>
              </a:rPr>
              <a:t>Financial risk is bounded and survivable: losses are funded from ~Rs 3.0 Cr accessible reserves plus Rs 1.8 Cr/yr FD interest; the Rs 25 Cr SEBI net worth is never touched, so registration is never at financial risk</a:t>
            </a:r>
            <a:endParaRPr lang="en-US" sz="1300" dirty="0"/>
          </a:p>
          <a:p>
            <a:pPr marL="203200" indent="-203200">
              <a:spcAft>
                <a:spcPts val="900"/>
              </a:spcAft>
              <a:buSzPct val="100000"/>
              <a:buChar char="•"/>
            </a:pPr>
            <a:r>
              <a:rPr lang="en-US" sz="1300" dirty="0">
                <a:solidFill>
                  <a:srgbClr val="2B3F52"/>
                </a:solidFill>
                <a:latin typeface="Calibri" pitchFamily="34" charset="0"/>
                <a:ea typeface="Calibri" pitchFamily="34" charset="-122"/>
                <a:cs typeface="Calibri" pitchFamily="34" charset="-120"/>
              </a:rPr>
              <a:t>Timing risk: if BLR slips to January, net is -Rs 1.13 Cr; if it never lands, -Rs 2.57 Cr with no break-even and ratings stuck at 33% of income</a:t>
            </a:r>
            <a:endParaRPr lang="en-US" sz="1300" dirty="0"/>
          </a:p>
          <a:p>
            <a:pPr marL="203200" indent="-203200">
              <a:spcAft>
                <a:spcPts val="900"/>
              </a:spcAft>
              <a:buSzPct val="100000"/>
              <a:buChar char="•"/>
            </a:pPr>
            <a:r>
              <a:rPr lang="en-US" sz="1300" dirty="0">
                <a:solidFill>
                  <a:srgbClr val="2B3F52"/>
                </a:solidFill>
                <a:latin typeface="Calibri" pitchFamily="34" charset="0"/>
                <a:ea typeface="Calibri" pitchFamily="34" charset="-122"/>
                <a:cs typeface="Calibri" pitchFamily="34" charset="-120"/>
              </a:rPr>
              <a:t>Throughput risk: 16 cases/month is a target, not a demonstrated run-rate; it is the #1 monthly KPI and the reason for the January trigger</a:t>
            </a:r>
            <a:endParaRPr lang="en-US" sz="1300" dirty="0"/>
          </a:p>
        </p:txBody>
      </p:sp>
      <p:sp>
        <p:nvSpPr>
          <p:cNvPr id="5" name="Shape 3"/>
          <p:cNvSpPr/>
          <p:nvPr/>
        </p:nvSpPr>
        <p:spPr>
          <a:xfrm>
            <a:off x="640080" y="5486400"/>
            <a:ext cx="10911535" cy="777240"/>
          </a:xfrm>
          <a:prstGeom prst="rect">
            <a:avLst/>
          </a:prstGeom>
          <a:solidFill>
            <a:srgbClr val="EEF4F3"/>
          </a:solidFill>
          <a:ln/>
        </p:spPr>
      </p:sp>
      <p:sp>
        <p:nvSpPr>
          <p:cNvPr id="6" name="Shape 4"/>
          <p:cNvSpPr/>
          <p:nvPr/>
        </p:nvSpPr>
        <p:spPr>
          <a:xfrm>
            <a:off x="640080" y="5486400"/>
            <a:ext cx="82296" cy="777240"/>
          </a:xfrm>
          <a:prstGeom prst="rect">
            <a:avLst/>
          </a:prstGeom>
          <a:solidFill>
            <a:srgbClr val="0F766E"/>
          </a:solidFill>
          <a:ln/>
        </p:spPr>
      </p:sp>
      <p:sp>
        <p:nvSpPr>
          <p:cNvPr id="7" name="Text 5"/>
          <p:cNvSpPr/>
          <p:nvPr/>
        </p:nvSpPr>
        <p:spPr>
          <a:xfrm>
            <a:off x="896112" y="5486400"/>
            <a:ext cx="10454335" cy="777240"/>
          </a:xfrm>
          <a:prstGeom prst="rect">
            <a:avLst/>
          </a:prstGeom>
          <a:noFill/>
          <a:ln/>
        </p:spPr>
        <p:txBody>
          <a:bodyPr wrap="square" rtlCol="0" anchor="ctr"/>
          <a:lstStyle/>
          <a:p>
            <a:pPr indent="0" marL="0">
              <a:buNone/>
            </a:pPr>
            <a:r>
              <a:rPr lang="en-US" sz="1000" b="1" spc="100" kern="0" dirty="0">
                <a:solidFill>
                  <a:srgbClr val="0F766E"/>
                </a:solidFill>
                <a:latin typeface="Calibri" pitchFamily="34" charset="0"/>
                <a:ea typeface="Calibri" pitchFamily="34" charset="-122"/>
                <a:cs typeface="Calibri" pitchFamily="34" charset="-120"/>
              </a:rPr>
              <a:t>THE TAKEAWAY   </a:t>
            </a:r>
            <a:pPr indent="0" marL="0">
              <a:buNone/>
            </a:pPr>
            <a:r>
              <a:rPr lang="en-US" sz="1250" b="1" dirty="0">
                <a:solidFill>
                  <a:srgbClr val="0A1F33"/>
                </a:solidFill>
                <a:latin typeface="Calibri" pitchFamily="34" charset="0"/>
                <a:ea typeface="Calibri" pitchFamily="34" charset="-122"/>
                <a:cs typeface="Calibri" pitchFamily="34" charset="-120"/>
              </a:rPr>
              <a:t>The balance sheet absorbs the financial downside, but only disciplined compliance protects the licence that makes any of it possible.</a:t>
            </a:r>
            <a:endParaRPr lang="en-US" sz="1000" dirty="0"/>
          </a:p>
        </p:txBody>
      </p:sp>
      <p:sp>
        <p:nvSpPr>
          <p:cNvPr id="8" name="Text 6"/>
          <p:cNvSpPr/>
          <p:nvPr/>
        </p:nvSpPr>
        <p:spPr>
          <a:xfrm>
            <a:off x="11155680" y="6400800"/>
            <a:ext cx="457200" cy="274320"/>
          </a:xfrm>
          <a:prstGeom prst="rect">
            <a:avLst/>
          </a:prstGeom>
          <a:noFill/>
          <a:ln/>
        </p:spPr>
        <p:txBody>
          <a:bodyPr wrap="square" rtlCol="0" anchor="ctr"/>
          <a:lstStyle/>
          <a:p>
            <a:pPr algn="r" indent="0" marL="0">
              <a:buNone/>
            </a:pPr>
            <a:r>
              <a:rPr lang="en-US" sz="900" dirty="0">
                <a:solidFill>
                  <a:srgbClr val="9AA7B4"/>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515600" cy="274320"/>
          </a:xfrm>
          <a:prstGeom prst="rect">
            <a:avLst/>
          </a:prstGeom>
          <a:noFill/>
          <a:ln/>
        </p:spPr>
        <p:txBody>
          <a:bodyPr wrap="square"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EXECUTION &amp; KPIS</a:t>
            </a:r>
            <a:endParaRPr lang="en-US" sz="1100" dirty="0"/>
          </a:p>
        </p:txBody>
      </p:sp>
      <p:sp>
        <p:nvSpPr>
          <p:cNvPr id="3" name="Text 1"/>
          <p:cNvSpPr/>
          <p:nvPr/>
        </p:nvSpPr>
        <p:spPr>
          <a:xfrm>
            <a:off x="640080" y="749808"/>
            <a:ext cx="10911535" cy="1371600"/>
          </a:xfrm>
          <a:prstGeom prst="rect">
            <a:avLst/>
          </a:prstGeom>
          <a:noFill/>
          <a:ln/>
        </p:spPr>
        <p:txBody>
          <a:bodyPr wrap="square" rtlCol="0" anchor="t"/>
          <a:lstStyle/>
          <a:p>
            <a:pPr indent="0" marL="0">
              <a:lnSpc>
                <a:spcPct val="104000"/>
              </a:lnSpc>
              <a:buNone/>
            </a:pPr>
            <a:r>
              <a:rPr lang="en-US" sz="2000" b="1" dirty="0">
                <a:solidFill>
                  <a:srgbClr val="0A1F33"/>
                </a:solidFill>
                <a:latin typeface="Cambria" pitchFamily="34" charset="0"/>
                <a:ea typeface="Cambria" pitchFamily="34" charset="-122"/>
                <a:cs typeface="Cambria" pitchFamily="34" charset="-120"/>
              </a:rPr>
              <a:t>October is the swing date: the same Rs 5.24 Cr cost base delivers +Rs 0.31 Cr if BLR lands on time or -Rs 2.57 Cr if it never does</a:t>
            </a:r>
            <a:endParaRPr lang="en-US" sz="2000" dirty="0"/>
          </a:p>
        </p:txBody>
      </p:sp>
      <p:sp>
        <p:nvSpPr>
          <p:cNvPr id="4" name="Text 2"/>
          <p:cNvSpPr/>
          <p:nvPr/>
        </p:nvSpPr>
        <p:spPr>
          <a:xfrm>
            <a:off x="640080" y="2286000"/>
            <a:ext cx="10911535" cy="3017520"/>
          </a:xfrm>
          <a:prstGeom prst="rect">
            <a:avLst/>
          </a:prstGeom>
          <a:noFill/>
          <a:ln/>
        </p:spPr>
        <p:txBody>
          <a:bodyPr wrap="square" rtlCol="0" anchor="t"/>
          <a:lstStyle/>
          <a:p>
            <a:pPr marL="203200" indent="-203200">
              <a:spcAft>
                <a:spcPts val="900"/>
              </a:spcAft>
              <a:buSzPct val="100000"/>
              <a:buChar char="•"/>
            </a:pPr>
            <a:r>
              <a:rPr lang="en-US" sz="1300" dirty="0">
                <a:solidFill>
                  <a:srgbClr val="2B3F52"/>
                </a:solidFill>
                <a:latin typeface="Calibri" pitchFamily="34" charset="0"/>
                <a:ea typeface="Calibri" pitchFamily="34" charset="-122"/>
                <a:cs typeface="Calibri" pitchFamily="34" charset="-120"/>
              </a:rPr>
              <a:t>Milestones: BLR licence live by 1 Oct; 4 BDs already onboarded scaling to 16 cases/month (Rs 1,600 Cr rated/month, ~Rs 19,200 Cr/yr); base case breaks even from October</a:t>
            </a:r>
            <a:endParaRPr lang="en-US" sz="1300" dirty="0"/>
          </a:p>
          <a:p>
            <a:pPr marL="203200" indent="-203200">
              <a:spcAft>
                <a:spcPts val="900"/>
              </a:spcAft>
              <a:buSzPct val="100000"/>
              <a:buChar char="•"/>
            </a:pPr>
            <a:r>
              <a:rPr lang="en-US" sz="1300" dirty="0">
                <a:solidFill>
                  <a:srgbClr val="2B3F52"/>
                </a:solidFill>
                <a:latin typeface="Calibri" pitchFamily="34" charset="0"/>
                <a:ea typeface="Calibri" pitchFamily="34" charset="-122"/>
                <a:cs typeface="Calibri" pitchFamily="34" charset="-120"/>
              </a:rPr>
              <a:t>KPIs reported to the Board monthly: cases won vs. 16/month target (#1 KPI), ratings share of income (68% target vs. 33% without BLR), FD interest held at Rs 1.80 Cr, cost base held flat at Rs 5.24 Cr</a:t>
            </a:r>
            <a:endParaRPr lang="en-US" sz="1300" dirty="0"/>
          </a:p>
          <a:p>
            <a:pPr marL="203200" indent="-203200">
              <a:spcAft>
                <a:spcPts val="900"/>
              </a:spcAft>
              <a:buSzPct val="100000"/>
              <a:buChar char="•"/>
            </a:pPr>
            <a:r>
              <a:rPr lang="en-US" sz="1300" dirty="0">
                <a:solidFill>
                  <a:srgbClr val="2B3F52"/>
                </a:solidFill>
                <a:latin typeface="Calibri" pitchFamily="34" charset="0"/>
                <a:ea typeface="Calibri" pitchFamily="34" charset="-122"/>
                <a:cs typeface="Calibri" pitchFamily="34" charset="-120"/>
              </a:rPr>
              <a:t>Proof the model works: Q1 FY27 ratings of Rs 28.5 L already ran 3.5x all of FY26; Infomerics grew rating revenue Rs 64 Cr to Rs 95 Cr in three years on the same playbook</a:t>
            </a:r>
            <a:endParaRPr lang="en-US" sz="1300" dirty="0"/>
          </a:p>
          <a:p>
            <a:pPr marL="203200" indent="-203200">
              <a:spcAft>
                <a:spcPts val="900"/>
              </a:spcAft>
              <a:buSzPct val="100000"/>
              <a:buChar char="•"/>
            </a:pPr>
            <a:r>
              <a:rPr lang="en-US" sz="1300" dirty="0">
                <a:solidFill>
                  <a:srgbClr val="2B3F52"/>
                </a:solidFill>
                <a:latin typeface="Calibri" pitchFamily="34" charset="0"/>
                <a:ea typeface="Calibri" pitchFamily="34" charset="-122"/>
                <a:cs typeface="Calibri" pitchFamily="34" charset="-120"/>
              </a:rPr>
              <a:t>Guardrail: if the licence slips past January, management reconvenes the Board on the cost base rather than letting the loss run</a:t>
            </a:r>
            <a:endParaRPr lang="en-US" sz="1300" dirty="0"/>
          </a:p>
        </p:txBody>
      </p:sp>
      <p:sp>
        <p:nvSpPr>
          <p:cNvPr id="5" name="Shape 3"/>
          <p:cNvSpPr/>
          <p:nvPr/>
        </p:nvSpPr>
        <p:spPr>
          <a:xfrm>
            <a:off x="640080" y="5486400"/>
            <a:ext cx="10911535" cy="777240"/>
          </a:xfrm>
          <a:prstGeom prst="rect">
            <a:avLst/>
          </a:prstGeom>
          <a:solidFill>
            <a:srgbClr val="EEF4F3"/>
          </a:solidFill>
          <a:ln/>
        </p:spPr>
      </p:sp>
      <p:sp>
        <p:nvSpPr>
          <p:cNvPr id="6" name="Shape 4"/>
          <p:cNvSpPr/>
          <p:nvPr/>
        </p:nvSpPr>
        <p:spPr>
          <a:xfrm>
            <a:off x="640080" y="5486400"/>
            <a:ext cx="82296" cy="777240"/>
          </a:xfrm>
          <a:prstGeom prst="rect">
            <a:avLst/>
          </a:prstGeom>
          <a:solidFill>
            <a:srgbClr val="0F766E"/>
          </a:solidFill>
          <a:ln/>
        </p:spPr>
      </p:sp>
      <p:sp>
        <p:nvSpPr>
          <p:cNvPr id="7" name="Text 5"/>
          <p:cNvSpPr/>
          <p:nvPr/>
        </p:nvSpPr>
        <p:spPr>
          <a:xfrm>
            <a:off x="896112" y="5486400"/>
            <a:ext cx="10454335" cy="777240"/>
          </a:xfrm>
          <a:prstGeom prst="rect">
            <a:avLst/>
          </a:prstGeom>
          <a:noFill/>
          <a:ln/>
        </p:spPr>
        <p:txBody>
          <a:bodyPr wrap="square" rtlCol="0" anchor="ctr"/>
          <a:lstStyle/>
          <a:p>
            <a:pPr indent="0" marL="0">
              <a:buNone/>
            </a:pPr>
            <a:r>
              <a:rPr lang="en-US" sz="1000" b="1" spc="100" kern="0" dirty="0">
                <a:solidFill>
                  <a:srgbClr val="0F766E"/>
                </a:solidFill>
                <a:latin typeface="Calibri" pitchFamily="34" charset="0"/>
                <a:ea typeface="Calibri" pitchFamily="34" charset="-122"/>
                <a:cs typeface="Calibri" pitchFamily="34" charset="-120"/>
              </a:rPr>
              <a:t>THE TAKEAWAY   </a:t>
            </a:r>
            <a:pPr indent="0" marL="0">
              <a:buNone/>
            </a:pPr>
            <a:r>
              <a:rPr lang="en-US" sz="1250" b="1" dirty="0">
                <a:solidFill>
                  <a:srgbClr val="0A1F33"/>
                </a:solidFill>
                <a:latin typeface="Calibri" pitchFamily="34" charset="0"/>
                <a:ea typeface="Calibri" pitchFamily="34" charset="-122"/>
                <a:cs typeface="Calibri" pitchFamily="34" charset="-120"/>
              </a:rPr>
              <a:t>One milestone decides the year; management is accountable monthly on throughput, ratings share, and cost adherence.</a:t>
            </a:r>
            <a:endParaRPr lang="en-US" sz="1000" dirty="0"/>
          </a:p>
        </p:txBody>
      </p:sp>
      <p:sp>
        <p:nvSpPr>
          <p:cNvPr id="8" name="Text 6"/>
          <p:cNvSpPr/>
          <p:nvPr/>
        </p:nvSpPr>
        <p:spPr>
          <a:xfrm>
            <a:off x="11155680" y="6400800"/>
            <a:ext cx="457200" cy="274320"/>
          </a:xfrm>
          <a:prstGeom prst="rect">
            <a:avLst/>
          </a:prstGeom>
          <a:noFill/>
          <a:ln/>
        </p:spPr>
        <p:txBody>
          <a:bodyPr wrap="square" rtlCol="0" anchor="ctr"/>
          <a:lstStyle/>
          <a:p>
            <a:pPr algn="r" indent="0" marL="0">
              <a:buNone/>
            </a:pPr>
            <a:r>
              <a:rPr lang="en-US" sz="900" dirty="0">
                <a:solidFill>
                  <a:srgbClr val="9AA7B4"/>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515600" cy="274320"/>
          </a:xfrm>
          <a:prstGeom prst="rect">
            <a:avLst/>
          </a:prstGeom>
          <a:noFill/>
          <a:ln/>
        </p:spPr>
        <p:txBody>
          <a:bodyPr wrap="square"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THE ASK</a:t>
            </a:r>
            <a:endParaRPr lang="en-US" sz="1100" dirty="0"/>
          </a:p>
        </p:txBody>
      </p:sp>
      <p:sp>
        <p:nvSpPr>
          <p:cNvPr id="3" name="Text 1"/>
          <p:cNvSpPr/>
          <p:nvPr/>
        </p:nvSpPr>
        <p:spPr>
          <a:xfrm>
            <a:off x="640080" y="749808"/>
            <a:ext cx="10911535" cy="1371600"/>
          </a:xfrm>
          <a:prstGeom prst="rect">
            <a:avLst/>
          </a:prstGeom>
          <a:noFill/>
          <a:ln/>
        </p:spPr>
        <p:txBody>
          <a:bodyPr wrap="square" rtlCol="0" anchor="t"/>
          <a:lstStyle/>
          <a:p>
            <a:pPr indent="0" marL="0">
              <a:lnSpc>
                <a:spcPct val="104000"/>
              </a:lnSpc>
              <a:buNone/>
            </a:pPr>
            <a:r>
              <a:rPr lang="en-US" sz="2000" b="1" dirty="0">
                <a:solidFill>
                  <a:srgbClr val="0A1F33"/>
                </a:solidFill>
                <a:latin typeface="Cambria" pitchFamily="34" charset="0"/>
                <a:ea typeface="Cambria" pitchFamily="34" charset="-122"/>
                <a:cs typeface="Cambria" pitchFamily="34" charset="-120"/>
              </a:rPr>
              <a:t>Approve Rs 5.24 Cr and endorse the base case: the balance sheet absorbs the downside, the January trigger caps it, and disciplined compliance protects the licence that makes it all possible</a:t>
            </a:r>
            <a:endParaRPr lang="en-US" sz="2000" dirty="0"/>
          </a:p>
        </p:txBody>
      </p:sp>
      <p:sp>
        <p:nvSpPr>
          <p:cNvPr id="4" name="Text 2"/>
          <p:cNvSpPr/>
          <p:nvPr/>
        </p:nvSpPr>
        <p:spPr>
          <a:xfrm>
            <a:off x="640080" y="2286000"/>
            <a:ext cx="10911535" cy="3017520"/>
          </a:xfrm>
          <a:prstGeom prst="rect">
            <a:avLst/>
          </a:prstGeom>
          <a:noFill/>
          <a:ln/>
        </p:spPr>
        <p:txBody>
          <a:bodyPr wrap="square" rtlCol="0" anchor="t"/>
          <a:lstStyle/>
          <a:p>
            <a:pPr marL="203200" indent="-203200">
              <a:spcAft>
                <a:spcPts val="900"/>
              </a:spcAft>
              <a:buSzPct val="100000"/>
              <a:buChar char="•"/>
            </a:pPr>
            <a:r>
              <a:rPr lang="en-US" sz="1300" dirty="0">
                <a:solidFill>
                  <a:srgbClr val="2B3F52"/>
                </a:solidFill>
                <a:latin typeface="Calibri" pitchFamily="34" charset="0"/>
                <a:ea typeface="Calibri" pitchFamily="34" charset="-122"/>
                <a:cs typeface="Calibri" pitchFamily="34" charset="-120"/>
              </a:rPr>
              <a:t>(1) Approve the FY27 budget of Rs 5.24 Cr (fixed across scenarios, ~58% salary)</a:t>
            </a:r>
            <a:endParaRPr lang="en-US" sz="1300" dirty="0"/>
          </a:p>
          <a:p>
            <a:pPr marL="203200" indent="-203200">
              <a:spcAft>
                <a:spcPts val="900"/>
              </a:spcAft>
              <a:buSzPct val="100000"/>
              <a:buChar char="•"/>
            </a:pPr>
            <a:r>
              <a:rPr lang="en-US" sz="1300" dirty="0">
                <a:solidFill>
                  <a:srgbClr val="2B3F52"/>
                </a:solidFill>
                <a:latin typeface="Calibri" pitchFamily="34" charset="0"/>
                <a:ea typeface="Calibri" pitchFamily="34" charset="-122"/>
                <a:cs typeface="Calibri" pitchFamily="34" charset="-120"/>
              </a:rPr>
              <a:t>(2) Endorse the base case: BLR live by 1 Oct at 16 cases/month, net +Rs 0.31 Cr, break-even from October</a:t>
            </a:r>
            <a:endParaRPr lang="en-US" sz="1300" dirty="0"/>
          </a:p>
          <a:p>
            <a:pPr marL="203200" indent="-203200">
              <a:spcAft>
                <a:spcPts val="900"/>
              </a:spcAft>
              <a:buSzPct val="100000"/>
              <a:buChar char="•"/>
            </a:pPr>
            <a:r>
              <a:rPr lang="en-US" sz="1300" dirty="0">
                <a:solidFill>
                  <a:srgbClr val="2B3F52"/>
                </a:solidFill>
                <a:latin typeface="Calibri" pitchFamily="34" charset="0"/>
                <a:ea typeface="Calibri" pitchFamily="34" charset="-122"/>
                <a:cs typeface="Calibri" pitchFamily="34" charset="-120"/>
              </a:rPr>
              <a:t>(3) Authorise a pre-agreed cost-reduction trigger if the licence slips past January, so we are not deciding under pressure</a:t>
            </a:r>
            <a:endParaRPr lang="en-US" sz="1300" dirty="0"/>
          </a:p>
          <a:p>
            <a:pPr marL="203200" indent="-203200">
              <a:spcAft>
                <a:spcPts val="900"/>
              </a:spcAft>
              <a:buSzPct val="100000"/>
              <a:buChar char="•"/>
            </a:pPr>
            <a:r>
              <a:rPr lang="en-US" sz="1300" dirty="0">
                <a:solidFill>
                  <a:srgbClr val="2B3F52"/>
                </a:solidFill>
                <a:latin typeface="Calibri" pitchFamily="34" charset="0"/>
                <a:ea typeface="Calibri" pitchFamily="34" charset="-122"/>
                <a:cs typeface="Calibri" pitchFamily="34" charset="-120"/>
              </a:rPr>
              <a:t>The frame: solvency is never in question (Rs 25 Cr locked, losses self-funded); this is a decision about how fast we compound the BLR annuity toward Rs 16 Cr by FY30</a:t>
            </a:r>
            <a:endParaRPr lang="en-US" sz="1300" dirty="0"/>
          </a:p>
        </p:txBody>
      </p:sp>
      <p:sp>
        <p:nvSpPr>
          <p:cNvPr id="5" name="Shape 3"/>
          <p:cNvSpPr/>
          <p:nvPr/>
        </p:nvSpPr>
        <p:spPr>
          <a:xfrm>
            <a:off x="640080" y="5486400"/>
            <a:ext cx="10911535" cy="777240"/>
          </a:xfrm>
          <a:prstGeom prst="rect">
            <a:avLst/>
          </a:prstGeom>
          <a:solidFill>
            <a:srgbClr val="EEF4F3"/>
          </a:solidFill>
          <a:ln/>
        </p:spPr>
      </p:sp>
      <p:sp>
        <p:nvSpPr>
          <p:cNvPr id="6" name="Shape 4"/>
          <p:cNvSpPr/>
          <p:nvPr/>
        </p:nvSpPr>
        <p:spPr>
          <a:xfrm>
            <a:off x="640080" y="5486400"/>
            <a:ext cx="82296" cy="777240"/>
          </a:xfrm>
          <a:prstGeom prst="rect">
            <a:avLst/>
          </a:prstGeom>
          <a:solidFill>
            <a:srgbClr val="0F766E"/>
          </a:solidFill>
          <a:ln/>
        </p:spPr>
      </p:sp>
      <p:sp>
        <p:nvSpPr>
          <p:cNvPr id="7" name="Text 5"/>
          <p:cNvSpPr/>
          <p:nvPr/>
        </p:nvSpPr>
        <p:spPr>
          <a:xfrm>
            <a:off x="896112" y="5486400"/>
            <a:ext cx="10454335" cy="777240"/>
          </a:xfrm>
          <a:prstGeom prst="rect">
            <a:avLst/>
          </a:prstGeom>
          <a:noFill/>
          <a:ln/>
        </p:spPr>
        <p:txBody>
          <a:bodyPr wrap="square" rtlCol="0" anchor="ctr"/>
          <a:lstStyle/>
          <a:p>
            <a:pPr indent="0" marL="0">
              <a:buNone/>
            </a:pPr>
            <a:r>
              <a:rPr lang="en-US" sz="1000" b="1" spc="100" kern="0" dirty="0">
                <a:solidFill>
                  <a:srgbClr val="0F766E"/>
                </a:solidFill>
                <a:latin typeface="Calibri" pitchFamily="34" charset="0"/>
                <a:ea typeface="Calibri" pitchFamily="34" charset="-122"/>
                <a:cs typeface="Calibri" pitchFamily="34" charset="-120"/>
              </a:rPr>
              <a:t>THE TAKEAWAY   </a:t>
            </a:r>
            <a:pPr indent="0" marL="0">
              <a:buNone/>
            </a:pPr>
            <a:r>
              <a:rPr lang="en-US" sz="1250" b="1" dirty="0">
                <a:solidFill>
                  <a:srgbClr val="0A1F33"/>
                </a:solidFill>
                <a:latin typeface="Calibri" pitchFamily="34" charset="0"/>
                <a:ea typeface="Calibri" pitchFamily="34" charset="-122"/>
                <a:cs typeface="Calibri" pitchFamily="34" charset="-120"/>
              </a:rPr>
              <a:t>Approve the budget, endorse the base case, and hold the January trigger; the decision is speed to scale, not survival.</a:t>
            </a:r>
            <a:endParaRPr lang="en-US" sz="1000" dirty="0"/>
          </a:p>
        </p:txBody>
      </p:sp>
      <p:sp>
        <p:nvSpPr>
          <p:cNvPr id="8" name="Text 6"/>
          <p:cNvSpPr/>
          <p:nvPr/>
        </p:nvSpPr>
        <p:spPr>
          <a:xfrm>
            <a:off x="11155680" y="6400800"/>
            <a:ext cx="457200" cy="274320"/>
          </a:xfrm>
          <a:prstGeom prst="rect">
            <a:avLst/>
          </a:prstGeom>
          <a:noFill/>
          <a:ln/>
        </p:spPr>
        <p:txBody>
          <a:bodyPr wrap="square" rtlCol="0" anchor="ctr"/>
          <a:lstStyle/>
          <a:p>
            <a:pPr algn="r" indent="0" marL="0">
              <a:buNone/>
            </a:pPr>
            <a:r>
              <a:rPr lang="en-US" sz="900" dirty="0">
                <a:solidFill>
                  <a:srgbClr val="9AA7B4"/>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2026-07-24T13:37:01Z</dcterms:created>
  <dcterms:modified xsi:type="dcterms:W3CDTF">2026-07-24T13:37:01Z</dcterms:modified>
</cp:coreProperties>
</file>
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FD interest</c:v>
                </c:pt>
              </c:strCache>
            </c:strRef>
          </c:tx>
          <c:spPr>
            <a:solidFill>
              <a:srgbClr val="8EA6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32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Ratings income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68</c:v>
                </c:pt>
                <c:pt idx="2">
                  <c:v>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F5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B3F5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B6B7B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5B6B7B"/>
                </a:solidFill>
                <a:latin typeface="Calibri"/>
              </a:rPr>
              <a:t>Cumulative debt rated, base case (Rs Cr)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rated debt (Rs Cr)</c:v>
                </c:pt>
              </c:strCache>
            </c:strRef>
          </c:tx>
          <c:spPr>
            <a:solidFill>
              <a:srgbClr val="1E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B3F5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Oct</c:v>
                  </c:pt>
                  <c:pt idx="1">
                    <c:v>Nov</c:v>
                  </c:pt>
                  <c:pt idx="2">
                    <c:v>Dec</c:v>
                  </c:pt>
                  <c:pt idx="3">
                    <c:v>Jan</c:v>
                  </c:pt>
                  <c:pt idx="4">
                    <c:v>Feb</c:v>
                  </c:pt>
                  <c:pt idx="5">
                    <c:v>Mar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1600</c:v>
                </c:pt>
                <c:pt idx="1">
                  <c:v>3200</c:v>
                </c:pt>
                <c:pt idx="2">
                  <c:v>4800</c:v>
                </c:pt>
                <c:pt idx="3">
                  <c:v>6400</c:v>
                </c:pt>
                <c:pt idx="4">
                  <c:v>8000</c:v>
                </c:pt>
                <c:pt idx="5">
                  <c:v>9600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B3F5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3F5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income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3F5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S1 · BLR Oct</c:v>
                  </c:pt>
                  <c:pt idx="1">
                    <c:v>S2 · BLR Jan</c:v>
                  </c:pt>
                  <c:pt idx="2">
                    <c:v>S3 · No BLR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5.55</c:v>
                </c:pt>
                <c:pt idx="1">
                  <c:v>4.11</c:v>
                </c:pt>
                <c:pt idx="2">
                  <c:v>2.67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expense</c:v>
                </c:pt>
              </c:strCache>
            </c:strRef>
          </c:tx>
          <c:spPr>
            <a:solidFill>
              <a:srgbClr val="8EA6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3F5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S1 · BLR Oct</c:v>
                  </c:pt>
                  <c:pt idx="1">
                    <c:v>S2 · BLR Jan</c:v>
                  </c:pt>
                  <c:pt idx="2">
                    <c:v>S3 · No BLR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5.24</c:v>
                </c:pt>
                <c:pt idx="1">
                  <c:v>5.24</c:v>
                </c:pt>
                <c:pt idx="2">
                  <c:v>5.24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B3F5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F5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B3F5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FD returns</c:v>
                </c:pt>
              </c:strCache>
            </c:strRef>
          </c:tx>
          <c:spPr>
            <a:solidFill>
              <a:srgbClr val="8EA6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15</c:v>
                </c:pt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  <c:pt idx="11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Earning (existing + BLR)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56</c:v>
                </c:pt>
                <c:pt idx="7">
                  <c:v>56</c:v>
                </c:pt>
                <c:pt idx="8">
                  <c:v>56</c:v>
                </c:pt>
                <c:pt idx="9">
                  <c:v>56</c:v>
                </c:pt>
                <c:pt idx="10">
                  <c:v>56</c:v>
                </c:pt>
                <c:pt idx="11">
                  <c:v>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Expense, all in</c:v>
                </c:pt>
              </c:strCache>
            </c:strRef>
          </c:tx>
          <c:spPr>
            <a:solidFill>
              <a:srgbClr val="B3261E"/>
            </a:solidFill>
            <a:ln w="31750" cap="flat">
              <a:solidFill>
                <a:srgbClr val="B326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B3261E"/>
              </a:solidFill>
              <a:ln w="9525" cap="flat">
                <a:solidFill>
                  <a:srgbClr val="B326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36</c:v>
                </c:pt>
                <c:pt idx="1">
                  <c:v>33</c:v>
                </c:pt>
                <c:pt idx="2">
                  <c:v>46</c:v>
                </c:pt>
                <c:pt idx="3">
                  <c:v>40</c:v>
                </c:pt>
                <c:pt idx="4">
                  <c:v>46</c:v>
                </c:pt>
                <c:pt idx="5">
                  <c:v>46</c:v>
                </c:pt>
                <c:pt idx="6">
                  <c:v>46</c:v>
                </c:pt>
                <c:pt idx="7">
                  <c:v>46</c:v>
                </c:pt>
                <c:pt idx="8">
                  <c:v>46</c:v>
                </c:pt>
                <c:pt idx="9">
                  <c:v>46</c:v>
                </c:pt>
                <c:pt idx="10">
                  <c:v>46</c:v>
                </c:pt>
                <c:pt idx="11">
                  <c:v>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3F5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B3F5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plus FD</c:v>
                </c:pt>
              </c:strCache>
            </c:strRef>
          </c:tx>
          <c:spPr>
            <a:solidFill>
              <a:srgbClr val="8EA6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1.56</c:v>
                </c:pt>
                <c:pt idx="1">
                  <c:v>2.67</c:v>
                </c:pt>
                <c:pt idx="2">
                  <c:v>2.9</c:v>
                </c:pt>
                <c:pt idx="3">
                  <c:v>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BLR initial fees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2.88</c:v>
                </c:pt>
                <c:pt idx="2">
                  <c:v>5.76</c:v>
                </c:pt>
                <c:pt idx="3">
                  <c:v>5.76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Surveillance annuity</c:v>
                </c:pt>
              </c:strCache>
            </c:strRef>
          </c:tx>
          <c:spPr>
            <a:solidFill>
              <a:srgbClr val="1E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FY26</c:v>
                  </c:pt>
                  <c:pt idx="1">
                    <c:v>FY27</c:v>
                  </c:pt>
                  <c:pt idx="2">
                    <c:v>FY28</c:v>
                  </c:pt>
                  <c:pt idx="3">
                    <c:v>FY29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1.44</c:v>
                </c:pt>
                <c:pt idx="3">
                  <c:v>4.32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F5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9525" cap="flat">
              <a:solidFill>
                <a:srgbClr val="E6E9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7B4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B3F5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Rating revenue (Rs Cr)</c:v>
                </c:pt>
              </c:strCache>
            </c:strRef>
          </c:tx>
          <c:spPr>
            <a:solidFill>
              <a:srgbClr val="1E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B3F5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ACER now</c:v>
                  </c:pt>
                  <c:pt idx="1">
                    <c:v>Brickwork</c:v>
                  </c:pt>
                  <c:pt idx="2">
                    <c:v>ACER FY28</c:v>
                  </c:pt>
                  <c:pt idx="3">
                    <c:v>Acuite</c:v>
                  </c:pt>
                  <c:pt idx="4">
                    <c:v>Infomerics</c:v>
                  </c:pt>
                  <c:pt idx="5">
                    <c:v>India Ratings</c:v>
                  </c:pt>
                  <c:pt idx="6">
                    <c:v>CARE</c:v>
                  </c:pt>
                  <c:pt idx="7">
                    <c:v>ICRA</c:v>
                  </c:pt>
                  <c:pt idx="8">
                    <c:v>CRISIL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0.9</c:v>
                </c:pt>
                <c:pt idx="1">
                  <c:v>5.9</c:v>
                </c:pt>
                <c:pt idx="2">
                  <c:v>8</c:v>
                </c:pt>
                <c:pt idx="3">
                  <c:v>57</c:v>
                </c:pt>
                <c:pt idx="4">
                  <c:v>95</c:v>
                </c:pt>
                <c:pt idx="5">
                  <c:v>251</c:v>
                </c:pt>
                <c:pt idx="6">
                  <c:v>423</c:v>
                </c:pt>
                <c:pt idx="7">
                  <c:v>498</c:v>
                </c:pt>
                <c:pt idx="8">
                  <c:v>909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2B3F5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B3F5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95% of income is interest on our own reserves, not rating fees, that is a treasury, not a rating agency. The BLR licence flips the mix to ratings-led, 68% by FY27 in the base case. Q1 ratings of Rs 28.5 lakh, 3.5 times all of last year, is the first proof the engine is turning.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economics are annuity-rich. A small initial fee plus a recurring surveillance fee that compounds each year the loan is outstanding. Sixteen cases a month is the target the four onboarded BDs are staffed for, and it is our number one monthly KPI.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cost base and FD income are identical across all three. The whole swing from a small profit to a Rs 2.6 Cr loss is BLR fee income. S1, licence by October, breaks even; every downside is self-funded and reversible.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bars are monthly income, FD plus earning; the red line is all-in expense. April to June are actual, the rest projected. Where the bar tops the line, the month pays for itself, from October in the base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target is a rounding error of the market, a quarter of one percent of bank credit, one percent of what a single small peer has rated over its life. So capacity is never the question; the question is competitive win rate, which is why we hold the January cost trigger.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Initial fees fund the first year; the surveillance annuity is the prize, it stacks on every year's new business. By FY28 revenue is about Rs 8.3 crore and ratings are more than four-fifths of income.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not trying to disrupt CRISIL. Acuite and Infomerics show a small BLR-led CRA is a real business. Infomerics grew from 64 to 95 crore in three years on exactly this segment; our FY28 target of 8 crore is the first rung of that same ladder.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decision is how fast we compound, not whether we survive. Approve the budget, endorse the base case, and hold the January trigger. Solvency is never at risk; the licence decides the 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103120"/>
            <a:ext cx="822960" cy="914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ANNUAL OPERATING PLAN  ·  EXECUTIVE DECK  ·  CONFIDENTIAL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ACER Credit Rating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an FD-interest treasury to a Bank Loan Rating franchise. The board case, in charts.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576072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Board  ·  Apr 2026 to Mar 2027  ·  Base case: BLR live by 1 October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income is 95% FD interest; BLR flips it to ratings-led</a:t>
            </a:r>
            <a:endParaRPr lang="en-US" sz="2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65960"/>
          <a:ext cx="7315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965960"/>
            <a:ext cx="3429000" cy="96012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84464" y="2093976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8 L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284464" y="2569464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ratings revenue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138160" y="3017520"/>
            <a:ext cx="3429000" cy="96012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84464" y="3145536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28.5 L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284464" y="3621024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ratings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138160" y="4069080"/>
            <a:ext cx="3429000" cy="96012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84464" y="4197096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-2.6 Cr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284464" y="4672584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run-rate P&amp;L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solidFill>
            <a:srgbClr val="EEF4F3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5486400"/>
            <a:ext cx="82296" cy="7315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3"/>
          <p:cNvSpPr/>
          <p:nvPr/>
        </p:nvSpPr>
        <p:spPr>
          <a:xfrm>
            <a:off x="896112" y="548640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buNone/>
            </a:pPr>
            <a:r>
              <a:rPr lang="en-US" sz="125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balance sheet funds the transition; the job is to convert interest income into a rating franchise.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6E9E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6483096"/>
            <a:ext cx="9509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FY26 actual, Internal [1]; FY27 to FY28 modelled [1][2].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10241280" y="6483096"/>
            <a:ext cx="1307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FY27 AOP  ·  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Rs 100 Cr ticket earns Rs 3.0 L now and Rs 1.5 L every year after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606040" cy="100584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2093976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3.0 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86384" y="2569464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fee, 3 bps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965960"/>
            <a:ext cx="2606040" cy="100584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9584" y="2093976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1.5 L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529584" y="2569464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Surveillance, 1.5 bps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063240"/>
            <a:ext cx="2606040" cy="100584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3191256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/ mo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86384" y="3666744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volume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063240"/>
            <a:ext cx="2606040" cy="100584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9584" y="3191256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1,600 Cr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3529584" y="3666744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per month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126480" y="1965960"/>
          <a:ext cx="54864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solidFill>
            <a:srgbClr val="EEF4F3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" y="5486400"/>
            <a:ext cx="82296" cy="7315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48640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buNone/>
            </a:pPr>
            <a:r>
              <a:rPr lang="en-US" sz="125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rate is Rs 5.76 Cr of initial fees plus a Rs 2.88 Cr surveillance annuity that compounds every year.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6E9E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6483096"/>
            <a:ext cx="9509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fee rates, ticket size and volume are ACER management and Board assumptions [2].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0241280" y="6483096"/>
            <a:ext cx="1307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FY27 AOP  ·  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SCENARIOS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BLR licence date decides whether FY27 breaks even</a:t>
            </a:r>
            <a:endParaRPr lang="en-US" sz="2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65960"/>
          <a:ext cx="74980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1965960"/>
            <a:ext cx="3246120" cy="96012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67344" y="2093976"/>
            <a:ext cx="2953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+Rs 0.31 Cr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467344" y="2569464"/>
            <a:ext cx="2953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net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321040" y="3017520"/>
            <a:ext cx="3246120" cy="96012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67344" y="3145536"/>
            <a:ext cx="2953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-Rs 1.13 Cr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467344" y="3621024"/>
            <a:ext cx="2953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net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21040" y="4069080"/>
            <a:ext cx="3246120" cy="96012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67344" y="4197096"/>
            <a:ext cx="2953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-Rs 2.57 Cr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467344" y="4672584"/>
            <a:ext cx="2953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net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0080" y="5532120"/>
            <a:ext cx="10911535" cy="731520"/>
          </a:xfrm>
          <a:prstGeom prst="rect">
            <a:avLst/>
          </a:prstGeom>
          <a:solidFill>
            <a:srgbClr val="EEF4F3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5532120"/>
            <a:ext cx="82296" cy="7315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3"/>
          <p:cNvSpPr/>
          <p:nvPr/>
        </p:nvSpPr>
        <p:spPr>
          <a:xfrm>
            <a:off x="896112" y="553212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buNone/>
            </a:pPr>
            <a:r>
              <a:rPr lang="en-US" sz="125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Rs 5.24 Cr cost and Rs 1.80 Cr FD income in all three; only the licence date moves the result.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6E9E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6483096"/>
            <a:ext cx="9509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run rate [1]; BLR revenue, assumptions [2]. Rs Cr.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10241280" y="6483096"/>
            <a:ext cx="1307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FY27 AOP  ·  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BREAK EVEN, BASE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BLR live by October, ACER turns cash positive from October</a:t>
            </a:r>
            <a:endParaRPr lang="en-US" sz="2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65960"/>
          <a:ext cx="109728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solidFill>
            <a:srgbClr val="EEF4F3"/>
          </a:solidFill>
          <a:ln/>
        </p:spPr>
      </p:sp>
      <p:sp>
        <p:nvSpPr>
          <p:cNvPr id="6" name="Shape 3"/>
          <p:cNvSpPr/>
          <p:nvPr/>
        </p:nvSpPr>
        <p:spPr>
          <a:xfrm>
            <a:off x="640080" y="5486400"/>
            <a:ext cx="82296" cy="7315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548640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buNone/>
            </a:pPr>
            <a:r>
              <a:rPr lang="en-US" sz="125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October, earning jumps to Rs 56 L as 16 cases at Rs 3 L land, clearing the Rs 46 L monthly expense.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6E9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6483096"/>
            <a:ext cx="9509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Apr to Jun actual, Internal ledger [1]; Jul to Mar projected [1][2]. Rs Lakh.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0241280" y="6483096"/>
            <a:ext cx="1307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FY27 AOP  ·  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Rating Rs 1,600 Cr a month is a small slice of a vast market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606040" cy="137160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2093976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~0.27%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86384" y="2569464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 bank credit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965960"/>
            <a:ext cx="2606040" cy="137160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9584" y="2093976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~1.9%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529584" y="2569464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annual bond issuance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26480" y="1965960"/>
            <a:ext cx="2606040" cy="137160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2093976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~1%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272784" y="2569464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Brickwork lifetime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69680" y="1965960"/>
            <a:ext cx="2606040" cy="137160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15984" y="2093976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015984" y="2569464"/>
            <a:ext cx="2313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a year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972800" cy="50292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749040"/>
            <a:ext cx="91440" cy="502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749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of India's ~Rs 70 lakh crore of outstanding bank credit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343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teal sliver is ACER's entire Rs 19,200 Cr yearly target, about 0.27% of outstanding bank credit.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937760"/>
            <a:ext cx="10911535" cy="731520"/>
          </a:xfrm>
          <a:prstGeom prst="rect">
            <a:avLst/>
          </a:prstGeom>
          <a:solidFill>
            <a:srgbClr val="EEF4F3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4937760"/>
            <a:ext cx="82296" cy="7315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493776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buNone/>
            </a:pPr>
            <a:r>
              <a:rPr lang="en-US" sz="125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is not the constraint; winning mandates against incumbents is, so execution and the licence decide the pace.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6E9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483096"/>
            <a:ext cx="9509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RBI via Business Standard [11]; bond issuance [13]; Brickwork brickworkratings.com [9]; CRISIL default study [12]. Peer figures cumulative.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41280" y="6483096"/>
            <a:ext cx="1307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FY27 AOP  ·  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CLIMB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 fees fund the turn; surveillance compounds the climb</a:t>
            </a:r>
            <a:endParaRPr lang="en-US" sz="2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65960"/>
          <a:ext cx="73152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965960"/>
            <a:ext cx="3429000" cy="96012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84464" y="2093976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 8.3 Cr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284464" y="2569464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FY28 revenue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138160" y="3017520"/>
            <a:ext cx="3429000" cy="96012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84464" y="3145536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~Rs 16 Cr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284464" y="3621024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 revenue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138160" y="4069080"/>
            <a:ext cx="3429000" cy="960120"/>
          </a:xfrm>
          <a:prstGeom prst="rect">
            <a:avLst/>
          </a:prstGeom>
          <a:solidFill>
            <a:srgbClr val="F6F8FA"/>
          </a:solidFill>
          <a:ln w="12700">
            <a:solidFill>
              <a:srgbClr val="E6E9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84464" y="4197096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~82%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284464" y="4672584"/>
            <a:ext cx="3136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share FY28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solidFill>
            <a:srgbClr val="EEF4F3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5486400"/>
            <a:ext cx="82296" cy="7315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3"/>
          <p:cNvSpPr/>
          <p:nvPr/>
        </p:nvSpPr>
        <p:spPr>
          <a:xfrm>
            <a:off x="896112" y="548640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buNone/>
            </a:pPr>
            <a:r>
              <a:rPr lang="en-US" sz="125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FY28 the surveillance annuity stacks on new business and revenue is decisively ratings-led.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6E9E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6483096"/>
            <a:ext cx="9509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FY26 actual, Internal [1]; FY27 to FY29 modelled [1][2]. Rs Cr.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10241280" y="6483096"/>
            <a:ext cx="1307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FY27 AOP  ·  06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start at the bottom of a Rs 2,000 Cr market and climb a credible ladder</a:t>
            </a:r>
            <a:endParaRPr lang="en-US" sz="2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65960"/>
          <a:ext cx="108813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solidFill>
            <a:srgbClr val="EEF4F3"/>
          </a:solidFill>
          <a:ln/>
        </p:spPr>
      </p:sp>
      <p:sp>
        <p:nvSpPr>
          <p:cNvPr id="6" name="Shape 3"/>
          <p:cNvSpPr/>
          <p:nvPr/>
        </p:nvSpPr>
        <p:spPr>
          <a:xfrm>
            <a:off x="640080" y="5486400"/>
            <a:ext cx="82296" cy="7315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5486400"/>
            <a:ext cx="104543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   </a:t>
            </a:r>
            <a:pPr indent="0" marL="0">
              <a:buNone/>
            </a:pPr>
            <a:r>
              <a:rPr lang="en-US" sz="125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Acuite at Rs 57 Cr and Infomerics at Rs 95 Cr prove viable businesses exist well below the leaders; our FY28 Rs 8 Cr is the first rung.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6E9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6483096"/>
            <a:ext cx="9509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official filings, CRISIL [3], ICRA [4], CARE [5], India Ratings [6], Infomerics [7], Acuite [8], Brickwork [9]. ACER [1][2]. ICRA is total revenue.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0241280" y="6483096"/>
            <a:ext cx="1307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FY27 AOP  ·  07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an investment year, with a clear trigger if BLR slips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FY27 operating budget of Rs 5.24 Cr.
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the base case: BLR live by 1 October at 16 cases per month, serviced by the four BDs already onboarded.
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2B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plan is fully funded without touching the Rs 25 Cr net worth, with a cost trigger if BLR slips past January.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10911535" cy="1280160"/>
          </a:xfrm>
          <a:prstGeom prst="rect">
            <a:avLst/>
          </a:prstGeom>
          <a:solidFill>
            <a:srgbClr val="EEF4F3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4297680"/>
            <a:ext cx="100584" cy="128016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4805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VARIABLE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60120" y="47548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Solvency is secure. Operational self sufficiency by FY28 is the goal, and the BLR licence is the one variable that decides the pace.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6437376"/>
            <a:ext cx="10911535" cy="0"/>
          </a:xfrm>
          <a:prstGeom prst="line">
            <a:avLst/>
          </a:prstGeom>
          <a:noFill/>
          <a:ln w="12700">
            <a:solidFill>
              <a:srgbClr val="E6E9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6483096"/>
            <a:ext cx="9509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[1]. Brickwork [9].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241280" y="6483096"/>
            <a:ext cx="1307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 FY27 AOP  ·  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2026-07-24T13:41:11Z</dcterms:created>
  <dcterms:modified xsi:type="dcterms:W3CDTF">2026-07-24T13:41:11Z</dcterms:modified>
</cp:coreProperties>
</file>
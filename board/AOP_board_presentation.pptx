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Income (FD + ratings)</c:v>
                </c:pt>
              </c:strCache>
            </c:strRef>
          </c:tx>
          <c:spPr>
            <a:solidFill>
              <a:srgbClr val="0F766E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  <c:pt idx="6">
                    <c:v>Oct</c:v>
                  </c:pt>
                  <c:pt idx="7">
                    <c:v>Nov</c:v>
                  </c:pt>
                  <c:pt idx="8">
                    <c:v>Dec</c:v>
                  </c:pt>
                  <c:pt idx="9">
                    <c:v>Jan</c:v>
                  </c:pt>
                  <c:pt idx="10">
                    <c:v>Feb</c:v>
                  </c:pt>
                  <c:pt idx="11">
                    <c:v>Mar</c:v>
                  </c:pt>
                  <c:pt idx="12">
                    <c:v>Apr</c:v>
                  </c:pt>
                  <c:pt idx="13">
                    <c:v>May</c:v>
                  </c:pt>
                  <c:pt idx="14">
                    <c:v>Jun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0.134</c:v>
                </c:pt>
                <c:pt idx="3">
                  <c:v>0.015</c:v>
                </c:pt>
                <c:pt idx="4">
                  <c:v>0.146</c:v>
                </c:pt>
                <c:pt idx="5">
                  <c:v>0.29</c:v>
                </c:pt>
                <c:pt idx="6">
                  <c:v>0.146</c:v>
                </c:pt>
                <c:pt idx="7">
                  <c:v>0.145</c:v>
                </c:pt>
                <c:pt idx="8">
                  <c:v>0.145</c:v>
                </c:pt>
                <c:pt idx="9">
                  <c:v>0.156</c:v>
                </c:pt>
                <c:pt idx="10">
                  <c:v>0.235</c:v>
                </c:pt>
                <c:pt idx="11">
                  <c:v>0.149</c:v>
                </c:pt>
                <c:pt idx="12">
                  <c:v>0.175</c:v>
                </c:pt>
                <c:pt idx="13">
                  <c:v>0.194</c:v>
                </c:pt>
                <c:pt idx="14">
                  <c:v>0.232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Expense, all in</c:v>
                </c:pt>
              </c:strCache>
            </c:strRef>
          </c:tx>
          <c:spPr>
            <a:solidFill>
              <a:srgbClr val="334155"/>
            </a:solidFill>
            <a:ln w="25400" cap="flat">
              <a:solidFill>
                <a:srgbClr val="3341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34155"/>
              </a:solidFill>
              <a:ln w="9525" cap="flat">
                <a:solidFill>
                  <a:srgbClr val="3341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  <c:pt idx="6">
                    <c:v>Oct</c:v>
                  </c:pt>
                  <c:pt idx="7">
                    <c:v>Nov</c:v>
                  </c:pt>
                  <c:pt idx="8">
                    <c:v>Dec</c:v>
                  </c:pt>
                  <c:pt idx="9">
                    <c:v>Jan</c:v>
                  </c:pt>
                  <c:pt idx="10">
                    <c:v>Feb</c:v>
                  </c:pt>
                  <c:pt idx="11">
                    <c:v>Mar</c:v>
                  </c:pt>
                  <c:pt idx="12">
                    <c:v>Apr</c:v>
                  </c:pt>
                  <c:pt idx="13">
                    <c:v>May</c:v>
                  </c:pt>
                  <c:pt idx="14">
                    <c:v>Jun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0.036</c:v>
                </c:pt>
                <c:pt idx="1">
                  <c:v>0.095</c:v>
                </c:pt>
                <c:pt idx="2">
                  <c:v>0.171</c:v>
                </c:pt>
                <c:pt idx="3">
                  <c:v>0.1</c:v>
                </c:pt>
                <c:pt idx="4">
                  <c:v>0.14</c:v>
                </c:pt>
                <c:pt idx="5">
                  <c:v>0.183</c:v>
                </c:pt>
                <c:pt idx="6">
                  <c:v>0.177</c:v>
                </c:pt>
                <c:pt idx="7">
                  <c:v>0.196</c:v>
                </c:pt>
                <c:pt idx="8">
                  <c:v>0.334</c:v>
                </c:pt>
                <c:pt idx="9">
                  <c:v>0.267</c:v>
                </c:pt>
                <c:pt idx="10">
                  <c:v>0.359</c:v>
                </c:pt>
                <c:pt idx="11">
                  <c:v>0.38</c:v>
                </c:pt>
                <c:pt idx="12">
                  <c:v>0.364</c:v>
                </c:pt>
                <c:pt idx="13">
                  <c:v>0.33</c:v>
                </c:pt>
                <c:pt idx="14">
                  <c:v>0.463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4748B"/>
                </a:solidFill>
                <a:latin typeface="Calibri"/>
              </a:rPr>
              <a:t>Cumulative debt rated, base case (Rs Cr)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rated debt (Rs Cr)</c:v>
                </c:pt>
              </c:strCache>
            </c:strRef>
          </c:tx>
          <c:spPr>
            <a:solidFill>
              <a:srgbClr val="2B5C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Oct</c:v>
                  </c:pt>
                  <c:pt idx="1">
                    <c:v>Nov</c:v>
                  </c:pt>
                  <c:pt idx="2">
                    <c:v>Dec</c:v>
                  </c:pt>
                  <c:pt idx="3">
                    <c:v>Jan</c:v>
                  </c:pt>
                  <c:pt idx="4">
                    <c:v>Feb</c:v>
                  </c:pt>
                  <c:pt idx="5">
                    <c:v>Mar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1600</c:v>
                </c:pt>
                <c:pt idx="1">
                  <c:v>3200</c:v>
                </c:pt>
                <c:pt idx="2">
                  <c:v>4800</c:v>
                </c:pt>
                <c:pt idx="3">
                  <c:v>6400</c:v>
                </c:pt>
                <c:pt idx="4">
                  <c:v>8000</c:v>
                </c:pt>
                <c:pt idx="5">
                  <c:v>9600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Income</c:v>
                </c:pt>
              </c:strCache>
            </c:strRef>
          </c:tx>
          <c:spPr>
            <a:solidFill>
              <a:srgbClr val="0F766E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</c:v>
                  </c:pt>
                  <c:pt idx="1">
                    <c:v>M</c:v>
                  </c:pt>
                  <c:pt idx="2">
                    <c:v>J</c:v>
                  </c:pt>
                  <c:pt idx="3">
                    <c:v>J</c:v>
                  </c:pt>
                  <c:pt idx="4">
                    <c:v>A</c:v>
                  </c:pt>
                  <c:pt idx="5">
                    <c:v>S</c:v>
                  </c:pt>
                  <c:pt idx="6">
                    <c:v>O</c:v>
                  </c:pt>
                  <c:pt idx="7">
                    <c:v>N</c:v>
                  </c:pt>
                  <c:pt idx="8">
                    <c:v>D</c:v>
                  </c:pt>
                  <c:pt idx="9">
                    <c:v>J</c:v>
                  </c:pt>
                  <c:pt idx="10">
                    <c:v>F</c:v>
                  </c:pt>
                  <c:pt idx="11">
                    <c:v>M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0.17</c:v>
                </c:pt>
                <c:pt idx="1">
                  <c:v>0.2</c:v>
                </c:pt>
                <c:pt idx="2">
                  <c:v>0.23</c:v>
                </c:pt>
                <c:pt idx="3">
                  <c:v>0.23</c:v>
                </c:pt>
                <c:pt idx="4">
                  <c:v>0.23</c:v>
                </c:pt>
                <c:pt idx="5">
                  <c:v>0.23</c:v>
                </c:pt>
                <c:pt idx="6">
                  <c:v>0.71</c:v>
                </c:pt>
                <c:pt idx="7">
                  <c:v>0.71</c:v>
                </c:pt>
                <c:pt idx="8">
                  <c:v>0.71</c:v>
                </c:pt>
                <c:pt idx="9">
                  <c:v>0.71</c:v>
                </c:pt>
                <c:pt idx="10">
                  <c:v>0.71</c:v>
                </c:pt>
                <c:pt idx="11">
                  <c:v>0.71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Expense</c:v>
                </c:pt>
              </c:strCache>
            </c:strRef>
          </c:tx>
          <c:spPr>
            <a:solidFill>
              <a:srgbClr val="334155"/>
            </a:solidFill>
            <a:ln w="28575" cap="flat">
              <a:solidFill>
                <a:srgbClr val="3341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34155"/>
              </a:solidFill>
              <a:ln w="9525" cap="flat">
                <a:solidFill>
                  <a:srgbClr val="3341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A</c:v>
                  </c:pt>
                  <c:pt idx="1">
                    <c:v>M</c:v>
                  </c:pt>
                  <c:pt idx="2">
                    <c:v>J</c:v>
                  </c:pt>
                  <c:pt idx="3">
                    <c:v>J</c:v>
                  </c:pt>
                  <c:pt idx="4">
                    <c:v>A</c:v>
                  </c:pt>
                  <c:pt idx="5">
                    <c:v>S</c:v>
                  </c:pt>
                  <c:pt idx="6">
                    <c:v>O</c:v>
                  </c:pt>
                  <c:pt idx="7">
                    <c:v>N</c:v>
                  </c:pt>
                  <c:pt idx="8">
                    <c:v>D</c:v>
                  </c:pt>
                  <c:pt idx="9">
                    <c:v>J</c:v>
                  </c:pt>
                  <c:pt idx="10">
                    <c:v>F</c:v>
                  </c:pt>
                  <c:pt idx="11">
                    <c:v>M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0.36</c:v>
                </c:pt>
                <c:pt idx="1">
                  <c:v>0.33</c:v>
                </c:pt>
                <c:pt idx="2">
                  <c:v>0.46</c:v>
                </c:pt>
                <c:pt idx="3">
                  <c:v>0.4</c:v>
                </c:pt>
                <c:pt idx="4">
                  <c:v>0.46</c:v>
                </c:pt>
                <c:pt idx="5">
                  <c:v>0.46</c:v>
                </c:pt>
                <c:pt idx="6">
                  <c:v>0.46</c:v>
                </c:pt>
                <c:pt idx="7">
                  <c:v>0.46</c:v>
                </c:pt>
                <c:pt idx="8">
                  <c:v>0.46</c:v>
                </c:pt>
                <c:pt idx="9">
                  <c:v>0.46</c:v>
                </c:pt>
                <c:pt idx="10">
                  <c:v>0.46</c:v>
                </c:pt>
                <c:pt idx="11">
                  <c:v>0.46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Income</c:v>
                </c:pt>
              </c:strCache>
            </c:strRef>
          </c:tx>
          <c:spPr>
            <a:solidFill>
              <a:srgbClr val="0F766E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</c:v>
                  </c:pt>
                  <c:pt idx="1">
                    <c:v>M</c:v>
                  </c:pt>
                  <c:pt idx="2">
                    <c:v>J</c:v>
                  </c:pt>
                  <c:pt idx="3">
                    <c:v>J</c:v>
                  </c:pt>
                  <c:pt idx="4">
                    <c:v>A</c:v>
                  </c:pt>
                  <c:pt idx="5">
                    <c:v>S</c:v>
                  </c:pt>
                  <c:pt idx="6">
                    <c:v>O</c:v>
                  </c:pt>
                  <c:pt idx="7">
                    <c:v>N</c:v>
                  </c:pt>
                  <c:pt idx="8">
                    <c:v>D</c:v>
                  </c:pt>
                  <c:pt idx="9">
                    <c:v>J</c:v>
                  </c:pt>
                  <c:pt idx="10">
                    <c:v>F</c:v>
                  </c:pt>
                  <c:pt idx="11">
                    <c:v>M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0.17</c:v>
                </c:pt>
                <c:pt idx="1">
                  <c:v>0.2</c:v>
                </c:pt>
                <c:pt idx="2">
                  <c:v>0.23</c:v>
                </c:pt>
                <c:pt idx="3">
                  <c:v>0.23</c:v>
                </c:pt>
                <c:pt idx="4">
                  <c:v>0.23</c:v>
                </c:pt>
                <c:pt idx="5">
                  <c:v>0.23</c:v>
                </c:pt>
                <c:pt idx="6">
                  <c:v>0.23</c:v>
                </c:pt>
                <c:pt idx="7">
                  <c:v>0.23</c:v>
                </c:pt>
                <c:pt idx="8">
                  <c:v>0.23</c:v>
                </c:pt>
                <c:pt idx="9">
                  <c:v>0.71</c:v>
                </c:pt>
                <c:pt idx="10">
                  <c:v>0.71</c:v>
                </c:pt>
                <c:pt idx="11">
                  <c:v>0.71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Expense</c:v>
                </c:pt>
              </c:strCache>
            </c:strRef>
          </c:tx>
          <c:spPr>
            <a:solidFill>
              <a:srgbClr val="334155"/>
            </a:solidFill>
            <a:ln w="28575" cap="flat">
              <a:solidFill>
                <a:srgbClr val="3341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34155"/>
              </a:solidFill>
              <a:ln w="9525" cap="flat">
                <a:solidFill>
                  <a:srgbClr val="3341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A</c:v>
                  </c:pt>
                  <c:pt idx="1">
                    <c:v>M</c:v>
                  </c:pt>
                  <c:pt idx="2">
                    <c:v>J</c:v>
                  </c:pt>
                  <c:pt idx="3">
                    <c:v>J</c:v>
                  </c:pt>
                  <c:pt idx="4">
                    <c:v>A</c:v>
                  </c:pt>
                  <c:pt idx="5">
                    <c:v>S</c:v>
                  </c:pt>
                  <c:pt idx="6">
                    <c:v>O</c:v>
                  </c:pt>
                  <c:pt idx="7">
                    <c:v>N</c:v>
                  </c:pt>
                  <c:pt idx="8">
                    <c:v>D</c:v>
                  </c:pt>
                  <c:pt idx="9">
                    <c:v>J</c:v>
                  </c:pt>
                  <c:pt idx="10">
                    <c:v>F</c:v>
                  </c:pt>
                  <c:pt idx="11">
                    <c:v>M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0.36</c:v>
                </c:pt>
                <c:pt idx="1">
                  <c:v>0.33</c:v>
                </c:pt>
                <c:pt idx="2">
                  <c:v>0.46</c:v>
                </c:pt>
                <c:pt idx="3">
                  <c:v>0.4</c:v>
                </c:pt>
                <c:pt idx="4">
                  <c:v>0.46</c:v>
                </c:pt>
                <c:pt idx="5">
                  <c:v>0.46</c:v>
                </c:pt>
                <c:pt idx="6">
                  <c:v>0.46</c:v>
                </c:pt>
                <c:pt idx="7">
                  <c:v>0.46</c:v>
                </c:pt>
                <c:pt idx="8">
                  <c:v>0.46</c:v>
                </c:pt>
                <c:pt idx="9">
                  <c:v>0.46</c:v>
                </c:pt>
                <c:pt idx="10">
                  <c:v>0.46</c:v>
                </c:pt>
                <c:pt idx="11">
                  <c:v>0.46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Income</c:v>
                </c:pt>
              </c:strCache>
            </c:strRef>
          </c:tx>
          <c:spPr>
            <a:solidFill>
              <a:srgbClr val="0F766E">
                <a:alpha val="3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</c:v>
                  </c:pt>
                  <c:pt idx="1">
                    <c:v>M</c:v>
                  </c:pt>
                  <c:pt idx="2">
                    <c:v>J</c:v>
                  </c:pt>
                  <c:pt idx="3">
                    <c:v>J</c:v>
                  </c:pt>
                  <c:pt idx="4">
                    <c:v>A</c:v>
                  </c:pt>
                  <c:pt idx="5">
                    <c:v>S</c:v>
                  </c:pt>
                  <c:pt idx="6">
                    <c:v>O</c:v>
                  </c:pt>
                  <c:pt idx="7">
                    <c:v>N</c:v>
                  </c:pt>
                  <c:pt idx="8">
                    <c:v>D</c:v>
                  </c:pt>
                  <c:pt idx="9">
                    <c:v>J</c:v>
                  </c:pt>
                  <c:pt idx="10">
                    <c:v>F</c:v>
                  </c:pt>
                  <c:pt idx="11">
                    <c:v>M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0.18</c:v>
                </c:pt>
                <c:pt idx="1">
                  <c:v>0.19</c:v>
                </c:pt>
                <c:pt idx="2">
                  <c:v>0.23</c:v>
                </c:pt>
                <c:pt idx="3">
                  <c:v>0.23</c:v>
                </c:pt>
                <c:pt idx="4">
                  <c:v>0.23</c:v>
                </c:pt>
                <c:pt idx="5">
                  <c:v>0.23</c:v>
                </c:pt>
                <c:pt idx="6">
                  <c:v>0.23</c:v>
                </c:pt>
                <c:pt idx="7">
                  <c:v>0.23</c:v>
                </c:pt>
                <c:pt idx="8">
                  <c:v>0.23</c:v>
                </c:pt>
                <c:pt idx="9">
                  <c:v>0.23</c:v>
                </c:pt>
                <c:pt idx="10">
                  <c:v>0.23</c:v>
                </c:pt>
                <c:pt idx="11">
                  <c:v>0.23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Expense</c:v>
                </c:pt>
              </c:strCache>
            </c:strRef>
          </c:tx>
          <c:spPr>
            <a:solidFill>
              <a:srgbClr val="334155"/>
            </a:solidFill>
            <a:ln w="28575" cap="flat">
              <a:solidFill>
                <a:srgbClr val="3341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34155"/>
              </a:solidFill>
              <a:ln w="9525" cap="flat">
                <a:solidFill>
                  <a:srgbClr val="3341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A</c:v>
                  </c:pt>
                  <c:pt idx="1">
                    <c:v>M</c:v>
                  </c:pt>
                  <c:pt idx="2">
                    <c:v>J</c:v>
                  </c:pt>
                  <c:pt idx="3">
                    <c:v>J</c:v>
                  </c:pt>
                  <c:pt idx="4">
                    <c:v>A</c:v>
                  </c:pt>
                  <c:pt idx="5">
                    <c:v>S</c:v>
                  </c:pt>
                  <c:pt idx="6">
                    <c:v>O</c:v>
                  </c:pt>
                  <c:pt idx="7">
                    <c:v>N</c:v>
                  </c:pt>
                  <c:pt idx="8">
                    <c:v>D</c:v>
                  </c:pt>
                  <c:pt idx="9">
                    <c:v>J</c:v>
                  </c:pt>
                  <c:pt idx="10">
                    <c:v>F</c:v>
                  </c:pt>
                  <c:pt idx="11">
                    <c:v>M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0.36</c:v>
                </c:pt>
                <c:pt idx="1">
                  <c:v>0.33</c:v>
                </c:pt>
                <c:pt idx="2">
                  <c:v>0.46</c:v>
                </c:pt>
                <c:pt idx="3">
                  <c:v>0.4</c:v>
                </c:pt>
                <c:pt idx="4">
                  <c:v>0.46</c:v>
                </c:pt>
                <c:pt idx="5">
                  <c:v>0.46</c:v>
                </c:pt>
                <c:pt idx="6">
                  <c:v>0.46</c:v>
                </c:pt>
                <c:pt idx="7">
                  <c:v>0.46</c:v>
                </c:pt>
                <c:pt idx="8">
                  <c:v>0.46</c:v>
                </c:pt>
                <c:pt idx="9">
                  <c:v>0.46</c:v>
                </c:pt>
                <c:pt idx="10">
                  <c:v>0.46</c:v>
                </c:pt>
                <c:pt idx="11">
                  <c:v>0.46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bubble3D val="0"/>
            <c:spPr>
              <a:solidFill>
                <a:srgbClr val="2B5CC4"/>
              </a:solidFill>
              <a:effectLst/>
            </c:spPr>
          </c:dPt>
          <c:dPt>
            <c:idx val="2"/>
            <c:bubble3D val="0"/>
            <c:spPr>
              <a:solidFill>
                <a:srgbClr val="64748B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bubble3D val="0"/>
            <c:spPr>
              <a:solidFill>
                <a:srgbClr val="C7D2E4"/>
              </a:solidFill>
              <a:effectLst/>
            </c:spPr>
          </c:dPt>
          <c:dPt>
            <c:idx val="5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Salary</c:v>
                </c:pt>
                <c:pt idx="1">
                  <c:v>Rent</c:v>
                </c:pt>
                <c:pt idx="2">
                  <c:v>Professional</c:v>
                </c:pt>
                <c:pt idx="3">
                  <c:v>Sitting fees</c:v>
                </c:pt>
                <c:pt idx="4">
                  <c:v>Travel</c:v>
                </c:pt>
                <c:pt idx="5">
                  <c:v>Other heads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71.99</c:v>
                </c:pt>
                <c:pt idx="1">
                  <c:v>14.65</c:v>
                </c:pt>
                <c:pt idx="2">
                  <c:v>6.01</c:v>
                </c:pt>
                <c:pt idx="3">
                  <c:v>5.5</c:v>
                </c:pt>
                <c:pt idx="4">
                  <c:v>3.7</c:v>
                </c:pt>
                <c:pt idx="5">
                  <c:v>21.43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Existing plus FD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  <c:pt idx="3">
                    <c:v>FY29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1.56</c:v>
                </c:pt>
                <c:pt idx="1">
                  <c:v>2.67</c:v>
                </c:pt>
                <c:pt idx="2">
                  <c:v>2.9</c:v>
                </c:pt>
                <c:pt idx="3">
                  <c:v>3.1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BLR initial fees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  <c:pt idx="3">
                    <c:v>FY29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2.88</c:v>
                </c:pt>
                <c:pt idx="2">
                  <c:v>5.76</c:v>
                </c:pt>
                <c:pt idx="3">
                  <c:v>5.76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Surveillance annuity</c:v>
                </c:pt>
              </c:strCache>
            </c:strRef>
          </c:tx>
          <c:spPr>
            <a:solidFill>
              <a:srgbClr val="2B5C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  <c:pt idx="3">
                    <c:v>FY29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1.44</c:v>
                </c:pt>
                <c:pt idx="3">
                  <c:v>4.32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FD interest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32</c:v>
                </c:pt>
                <c:pt idx="2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Ratings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68</c:v>
                </c:pt>
                <c:pt idx="2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 revenue</c:v>
                </c:pt>
              </c:strCache>
            </c:strRef>
          </c:tx>
          <c:spPr>
            <a:solidFill>
              <a:srgbClr val="2B5C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415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ACER now</c:v>
                  </c:pt>
                  <c:pt idx="1">
                    <c:v>ACER FY28</c:v>
                  </c:pt>
                  <c:pt idx="2">
                    <c:v>Acuite</c:v>
                  </c:pt>
                  <c:pt idx="3">
                    <c:v>Infomerics</c:v>
                  </c:pt>
                  <c:pt idx="4">
                    <c:v>India Ratings</c:v>
                  </c:pt>
                  <c:pt idx="5">
                    <c:v>CARE</c:v>
                  </c:pt>
                  <c:pt idx="6">
                    <c:v>CRISIL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</c:v>
                </c:pt>
                <c:pt idx="1">
                  <c:v>8</c:v>
                </c:pt>
                <c:pt idx="2">
                  <c:v>57</c:v>
                </c:pt>
                <c:pt idx="3">
                  <c:v>95</c:v>
                </c:pt>
                <c:pt idx="4">
                  <c:v>251</c:v>
                </c:pt>
                <c:pt idx="5">
                  <c:v>423</c:v>
                </c:pt>
                <c:pt idx="6">
                  <c:v>909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33415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ACER rating revenue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415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  <c:pt idx="3">
                    <c:v>FY29</c:v>
                  </c:pt>
                  <c:pt idx="4">
                    <c:v>FY30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0.08</c:v>
                </c:pt>
                <c:pt idx="1">
                  <c:v>3.8</c:v>
                </c:pt>
                <c:pt idx="2">
                  <c:v>8.3</c:v>
                </c:pt>
                <c:pt idx="3">
                  <c:v>11.3</c:v>
                </c:pt>
                <c:pt idx="4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33415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914400" cy="82296"/>
          </a:xfrm>
          <a:prstGeom prst="rect">
            <a:avLst/>
          </a:prstGeom>
          <a:solidFill>
            <a:srgbClr val="2B5CC4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574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PRESENTATION, CONFIDENTIAL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2395728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FY27 Annual Operating Plan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34290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to convert a capital rich, deposit dependent balance sheet into a self sustaining ratings franchise, built on the Bank Loan Rating licence.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440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5715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 Credit Rating Pvt. Ltd.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24528" y="5440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year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24528" y="5715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 to Mar 2027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82128" y="5440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82128" y="5715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BLR live by 1 October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40233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5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stand today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Financially solvent and capital rich, but income still comes from reserves, not from operations.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5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9280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corpus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2130552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26.1 Cr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3232" y="2569464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25 Cr is the SEBI net worth lock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28416" y="178308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5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89280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income mix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0" y="2130552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 FD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2569464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Rs 8 L from ratings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9904" y="178308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5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89280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Q1 FY27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6208" y="2130552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28.5 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36208" y="2569464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3.5x all of FY26, inflecting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851392" y="178308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5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97696" y="189280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run rate P&amp;L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97696" y="2130552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-2.6 Cr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97696" y="2569464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BLR revenue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32004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monthly income and expense, from the books (Rs Cr)</a:t>
            </a:r>
            <a:endParaRPr lang="en-US" sz="1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66928" y="3474720"/>
          <a:ext cx="67665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7635240" y="3566160"/>
            <a:ext cx="3977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sat around Rs 14 to 15 L a month, almost all FD interest, while expense climbed past it as the team grew. Ratings income appears only in the last few months. Every value is booked.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66928" y="6446520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Internal monthly ledger, Apr 2025 to Jun 2026 [1]. SEBI net worth requirement [10].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40233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5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BLR is the switch, and why a borrower picks us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regulatory milestone turns idle capital into an operating engine. The wedge against incumbents is real.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5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385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lever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28600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Ratings, via RBI ECAI accreditation. Every bank borrower is a candidate, the largest addressable pool in the industry.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0248" y="178308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5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128" y="19385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53128" y="228600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3 bps pricing, faster turnaround, and demand for a second rating on larger facilities give a new CRA a genuine opening.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73568" y="1783080"/>
            <a:ext cx="3520440" cy="1783080"/>
          </a:xfrm>
          <a:prstGeom prst="roundRect">
            <a:avLst>
              <a:gd name="adj" fmla="val 3590"/>
            </a:avLst>
          </a:prstGeom>
          <a:solidFill>
            <a:srgbClr val="F5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19385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capacity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56448" y="228600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senior hires and four BDs, in place ahead of the licence, so mandates can be serviced from day one.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38862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plan: invest through FY27 to be ready, win BLR mandates the moment the licence lands, and let recurring surveillance fees compound into a durable annuity.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it works: Infomerics, a peer, grew rating revenue from Rs 64 Cr to Rs 95 Cr in three years on a BLR led model.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6446520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Infomerics [7]. Hiring and pricing, Internal [1] and assumption [2]. Regulatory basis [10].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40233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5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 and the scale it builds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5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0136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Ticket, min debt rated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2039112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100 Cr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2478024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Rs 50 Cr stays with banks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28416" y="169164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5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80136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fee, 3 bps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0" y="2039112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3.0 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2478024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time, at onboarding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9904" y="169164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5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80136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Surveillance, 1.5 bps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36208" y="2039112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1.5 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36208" y="2478024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recurring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51392" y="169164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5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97696" y="180136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target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997696" y="2039112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mo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97696" y="2478024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BDs x 4 cases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" y="3108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x Rs 100 Cr = Rs 1,600 Cr of debt rated every month. Cumulative rated debt reaches about Rs 9,600 Cr over the six live months in the base case.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406908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17880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 rate initial fees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3232" y="4416552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5.76 Cr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3232" y="4855464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mandates per year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28416" y="4069080"/>
            <a:ext cx="2606040" cy="109728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417880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annuity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74720" y="4416552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2.88 Cr/yr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474720" y="4855464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full book</a:t>
            </a:r>
            <a:endParaRPr lang="en-US" sz="9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5760720" y="3063240"/>
          <a:ext cx="58521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Text 28"/>
          <p:cNvSpPr/>
          <p:nvPr/>
        </p:nvSpPr>
        <p:spPr>
          <a:xfrm>
            <a:off x="566928" y="6446520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fee rates, ticket size and volume are ACER management and Board assumptions [2].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40233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5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SCENARIOS, FY27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year lands, by BLR licence timing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cost base of Rs 5.24 Cr and same FD income across all three. Only the licence date changes. S1 is the base case.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0FAF8"/>
          </a:solidFill>
          <a:ln w="22225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148840"/>
            <a:ext cx="1417320" cy="292608"/>
          </a:xfrm>
          <a:prstGeom prst="roundRect">
            <a:avLst>
              <a:gd name="adj" fmla="val 31250"/>
            </a:avLst>
          </a:prstGeom>
          <a:solidFill>
            <a:srgbClr val="D7F0E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488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2514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S1. BLR by 1 Oct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28986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interest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50008" y="28986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1.80 Cr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9808" y="32186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revenue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50008" y="32186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3.75 Cr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9808" y="35387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income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50008" y="35387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5.55 Cr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9808" y="38587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share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350008" y="38587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9808" y="4251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+Rs 0.31 Cr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49808" y="4709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even, flips to ratings led.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70248" y="19659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53128" y="2148840"/>
            <a:ext cx="1417320" cy="292608"/>
          </a:xfrm>
          <a:prstGeom prst="roundRect">
            <a:avLst>
              <a:gd name="adj" fmla="val 31250"/>
            </a:avLst>
          </a:prstGeom>
          <a:solidFill>
            <a:srgbClr val="E6ECFB"/>
          </a:solidFill>
          <a:ln/>
        </p:spPr>
      </p:sp>
      <p:sp>
        <p:nvSpPr>
          <p:cNvPr id="22" name="Text 20"/>
          <p:cNvSpPr/>
          <p:nvPr/>
        </p:nvSpPr>
        <p:spPr>
          <a:xfrm>
            <a:off x="4453128" y="21488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53128" y="2514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S2. BLR by 1 Jan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453128" y="28986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interest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053328" y="28986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1.80 Cr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453128" y="32186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revenue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053328" y="32186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2.31 Cr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453128" y="35387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income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053328" y="35387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4.11 Cr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453128" y="38587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share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053328" y="38587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453128" y="4251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-Rs 1.13 Cr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4453128" y="4709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months of BLR revenue.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973568" y="19659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56448" y="2148840"/>
            <a:ext cx="1417320" cy="292608"/>
          </a:xfrm>
          <a:prstGeom prst="roundRect">
            <a:avLst>
              <a:gd name="adj" fmla="val 31250"/>
            </a:avLst>
          </a:prstGeom>
          <a:solidFill>
            <a:srgbClr val="FBE4E4"/>
          </a:solidFill>
          <a:ln/>
        </p:spPr>
      </p:sp>
      <p:sp>
        <p:nvSpPr>
          <p:cNvPr id="36" name="Text 34"/>
          <p:cNvSpPr/>
          <p:nvPr/>
        </p:nvSpPr>
        <p:spPr>
          <a:xfrm>
            <a:off x="8156448" y="21488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156448" y="2514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S3. No BLR this FY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156448" y="28986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interest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756648" y="28986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1.80 Cr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156448" y="32186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revenue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756648" y="32186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0.87 Cr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156448" y="35387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income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756648" y="35387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2.67 Cr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156448" y="38587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share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756648" y="38587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156448" y="4251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-Rs 2.57 Cr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8156448" y="4709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through year on reserves.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66928" y="6446520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FD interest and cost base, Internal run rate [1]. BLR revenue, assumptions [2]. Flat 16 cases per month from launch, initial fees only in FY27.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40233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5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PROJECTION THAT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path to break even, all three cases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area is total monthly income, FD plus ratings. The dark line is all in monthly expense. The first quarter, Apr to Jun, is actual; the rest is projected. Where green rises above the line, the month is cash positive.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19202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S1. BLR by Oct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21284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even from October</a:t>
            </a:r>
            <a:endParaRPr lang="en-US" sz="11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66928" y="2514600"/>
          <a:ext cx="35204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270248" y="19202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S2. BLR by Jan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270248" y="221284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5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even from January</a:t>
            </a:r>
            <a:endParaRPr lang="en-US" sz="115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4270248" y="2514600"/>
          <a:ext cx="35204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7973568" y="19202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S3. No BLR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973568" y="221284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reached in FY27</a:t>
            </a:r>
            <a:endParaRPr lang="en-US" sz="1150" dirty="0"/>
          </a:p>
        </p:txBody>
      </p:sp>
      <p:graphicFrame>
        <p:nvGraphicFramePr>
          <p:cNvPr id="14" name="Chart 2" descr=""/>
          <p:cNvGraphicFramePr/>
          <p:nvPr/>
        </p:nvGraphicFramePr>
        <p:xfrm>
          <a:off x="7973568" y="2514600"/>
          <a:ext cx="35204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 10"/>
          <p:cNvSpPr/>
          <p:nvPr/>
        </p:nvSpPr>
        <p:spPr>
          <a:xfrm>
            <a:off x="566928" y="5669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FD plus ratings   </a:t>
            </a:r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Expense, all in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66928" y="6446520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monthly build from Internal run rate [1] and BLR assumptions [2]. Months Apr to Mar. Values in Rs Cr.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40233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5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FY27 budget, quarter by quarter and by cost head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P&amp;L, base case (Rs Cr)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(Apr to Jun) actual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(Jul to Sep)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(Oct to Dec)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(Jan to Mar)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FY27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92240" y="1417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actual spend to date, by ledger head (Rs Lakh)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0" y="169164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566928" y="51663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is 58% of actual spend to date and rises further as the two new hires annualise. Q1 P&amp;L above is booked actual; Q2 to Q4 are projected. Full year cost base is budgeted at Rs 5.24 Cr.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66928" y="6446520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cost heads are Internal actuals to 21 Jul [1]; quarterly build uses Internal run rate [1] and BLR assumptions [2].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40233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5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AND RUNWAY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Solvency is not the question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fully funded in every scenario without touching the regulatory net worth.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5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9280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FD corpus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2130552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26.1 Cr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28416" y="178308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5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89280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Locked, SEBI net worth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0" y="2130552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25.0 Cr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2569464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at all times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9904" y="178308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5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89280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funds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36208" y="2130552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Rs 3.0 Cr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36208" y="2569464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locked FD plus bank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51392" y="178308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5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97696" y="1892808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FD interest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997696" y="2130552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Rs 1.8 Cr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97696" y="2569464"/>
            <a:ext cx="2313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cash income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" y="338328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S1 breaks even, so no drawdown is needed.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worst case S3, a Rs 2.6 Cr loss, is about Rs 2.5 Cr of cash burn, comfortably inside the roughly Rs 3.0 Cr accessible plus Rs 1.8 Cr of annual interest.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Rs 25 Cr net worth stays intact in every scenario, so the SEBI registration is never at risk. The question is operational self sufficiency, not survival.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" y="6446520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Internal [1]. SEBI net worth basis [10].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40233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5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trajectory and the income mix flip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revenue build, base case (Rs Cr)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73736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922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mix, FD versus ratings</a:t>
            </a:r>
            <a:endParaRPr lang="en-US" sz="12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400800" y="173736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66928" y="6446520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FY26 actual, Internal [1]. FY27 to FY29 modelled from Internal baseline [1] and BLR assumptions [2].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40233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5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CRAs earn, and where we go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Indian rating industry is about Rs 2,000 Cr. We enter small and climb a credible ladder.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revenue, latest year (Rs Cr)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691640"/>
          <a:ext cx="55778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revenue trajectory (Rs Cr)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400800" y="1691640"/>
          <a:ext cx="5394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6400800" y="4160520"/>
            <a:ext cx="1691640" cy="1143000"/>
          </a:xfrm>
          <a:prstGeom prst="roundRect">
            <a:avLst>
              <a:gd name="adj" fmla="val 4800"/>
            </a:avLst>
          </a:prstGeom>
          <a:solidFill>
            <a:srgbClr val="F5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10528" y="4251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510528" y="4480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2,000 Cr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10528" y="4846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industry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8211312" y="4160520"/>
            <a:ext cx="1691640" cy="1143000"/>
          </a:xfrm>
          <a:prstGeom prst="roundRect">
            <a:avLst>
              <a:gd name="adj" fmla="val 4800"/>
            </a:avLst>
          </a:prstGeom>
          <a:solidFill>
            <a:srgbClr val="F5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321040" y="4251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321040" y="4480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500 Cr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321040" y="4846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100 Cr+ BLR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10021824" y="4160520"/>
            <a:ext cx="1691640" cy="1143000"/>
          </a:xfrm>
          <a:prstGeom prst="roundRect">
            <a:avLst>
              <a:gd name="adj" fmla="val 4800"/>
            </a:avLst>
          </a:prstGeom>
          <a:solidFill>
            <a:srgbClr val="F5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131552" y="4251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FY28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10131552" y="4480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8 Cr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0131552" y="4846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0.4%, to ~0.8% by FY30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566928" y="6446520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peer figures from official disclosures, CRISIL [3], CARE [5], India Ratings [6], Infomerics [7], Acuite [8]. ACER, Internal [1] and plan [2]. TAM and SAM are estimates.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40233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5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Milestones, KPIs and risks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(base case)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73736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SEBI registered, two hires and four BDs onboarding.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pursue RBI ECAI accreditation, build the BD pipeline.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Oct: BLR live, first mandates.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to Q4: ramp to 16 per month, reach break even.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FY28: full year of BLR, surveillance annuity, profitability.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the Board will see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443484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per month and cumulative rated debt.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share of income, revenue versus plan.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position and net worth headroom.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and mitigations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73736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BLR licence delay: cost trigger, stagger the second hire, freeze discretionary spend.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ramp shortfall: disciplined pipeline, phased monthly targets.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from incumbents: price, service and second rating niche.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quality or compliance failure: independent rating committee and strong process. Brickwork lost its licence and most of its revenue to lapses, rating revenue fell from about Rs 48.5 Cr to about Rs 5 Cr.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concentration: keep no single issuer above 10% of revenue.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6446520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Internal [1]. Brickwork history, brickworkratings.com [9].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40233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5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55448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FY27 operating budget of Rs 5.24 Cr, including Rs 0.64 Cr for the two new hires.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headcount plan: two senior hires plus four BDs.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base case, BLR live by 1 October at 16 cases per month.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that the plan is fully funded without touching the Rs 25 Cr net worth, with a cost trigger if BLR slips past January.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42062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4434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Solvency is secure. Operational self sufficiency by FY28 is the goal, and the BLR licence is the one variable that decides the pace.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6446520"/>
            <a:ext cx="11064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[1] Internal. [2] Management assumption. [3] crisil.com. [5] careratings.com. [6] indiaratings.co.in. [7] infomerics.com. [8] acuite.in. [9] brickworkratings.com. [10] SEBI CRA Regulations.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2026-07-24T11:33:20Z</dcterms:created>
  <dcterms:modified xsi:type="dcterms:W3CDTF">2026-07-24T11:33:20Z</dcterms:modified>
</cp:coreProperties>
</file>
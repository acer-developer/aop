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Income (FD + ratings)</c:v>
                </c:pt>
              </c:strCache>
            </c:strRef>
          </c:tx>
          <c:spPr>
            <a:solidFill>
              <a:srgbClr val="0F766E">
                <a:alpha val="35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  <c:pt idx="12">
                    <c:v>Apr</c:v>
                  </c:pt>
                  <c:pt idx="13">
                    <c:v>May</c:v>
                  </c:pt>
                  <c:pt idx="14">
                    <c:v>Jun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0.134</c:v>
                </c:pt>
                <c:pt idx="3">
                  <c:v>0.015</c:v>
                </c:pt>
                <c:pt idx="4">
                  <c:v>0.146</c:v>
                </c:pt>
                <c:pt idx="5">
                  <c:v>0.29</c:v>
                </c:pt>
                <c:pt idx="6">
                  <c:v>0.146</c:v>
                </c:pt>
                <c:pt idx="7">
                  <c:v>0.145</c:v>
                </c:pt>
                <c:pt idx="8">
                  <c:v>0.145</c:v>
                </c:pt>
                <c:pt idx="9">
                  <c:v>0.156</c:v>
                </c:pt>
                <c:pt idx="10">
                  <c:v>0.235</c:v>
                </c:pt>
                <c:pt idx="11">
                  <c:v>0.149</c:v>
                </c:pt>
                <c:pt idx="12">
                  <c:v>0.175</c:v>
                </c:pt>
                <c:pt idx="13">
                  <c:v>0.194</c:v>
                </c:pt>
                <c:pt idx="14">
                  <c:v>0.232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Expense, all in</c:v>
                </c:pt>
              </c:strCache>
            </c:strRef>
          </c:tx>
          <c:spPr>
            <a:solidFill>
              <a:srgbClr val="334155"/>
            </a:solidFill>
            <a:ln w="25400" cap="flat">
              <a:solidFill>
                <a:srgbClr val="3341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34155"/>
              </a:solidFill>
              <a:ln w="9525" cap="flat">
                <a:solidFill>
                  <a:srgbClr val="3341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  <c:pt idx="12">
                    <c:v>Apr</c:v>
                  </c:pt>
                  <c:pt idx="13">
                    <c:v>May</c:v>
                  </c:pt>
                  <c:pt idx="14">
                    <c:v>Jun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0.036</c:v>
                </c:pt>
                <c:pt idx="1">
                  <c:v>0.095</c:v>
                </c:pt>
                <c:pt idx="2">
                  <c:v>0.171</c:v>
                </c:pt>
                <c:pt idx="3">
                  <c:v>0.1</c:v>
                </c:pt>
                <c:pt idx="4">
                  <c:v>0.14</c:v>
                </c:pt>
                <c:pt idx="5">
                  <c:v>0.183</c:v>
                </c:pt>
                <c:pt idx="6">
                  <c:v>0.177</c:v>
                </c:pt>
                <c:pt idx="7">
                  <c:v>0.196</c:v>
                </c:pt>
                <c:pt idx="8">
                  <c:v>0.334</c:v>
                </c:pt>
                <c:pt idx="9">
                  <c:v>0.267</c:v>
                </c:pt>
                <c:pt idx="10">
                  <c:v>0.359</c:v>
                </c:pt>
                <c:pt idx="11">
                  <c:v>0.38</c:v>
                </c:pt>
                <c:pt idx="12">
                  <c:v>0.364</c:v>
                </c:pt>
                <c:pt idx="13">
                  <c:v>0.33</c:v>
                </c:pt>
                <c:pt idx="14">
                  <c:v>0.463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Calibri"/>
              </a:rPr>
              <a:t>Cumulative debt rated, base case (Rs Cr)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rated debt (Rs Cr)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1600</c:v>
                </c:pt>
                <c:pt idx="1">
                  <c:v>3200</c:v>
                </c:pt>
                <c:pt idx="2">
                  <c:v>4800</c:v>
                </c:pt>
                <c:pt idx="3">
                  <c:v>6400</c:v>
                </c:pt>
                <c:pt idx="4">
                  <c:v>8000</c:v>
                </c:pt>
                <c:pt idx="5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returns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Earning (existing + BLR)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56</c:v>
                </c:pt>
                <c:pt idx="7">
                  <c:v>56</c:v>
                </c:pt>
                <c:pt idx="8">
                  <c:v>56</c:v>
                </c:pt>
                <c:pt idx="9">
                  <c:v>56</c:v>
                </c:pt>
                <c:pt idx="10">
                  <c:v>56</c:v>
                </c:pt>
                <c:pt idx="11">
                  <c:v>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Expense, all in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36</c:v>
                </c:pt>
                <c:pt idx="1">
                  <c:v>33</c:v>
                </c:pt>
                <c:pt idx="2">
                  <c:v>46</c:v>
                </c:pt>
                <c:pt idx="3">
                  <c:v>40</c:v>
                </c:pt>
                <c:pt idx="4">
                  <c:v>46</c:v>
                </c:pt>
                <c:pt idx="5">
                  <c:v>46</c:v>
                </c:pt>
                <c:pt idx="6">
                  <c:v>46</c:v>
                </c:pt>
                <c:pt idx="7">
                  <c:v>46</c:v>
                </c:pt>
                <c:pt idx="8">
                  <c:v>46</c:v>
                </c:pt>
                <c:pt idx="9">
                  <c:v>46</c:v>
                </c:pt>
                <c:pt idx="10">
                  <c:v>46</c:v>
                </c:pt>
                <c:pt idx="11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returns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Earning (existing + BLR)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56</c:v>
                </c:pt>
                <c:pt idx="10">
                  <c:v>56</c:v>
                </c:pt>
                <c:pt idx="11">
                  <c:v>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Expense, all in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36</c:v>
                </c:pt>
                <c:pt idx="1">
                  <c:v>33</c:v>
                </c:pt>
                <c:pt idx="2">
                  <c:v>46</c:v>
                </c:pt>
                <c:pt idx="3">
                  <c:v>40</c:v>
                </c:pt>
                <c:pt idx="4">
                  <c:v>46</c:v>
                </c:pt>
                <c:pt idx="5">
                  <c:v>46</c:v>
                </c:pt>
                <c:pt idx="6">
                  <c:v>46</c:v>
                </c:pt>
                <c:pt idx="7">
                  <c:v>46</c:v>
                </c:pt>
                <c:pt idx="8">
                  <c:v>46</c:v>
                </c:pt>
                <c:pt idx="9">
                  <c:v>46</c:v>
                </c:pt>
                <c:pt idx="10">
                  <c:v>46</c:v>
                </c:pt>
                <c:pt idx="11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returns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Earning (existing + BLR)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Expense, all in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36</c:v>
                </c:pt>
                <c:pt idx="1">
                  <c:v>33</c:v>
                </c:pt>
                <c:pt idx="2">
                  <c:v>46</c:v>
                </c:pt>
                <c:pt idx="3">
                  <c:v>40</c:v>
                </c:pt>
                <c:pt idx="4">
                  <c:v>46</c:v>
                </c:pt>
                <c:pt idx="5">
                  <c:v>46</c:v>
                </c:pt>
                <c:pt idx="6">
                  <c:v>46</c:v>
                </c:pt>
                <c:pt idx="7">
                  <c:v>46</c:v>
                </c:pt>
                <c:pt idx="8">
                  <c:v>46</c:v>
                </c:pt>
                <c:pt idx="9">
                  <c:v>46</c:v>
                </c:pt>
                <c:pt idx="10">
                  <c:v>46</c:v>
                </c:pt>
                <c:pt idx="11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bubble3D val="0"/>
            <c:spPr>
              <a:solidFill>
                <a:srgbClr val="2B5CC4"/>
              </a:solidFill>
              <a:effectLst/>
            </c:spPr>
          </c:dPt>
          <c:dPt>
            <c:idx val="2"/>
            <c:bubble3D val="0"/>
            <c:spPr>
              <a:solidFill>
                <a:srgbClr val="64748B"/>
              </a:solidFill>
              <a:effectLst/>
            </c:spPr>
          </c:dPt>
          <c:dPt>
            <c:idx val="3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bubble3D val="0"/>
            <c:spPr>
              <a:solidFill>
                <a:srgbClr val="C7D2E4"/>
              </a:solidFill>
              <a:effectLst/>
            </c:spPr>
          </c:dPt>
          <c:dPt>
            <c:idx val="5"/>
            <c:bubble3D val="0"/>
            <c:spPr>
              <a:solidFill>
                <a:srgbClr val="CBD5E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Salary</c:v>
                </c:pt>
                <c:pt idx="1">
                  <c:v>Rent</c:v>
                </c:pt>
                <c:pt idx="2">
                  <c:v>Professional</c:v>
                </c:pt>
                <c:pt idx="3">
                  <c:v>Sitting fees</c:v>
                </c:pt>
                <c:pt idx="4">
                  <c:v>Travel</c:v>
                </c:pt>
                <c:pt idx="5">
                  <c:v>Other heads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71.99</c:v>
                </c:pt>
                <c:pt idx="1">
                  <c:v>14.65</c:v>
                </c:pt>
                <c:pt idx="2">
                  <c:v>6.01</c:v>
                </c:pt>
                <c:pt idx="3">
                  <c:v>5.5</c:v>
                </c:pt>
                <c:pt idx="4">
                  <c:v>3.7</c:v>
                </c:pt>
                <c:pt idx="5">
                  <c:v>21.43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Rs Cr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Existing team</c:v>
                  </c:pt>
                  <c:pt idx="1">
                    <c:v>New hire 1 (CTC)</c:v>
                  </c:pt>
                  <c:pt idx="2">
                    <c:v>New hire 2 (CTC)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0.45</c:v>
                </c:pt>
                <c:pt idx="2">
                  <c:v>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plus FD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1.56</c:v>
                </c:pt>
                <c:pt idx="1">
                  <c:v>2.67</c:v>
                </c:pt>
                <c:pt idx="2">
                  <c:v>2.9</c:v>
                </c:pt>
                <c:pt idx="3">
                  <c:v>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BLR initial fees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2.88</c:v>
                </c:pt>
                <c:pt idx="2">
                  <c:v>5.76</c:v>
                </c:pt>
                <c:pt idx="3">
                  <c:v>5.76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Surveillance annuity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1.44</c:v>
                </c:pt>
                <c:pt idx="3">
                  <c:v>4.32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interest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32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Ratings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68</c:v>
                </c:pt>
                <c:pt idx="2">
                  <c:v>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Rating revenue</c:v>
                </c:pt>
              </c:strCache>
            </c:strRef>
          </c:tx>
          <c:spPr>
            <a:solidFill>
              <a:srgbClr val="2B5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ACER now</c:v>
                  </c:pt>
                  <c:pt idx="1">
                    <c:v>ACER FY28</c:v>
                  </c:pt>
                  <c:pt idx="2">
                    <c:v>Acuite</c:v>
                  </c:pt>
                  <c:pt idx="3">
                    <c:v>Infomerics</c:v>
                  </c:pt>
                  <c:pt idx="4">
                    <c:v>India Ratings</c:v>
                  </c:pt>
                  <c:pt idx="5">
                    <c:v>CARE</c:v>
                  </c:pt>
                  <c:pt idx="6">
                    <c:v>CRISIL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</c:v>
                </c:pt>
                <c:pt idx="1">
                  <c:v>8</c:v>
                </c:pt>
                <c:pt idx="2">
                  <c:v>57</c:v>
                </c:pt>
                <c:pt idx="3">
                  <c:v>95</c:v>
                </c:pt>
                <c:pt idx="4">
                  <c:v>251</c:v>
                </c:pt>
                <c:pt idx="5">
                  <c:v>423</c:v>
                </c:pt>
                <c:pt idx="6">
                  <c:v>909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ACER rating revenue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  <c:pt idx="4">
                    <c:v>FY30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0.08</c:v>
                </c:pt>
                <c:pt idx="1">
                  <c:v>3.8</c:v>
                </c:pt>
                <c:pt idx="2">
                  <c:v>8.3</c:v>
                </c:pt>
                <c:pt idx="3">
                  <c:v>11.3</c:v>
                </c:pt>
                <c:pt idx="4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FY28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bubble3D val="0"/>
            <c:spPr>
              <a:solidFill>
                <a:srgbClr val="2B5CC4"/>
              </a:solidFill>
              <a:effectLst/>
            </c:spPr>
          </c:dPt>
          <c:dPt>
            <c:idx val="2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BLR initial fees</c:v>
                </c:pt>
                <c:pt idx="1">
                  <c:v>Surveillance annuity</c:v>
                </c:pt>
                <c:pt idx="2">
                  <c:v>Existing ratings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5.76</c:v>
                </c:pt>
                <c:pt idx="1">
                  <c:v>1.44</c:v>
                </c:pt>
                <c:pt idx="2">
                  <c:v>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828800"/>
            <a:ext cx="914400" cy="82296"/>
          </a:xfrm>
          <a:prstGeom prst="rect">
            <a:avLst/>
          </a:prstGeom>
          <a:solidFill>
            <a:srgbClr val="2B5CC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574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PRESENTATION, CONFIDENTIAL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FY27 Annual Operating Plan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66928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to convert a capital rich, deposit dependent balance sheet into a self sustaining ratings franchise, built on the Bank Loan Rating licence.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Credit Rating Pvt. Ltd.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245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year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245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 to Mar 2027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82128" y="5440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82128" y="5715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BLR live by 1 October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stand today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solvent and capital rich, but income still comes from reserves, not from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corpus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26.1 Cr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13232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25 Cr is the SEBI net worth lock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28416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income mix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74720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 FD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474720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Rs 8 L from ratings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9904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Ratings, Q1 FY27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36208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28.5 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36208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3.5x all of FY26, inflecting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851392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97696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run rate P&amp;L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97696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-2.6 Cr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997696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BLR revenue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32004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monthly income and expense, from the books (Rs Cr)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66928" y="3474720"/>
          <a:ext cx="67665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/>
          <p:nvPr/>
        </p:nvSpPr>
        <p:spPr>
          <a:xfrm>
            <a:off x="7635240" y="3566160"/>
            <a:ext cx="39776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sat around Rs 14 to 15 L a month, almost all FD interest, while expense climbed past it as the team grew. Ratings income appears only in the last few months. Every value is booked.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monthly ledger, Apr 2025 to Jun 2026 [1]. SEBI net worth requirement [10].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BLR is the switch, and why a borrower picks us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regulatory milestone turns idle capital into an operating engine. The wedge against incumbents is real.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Loan Ratings, via RBI ECAI accreditation. Every bank borrower is a candidate, the largest addressable pool in the industry.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312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5312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3 bps pricing, faster turnaround, and demand for a second rating on larger facilities give a new CRA a genuine opening.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359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938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capacity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56448" y="2286000"/>
            <a:ext cx="3154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senior hires and four BDs, in place ahead of the licence, so mandates can be serviced from day one.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88620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plan: invest through FY27 to be ready, win BLR mandates the moment the licence lands, and let recurring surveillance fees compound into a durable annuity.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 it works: Infomerics, a peer, grew rating revenue from Rs 64 Cr to Rs 95 Cr in three years on a BLR led model.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Infomerics [7]. Hiring and pricing, Internal [1] and assumption [2]. Regulatory basis [10].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ENGINE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economics and the scale it builds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Ticket, min debt rated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13232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100 Cr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13232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Rs 50 Cr stays with banks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28416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fee, 3 bps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0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3.0 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time, at onboarding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Surveillance, 1.5 bps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36208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1.5 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36208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year, recurring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51392" y="169164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180136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target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997696" y="203911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/ mo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97696" y="247802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BDs x 4 cases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31089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x Rs 100 Cr = Rs 1,600 Cr of debt rated every month. Cumulative rated debt reaches about Rs 9,600 Cr over the six live months in the base case.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66928" y="406908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178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rate initial fees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3232" y="4416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5.76 Cr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13232" y="4855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mandates per year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28416" y="406908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4178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annuity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74720" y="4416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2.88 Cr/yr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855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full book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760720" y="3063240"/>
          <a:ext cx="5852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Text 28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fee rates, ticket size and volume are ACER management and Board assumptions [2].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SCENARIOS, FY27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year lands, by BLR licence timing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cost base of Rs 5.24 Cr and same FD income across all three. Only the licence date changes. S1 is the base case.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0FAF8"/>
          </a:solidFill>
          <a:ln w="22225">
            <a:solidFill>
              <a:srgbClr val="0F76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D7F0EB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S1. BLR by 1 Oct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5000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35000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3.75 Cr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980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35000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5.55 Cr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4980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35000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4980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+Rs 0.31 Cr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4980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even, flips to ratings led.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024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5312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E6ECFB"/>
          </a:solidFill>
          <a:ln/>
        </p:spPr>
      </p:sp>
      <p:sp>
        <p:nvSpPr>
          <p:cNvPr id="22" name="Text 20"/>
          <p:cNvSpPr/>
          <p:nvPr/>
        </p:nvSpPr>
        <p:spPr>
          <a:xfrm>
            <a:off x="445312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5312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S2. BLR by 1 Jan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45312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05332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45312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05332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2.31 Cr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45312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05332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4.11 Cr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45312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05332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45312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-Rs 1.13 Cr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445312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months of BLR revenue.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973568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56448" y="2148840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FBE4E4"/>
          </a:solidFill>
          <a:ln/>
        </p:spPr>
      </p:sp>
      <p:sp>
        <p:nvSpPr>
          <p:cNvPr id="36" name="Text 34"/>
          <p:cNvSpPr/>
          <p:nvPr/>
        </p:nvSpPr>
        <p:spPr>
          <a:xfrm>
            <a:off x="8156448" y="21488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56448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S3. No BLR this FY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156448" y="2898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interest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56648" y="28986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1.80 Cr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156448" y="32186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revenue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756648" y="32186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0.87 Cr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8156448" y="35387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756648" y="35387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2.67 Cr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8156448" y="38587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9756648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156448" y="4251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-Rs 2.57 Cr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8156448" y="4709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through year on reserves.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FD interest and cost base, Internal run rate [1]. BLR revenue, assumptions [2]. Flat 16 cases per month from launch, initial fees only in FY27.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PATH TO BREAK EVEN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S1. BLR by October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positive from October, when FD plus earning clears expense.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91640"/>
          <a:ext cx="11064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 jumps from Rs 8 L to Rs 56 L in October as 16 cases at Rs 3 L land, above the Rs 46 L monthly expense.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actual months Apr to Jun from Internal ledger [1]; projected months from Internal run rate [1] and BLR assumptions [2]. Values Rs Lakh. Earning = existing ratings plus 16 new cases at Rs 3 L each once BLR is live.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PATH TO BREAK EVEN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S2. BLR by January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positive from January, only the final quarter carries BLR revenue.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91640"/>
          <a:ext cx="11064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and expense run all year, but earning only steps up in January. FY27 stays a loss overall.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actual months Apr to Jun from Internal ledger [1]; projected months from Internal run rate [1] and BLR assumptions [2]. Values Rs Lakh. Earning = existing ratings plus 16 new cases at Rs 3 L each once BLR is live.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PATH TO BREAK EVEN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S3. No BLR this financial year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even is not reached, earning stays at the existing run rate.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91640"/>
          <a:ext cx="11064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ratings grow to about Rs 8 L a month, well short of the Rs 46 L expense. Funded from reserves.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actual months Apr to Jun from Internal ledger [1]; projected months from Internal run rate [1] and BLR assumptions [2]. Values Rs Lakh. Earning = existing ratings plus 16 new cases at Rs 3 L each once BLR is live.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FY27 budget and cost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P&amp;L, base case (Rs Cr)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(Apr-Jun) actual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 (Jul-Sep)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 (Oct-Dec)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(Jan-Mar)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92240" y="137160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by ledger head, FY27 actual to date (Rs Lakh)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1645920"/>
          <a:ext cx="539496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566928" y="4160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breakup, run rate (Rs Cr per year)</a:t>
            </a:r>
            <a:endParaRPr lang="en-US" sz="12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566928" y="4434840"/>
          <a:ext cx="676656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/>
          <p:nvPr/>
        </p:nvSpPr>
        <p:spPr>
          <a:xfrm>
            <a:off x="7635240" y="4480560"/>
            <a:ext cx="39776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cost run rate Rs 3.95 Cr a year. Salary is 58% of actual spend to date and the single lever the Board controls. Full year cost base is budgeted at Rs 5.24 Cr.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 heads and payroll are Internal actuals and run rate [1]; the two hires are Board approved CTCs [2].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AND RUNWAY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Solvency is not the question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fully funded in every scenario without touching the regulatory net worth.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FD corpus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26.1 Cr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28416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Locked, SEBI net worth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0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25.0 Cr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at all times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funds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36208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3.0 Cr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36208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locked FD plus bank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51392" y="17830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5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1892808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FD interest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997696" y="2130552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Rs 1.8 Cr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97696" y="2569464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cash income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338328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S1 breaks even, so no drawdown is needed.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worst case S3, a Rs 2.6 Cr loss, is about Rs 2.5 Cr of cash burn, comfortably inside the roughly Rs 3.0 Cr accessible plus Rs 1.8 Cr of annual interest.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Rs 25 Cr net worth stays intact in every scenario, so the SEBI registration is never at risk. The question is operational self sufficiency, not survival.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SEBI net worth basis [10].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CLIMB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trajectory and the income mix flip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revenue build, base case (Rs Cr)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7373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mix, FD versus ratings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173736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FY26 actual, Internal [1]. FY27 to FY29 modelled [1][2].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CRAs earn, and our trajectory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Indian rating industry is about Rs 2,000 Cr. We enter small and climb a credible ladder.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revenue, latest year (Rs Cr)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691640"/>
          <a:ext cx="55778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revenue trajectory (Rs Cr), FY26 actual then projected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00800" y="169164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peer figures from official disclosures, CRISIL [3], CARE [5], India Ratings [6], Infomerics [7], Acuite [8]. ACER, Internal [1] and plan [2].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ACER stands, and what it earns in FY28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size, TAM SAM SOM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651760"/>
            <a:ext cx="3017520" cy="3017520"/>
          </a:xfrm>
          <a:prstGeom prst="ellipse">
            <a:avLst/>
          </a:prstGeom>
          <a:solidFill>
            <a:srgbClr val="EEF2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31620" y="4160520"/>
            <a:ext cx="1508760" cy="1508760"/>
          </a:xfrm>
          <a:prstGeom prst="ellipse">
            <a:avLst/>
          </a:prstGeom>
          <a:solidFill>
            <a:srgbClr val="DBE6FB"/>
          </a:solidFill>
          <a:ln w="12700">
            <a:solidFill>
              <a:srgbClr val="2B5C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57984" y="5413248"/>
            <a:ext cx="256032" cy="25603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18745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Rs 2,000 Cr
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rating industry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97680" y="30632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Rs 500 Cr
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100 Cr+ BLR segment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97680" y="425196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 Rs 8 Cr
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FY28, about 0.4%, rising toward 0.8% by FY30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86384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ACER earns in FY28, Rs 8.3 Cr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680960" y="1737360"/>
          <a:ext cx="4114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8732520" y="2971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8.3 Cr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680960" y="493776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BLR initial fees Rs 5.76 Cr, surveillance Rs 1.44 Cr, existing ratings Rs 1.10 Cr. About 0.4% of the Rs 2,000 Cr industry, a deliberately modest and credible first slice.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TAM and SAM are analyst estimates from official rating segment revenues [3][5][6]. ACER FY28 from this plan's model [1][2].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Milestones, KPIs and risks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(base case)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53949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SEBI registered, two hires and four BDs onboarding.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pursue RBI ECAI accreditation, build the BD pipeline.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Oct: BLR live, first mandates.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to Q4: ramp to 16 per month, reach break even.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FY28: full year of BLR, surveillance annuity, profitability.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the Board will see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4434840"/>
            <a:ext cx="5394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per month and cumulative rated debt.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 of income, revenue versus plan.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and net worth headroom.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0936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and mitigations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737360"/>
            <a:ext cx="54864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BLR licence delay: cost trigger, stagger the second hire, freeze discretionary spend.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ramp shortfall: disciplined pipeline, phased monthly targets.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from incumbents: price, service and second rating niche.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quality or compliance failure: independent rating committee and strong process. Brickwork lost its licence and most of its revenue to lapses, rating revenue fell from about Rs 48.5 Cr to about Rs 5 Cr.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concentration: keep no single issuer above 10% of revenue.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Brickwork history, brickworkratings.com [9].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4023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4389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5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55448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FY27 operating budget of Rs 5.24 Cr, including Rs 0.64 Cr for the two new hires.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headcount plan: two senior hires plus four BDs.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the base case, BLR live by 1 October at 16 cases per month.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that the plan is fully funded without touching the Rs 25 Cr net worth, with a cost trigger if BLR slips past January.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42062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4434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Solvency is secure. Operational self sufficiency by FY28 is the goal, and the BLR licence is the one variable that decides the pace.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6446520"/>
            <a:ext cx="11064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[1] Internal. [2] Management assumption. [3] crisil.com. [5] careratings.com. [6] indiaratings.co.in. [7] infomerics.com. [8] acuite.in. [9] brickworkratings.com. [10] SEBI CRA Regulations.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2026-07-24T11:50:32Z</dcterms:created>
  <dcterms:modified xsi:type="dcterms:W3CDTF">2026-07-24T11:50:32Z</dcterms:modified>
</cp:coreProperties>
</file>
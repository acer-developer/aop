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4.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5.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8.xml" ContentType="application/vnd.openxmlformats-officedocument.drawingml.chart+xml"/>
  <Override PartName="/ppt/charts/chart9.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0.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B6B7B"/>
                </a:solidFill>
                <a:latin typeface="Calibri"/>
              </a:defRPr>
            </a:pPr>
            <a:r>
              <a:rPr sz="1200" b="0" i="0" u="none" strike="noStrike">
                <a:solidFill>
                  <a:srgbClr val="5B6B7B"/>
                </a:solidFill>
                <a:latin typeface="Calibri"/>
              </a:rPr>
              <a:t>Cumulative debt rated, base case (Rs Cr)</a:t>
            </a:r>
          </a:p>
        </c:rich>
      </c:tx>
      <c:layout/>
      <c:overlay val="0"/>
    </c:title>
    <c:autoTitleDeleted val="0"/>
    <c:plotArea>
      <c:layout/>
      <c:barChart>
        <c:barDir val="col"/>
        <c:grouping val="clustered"/>
        <c:varyColors val="0"/>
        <c:ser>
          <c:idx val="0"/>
          <c:order val="0"/>
          <c:tx>
            <c:strRef>
              <c:f>Sheet1!$B$1</c:f>
              <c:strCache>
                <c:ptCount val="1"/>
                <c:pt idx="0">
                  <c:v>Cumulative rated debt (Rs Cr)</c:v>
                </c:pt>
              </c:strCache>
            </c:strRef>
          </c:tx>
          <c:spPr>
            <a:solidFill>
              <a:srgbClr val="1E4E79"/>
            </a:solidFill>
            <a:effectLst/>
          </c:spPr>
          <c:invertIfNegative val="0"/>
          <c:dLbls>
            <c:numFmt formatCode="#,##0" sourceLinked="0"/>
            <c:txPr>
              <a:bodyPr/>
              <a:lstStyle/>
              <a:p>
                <a:pPr>
                  <a:defRPr b="0" i="0" strike="noStrike" sz="900" u="none">
                    <a:solidFill>
                      <a:srgbClr val="2B3F52"/>
                    </a:solidFill>
                    <a:latin typeface="Calibri"/>
                  </a:defRPr>
                </a:pPr>
              </a:p>
            </c:txPr>
            <c:showLegendKey val="0"/>
            <c:showVal val="1"/>
            <c:showCatName val="0"/>
            <c:showSerName val="0"/>
            <c:showPercent val="0"/>
            <c:showBubbleSize val="0"/>
            <c:showLeaderLines val="0"/>
          </c:dLbls>
          <c:cat>
            <c:multiLvlStrRef>
              <c:f>Sheet1!$A$2:$A$7</c:f>
              <c:multiLvlStrCache>
                <c:ptCount val="6"/>
                <c:lvl>
                  <c:pt idx="0">
                    <c:v>Oct</c:v>
                  </c:pt>
                  <c:pt idx="1">
                    <c:v>Nov</c:v>
                  </c:pt>
                  <c:pt idx="2">
                    <c:v>Dec</c:v>
                  </c:pt>
                  <c:pt idx="3">
                    <c:v>Jan</c:v>
                  </c:pt>
                  <c:pt idx="4">
                    <c:v>Feb</c:v>
                  </c:pt>
                  <c:pt idx="5">
                    <c:v>Mar</c:v>
                  </c:pt>
                </c:lvl>
              </c:multiLvlStrCache>
            </c:multiLvlStrRef>
          </c:cat>
          <c:val>
            <c:numRef>
              <c:f>Sheet1!$B$2:$B$7</c:f>
              <c:numCache>
                <c:formatCode>General</c:formatCode>
                <c:ptCount val="6"/>
                <c:pt idx="0">
                  <c:v>1600</c:v>
                </c:pt>
                <c:pt idx="1">
                  <c:v>3200</c:v>
                </c:pt>
                <c:pt idx="2">
                  <c:v>4800</c:v>
                </c:pt>
                <c:pt idx="3">
                  <c:v>6400</c:v>
                </c:pt>
                <c:pt idx="4">
                  <c:v>8000</c:v>
                </c:pt>
                <c:pt idx="5">
                  <c:v>9600</c:v>
                </c:pt>
              </c:numCache>
            </c:numRef>
          </c:val>
        </c:ser>
        <c:dLbls>
          <c:numFmt formatCode="#,##0" sourceLinked="0"/>
          <c:txPr>
            <a:bodyPr/>
            <a:lstStyle/>
            <a:p>
              <a:pPr>
                <a:defRPr b="0" i="0" strike="noStrike" sz="900" u="none">
                  <a:solidFill>
                    <a:srgbClr val="2B3F52"/>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3F52"/>
                </a:solidFill>
                <a:latin typeface="Calibri"/>
              </a:defRPr>
            </a:pPr>
            <a:endParaRPr lang="en-US"/>
          </a:p>
        </c:txPr>
        <c:crossAx val="2094734552"/>
        <c:crosses val="autoZero"/>
        <c:auto val="1"/>
        <c:lblAlgn val="ctr"/>
        <c:noMultiLvlLbl val="1"/>
      </c:catAx>
      <c:valAx>
        <c:axId val="2094734552"/>
        <c:scaling>
          <c:orientation val="minMax"/>
          <c:max val="1100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FD returns</c:v>
                </c:pt>
              </c:strCache>
            </c:strRef>
          </c:tx>
          <c:spPr>
            <a:solidFill>
              <a:srgbClr val="8EA6B8"/>
            </a:solidFill>
            <a:effectLst/>
          </c:spPr>
          <c:invertIfNegative val="0"/>
          <c:dLbls>
            <c:numFmt formatCode="#,##0" sourceLinked="0"/>
            <c:txPr>
              <a:bodyPr/>
              <a:lstStyle/>
              <a:p>
                <a:pPr>
                  <a:defRPr b="0" i="0" strike="noStrike" sz="8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Sheet1!$A$2:$A$13</c:f>
              <c:multiLvlStrCache>
                <c:ptCount val="12"/>
                <c:lvl>
                  <c:pt idx="0">
                    <c:v>Apr</c:v>
                  </c:pt>
                  <c:pt idx="1">
                    <c:v>May</c:v>
                  </c:pt>
                  <c:pt idx="2">
                    <c:v>Jun</c:v>
                  </c:pt>
                  <c:pt idx="3">
                    <c:v>Jul</c:v>
                  </c:pt>
                  <c:pt idx="4">
                    <c:v>Aug</c:v>
                  </c:pt>
                  <c:pt idx="5">
                    <c:v>Sep</c:v>
                  </c:pt>
                  <c:pt idx="6">
                    <c:v>Oct</c:v>
                  </c:pt>
                  <c:pt idx="7">
                    <c:v>Nov</c:v>
                  </c:pt>
                  <c:pt idx="8">
                    <c:v>Dec</c:v>
                  </c:pt>
                  <c:pt idx="9">
                    <c:v>Jan</c:v>
                  </c:pt>
                  <c:pt idx="10">
                    <c:v>Feb</c:v>
                  </c:pt>
                  <c:pt idx="11">
                    <c:v>Mar</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er>
        <c:ser>
          <c:idx val="1"/>
          <c:order val="1"/>
          <c:tx>
            <c:strRef>
              <c:f>Sheet1!$C$1</c:f>
              <c:strCache>
                <c:ptCount val="1"/>
                <c:pt idx="0">
                  <c:v>Earning (existing + BLR)</c:v>
                </c:pt>
              </c:strCache>
            </c:strRef>
          </c:tx>
          <c:spPr>
            <a:solidFill>
              <a:srgbClr val="0F766E"/>
            </a:solidFill>
            <a:effectLst/>
          </c:spPr>
          <c:invertIfNegative val="0"/>
          <c:dLbls>
            <c:numFmt formatCode="#,##0" sourceLinked="0"/>
            <c:txPr>
              <a:bodyPr/>
              <a:lstStyle/>
              <a:p>
                <a:pPr>
                  <a:defRPr b="0" i="0" strike="noStrike" sz="8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Sheet1!$A$2:$A$13</c:f>
              <c:multiLvlStrCache>
                <c:ptCount val="12"/>
                <c:lvl>
                  <c:pt idx="0">
                    <c:v>Apr</c:v>
                  </c:pt>
                  <c:pt idx="1">
                    <c:v>May</c:v>
                  </c:pt>
                  <c:pt idx="2">
                    <c:v>Jun</c:v>
                  </c:pt>
                  <c:pt idx="3">
                    <c:v>Jul</c:v>
                  </c:pt>
                  <c:pt idx="4">
                    <c:v>Aug</c:v>
                  </c:pt>
                  <c:pt idx="5">
                    <c:v>Sep</c:v>
                  </c:pt>
                  <c:pt idx="6">
                    <c:v>Oct</c:v>
                  </c:pt>
                  <c:pt idx="7">
                    <c:v>Nov</c:v>
                  </c:pt>
                  <c:pt idx="8">
                    <c:v>Dec</c:v>
                  </c:pt>
                  <c:pt idx="9">
                    <c:v>Jan</c:v>
                  </c:pt>
                  <c:pt idx="10">
                    <c:v>Feb</c:v>
                  </c:pt>
                  <c:pt idx="11">
                    <c:v>Mar</c:v>
                  </c:pt>
                </c:lvl>
              </c:multiLvlStrCache>
            </c:multiLvlStrRef>
          </c:cat>
          <c:val>
            <c:numRef>
              <c:f>Sheet1!$C$2:$C$13</c:f>
              <c:numCache>
                <c:formatCode>General</c:formatCode>
                <c:ptCount val="12"/>
                <c:pt idx="0">
                  <c:v>2</c:v>
                </c:pt>
                <c:pt idx="1">
                  <c:v>5</c:v>
                </c:pt>
                <c:pt idx="2">
                  <c:v>8</c:v>
                </c:pt>
                <c:pt idx="3">
                  <c:v>8</c:v>
                </c:pt>
                <c:pt idx="4">
                  <c:v>8</c:v>
                </c:pt>
                <c:pt idx="5">
                  <c:v>8</c:v>
                </c:pt>
                <c:pt idx="6">
                  <c:v>56</c:v>
                </c:pt>
                <c:pt idx="7">
                  <c:v>56</c:v>
                </c:pt>
                <c:pt idx="8">
                  <c:v>56</c:v>
                </c:pt>
                <c:pt idx="9">
                  <c:v>56</c:v>
                </c:pt>
                <c:pt idx="10">
                  <c:v>56</c:v>
                </c:pt>
                <c:pt idx="11">
                  <c:v>56</c:v>
                </c:pt>
              </c:numCache>
            </c:numRef>
          </c:val>
        </c:ser>
        <c:dLbls>
          <c:numFmt formatCode="#,##0" sourceLinked="0"/>
          <c:txPr>
            <a:bodyPr/>
            <a:lstStyle/>
            <a:p>
              <a:pPr>
                <a:defRPr b="0" i="0" strike="noStrike" sz="8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lineChart>
        <c:varyColors val="0"/>
        <c:ser>
          <c:idx val="2"/>
          <c:order val="2"/>
          <c:tx>
            <c:strRef>
              <c:f>Sheet1!$D$1</c:f>
              <c:strCache>
                <c:ptCount val="1"/>
                <c:pt idx="0">
                  <c:v>Expense, all in</c:v>
                </c:pt>
              </c:strCache>
            </c:strRef>
          </c:tx>
          <c:spPr>
            <a:solidFill>
              <a:srgbClr val="B3261E"/>
            </a:solidFill>
            <a:ln w="31750" cap="flat">
              <a:solidFill>
                <a:srgbClr val="B3261E"/>
              </a:solidFill>
              <a:prstDash val="solid"/>
              <a:round/>
            </a:ln>
            <a:effectLst/>
          </c:spPr>
          <c:invertIfNegative val="0"/>
          <c:dLbls>
            <c:numFmt formatCode="#,##0" sourceLinked="0"/>
            <c:txPr>
              <a:bodyPr/>
              <a:lstStyle/>
              <a:p>
                <a:pPr>
                  <a:defRPr b="0" i="0" strike="noStrike" sz="800" u="none">
                    <a:solidFill>
                      <a:srgbClr val="FFFFFF"/>
                    </a:solidFill>
                    <a:latin typeface="Calibri"/>
                  </a:defRPr>
                </a:pPr>
              </a:p>
            </c:txPr>
            <c:dLblPos val="ctr"/>
            <c:showLegendKey val="0"/>
            <c:showVal val="1"/>
            <c:showCatName val="0"/>
            <c:showSerName val="0"/>
            <c:showPercent val="0"/>
            <c:showBubbleSize val="0"/>
            <c:showLeaderLines val="0"/>
          </c:dLbls>
          <c:marker>
            <c:symbol val="circle"/>
            <c:size val="5"/>
            <c:spPr>
              <a:solidFill>
                <a:srgbClr val="B3261E"/>
              </a:solidFill>
              <a:ln w="9525" cap="flat">
                <a:solidFill>
                  <a:srgbClr val="B3261E"/>
                </a:solidFill>
                <a:prstDash val="solid"/>
                <a:round/>
              </a:ln>
              <a:effectLst/>
            </c:spPr>
          </c:marker>
          <c:cat>
            <c:multiLvlStrRef>
              <c:f>Sheet1!$A$2:$A$13</c:f>
              <c:multiLvlStrCache>
                <c:ptCount val="12"/>
                <c:lvl>
                  <c:pt idx="0">
                    <c:v>Apr</c:v>
                  </c:pt>
                  <c:pt idx="1">
                    <c:v>May</c:v>
                  </c:pt>
                  <c:pt idx="2">
                    <c:v>Jun</c:v>
                  </c:pt>
                  <c:pt idx="3">
                    <c:v>Jul</c:v>
                  </c:pt>
                  <c:pt idx="4">
                    <c:v>Aug</c:v>
                  </c:pt>
                  <c:pt idx="5">
                    <c:v>Sep</c:v>
                  </c:pt>
                  <c:pt idx="6">
                    <c:v>Oct</c:v>
                  </c:pt>
                  <c:pt idx="7">
                    <c:v>Nov</c:v>
                  </c:pt>
                  <c:pt idx="8">
                    <c:v>Dec</c:v>
                  </c:pt>
                  <c:pt idx="9">
                    <c:v>Jan</c:v>
                  </c:pt>
                  <c:pt idx="10">
                    <c:v>Feb</c:v>
                  </c:pt>
                  <c:pt idx="11">
                    <c:v>Mar</c:v>
                  </c:pt>
                </c:lvl>
              </c:multiLvlStrCache>
            </c:multiLvlStrRef>
          </c:cat>
          <c:val>
            <c:numRef>
              <c:f>Sheet1!$D$2:$D$13</c:f>
              <c:numCache>
                <c:formatCode>General</c:formatCode>
                <c:ptCount val="12"/>
                <c:pt idx="0">
                  <c:v>36</c:v>
                </c:pt>
                <c:pt idx="1">
                  <c:v>33</c:v>
                </c:pt>
                <c:pt idx="2">
                  <c:v>46</c:v>
                </c:pt>
                <c:pt idx="3">
                  <c:v>40</c:v>
                </c:pt>
                <c:pt idx="4">
                  <c:v>46</c:v>
                </c:pt>
                <c:pt idx="5">
                  <c:v>46</c:v>
                </c:pt>
                <c:pt idx="6">
                  <c:v>46</c:v>
                </c:pt>
                <c:pt idx="7">
                  <c:v>46</c:v>
                </c:pt>
                <c:pt idx="8">
                  <c:v>46</c:v>
                </c:pt>
                <c:pt idx="9">
                  <c:v>46</c:v>
                </c:pt>
                <c:pt idx="10">
                  <c:v>46</c:v>
                </c:pt>
                <c:pt idx="11">
                  <c:v>46</c:v>
                </c:pt>
              </c:numCache>
            </c:numRef>
          </c:val>
          <c:smooth val="0"/>
        </c:ser>
        <c:dLbls>
          <c:numFmt formatCode="#,##0" sourceLinked="0"/>
          <c:txPr>
            <a:bodyPr/>
            <a:lstStyle/>
            <a:p>
              <a:pPr>
                <a:defRPr b="0" i="0" strike="noStrike" sz="800" u="none">
                  <a:solidFill>
                    <a:srgbClr val="FFFFFF"/>
                  </a:solidFill>
                  <a:latin typeface="Calibri"/>
                </a:defRPr>
              </a:pPr>
            </a:p>
          </c:txPr>
          <c:dLblPos val="ctr"/>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B3F52"/>
                </a:solidFill>
                <a:latin typeface="Calibri"/>
              </a:defRPr>
            </a:pPr>
            <a:endParaRPr lang="en-US"/>
          </a:p>
        </c:txPr>
        <c:crossAx val="2094734552"/>
        <c:crosses val="autoZero"/>
        <c:auto val="1"/>
        <c:lblAlgn val="ctr"/>
        <c:noMultiLvlLbl val="1"/>
      </c:catAx>
      <c:valAx>
        <c:axId val="2094734552"/>
        <c:scaling>
          <c:orientation val="minMax"/>
          <c:max val="76"/>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2B3F52"/>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FD returns</c:v>
                </c:pt>
              </c:strCache>
            </c:strRef>
          </c:tx>
          <c:spPr>
            <a:solidFill>
              <a:srgbClr val="8EA6B8"/>
            </a:solidFill>
            <a:effectLst/>
          </c:spPr>
          <c:invertIfNegative val="0"/>
          <c:dLbls>
            <c:numFmt formatCode="#,##0" sourceLinked="0"/>
            <c:txPr>
              <a:bodyPr/>
              <a:lstStyle/>
              <a:p>
                <a:pPr>
                  <a:defRPr b="0" i="0" strike="noStrike" sz="8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Sheet1!$A$2:$A$13</c:f>
              <c:multiLvlStrCache>
                <c:ptCount val="12"/>
                <c:lvl>
                  <c:pt idx="0">
                    <c:v>Apr</c:v>
                  </c:pt>
                  <c:pt idx="1">
                    <c:v>May</c:v>
                  </c:pt>
                  <c:pt idx="2">
                    <c:v>Jun</c:v>
                  </c:pt>
                  <c:pt idx="3">
                    <c:v>Jul</c:v>
                  </c:pt>
                  <c:pt idx="4">
                    <c:v>Aug</c:v>
                  </c:pt>
                  <c:pt idx="5">
                    <c:v>Sep</c:v>
                  </c:pt>
                  <c:pt idx="6">
                    <c:v>Oct</c:v>
                  </c:pt>
                  <c:pt idx="7">
                    <c:v>Nov</c:v>
                  </c:pt>
                  <c:pt idx="8">
                    <c:v>Dec</c:v>
                  </c:pt>
                  <c:pt idx="9">
                    <c:v>Jan</c:v>
                  </c:pt>
                  <c:pt idx="10">
                    <c:v>Feb</c:v>
                  </c:pt>
                  <c:pt idx="11">
                    <c:v>Mar</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er>
        <c:ser>
          <c:idx val="1"/>
          <c:order val="1"/>
          <c:tx>
            <c:strRef>
              <c:f>Sheet1!$C$1</c:f>
              <c:strCache>
                <c:ptCount val="1"/>
                <c:pt idx="0">
                  <c:v>Earning (existing + BLR)</c:v>
                </c:pt>
              </c:strCache>
            </c:strRef>
          </c:tx>
          <c:spPr>
            <a:solidFill>
              <a:srgbClr val="0F766E"/>
            </a:solidFill>
            <a:effectLst/>
          </c:spPr>
          <c:invertIfNegative val="0"/>
          <c:dLbls>
            <c:numFmt formatCode="#,##0" sourceLinked="0"/>
            <c:txPr>
              <a:bodyPr/>
              <a:lstStyle/>
              <a:p>
                <a:pPr>
                  <a:defRPr b="0" i="0" strike="noStrike" sz="8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Sheet1!$A$2:$A$13</c:f>
              <c:multiLvlStrCache>
                <c:ptCount val="12"/>
                <c:lvl>
                  <c:pt idx="0">
                    <c:v>Apr</c:v>
                  </c:pt>
                  <c:pt idx="1">
                    <c:v>May</c:v>
                  </c:pt>
                  <c:pt idx="2">
                    <c:v>Jun</c:v>
                  </c:pt>
                  <c:pt idx="3">
                    <c:v>Jul</c:v>
                  </c:pt>
                  <c:pt idx="4">
                    <c:v>Aug</c:v>
                  </c:pt>
                  <c:pt idx="5">
                    <c:v>Sep</c:v>
                  </c:pt>
                  <c:pt idx="6">
                    <c:v>Oct</c:v>
                  </c:pt>
                  <c:pt idx="7">
                    <c:v>Nov</c:v>
                  </c:pt>
                  <c:pt idx="8">
                    <c:v>Dec</c:v>
                  </c:pt>
                  <c:pt idx="9">
                    <c:v>Jan</c:v>
                  </c:pt>
                  <c:pt idx="10">
                    <c:v>Feb</c:v>
                  </c:pt>
                  <c:pt idx="11">
                    <c:v>Mar</c:v>
                  </c:pt>
                </c:lvl>
              </c:multiLvlStrCache>
            </c:multiLvlStrRef>
          </c:cat>
          <c:val>
            <c:numRef>
              <c:f>Sheet1!$C$2:$C$13</c:f>
              <c:numCache>
                <c:formatCode>General</c:formatCode>
                <c:ptCount val="12"/>
                <c:pt idx="0">
                  <c:v>2</c:v>
                </c:pt>
                <c:pt idx="1">
                  <c:v>5</c:v>
                </c:pt>
                <c:pt idx="2">
                  <c:v>8</c:v>
                </c:pt>
                <c:pt idx="3">
                  <c:v>8</c:v>
                </c:pt>
                <c:pt idx="4">
                  <c:v>8</c:v>
                </c:pt>
                <c:pt idx="5">
                  <c:v>8</c:v>
                </c:pt>
                <c:pt idx="6">
                  <c:v>8</c:v>
                </c:pt>
                <c:pt idx="7">
                  <c:v>8</c:v>
                </c:pt>
                <c:pt idx="8">
                  <c:v>8</c:v>
                </c:pt>
                <c:pt idx="9">
                  <c:v>56</c:v>
                </c:pt>
                <c:pt idx="10">
                  <c:v>56</c:v>
                </c:pt>
                <c:pt idx="11">
                  <c:v>56</c:v>
                </c:pt>
              </c:numCache>
            </c:numRef>
          </c:val>
        </c:ser>
        <c:dLbls>
          <c:numFmt formatCode="#,##0" sourceLinked="0"/>
          <c:txPr>
            <a:bodyPr/>
            <a:lstStyle/>
            <a:p>
              <a:pPr>
                <a:defRPr b="0" i="0" strike="noStrike" sz="8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lineChart>
        <c:varyColors val="0"/>
        <c:ser>
          <c:idx val="2"/>
          <c:order val="2"/>
          <c:tx>
            <c:strRef>
              <c:f>Sheet1!$D$1</c:f>
              <c:strCache>
                <c:ptCount val="1"/>
                <c:pt idx="0">
                  <c:v>Expense, all in</c:v>
                </c:pt>
              </c:strCache>
            </c:strRef>
          </c:tx>
          <c:spPr>
            <a:solidFill>
              <a:srgbClr val="B3261E"/>
            </a:solidFill>
            <a:ln w="31750" cap="flat">
              <a:solidFill>
                <a:srgbClr val="B3261E"/>
              </a:solidFill>
              <a:prstDash val="solid"/>
              <a:round/>
            </a:ln>
            <a:effectLst/>
          </c:spPr>
          <c:invertIfNegative val="0"/>
          <c:dLbls>
            <c:numFmt formatCode="#,##0" sourceLinked="0"/>
            <c:txPr>
              <a:bodyPr/>
              <a:lstStyle/>
              <a:p>
                <a:pPr>
                  <a:defRPr b="0" i="0" strike="noStrike" sz="800" u="none">
                    <a:solidFill>
                      <a:srgbClr val="FFFFFF"/>
                    </a:solidFill>
                    <a:latin typeface="Calibri"/>
                  </a:defRPr>
                </a:pPr>
              </a:p>
            </c:txPr>
            <c:dLblPos val="ctr"/>
            <c:showLegendKey val="0"/>
            <c:showVal val="1"/>
            <c:showCatName val="0"/>
            <c:showSerName val="0"/>
            <c:showPercent val="0"/>
            <c:showBubbleSize val="0"/>
            <c:showLeaderLines val="0"/>
          </c:dLbls>
          <c:marker>
            <c:symbol val="circle"/>
            <c:size val="5"/>
            <c:spPr>
              <a:solidFill>
                <a:srgbClr val="B3261E"/>
              </a:solidFill>
              <a:ln w="9525" cap="flat">
                <a:solidFill>
                  <a:srgbClr val="B3261E"/>
                </a:solidFill>
                <a:prstDash val="solid"/>
                <a:round/>
              </a:ln>
              <a:effectLst/>
            </c:spPr>
          </c:marker>
          <c:cat>
            <c:multiLvlStrRef>
              <c:f>Sheet1!$A$2:$A$13</c:f>
              <c:multiLvlStrCache>
                <c:ptCount val="12"/>
                <c:lvl>
                  <c:pt idx="0">
                    <c:v>Apr</c:v>
                  </c:pt>
                  <c:pt idx="1">
                    <c:v>May</c:v>
                  </c:pt>
                  <c:pt idx="2">
                    <c:v>Jun</c:v>
                  </c:pt>
                  <c:pt idx="3">
                    <c:v>Jul</c:v>
                  </c:pt>
                  <c:pt idx="4">
                    <c:v>Aug</c:v>
                  </c:pt>
                  <c:pt idx="5">
                    <c:v>Sep</c:v>
                  </c:pt>
                  <c:pt idx="6">
                    <c:v>Oct</c:v>
                  </c:pt>
                  <c:pt idx="7">
                    <c:v>Nov</c:v>
                  </c:pt>
                  <c:pt idx="8">
                    <c:v>Dec</c:v>
                  </c:pt>
                  <c:pt idx="9">
                    <c:v>Jan</c:v>
                  </c:pt>
                  <c:pt idx="10">
                    <c:v>Feb</c:v>
                  </c:pt>
                  <c:pt idx="11">
                    <c:v>Mar</c:v>
                  </c:pt>
                </c:lvl>
              </c:multiLvlStrCache>
            </c:multiLvlStrRef>
          </c:cat>
          <c:val>
            <c:numRef>
              <c:f>Sheet1!$D$2:$D$13</c:f>
              <c:numCache>
                <c:formatCode>General</c:formatCode>
                <c:ptCount val="12"/>
                <c:pt idx="0">
                  <c:v>36</c:v>
                </c:pt>
                <c:pt idx="1">
                  <c:v>33</c:v>
                </c:pt>
                <c:pt idx="2">
                  <c:v>46</c:v>
                </c:pt>
                <c:pt idx="3">
                  <c:v>40</c:v>
                </c:pt>
                <c:pt idx="4">
                  <c:v>46</c:v>
                </c:pt>
                <c:pt idx="5">
                  <c:v>46</c:v>
                </c:pt>
                <c:pt idx="6">
                  <c:v>46</c:v>
                </c:pt>
                <c:pt idx="7">
                  <c:v>46</c:v>
                </c:pt>
                <c:pt idx="8">
                  <c:v>46</c:v>
                </c:pt>
                <c:pt idx="9">
                  <c:v>46</c:v>
                </c:pt>
                <c:pt idx="10">
                  <c:v>46</c:v>
                </c:pt>
                <c:pt idx="11">
                  <c:v>46</c:v>
                </c:pt>
              </c:numCache>
            </c:numRef>
          </c:val>
          <c:smooth val="0"/>
        </c:ser>
        <c:dLbls>
          <c:numFmt formatCode="#,##0" sourceLinked="0"/>
          <c:txPr>
            <a:bodyPr/>
            <a:lstStyle/>
            <a:p>
              <a:pPr>
                <a:defRPr b="0" i="0" strike="noStrike" sz="800" u="none">
                  <a:solidFill>
                    <a:srgbClr val="FFFFFF"/>
                  </a:solidFill>
                  <a:latin typeface="Calibri"/>
                </a:defRPr>
              </a:pPr>
            </a:p>
          </c:txPr>
          <c:dLblPos val="ctr"/>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B3F52"/>
                </a:solidFill>
                <a:latin typeface="Calibri"/>
              </a:defRPr>
            </a:pPr>
            <a:endParaRPr lang="en-US"/>
          </a:p>
        </c:txPr>
        <c:crossAx val="2094734552"/>
        <c:crosses val="autoZero"/>
        <c:auto val="1"/>
        <c:lblAlgn val="ctr"/>
        <c:noMultiLvlLbl val="1"/>
      </c:catAx>
      <c:valAx>
        <c:axId val="2094734552"/>
        <c:scaling>
          <c:orientation val="minMax"/>
          <c:max val="76"/>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2B3F52"/>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FD returns</c:v>
                </c:pt>
              </c:strCache>
            </c:strRef>
          </c:tx>
          <c:spPr>
            <a:solidFill>
              <a:srgbClr val="8EA6B8"/>
            </a:solidFill>
            <a:effectLst/>
          </c:spPr>
          <c:invertIfNegative val="0"/>
          <c:dLbls>
            <c:numFmt formatCode="#,##0" sourceLinked="0"/>
            <c:txPr>
              <a:bodyPr/>
              <a:lstStyle/>
              <a:p>
                <a:pPr>
                  <a:defRPr b="0" i="0" strike="noStrike" sz="8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Sheet1!$A$2:$A$13</c:f>
              <c:multiLvlStrCache>
                <c:ptCount val="12"/>
                <c:lvl>
                  <c:pt idx="0">
                    <c:v>Apr</c:v>
                  </c:pt>
                  <c:pt idx="1">
                    <c:v>May</c:v>
                  </c:pt>
                  <c:pt idx="2">
                    <c:v>Jun</c:v>
                  </c:pt>
                  <c:pt idx="3">
                    <c:v>Jul</c:v>
                  </c:pt>
                  <c:pt idx="4">
                    <c:v>Aug</c:v>
                  </c:pt>
                  <c:pt idx="5">
                    <c:v>Sep</c:v>
                  </c:pt>
                  <c:pt idx="6">
                    <c:v>Oct</c:v>
                  </c:pt>
                  <c:pt idx="7">
                    <c:v>Nov</c:v>
                  </c:pt>
                  <c:pt idx="8">
                    <c:v>Dec</c:v>
                  </c:pt>
                  <c:pt idx="9">
                    <c:v>Jan</c:v>
                  </c:pt>
                  <c:pt idx="10">
                    <c:v>Feb</c:v>
                  </c:pt>
                  <c:pt idx="11">
                    <c:v>Mar</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er>
        <c:ser>
          <c:idx val="1"/>
          <c:order val="1"/>
          <c:tx>
            <c:strRef>
              <c:f>Sheet1!$C$1</c:f>
              <c:strCache>
                <c:ptCount val="1"/>
                <c:pt idx="0">
                  <c:v>Earning (existing + BLR)</c:v>
                </c:pt>
              </c:strCache>
            </c:strRef>
          </c:tx>
          <c:spPr>
            <a:solidFill>
              <a:srgbClr val="0F766E"/>
            </a:solidFill>
            <a:effectLst/>
          </c:spPr>
          <c:invertIfNegative val="0"/>
          <c:dLbls>
            <c:numFmt formatCode="#,##0" sourceLinked="0"/>
            <c:txPr>
              <a:bodyPr/>
              <a:lstStyle/>
              <a:p>
                <a:pPr>
                  <a:defRPr b="0" i="0" strike="noStrike" sz="8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Sheet1!$A$2:$A$13</c:f>
              <c:multiLvlStrCache>
                <c:ptCount val="12"/>
                <c:lvl>
                  <c:pt idx="0">
                    <c:v>Apr</c:v>
                  </c:pt>
                  <c:pt idx="1">
                    <c:v>May</c:v>
                  </c:pt>
                  <c:pt idx="2">
                    <c:v>Jun</c:v>
                  </c:pt>
                  <c:pt idx="3">
                    <c:v>Jul</c:v>
                  </c:pt>
                  <c:pt idx="4">
                    <c:v>Aug</c:v>
                  </c:pt>
                  <c:pt idx="5">
                    <c:v>Sep</c:v>
                  </c:pt>
                  <c:pt idx="6">
                    <c:v>Oct</c:v>
                  </c:pt>
                  <c:pt idx="7">
                    <c:v>Nov</c:v>
                  </c:pt>
                  <c:pt idx="8">
                    <c:v>Dec</c:v>
                  </c:pt>
                  <c:pt idx="9">
                    <c:v>Jan</c:v>
                  </c:pt>
                  <c:pt idx="10">
                    <c:v>Feb</c:v>
                  </c:pt>
                  <c:pt idx="11">
                    <c:v>Mar</c:v>
                  </c:pt>
                </c:lvl>
              </c:multiLvlStrCache>
            </c:multiLvlStrRef>
          </c:cat>
          <c:val>
            <c:numRef>
              <c:f>Sheet1!$C$2:$C$13</c:f>
              <c:numCache>
                <c:formatCode>General</c:formatCode>
                <c:ptCount val="12"/>
                <c:pt idx="0">
                  <c:v>2</c:v>
                </c:pt>
                <c:pt idx="1">
                  <c:v>5</c:v>
                </c:pt>
                <c:pt idx="2">
                  <c:v>8</c:v>
                </c:pt>
                <c:pt idx="3">
                  <c:v>8</c:v>
                </c:pt>
                <c:pt idx="4">
                  <c:v>8</c:v>
                </c:pt>
                <c:pt idx="5">
                  <c:v>8</c:v>
                </c:pt>
                <c:pt idx="6">
                  <c:v>8</c:v>
                </c:pt>
                <c:pt idx="7">
                  <c:v>8</c:v>
                </c:pt>
                <c:pt idx="8">
                  <c:v>8</c:v>
                </c:pt>
                <c:pt idx="9">
                  <c:v>8</c:v>
                </c:pt>
                <c:pt idx="10">
                  <c:v>8</c:v>
                </c:pt>
                <c:pt idx="11">
                  <c:v>8</c:v>
                </c:pt>
              </c:numCache>
            </c:numRef>
          </c:val>
        </c:ser>
        <c:dLbls>
          <c:numFmt formatCode="#,##0" sourceLinked="0"/>
          <c:txPr>
            <a:bodyPr/>
            <a:lstStyle/>
            <a:p>
              <a:pPr>
                <a:defRPr b="0" i="0" strike="noStrike" sz="8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lineChart>
        <c:varyColors val="0"/>
        <c:ser>
          <c:idx val="2"/>
          <c:order val="2"/>
          <c:tx>
            <c:strRef>
              <c:f>Sheet1!$D$1</c:f>
              <c:strCache>
                <c:ptCount val="1"/>
                <c:pt idx="0">
                  <c:v>Expense, all in</c:v>
                </c:pt>
              </c:strCache>
            </c:strRef>
          </c:tx>
          <c:spPr>
            <a:solidFill>
              <a:srgbClr val="B3261E"/>
            </a:solidFill>
            <a:ln w="31750" cap="flat">
              <a:solidFill>
                <a:srgbClr val="B3261E"/>
              </a:solidFill>
              <a:prstDash val="solid"/>
              <a:round/>
            </a:ln>
            <a:effectLst/>
          </c:spPr>
          <c:invertIfNegative val="0"/>
          <c:dLbls>
            <c:numFmt formatCode="#,##0" sourceLinked="0"/>
            <c:txPr>
              <a:bodyPr/>
              <a:lstStyle/>
              <a:p>
                <a:pPr>
                  <a:defRPr b="0" i="0" strike="noStrike" sz="800" u="none">
                    <a:solidFill>
                      <a:srgbClr val="FFFFFF"/>
                    </a:solidFill>
                    <a:latin typeface="Calibri"/>
                  </a:defRPr>
                </a:pPr>
              </a:p>
            </c:txPr>
            <c:dLblPos val="ctr"/>
            <c:showLegendKey val="0"/>
            <c:showVal val="1"/>
            <c:showCatName val="0"/>
            <c:showSerName val="0"/>
            <c:showPercent val="0"/>
            <c:showBubbleSize val="0"/>
            <c:showLeaderLines val="0"/>
          </c:dLbls>
          <c:marker>
            <c:symbol val="circle"/>
            <c:size val="5"/>
            <c:spPr>
              <a:solidFill>
                <a:srgbClr val="B3261E"/>
              </a:solidFill>
              <a:ln w="9525" cap="flat">
                <a:solidFill>
                  <a:srgbClr val="B3261E"/>
                </a:solidFill>
                <a:prstDash val="solid"/>
                <a:round/>
              </a:ln>
              <a:effectLst/>
            </c:spPr>
          </c:marker>
          <c:cat>
            <c:multiLvlStrRef>
              <c:f>Sheet1!$A$2:$A$13</c:f>
              <c:multiLvlStrCache>
                <c:ptCount val="12"/>
                <c:lvl>
                  <c:pt idx="0">
                    <c:v>Apr</c:v>
                  </c:pt>
                  <c:pt idx="1">
                    <c:v>May</c:v>
                  </c:pt>
                  <c:pt idx="2">
                    <c:v>Jun</c:v>
                  </c:pt>
                  <c:pt idx="3">
                    <c:v>Jul</c:v>
                  </c:pt>
                  <c:pt idx="4">
                    <c:v>Aug</c:v>
                  </c:pt>
                  <c:pt idx="5">
                    <c:v>Sep</c:v>
                  </c:pt>
                  <c:pt idx="6">
                    <c:v>Oct</c:v>
                  </c:pt>
                  <c:pt idx="7">
                    <c:v>Nov</c:v>
                  </c:pt>
                  <c:pt idx="8">
                    <c:v>Dec</c:v>
                  </c:pt>
                  <c:pt idx="9">
                    <c:v>Jan</c:v>
                  </c:pt>
                  <c:pt idx="10">
                    <c:v>Feb</c:v>
                  </c:pt>
                  <c:pt idx="11">
                    <c:v>Mar</c:v>
                  </c:pt>
                </c:lvl>
              </c:multiLvlStrCache>
            </c:multiLvlStrRef>
          </c:cat>
          <c:val>
            <c:numRef>
              <c:f>Sheet1!$D$2:$D$13</c:f>
              <c:numCache>
                <c:formatCode>General</c:formatCode>
                <c:ptCount val="12"/>
                <c:pt idx="0">
                  <c:v>36</c:v>
                </c:pt>
                <c:pt idx="1">
                  <c:v>33</c:v>
                </c:pt>
                <c:pt idx="2">
                  <c:v>46</c:v>
                </c:pt>
                <c:pt idx="3">
                  <c:v>40</c:v>
                </c:pt>
                <c:pt idx="4">
                  <c:v>46</c:v>
                </c:pt>
                <c:pt idx="5">
                  <c:v>46</c:v>
                </c:pt>
                <c:pt idx="6">
                  <c:v>46</c:v>
                </c:pt>
                <c:pt idx="7">
                  <c:v>46</c:v>
                </c:pt>
                <c:pt idx="8">
                  <c:v>46</c:v>
                </c:pt>
                <c:pt idx="9">
                  <c:v>46</c:v>
                </c:pt>
                <c:pt idx="10">
                  <c:v>46</c:v>
                </c:pt>
                <c:pt idx="11">
                  <c:v>46</c:v>
                </c:pt>
              </c:numCache>
            </c:numRef>
          </c:val>
          <c:smooth val="0"/>
        </c:ser>
        <c:dLbls>
          <c:numFmt formatCode="#,##0" sourceLinked="0"/>
          <c:txPr>
            <a:bodyPr/>
            <a:lstStyle/>
            <a:p>
              <a:pPr>
                <a:defRPr b="0" i="0" strike="noStrike" sz="800" u="none">
                  <a:solidFill>
                    <a:srgbClr val="FFFFFF"/>
                  </a:solidFill>
                  <a:latin typeface="Calibri"/>
                </a:defRPr>
              </a:pPr>
            </a:p>
          </c:txPr>
          <c:dLblPos val="ctr"/>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B3F52"/>
                </a:solidFill>
                <a:latin typeface="Calibri"/>
              </a:defRPr>
            </a:pPr>
            <a:endParaRPr lang="en-US"/>
          </a:p>
        </c:txPr>
        <c:crossAx val="2094734552"/>
        <c:crosses val="autoZero"/>
        <c:auto val="1"/>
        <c:lblAlgn val="ctr"/>
        <c:noMultiLvlLbl val="1"/>
      </c:catAx>
      <c:valAx>
        <c:axId val="2094734552"/>
        <c:scaling>
          <c:orientation val="minMax"/>
          <c:max val="76"/>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2B3F52"/>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Cost</c:v>
                </c:pt>
              </c:strCache>
            </c:strRef>
          </c:tx>
          <c:spPr>
            <a:solidFill>
              <a:schemeClr val="accent1"/>
            </a:solidFill>
            <a:ln w="9525" cap="flat">
              <a:solidFill>
                <a:srgbClr val="F9F9F9"/>
              </a:solidFill>
              <a:prstDash val="solid"/>
              <a:round/>
            </a:ln>
            <a:effectLst/>
          </c:spPr>
          <c:dPt>
            <c:idx val="0"/>
            <c:bubble3D val="0"/>
            <c:spPr>
              <a:solidFill>
                <a:srgbClr val="0B5B52"/>
              </a:solidFill>
              <a:effectLst/>
            </c:spPr>
          </c:dPt>
          <c:dPt>
            <c:idx val="1"/>
            <c:bubble3D val="0"/>
            <c:spPr>
              <a:solidFill>
                <a:srgbClr val="14776B"/>
              </a:solidFill>
              <a:effectLst/>
            </c:spPr>
          </c:dPt>
          <c:dPt>
            <c:idx val="2"/>
            <c:bubble3D val="0"/>
            <c:spPr>
              <a:solidFill>
                <a:srgbClr val="2F938A"/>
              </a:solidFill>
              <a:effectLst/>
            </c:spPr>
          </c:dPt>
          <c:dPt>
            <c:idx val="3"/>
            <c:bubble3D val="0"/>
            <c:spPr>
              <a:solidFill>
                <a:srgbClr val="5AADA3"/>
              </a:solidFill>
              <a:effectLst/>
            </c:spPr>
          </c:dPt>
          <c:dPt>
            <c:idx val="4"/>
            <c:bubble3D val="0"/>
            <c:spPr>
              <a:solidFill>
                <a:srgbClr val="8EC7BF"/>
              </a:solidFill>
              <a:effectLst/>
            </c:spPr>
          </c:dPt>
          <c:dPt>
            <c:idx val="5"/>
            <c:bubble3D val="0"/>
            <c:spPr>
              <a:solidFill>
                <a:srgbClr val="C3CCD6"/>
              </a:solidFill>
              <a:effectLst/>
            </c:spPr>
          </c:dPt>
          <c:dLbls>
            <c:dLbl>
              <c:idx val="0"/>
              <c:numFmt formatCode="General" sourceLinked="0"/>
              <c:spPr/>
              <c:txPr>
                <a:bodyPr/>
                <a:lstStyle/>
                <a:p>
                  <a:pPr>
                    <a:defRPr sz="900" b="0" i="0" u="none" strike="noStrike">
                      <a:solidFill>
                        <a:srgbClr val="FFFFFF"/>
                      </a:solidFill>
                      <a:latin typeface="Calibri"/>
                    </a:defRPr>
                  </a:pPr>
                </a:p>
              </c:txPr>
              <c:showLegendKey val="0"/>
              <c:showVal val="1"/>
              <c:showCatName val="0"/>
              <c:showSerName val="0"/>
              <c:showPercent val="0"/>
              <c:showBubbleSize val="0"/>
            </c:dLbl>
            <c:dLbl>
              <c:idx val="1"/>
              <c:numFmt formatCode="General" sourceLinked="0"/>
              <c:spPr/>
              <c:txPr>
                <a:bodyPr/>
                <a:lstStyle/>
                <a:p>
                  <a:pPr>
                    <a:defRPr sz="900" b="0" i="0" u="none" strike="noStrike">
                      <a:solidFill>
                        <a:srgbClr val="FFFFFF"/>
                      </a:solidFill>
                      <a:latin typeface="Calibri"/>
                    </a:defRPr>
                  </a:pPr>
                </a:p>
              </c:txPr>
              <c:showLegendKey val="0"/>
              <c:showVal val="1"/>
              <c:showCatName val="0"/>
              <c:showSerName val="0"/>
              <c:showPercent val="0"/>
              <c:showBubbleSize val="0"/>
            </c:dLbl>
            <c:dLbl>
              <c:idx val="2"/>
              <c:numFmt formatCode="General" sourceLinked="0"/>
              <c:spPr/>
              <c:txPr>
                <a:bodyPr/>
                <a:lstStyle/>
                <a:p>
                  <a:pPr>
                    <a:defRPr sz="900" b="0" i="0" u="none" strike="noStrike">
                      <a:solidFill>
                        <a:srgbClr val="FFFFFF"/>
                      </a:solidFill>
                      <a:latin typeface="Calibri"/>
                    </a:defRPr>
                  </a:pPr>
                </a:p>
              </c:txPr>
              <c:showLegendKey val="0"/>
              <c:showVal val="1"/>
              <c:showCatName val="0"/>
              <c:showSerName val="0"/>
              <c:showPercent val="0"/>
              <c:showBubbleSize val="0"/>
            </c:dLbl>
            <c:dLbl>
              <c:idx val="3"/>
              <c:numFmt formatCode="General" sourceLinked="0"/>
              <c:spPr/>
              <c:txPr>
                <a:bodyPr/>
                <a:lstStyle/>
                <a:p>
                  <a:pPr>
                    <a:defRPr sz="900" b="0" i="0" u="none" strike="noStrike">
                      <a:solidFill>
                        <a:srgbClr val="FFFFFF"/>
                      </a:solidFill>
                      <a:latin typeface="Calibri"/>
                    </a:defRPr>
                  </a:pPr>
                </a:p>
              </c:txPr>
              <c:showLegendKey val="0"/>
              <c:showVal val="1"/>
              <c:showCatName val="0"/>
              <c:showSerName val="0"/>
              <c:showPercent val="0"/>
              <c:showBubbleSize val="0"/>
            </c:dLbl>
            <c:dLbl>
              <c:idx val="4"/>
              <c:numFmt formatCode="General" sourceLinked="0"/>
              <c:spPr/>
              <c:txPr>
                <a:bodyPr/>
                <a:lstStyle/>
                <a:p>
                  <a:pPr>
                    <a:defRPr sz="900" b="0" i="0" u="none" strike="noStrike">
                      <a:solidFill>
                        <a:srgbClr val="FFFFFF"/>
                      </a:solidFill>
                      <a:latin typeface="Calibri"/>
                    </a:defRPr>
                  </a:pPr>
                </a:p>
              </c:txPr>
              <c:showLegendKey val="0"/>
              <c:showVal val="1"/>
              <c:showCatName val="0"/>
              <c:showSerName val="0"/>
              <c:showPercent val="0"/>
              <c:showBubbleSize val="0"/>
            </c:dLbl>
            <c:dLbl>
              <c:idx val="5"/>
              <c:numFmt formatCode="General" sourceLinked="0"/>
              <c:spPr/>
              <c:txPr>
                <a:bodyPr/>
                <a:lstStyle/>
                <a:p>
                  <a:pPr>
                    <a:defRPr sz="900" b="0" i="0" u="none" strike="noStrike">
                      <a:solidFill>
                        <a:srgbClr val="FFFFFF"/>
                      </a:solidFill>
                      <a:latin typeface="Calibri"/>
                    </a:defRPr>
                  </a:pPr>
                </a:p>
              </c:txPr>
              <c:showLegendKey val="0"/>
              <c:showVal val="1"/>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Sheet1!$A$2:$A$7</c:f>
              <c:strCache>
                <c:ptCount val="6"/>
                <c:pt idx="0">
                  <c:v>Salary 58%</c:v>
                </c:pt>
                <c:pt idx="1">
                  <c:v>Rent 12%</c:v>
                </c:pt>
                <c:pt idx="2">
                  <c:v>Professional 5%</c:v>
                </c:pt>
                <c:pt idx="3">
                  <c:v>Sitting fees 4%</c:v>
                </c:pt>
                <c:pt idx="4">
                  <c:v>Travel 3%</c:v>
                </c:pt>
                <c:pt idx="5">
                  <c:v>Other 18%</c:v>
                </c:pt>
              </c:strCache>
            </c:strRef>
          </c:cat>
          <c:val>
            <c:numRef>
              <c:f>Sheet1!$B$2:$B$7</c:f>
              <c:numCache>
                <c:ptCount val="6"/>
                <c:pt idx="0">
                  <c:v>58</c:v>
                </c:pt>
                <c:pt idx="1">
                  <c:v>12</c:v>
                </c:pt>
                <c:pt idx="2">
                  <c:v>5</c:v>
                </c:pt>
                <c:pt idx="3">
                  <c:v>4</c:v>
                </c:pt>
                <c:pt idx="4">
                  <c:v>3</c:v>
                </c:pt>
                <c:pt idx="5">
                  <c:v>18</c:v>
                </c:pt>
              </c:numCache>
            </c:numRef>
          </c:val>
        </c:ser>
        <c:firstSliceAng val="0"/>
        <c:holeSize val="55"/>
      </c:doughnutChart>
      <c:spPr>
        <a:noFill/>
        <a:ln>
          <a:noFill/>
        </a:ln>
        <a:effectLst/>
      </c:spPr>
    </c:plotArea>
    <c:legend>
      <c:legendPos val="r"/>
      <c:overlay val="0"/>
      <c:txPr>
        <a:bodyPr/>
        <a:lstStyle/>
        <a:p>
          <a:pPr>
            <a:defRPr sz="1000">
              <a:solidFill>
                <a:srgbClr val="2B3F52"/>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Existing plus FD</c:v>
                </c:pt>
              </c:strCache>
            </c:strRef>
          </c:tx>
          <c:spPr>
            <a:solidFill>
              <a:srgbClr val="8EA6B8"/>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FY26</c:v>
                  </c:pt>
                  <c:pt idx="1">
                    <c:v>FY27</c:v>
                  </c:pt>
                  <c:pt idx="2">
                    <c:v>FY28</c:v>
                  </c:pt>
                  <c:pt idx="3">
                    <c:v>FY29</c:v>
                  </c:pt>
                </c:lvl>
              </c:multiLvlStrCache>
            </c:multiLvlStrRef>
          </c:cat>
          <c:val>
            <c:numRef>
              <c:f>Sheet1!$B$2:$B$5</c:f>
              <c:numCache>
                <c:formatCode>General</c:formatCode>
                <c:ptCount val="4"/>
                <c:pt idx="0">
                  <c:v>1.56</c:v>
                </c:pt>
                <c:pt idx="1">
                  <c:v>2.67</c:v>
                </c:pt>
                <c:pt idx="2">
                  <c:v>2.9</c:v>
                </c:pt>
                <c:pt idx="3">
                  <c:v>3.1</c:v>
                </c:pt>
              </c:numCache>
            </c:numRef>
          </c:val>
        </c:ser>
        <c:ser>
          <c:idx val="1"/>
          <c:order val="1"/>
          <c:tx>
            <c:strRef>
              <c:f>Sheet1!$C$1</c:f>
              <c:strCache>
                <c:ptCount val="1"/>
                <c:pt idx="0">
                  <c:v>BLR initial fees</c:v>
                </c:pt>
              </c:strCache>
            </c:strRef>
          </c:tx>
          <c:spPr>
            <a:solidFill>
              <a:srgbClr val="0F766E"/>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FY26</c:v>
                  </c:pt>
                  <c:pt idx="1">
                    <c:v>FY27</c:v>
                  </c:pt>
                  <c:pt idx="2">
                    <c:v>FY28</c:v>
                  </c:pt>
                  <c:pt idx="3">
                    <c:v>FY29</c:v>
                  </c:pt>
                </c:lvl>
              </c:multiLvlStrCache>
            </c:multiLvlStrRef>
          </c:cat>
          <c:val>
            <c:numRef>
              <c:f>Sheet1!$C$2:$C$5</c:f>
              <c:numCache>
                <c:formatCode>General</c:formatCode>
                <c:ptCount val="4"/>
                <c:pt idx="0">
                  <c:v>0</c:v>
                </c:pt>
                <c:pt idx="1">
                  <c:v>2.88</c:v>
                </c:pt>
                <c:pt idx="2">
                  <c:v>5.76</c:v>
                </c:pt>
                <c:pt idx="3">
                  <c:v>5.76</c:v>
                </c:pt>
              </c:numCache>
            </c:numRef>
          </c:val>
        </c:ser>
        <c:ser>
          <c:idx val="2"/>
          <c:order val="2"/>
          <c:tx>
            <c:strRef>
              <c:f>Sheet1!$D$1</c:f>
              <c:strCache>
                <c:ptCount val="1"/>
                <c:pt idx="0">
                  <c:v>Surveillance annuity</c:v>
                </c:pt>
              </c:strCache>
            </c:strRef>
          </c:tx>
          <c:spPr>
            <a:solidFill>
              <a:srgbClr val="1E4E79"/>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FY26</c:v>
                  </c:pt>
                  <c:pt idx="1">
                    <c:v>FY27</c:v>
                  </c:pt>
                  <c:pt idx="2">
                    <c:v>FY28</c:v>
                  </c:pt>
                  <c:pt idx="3">
                    <c:v>FY29</c:v>
                  </c:pt>
                </c:lvl>
              </c:multiLvlStrCache>
            </c:multiLvlStrRef>
          </c:cat>
          <c:val>
            <c:numRef>
              <c:f>Sheet1!$D$2:$D$5</c:f>
              <c:numCache>
                <c:formatCode>General</c:formatCode>
                <c:ptCount val="4"/>
                <c:pt idx="0">
                  <c:v>0</c:v>
                </c:pt>
                <c:pt idx="1">
                  <c:v>0</c:v>
                </c:pt>
                <c:pt idx="2">
                  <c:v>1.44</c:v>
                </c:pt>
                <c:pt idx="3">
                  <c:v>4.32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3F52"/>
                </a:solidFill>
                <a:latin typeface="Calibri"/>
              </a:defRPr>
            </a:pPr>
            <a:endParaRPr lang="en-US"/>
          </a:p>
        </c:txPr>
        <c:crossAx val="2094734552"/>
        <c:crosses val="autoZero"/>
        <c:auto val="1"/>
        <c:lblAlgn val="ctr"/>
        <c:noMultiLvlLbl val="1"/>
      </c:catAx>
      <c:valAx>
        <c:axId val="2094734552"/>
        <c:scaling>
          <c:orientation val="minMax"/>
          <c:max val="16"/>
        </c:scaling>
        <c:delete val="0"/>
        <c:axPos val="l"/>
        <c:majorGridlines>
          <c:spPr>
            <a:ln w="9525" cap="flat">
              <a:solidFill>
                <a:srgbClr val="E6E9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9AA7B4"/>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2B3F52"/>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percentStacked"/>
        <c:varyColors val="0"/>
        <c:ser>
          <c:idx val="0"/>
          <c:order val="0"/>
          <c:tx>
            <c:strRef>
              <c:f>Sheet1!$B$1</c:f>
              <c:strCache>
                <c:ptCount val="1"/>
                <c:pt idx="0">
                  <c:v>FD interest</c:v>
                </c:pt>
              </c:strCache>
            </c:strRef>
          </c:tx>
          <c:spPr>
            <a:solidFill>
              <a:srgbClr val="8EA6B8"/>
            </a:solidFill>
            <a:effectLst/>
          </c:spPr>
          <c:invertIfNegative val="0"/>
          <c:dLbls>
            <c:numFmt formatCode="#,##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Sheet1!$A$2:$A$4</c:f>
              <c:multiLvlStrCache>
                <c:ptCount val="3"/>
                <c:lvl>
                  <c:pt idx="0">
                    <c:v>FY26</c:v>
                  </c:pt>
                  <c:pt idx="1">
                    <c:v>FY27</c:v>
                  </c:pt>
                  <c:pt idx="2">
                    <c:v>FY28</c:v>
                  </c:pt>
                </c:lvl>
              </c:multiLvlStrCache>
            </c:multiLvlStrRef>
          </c:cat>
          <c:val>
            <c:numRef>
              <c:f>Sheet1!$B$2:$B$4</c:f>
              <c:numCache>
                <c:formatCode>General</c:formatCode>
                <c:ptCount val="3"/>
                <c:pt idx="0">
                  <c:v>95</c:v>
                </c:pt>
                <c:pt idx="1">
                  <c:v>32</c:v>
                </c:pt>
                <c:pt idx="2">
                  <c:v>18</c:v>
                </c:pt>
              </c:numCache>
            </c:numRef>
          </c:val>
        </c:ser>
        <c:ser>
          <c:idx val="1"/>
          <c:order val="1"/>
          <c:tx>
            <c:strRef>
              <c:f>Sheet1!$C$1</c:f>
              <c:strCache>
                <c:ptCount val="1"/>
                <c:pt idx="0">
                  <c:v>Ratings</c:v>
                </c:pt>
              </c:strCache>
            </c:strRef>
          </c:tx>
          <c:spPr>
            <a:solidFill>
              <a:srgbClr val="0F766E"/>
            </a:solidFill>
            <a:effectLst/>
          </c:spPr>
          <c:invertIfNegative val="0"/>
          <c:dLbls>
            <c:numFmt formatCode="#,##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Sheet1!$A$2:$A$4</c:f>
              <c:multiLvlStrCache>
                <c:ptCount val="3"/>
                <c:lvl>
                  <c:pt idx="0">
                    <c:v>FY26</c:v>
                  </c:pt>
                  <c:pt idx="1">
                    <c:v>FY27</c:v>
                  </c:pt>
                  <c:pt idx="2">
                    <c:v>FY28</c:v>
                  </c:pt>
                </c:lvl>
              </c:multiLvlStrCache>
            </c:multiLvlStrRef>
          </c:cat>
          <c:val>
            <c:numRef>
              <c:f>Sheet1!$C$2:$C$4</c:f>
              <c:numCache>
                <c:formatCode>General</c:formatCode>
                <c:ptCount val="3"/>
                <c:pt idx="0">
                  <c:v>5</c:v>
                </c:pt>
                <c:pt idx="1">
                  <c:v>68</c:v>
                </c:pt>
                <c:pt idx="2">
                  <c:v>82</c:v>
                </c:pt>
              </c:numCache>
            </c:numRef>
          </c:val>
        </c:ser>
        <c:dLbls>
          <c:numFmt formatCode="#,##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3F52"/>
                </a:solidFill>
                <a:latin typeface="Calibri"/>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2B3F52"/>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Yearly</c:v>
                </c:pt>
              </c:strCache>
            </c:strRef>
          </c:tx>
          <c:spPr>
            <a:solidFill>
              <a:srgbClr val="1E4E79"/>
            </a:solidFill>
            <a:effectLst/>
          </c:spPr>
          <c:invertIfNegative val="0"/>
          <c:dLbls>
            <c:numFmt formatCode="#,##0" sourceLinked="0"/>
            <c:txPr>
              <a:bodyPr/>
              <a:lstStyle/>
              <a:p>
                <a:pPr>
                  <a:defRPr b="0" i="0" strike="noStrike" sz="900" u="none">
                    <a:solidFill>
                      <a:srgbClr val="2B3F52"/>
                    </a:solidFill>
                    <a:latin typeface="Calibri"/>
                  </a:defRPr>
                </a:pPr>
              </a:p>
            </c:txPr>
            <c:showLegendKey val="0"/>
            <c:showVal val="1"/>
            <c:showCatName val="0"/>
            <c:showSerName val="0"/>
            <c:showPercent val="0"/>
            <c:showBubbleSize val="0"/>
            <c:showLeaderLines val="0"/>
          </c:dLbls>
          <c:cat>
            <c:multiLvlStrRef>
              <c:f>Sheet1!$A$2:$A$10</c:f>
              <c:multiLvlStrCache>
                <c:ptCount val="9"/>
                <c:lvl>
                  <c:pt idx="0">
                    <c:v>ACER now</c:v>
                  </c:pt>
                  <c:pt idx="1">
                    <c:v>Brickwork</c:v>
                  </c:pt>
                  <c:pt idx="2">
                    <c:v>ACER FY28</c:v>
                  </c:pt>
                  <c:pt idx="3">
                    <c:v>Acuite</c:v>
                  </c:pt>
                  <c:pt idx="4">
                    <c:v>Infomerics</c:v>
                  </c:pt>
                  <c:pt idx="5">
                    <c:v>India Ratings</c:v>
                  </c:pt>
                  <c:pt idx="6">
                    <c:v>CARE</c:v>
                  </c:pt>
                  <c:pt idx="7">
                    <c:v>ICRA</c:v>
                  </c:pt>
                  <c:pt idx="8">
                    <c:v>CRISIL</c:v>
                  </c:pt>
                </c:lvl>
              </c:multiLvlStrCache>
            </c:multiLvlStrRef>
          </c:cat>
          <c:val>
            <c:numRef>
              <c:f>Sheet1!$B$2:$B$10</c:f>
              <c:numCache>
                <c:formatCode>General</c:formatCode>
                <c:ptCount val="9"/>
                <c:pt idx="0">
                  <c:v>0.9</c:v>
                </c:pt>
                <c:pt idx="1">
                  <c:v>5.9</c:v>
                </c:pt>
                <c:pt idx="2">
                  <c:v>8</c:v>
                </c:pt>
                <c:pt idx="3">
                  <c:v>57</c:v>
                </c:pt>
                <c:pt idx="4">
                  <c:v>95</c:v>
                </c:pt>
                <c:pt idx="5">
                  <c:v>251</c:v>
                </c:pt>
                <c:pt idx="6">
                  <c:v>423</c:v>
                </c:pt>
                <c:pt idx="7">
                  <c:v>498</c:v>
                </c:pt>
                <c:pt idx="8">
                  <c:v>909</c:v>
                </c:pt>
              </c:numCache>
            </c:numRef>
          </c:val>
        </c:ser>
        <c:dLbls>
          <c:numFmt formatCode="#,##0" sourceLinked="0"/>
          <c:txPr>
            <a:bodyPr/>
            <a:lstStyle/>
            <a:p>
              <a:pPr>
                <a:defRPr b="0" i="0" strike="noStrike" sz="900" u="none">
                  <a:solidFill>
                    <a:srgbClr val="2B3F52"/>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B3F52"/>
                </a:solidFill>
                <a:latin typeface="Calibri"/>
              </a:defRPr>
            </a:pPr>
            <a:endParaRPr lang="en-US"/>
          </a:p>
        </c:txPr>
        <c:crossAx val="2094734552"/>
        <c:crosses val="autoZero"/>
        <c:auto val="1"/>
        <c:lblAlgn val="ctr"/>
        <c:noMultiLvlLbl val="1"/>
      </c:catAx>
      <c:valAx>
        <c:axId val="2094734552"/>
        <c:scaling>
          <c:orientation val="minMax"/>
          <c:max val="100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Quarterly</c:v>
                </c:pt>
              </c:strCache>
            </c:strRef>
          </c:tx>
          <c:spPr>
            <a:solidFill>
              <a:srgbClr val="0F766E"/>
            </a:solidFill>
            <a:effectLst/>
          </c:spPr>
          <c:invertIfNegative val="0"/>
          <c:dLbls>
            <c:numFmt formatCode="#,##0" sourceLinked="0"/>
            <c:txPr>
              <a:bodyPr/>
              <a:lstStyle/>
              <a:p>
                <a:pPr>
                  <a:defRPr b="0" i="0" strike="noStrike" sz="1000" u="none">
                    <a:solidFill>
                      <a:srgbClr val="2B3F52"/>
                    </a:solidFill>
                    <a:latin typeface="Calibri"/>
                  </a:defRPr>
                </a:pPr>
              </a:p>
            </c:txPr>
            <c:showLegendKey val="0"/>
            <c:showVal val="1"/>
            <c:showCatName val="0"/>
            <c:showSerName val="0"/>
            <c:showPercent val="0"/>
            <c:showBubbleSize val="0"/>
            <c:showLeaderLines val="0"/>
          </c:dLbls>
          <c:cat>
            <c:multiLvlStrRef>
              <c:f>Sheet1!$A$2:$A$5</c:f>
              <c:multiLvlStrCache>
                <c:ptCount val="4"/>
                <c:lvl>
                  <c:pt idx="0">
                    <c:v>ACER</c:v>
                  </c:pt>
                  <c:pt idx="1">
                    <c:v>ICRA</c:v>
                  </c:pt>
                  <c:pt idx="2">
                    <c:v>CARE</c:v>
                  </c:pt>
                  <c:pt idx="3">
                    <c:v>CRISIL</c:v>
                  </c:pt>
                </c:lvl>
              </c:multiLvlStrCache>
            </c:multiLvlStrRef>
          </c:cat>
          <c:val>
            <c:numRef>
              <c:f>Sheet1!$B$2:$B$5</c:f>
              <c:numCache>
                <c:formatCode>General</c:formatCode>
                <c:ptCount val="4"/>
                <c:pt idx="0">
                  <c:v>0.15</c:v>
                </c:pt>
                <c:pt idx="1">
                  <c:v>87</c:v>
                </c:pt>
                <c:pt idx="2">
                  <c:v>102</c:v>
                </c:pt>
                <c:pt idx="3">
                  <c:v>254</c:v>
                </c:pt>
              </c:numCache>
            </c:numRef>
          </c:val>
        </c:ser>
        <c:dLbls>
          <c:numFmt formatCode="#,##0" sourceLinked="0"/>
          <c:txPr>
            <a:bodyPr/>
            <a:lstStyle/>
            <a:p>
              <a:pPr>
                <a:defRPr b="0" i="0" strike="noStrike" sz="1000" u="none">
                  <a:solidFill>
                    <a:srgbClr val="2B3F52"/>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2B3F52"/>
                </a:solidFill>
                <a:latin typeface="Calibri"/>
              </a:defRPr>
            </a:pPr>
            <a:endParaRPr lang="en-US"/>
          </a:p>
        </c:txPr>
        <c:crossAx val="2094734552"/>
        <c:crosses val="autoZero"/>
        <c:auto val="1"/>
        <c:lblAlgn val="ctr"/>
        <c:noMultiLvlLbl val="1"/>
      </c:catAx>
      <c:valAx>
        <c:axId val="2094734552"/>
        <c:scaling>
          <c:orientation val="minMax"/>
          <c:max val="29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FY28</c:v>
                </c:pt>
              </c:strCache>
            </c:strRef>
          </c:tx>
          <c:spPr>
            <a:solidFill>
              <a:schemeClr val="accent1"/>
            </a:solidFill>
            <a:ln w="9525" cap="flat">
              <a:solidFill>
                <a:srgbClr val="F9F9F9"/>
              </a:solidFill>
              <a:prstDash val="solid"/>
              <a:round/>
            </a:ln>
            <a:effectLst/>
          </c:spPr>
          <c:dPt>
            <c:idx val="0"/>
            <c:bubble3D val="0"/>
            <c:spPr>
              <a:solidFill>
                <a:srgbClr val="0F766E"/>
              </a:solidFill>
              <a:effectLst/>
            </c:spPr>
          </c:dPt>
          <c:dPt>
            <c:idx val="1"/>
            <c:bubble3D val="0"/>
            <c:spPr>
              <a:solidFill>
                <a:srgbClr val="1E4E79"/>
              </a:solidFill>
              <a:effectLst/>
            </c:spPr>
          </c:dPt>
          <c:dPt>
            <c:idx val="2"/>
            <c:bubble3D val="0"/>
            <c:spPr>
              <a:solidFill>
                <a:srgbClr val="8EA6B8"/>
              </a:solidFill>
              <a:effectLst/>
            </c:spPr>
          </c:dPt>
          <c:dLbls>
            <c:dLbl>
              <c:idx val="0"/>
              <c:numFmt formatCode="General" sourceLinked="0"/>
              <c:spPr/>
              <c:txPr>
                <a:bodyPr/>
                <a:lstStyle/>
                <a:p>
                  <a:pPr>
                    <a:defRPr sz="900" b="0" i="0" u="none" strike="noStrike">
                      <a:solidFill>
                        <a:srgbClr val="FFFFFF"/>
                      </a:solidFill>
                      <a:latin typeface="Calibri"/>
                    </a:defRPr>
                  </a:pPr>
                </a:p>
              </c:txPr>
              <c:showLegendKey val="0"/>
              <c:showVal val="1"/>
              <c:showCatName val="0"/>
              <c:showSerName val="0"/>
              <c:showPercent val="0"/>
              <c:showBubbleSize val="0"/>
            </c:dLbl>
            <c:dLbl>
              <c:idx val="1"/>
              <c:numFmt formatCode="General" sourceLinked="0"/>
              <c:spPr/>
              <c:txPr>
                <a:bodyPr/>
                <a:lstStyle/>
                <a:p>
                  <a:pPr>
                    <a:defRPr sz="900" b="0" i="0" u="none" strike="noStrike">
                      <a:solidFill>
                        <a:srgbClr val="FFFFFF"/>
                      </a:solidFill>
                      <a:latin typeface="Calibri"/>
                    </a:defRPr>
                  </a:pPr>
                </a:p>
              </c:txPr>
              <c:showLegendKey val="0"/>
              <c:showVal val="1"/>
              <c:showCatName val="0"/>
              <c:showSerName val="0"/>
              <c:showPercent val="0"/>
              <c:showBubbleSize val="0"/>
            </c:dLbl>
            <c:dLbl>
              <c:idx val="2"/>
              <c:numFmt formatCode="General" sourceLinked="0"/>
              <c:spPr/>
              <c:txPr>
                <a:bodyPr/>
                <a:lstStyle/>
                <a:p>
                  <a:pPr>
                    <a:defRPr sz="900" b="0" i="0" u="none" strike="noStrike">
                      <a:solidFill>
                        <a:srgbClr val="FFFFFF"/>
                      </a:solidFill>
                      <a:latin typeface="Calibri"/>
                    </a:defRPr>
                  </a:pPr>
                </a:p>
              </c:txPr>
              <c:showLegendKey val="0"/>
              <c:showVal val="1"/>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BLR initial fees</c:v>
                </c:pt>
                <c:pt idx="1">
                  <c:v>Surveillance annuity</c:v>
                </c:pt>
                <c:pt idx="2">
                  <c:v>Existing ratings</c:v>
                </c:pt>
              </c:strCache>
            </c:strRef>
          </c:cat>
          <c:val>
            <c:numRef>
              <c:f>Sheet1!$B$2:$B$4</c:f>
              <c:numCache>
                <c:ptCount val="3"/>
                <c:pt idx="0">
                  <c:v>5.76</c:v>
                </c:pt>
                <c:pt idx="1">
                  <c:v>1.44</c:v>
                </c:pt>
                <c:pt idx="2">
                  <c:v>1.1</c:v>
                </c:pt>
              </c:numCache>
            </c:numRef>
          </c:val>
        </c:ser>
        <c:firstSliceAng val="0"/>
        <c:holeSize val="55"/>
      </c:doughnutChart>
      <c:spPr>
        <a:noFill/>
        <a:ln>
          <a:noFill/>
        </a:ln>
        <a:effectLst/>
      </c:spPr>
    </c:plotArea>
    <c:legend>
      <c:legendPos val="b"/>
      <c:overlay val="0"/>
      <c:txPr>
        <a:bodyPr/>
        <a:lstStyle/>
        <a:p>
          <a:pPr>
            <a:defRPr sz="1000">
              <a:solidFill>
                <a:srgbClr val="2B3F52"/>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chart" Target="/ppt/charts/chart9.xm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1828800"/>
            <a:ext cx="822960" cy="82296"/>
          </a:xfrm>
          <a:prstGeom prst="rect">
            <a:avLst/>
          </a:prstGeom>
          <a:solidFill>
            <a:srgbClr val="0F766E"/>
          </a:solidFill>
          <a:ln/>
        </p:spPr>
      </p:sp>
      <p:sp>
        <p:nvSpPr>
          <p:cNvPr id="3" name="Text 1"/>
          <p:cNvSpPr/>
          <p:nvPr/>
        </p:nvSpPr>
        <p:spPr>
          <a:xfrm>
            <a:off x="566928" y="2057400"/>
            <a:ext cx="10058400" cy="274320"/>
          </a:xfrm>
          <a:prstGeom prst="rect">
            <a:avLst/>
          </a:prstGeom>
          <a:noFill/>
          <a:ln/>
        </p:spPr>
        <p:txBody>
          <a:bodyPr wrap="square" rtlCol="0" anchor="ctr"/>
          <a:lstStyle/>
          <a:p>
            <a:pPr indent="0" marL="0">
              <a:buNone/>
            </a:pPr>
            <a:r>
              <a:rPr lang="en-US" sz="1200" b="1" spc="200" kern="0" dirty="0">
                <a:solidFill>
                  <a:srgbClr val="0F766E"/>
                </a:solidFill>
                <a:latin typeface="Calibri" pitchFamily="34" charset="0"/>
                <a:ea typeface="Calibri" pitchFamily="34" charset="-122"/>
                <a:cs typeface="Calibri" pitchFamily="34" charset="-120"/>
              </a:rPr>
              <a:t>FY27  ·  BOARD PRESENTATION  ·  CONFIDENTIAL</a:t>
            </a:r>
            <a:endParaRPr lang="en-US" sz="1200" dirty="0"/>
          </a:p>
        </p:txBody>
      </p:sp>
      <p:sp>
        <p:nvSpPr>
          <p:cNvPr id="4" name="Text 2"/>
          <p:cNvSpPr/>
          <p:nvPr/>
        </p:nvSpPr>
        <p:spPr>
          <a:xfrm>
            <a:off x="566928" y="2395728"/>
            <a:ext cx="10607040" cy="1280160"/>
          </a:xfrm>
          <a:prstGeom prst="rect">
            <a:avLst/>
          </a:prstGeom>
          <a:noFill/>
          <a:ln/>
        </p:spPr>
        <p:txBody>
          <a:bodyPr wrap="square" rtlCol="0" anchor="ctr"/>
          <a:lstStyle/>
          <a:p>
            <a:pPr indent="0" marL="0">
              <a:buNone/>
            </a:pPr>
            <a:r>
              <a:rPr lang="en-US" sz="3800" b="1" dirty="0">
                <a:solidFill>
                  <a:srgbClr val="0A1F33"/>
                </a:solidFill>
                <a:latin typeface="Cambria" pitchFamily="34" charset="0"/>
                <a:ea typeface="Cambria" pitchFamily="34" charset="-122"/>
                <a:cs typeface="Cambria" pitchFamily="34" charset="-120"/>
              </a:rPr>
              <a:t>An investment year to become a rating business, not a treasury.</a:t>
            </a:r>
            <a:endParaRPr lang="en-US" sz="3800" dirty="0"/>
          </a:p>
        </p:txBody>
      </p:sp>
      <p:sp>
        <p:nvSpPr>
          <p:cNvPr id="5" name="Text 3"/>
          <p:cNvSpPr/>
          <p:nvPr/>
        </p:nvSpPr>
        <p:spPr>
          <a:xfrm>
            <a:off x="566928" y="3840480"/>
            <a:ext cx="9601200" cy="914400"/>
          </a:xfrm>
          <a:prstGeom prst="rect">
            <a:avLst/>
          </a:prstGeom>
          <a:noFill/>
          <a:ln/>
        </p:spPr>
        <p:txBody>
          <a:bodyPr wrap="square" rtlCol="0" anchor="ctr"/>
          <a:lstStyle/>
          <a:p>
            <a:pPr indent="0" marL="0">
              <a:buNone/>
            </a:pPr>
            <a:r>
              <a:rPr lang="en-US" sz="1500" dirty="0">
                <a:solidFill>
                  <a:srgbClr val="5B6B7B"/>
                </a:solidFill>
                <a:latin typeface="Calibri" pitchFamily="34" charset="0"/>
                <a:ea typeface="Calibri" pitchFamily="34" charset="-122"/>
                <a:cs typeface="Calibri" pitchFamily="34" charset="-120"/>
              </a:rPr>
              <a:t>ACER holds Rs 26 Cr in reserves and earns almost entirely on interest. The Bank Loan Rating licence is the single lever that turns that idle capital into an operating franchise. This plan models the year across three licence timing scenarios.</a:t>
            </a:r>
            <a:endParaRPr lang="en-US" sz="1500" dirty="0"/>
          </a:p>
        </p:txBody>
      </p:sp>
      <p:sp>
        <p:nvSpPr>
          <p:cNvPr id="6" name="Text 4"/>
          <p:cNvSpPr/>
          <p:nvPr/>
        </p:nvSpPr>
        <p:spPr>
          <a:xfrm>
            <a:off x="566928" y="5394960"/>
            <a:ext cx="3474720" cy="274320"/>
          </a:xfrm>
          <a:prstGeom prst="rect">
            <a:avLst/>
          </a:prstGeom>
          <a:noFill/>
          <a:ln/>
        </p:spPr>
        <p:txBody>
          <a:bodyPr wrap="square" rtlCol="0" anchor="ctr"/>
          <a:lstStyle/>
          <a:p>
            <a:pPr indent="0" marL="0">
              <a:buNone/>
            </a:pPr>
            <a:r>
              <a:rPr lang="en-US" sz="1200" dirty="0">
                <a:solidFill>
                  <a:srgbClr val="9AA7B4"/>
                </a:solidFill>
                <a:latin typeface="Calibri" pitchFamily="34" charset="0"/>
                <a:ea typeface="Calibri" pitchFamily="34" charset="-122"/>
                <a:cs typeface="Calibri" pitchFamily="34" charset="-120"/>
              </a:rPr>
              <a:t>Entity</a:t>
            </a:r>
            <a:endParaRPr lang="en-US" sz="1200" dirty="0"/>
          </a:p>
        </p:txBody>
      </p:sp>
      <p:sp>
        <p:nvSpPr>
          <p:cNvPr id="7" name="Text 5"/>
          <p:cNvSpPr/>
          <p:nvPr/>
        </p:nvSpPr>
        <p:spPr>
          <a:xfrm>
            <a:off x="566928" y="5669280"/>
            <a:ext cx="3474720" cy="365760"/>
          </a:xfrm>
          <a:prstGeom prst="rect">
            <a:avLst/>
          </a:prstGeom>
          <a:noFill/>
          <a:ln/>
        </p:spPr>
        <p:txBody>
          <a:bodyPr wrap="square" rtlCol="0" anchor="ctr"/>
          <a:lstStyle/>
          <a:p>
            <a:pPr indent="0" marL="0">
              <a:buNone/>
            </a:pPr>
            <a:r>
              <a:rPr lang="en-US" sz="1400" b="1" dirty="0">
                <a:solidFill>
                  <a:srgbClr val="0A1F33"/>
                </a:solidFill>
                <a:latin typeface="Calibri" pitchFamily="34" charset="0"/>
                <a:ea typeface="Calibri" pitchFamily="34" charset="-122"/>
                <a:cs typeface="Calibri" pitchFamily="34" charset="-120"/>
              </a:rPr>
              <a:t>ACER Credit Rating Pvt. Ltd.</a:t>
            </a:r>
            <a:endParaRPr lang="en-US" sz="1400" dirty="0"/>
          </a:p>
        </p:txBody>
      </p:sp>
      <p:sp>
        <p:nvSpPr>
          <p:cNvPr id="8" name="Text 6"/>
          <p:cNvSpPr/>
          <p:nvPr/>
        </p:nvSpPr>
        <p:spPr>
          <a:xfrm>
            <a:off x="4224528" y="5394960"/>
            <a:ext cx="3474720" cy="274320"/>
          </a:xfrm>
          <a:prstGeom prst="rect">
            <a:avLst/>
          </a:prstGeom>
          <a:noFill/>
          <a:ln/>
        </p:spPr>
        <p:txBody>
          <a:bodyPr wrap="square" rtlCol="0" anchor="ctr"/>
          <a:lstStyle/>
          <a:p>
            <a:pPr indent="0" marL="0">
              <a:buNone/>
            </a:pPr>
            <a:r>
              <a:rPr lang="en-US" sz="1200" dirty="0">
                <a:solidFill>
                  <a:srgbClr val="9AA7B4"/>
                </a:solidFill>
                <a:latin typeface="Calibri" pitchFamily="34" charset="0"/>
                <a:ea typeface="Calibri" pitchFamily="34" charset="-122"/>
                <a:cs typeface="Calibri" pitchFamily="34" charset="-120"/>
              </a:rPr>
              <a:t>Plan year</a:t>
            </a:r>
            <a:endParaRPr lang="en-US" sz="1200" dirty="0"/>
          </a:p>
        </p:txBody>
      </p:sp>
      <p:sp>
        <p:nvSpPr>
          <p:cNvPr id="9" name="Text 7"/>
          <p:cNvSpPr/>
          <p:nvPr/>
        </p:nvSpPr>
        <p:spPr>
          <a:xfrm>
            <a:off x="4224528" y="5669280"/>
            <a:ext cx="3474720" cy="365760"/>
          </a:xfrm>
          <a:prstGeom prst="rect">
            <a:avLst/>
          </a:prstGeom>
          <a:noFill/>
          <a:ln/>
        </p:spPr>
        <p:txBody>
          <a:bodyPr wrap="square" rtlCol="0" anchor="ctr"/>
          <a:lstStyle/>
          <a:p>
            <a:pPr indent="0" marL="0">
              <a:buNone/>
            </a:pPr>
            <a:r>
              <a:rPr lang="en-US" sz="1400" b="1" dirty="0">
                <a:solidFill>
                  <a:srgbClr val="0A1F33"/>
                </a:solidFill>
                <a:latin typeface="Calibri" pitchFamily="34" charset="0"/>
                <a:ea typeface="Calibri" pitchFamily="34" charset="-122"/>
                <a:cs typeface="Calibri" pitchFamily="34" charset="-120"/>
              </a:rPr>
              <a:t>Apr 2026 to Mar 2027</a:t>
            </a:r>
            <a:endParaRPr lang="en-US" sz="1400" dirty="0"/>
          </a:p>
        </p:txBody>
      </p:sp>
      <p:sp>
        <p:nvSpPr>
          <p:cNvPr id="10" name="Text 8"/>
          <p:cNvSpPr/>
          <p:nvPr/>
        </p:nvSpPr>
        <p:spPr>
          <a:xfrm>
            <a:off x="7882128" y="5394960"/>
            <a:ext cx="3474720" cy="274320"/>
          </a:xfrm>
          <a:prstGeom prst="rect">
            <a:avLst/>
          </a:prstGeom>
          <a:noFill/>
          <a:ln/>
        </p:spPr>
        <p:txBody>
          <a:bodyPr wrap="square" rtlCol="0" anchor="ctr"/>
          <a:lstStyle/>
          <a:p>
            <a:pPr indent="0" marL="0">
              <a:buNone/>
            </a:pPr>
            <a:r>
              <a:rPr lang="en-US" sz="1200" dirty="0">
                <a:solidFill>
                  <a:srgbClr val="9AA7B4"/>
                </a:solidFill>
                <a:latin typeface="Calibri" pitchFamily="34" charset="0"/>
                <a:ea typeface="Calibri" pitchFamily="34" charset="-122"/>
                <a:cs typeface="Calibri" pitchFamily="34" charset="-120"/>
              </a:rPr>
              <a:t>Base case</a:t>
            </a:r>
            <a:endParaRPr lang="en-US" sz="1200" dirty="0"/>
          </a:p>
        </p:txBody>
      </p:sp>
      <p:sp>
        <p:nvSpPr>
          <p:cNvPr id="11" name="Text 9"/>
          <p:cNvSpPr/>
          <p:nvPr/>
        </p:nvSpPr>
        <p:spPr>
          <a:xfrm>
            <a:off x="7882128" y="5669280"/>
            <a:ext cx="3474720" cy="365760"/>
          </a:xfrm>
          <a:prstGeom prst="rect">
            <a:avLst/>
          </a:prstGeom>
          <a:noFill/>
          <a:ln/>
        </p:spPr>
        <p:txBody>
          <a:bodyPr wrap="square" rtlCol="0" anchor="ctr"/>
          <a:lstStyle/>
          <a:p>
            <a:pPr indent="0" marL="0">
              <a:buNone/>
            </a:pPr>
            <a:r>
              <a:rPr lang="en-US" sz="1400" b="1" dirty="0">
                <a:solidFill>
                  <a:srgbClr val="0A1F33"/>
                </a:solidFill>
                <a:latin typeface="Calibri" pitchFamily="34" charset="0"/>
                <a:ea typeface="Calibri" pitchFamily="34" charset="-122"/>
                <a:cs typeface="Calibri" pitchFamily="34" charset="-120"/>
              </a:rPr>
              <a:t>BLR live by 1 October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30000" y="420624"/>
            <a:ext cx="365760" cy="274320"/>
          </a:xfrm>
          <a:prstGeom prst="rect">
            <a:avLst/>
          </a:prstGeom>
          <a:noFill/>
          <a:ln/>
        </p:spPr>
        <p:txBody>
          <a:bodyPr wrap="square" rtlCol="0" anchor="ctr"/>
          <a:lstStyle/>
          <a:p>
            <a:pPr algn="r" indent="0" marL="0">
              <a:buNone/>
            </a:pPr>
            <a:r>
              <a:rPr lang="en-US" sz="1100" b="1" dirty="0">
                <a:solidFill>
                  <a:srgbClr val="9AA7B4"/>
                </a:solidFill>
                <a:latin typeface="Calibri" pitchFamily="34" charset="0"/>
                <a:ea typeface="Calibri" pitchFamily="34" charset="-122"/>
                <a:cs typeface="Calibri" pitchFamily="34" charset="-120"/>
              </a:rPr>
              <a:t>02</a:t>
            </a:r>
            <a:endParaRPr lang="en-US" sz="1100" dirty="0"/>
          </a:p>
        </p:txBody>
      </p:sp>
      <p:sp>
        <p:nvSpPr>
          <p:cNvPr id="3" name="Text 1"/>
          <p:cNvSpPr/>
          <p:nvPr/>
        </p:nvSpPr>
        <p:spPr>
          <a:xfrm>
            <a:off x="566928" y="457200"/>
            <a:ext cx="10058400" cy="274320"/>
          </a:xfrm>
          <a:prstGeom prst="rect">
            <a:avLst/>
          </a:prstGeom>
          <a:noFill/>
          <a:ln/>
        </p:spPr>
        <p:txBody>
          <a:bodyPr wrap="square" rtlCol="0" anchor="ctr"/>
          <a:lstStyle/>
          <a:p>
            <a:pPr indent="0" marL="0">
              <a:buNone/>
            </a:pPr>
            <a:r>
              <a:rPr lang="en-US" sz="1100" b="1" spc="200" kern="0" dirty="0">
                <a:solidFill>
                  <a:srgbClr val="0F766E"/>
                </a:solidFill>
                <a:latin typeface="Calibri" pitchFamily="34" charset="0"/>
                <a:ea typeface="Calibri" pitchFamily="34" charset="-122"/>
                <a:cs typeface="Calibri" pitchFamily="34" charset="-120"/>
              </a:rPr>
              <a:t>SITUATION</a:t>
            </a:r>
            <a:endParaRPr lang="en-US" sz="1100" dirty="0"/>
          </a:p>
        </p:txBody>
      </p:sp>
      <p:sp>
        <p:nvSpPr>
          <p:cNvPr id="4" name="Text 2"/>
          <p:cNvSpPr/>
          <p:nvPr/>
        </p:nvSpPr>
        <p:spPr>
          <a:xfrm>
            <a:off x="566928" y="713232"/>
            <a:ext cx="11064240" cy="640080"/>
          </a:xfrm>
          <a:prstGeom prst="rect">
            <a:avLst/>
          </a:prstGeom>
          <a:noFill/>
          <a:ln/>
        </p:spPr>
        <p:txBody>
          <a:bodyPr wrap="square" rtlCol="0" anchor="ctr"/>
          <a:lstStyle/>
          <a:p>
            <a:pPr indent="0" marL="0">
              <a:buNone/>
            </a:pPr>
            <a:r>
              <a:rPr lang="en-US" sz="2700" b="1" dirty="0">
                <a:solidFill>
                  <a:srgbClr val="0A1F33"/>
                </a:solidFill>
                <a:latin typeface="Cambria" pitchFamily="34" charset="0"/>
                <a:ea typeface="Cambria" pitchFamily="34" charset="-122"/>
                <a:cs typeface="Cambria" pitchFamily="34" charset="-120"/>
              </a:rPr>
              <a:t>Today we earn like a treasury, not yet a rating agency</a:t>
            </a:r>
            <a:endParaRPr lang="en-US" sz="2700" dirty="0"/>
          </a:p>
        </p:txBody>
      </p:sp>
      <p:sp>
        <p:nvSpPr>
          <p:cNvPr id="5" name="Text 3"/>
          <p:cNvSpPr/>
          <p:nvPr/>
        </p:nvSpPr>
        <p:spPr>
          <a:xfrm>
            <a:off x="566928" y="1353312"/>
            <a:ext cx="11064240" cy="457200"/>
          </a:xfrm>
          <a:prstGeom prst="rect">
            <a:avLst/>
          </a:prstGeom>
          <a:noFill/>
          <a:ln/>
        </p:spPr>
        <p:txBody>
          <a:bodyPr wrap="square" rtlCol="0" anchor="ctr"/>
          <a:lstStyle/>
          <a:p>
            <a:pPr indent="0" marL="0">
              <a:buNone/>
            </a:pPr>
            <a:r>
              <a:rPr lang="en-US" sz="1400" dirty="0">
                <a:solidFill>
                  <a:srgbClr val="5B6B7B"/>
                </a:solidFill>
                <a:latin typeface="Calibri" pitchFamily="34" charset="0"/>
                <a:ea typeface="Calibri" pitchFamily="34" charset="-122"/>
                <a:cs typeface="Calibri" pitchFamily="34" charset="-120"/>
              </a:rPr>
              <a:t>The balance sheet is strong and the regulatory barrier is cleared. The gap is operating revenue, only now appearing.</a:t>
            </a:r>
            <a:endParaRPr lang="en-US" sz="1400" dirty="0"/>
          </a:p>
        </p:txBody>
      </p:sp>
      <p:sp>
        <p:nvSpPr>
          <p:cNvPr id="6" name="Shape 4"/>
          <p:cNvSpPr/>
          <p:nvPr/>
        </p:nvSpPr>
        <p:spPr>
          <a:xfrm>
            <a:off x="566928" y="1783080"/>
            <a:ext cx="2606040" cy="1325880"/>
          </a:xfrm>
          <a:prstGeom prst="rect">
            <a:avLst/>
          </a:prstGeom>
          <a:solidFill>
            <a:srgbClr val="F6F8FA"/>
          </a:solidFill>
          <a:ln w="12700">
            <a:solidFill>
              <a:srgbClr val="E6E9EE"/>
            </a:solidFill>
            <a:prstDash val="solid"/>
          </a:ln>
        </p:spPr>
      </p:sp>
      <p:sp>
        <p:nvSpPr>
          <p:cNvPr id="7" name="Text 5"/>
          <p:cNvSpPr/>
          <p:nvPr/>
        </p:nvSpPr>
        <p:spPr>
          <a:xfrm>
            <a:off x="731520" y="1911096"/>
            <a:ext cx="2276856" cy="274320"/>
          </a:xfrm>
          <a:prstGeom prst="rect">
            <a:avLst/>
          </a:prstGeom>
          <a:noFill/>
          <a:ln/>
        </p:spPr>
        <p:txBody>
          <a:bodyPr wrap="square" rtlCol="0" anchor="ctr"/>
          <a:lstStyle/>
          <a:p>
            <a:pPr indent="0" marL="0">
              <a:buNone/>
            </a:pPr>
            <a:r>
              <a:rPr lang="en-US" sz="1050" dirty="0">
                <a:solidFill>
                  <a:srgbClr val="5B6B7B"/>
                </a:solidFill>
                <a:latin typeface="Calibri" pitchFamily="34" charset="0"/>
                <a:ea typeface="Calibri" pitchFamily="34" charset="-122"/>
                <a:cs typeface="Calibri" pitchFamily="34" charset="-120"/>
              </a:rPr>
              <a:t>FD corpus</a:t>
            </a:r>
            <a:endParaRPr lang="en-US" sz="1050" dirty="0"/>
          </a:p>
        </p:txBody>
      </p:sp>
      <p:sp>
        <p:nvSpPr>
          <p:cNvPr id="8" name="Text 6"/>
          <p:cNvSpPr/>
          <p:nvPr/>
        </p:nvSpPr>
        <p:spPr>
          <a:xfrm>
            <a:off x="731520" y="2148840"/>
            <a:ext cx="2276856" cy="457200"/>
          </a:xfrm>
          <a:prstGeom prst="rect">
            <a:avLst/>
          </a:prstGeom>
          <a:noFill/>
          <a:ln/>
        </p:spPr>
        <p:txBody>
          <a:bodyPr wrap="square" rtlCol="0" anchor="ctr"/>
          <a:lstStyle/>
          <a:p>
            <a:pPr indent="0" marL="0">
              <a:buNone/>
            </a:pPr>
            <a:r>
              <a:rPr lang="en-US" sz="2100" b="1" dirty="0">
                <a:solidFill>
                  <a:srgbClr val="0A1F33"/>
                </a:solidFill>
                <a:latin typeface="Cambria" pitchFamily="34" charset="0"/>
                <a:ea typeface="Cambria" pitchFamily="34" charset="-122"/>
                <a:cs typeface="Cambria" pitchFamily="34" charset="-120"/>
              </a:rPr>
              <a:t>Rs 26.1 Cr</a:t>
            </a:r>
            <a:endParaRPr lang="en-US" sz="2100" dirty="0"/>
          </a:p>
        </p:txBody>
      </p:sp>
      <p:sp>
        <p:nvSpPr>
          <p:cNvPr id="9" name="Text 7"/>
          <p:cNvSpPr/>
          <p:nvPr/>
        </p:nvSpPr>
        <p:spPr>
          <a:xfrm>
            <a:off x="731520" y="2606040"/>
            <a:ext cx="2276856" cy="365760"/>
          </a:xfrm>
          <a:prstGeom prst="rect">
            <a:avLst/>
          </a:prstGeom>
          <a:noFill/>
          <a:ln/>
        </p:spPr>
        <p:txBody>
          <a:bodyPr wrap="square" rtlCol="0" anchor="ctr"/>
          <a:lstStyle/>
          <a:p>
            <a:pPr indent="0" marL="0">
              <a:buNone/>
            </a:pPr>
            <a:r>
              <a:rPr lang="en-US" sz="900" dirty="0">
                <a:solidFill>
                  <a:srgbClr val="9AA7B4"/>
                </a:solidFill>
                <a:latin typeface="Calibri" pitchFamily="34" charset="0"/>
                <a:ea typeface="Calibri" pitchFamily="34" charset="-122"/>
                <a:cs typeface="Calibri" pitchFamily="34" charset="-120"/>
              </a:rPr>
              <a:t>Rs 25 Cr is the SEBI net worth lock</a:t>
            </a:r>
            <a:endParaRPr lang="en-US" sz="900" dirty="0"/>
          </a:p>
        </p:txBody>
      </p:sp>
      <p:sp>
        <p:nvSpPr>
          <p:cNvPr id="10" name="Shape 8"/>
          <p:cNvSpPr/>
          <p:nvPr/>
        </p:nvSpPr>
        <p:spPr>
          <a:xfrm>
            <a:off x="3328416" y="1783080"/>
            <a:ext cx="2606040" cy="1325880"/>
          </a:xfrm>
          <a:prstGeom prst="rect">
            <a:avLst/>
          </a:prstGeom>
          <a:solidFill>
            <a:srgbClr val="F6F8FA"/>
          </a:solidFill>
          <a:ln w="12700">
            <a:solidFill>
              <a:srgbClr val="E6E9EE"/>
            </a:solidFill>
            <a:prstDash val="solid"/>
          </a:ln>
        </p:spPr>
      </p:sp>
      <p:sp>
        <p:nvSpPr>
          <p:cNvPr id="11" name="Text 9"/>
          <p:cNvSpPr/>
          <p:nvPr/>
        </p:nvSpPr>
        <p:spPr>
          <a:xfrm>
            <a:off x="3493008" y="1911096"/>
            <a:ext cx="2276856" cy="274320"/>
          </a:xfrm>
          <a:prstGeom prst="rect">
            <a:avLst/>
          </a:prstGeom>
          <a:noFill/>
          <a:ln/>
        </p:spPr>
        <p:txBody>
          <a:bodyPr wrap="square" rtlCol="0" anchor="ctr"/>
          <a:lstStyle/>
          <a:p>
            <a:pPr indent="0" marL="0">
              <a:buNone/>
            </a:pPr>
            <a:r>
              <a:rPr lang="en-US" sz="1050" dirty="0">
                <a:solidFill>
                  <a:srgbClr val="5B6B7B"/>
                </a:solidFill>
                <a:latin typeface="Calibri" pitchFamily="34" charset="0"/>
                <a:ea typeface="Calibri" pitchFamily="34" charset="-122"/>
                <a:cs typeface="Calibri" pitchFamily="34" charset="-120"/>
              </a:rPr>
              <a:t>FY26 ratings revenue</a:t>
            </a:r>
            <a:endParaRPr lang="en-US" sz="1050" dirty="0"/>
          </a:p>
        </p:txBody>
      </p:sp>
      <p:sp>
        <p:nvSpPr>
          <p:cNvPr id="12" name="Text 10"/>
          <p:cNvSpPr/>
          <p:nvPr/>
        </p:nvSpPr>
        <p:spPr>
          <a:xfrm>
            <a:off x="3493008" y="2148840"/>
            <a:ext cx="2276856" cy="457200"/>
          </a:xfrm>
          <a:prstGeom prst="rect">
            <a:avLst/>
          </a:prstGeom>
          <a:noFill/>
          <a:ln/>
        </p:spPr>
        <p:txBody>
          <a:bodyPr wrap="square" rtlCol="0" anchor="ctr"/>
          <a:lstStyle/>
          <a:p>
            <a:pPr indent="0" marL="0">
              <a:buNone/>
            </a:pPr>
            <a:r>
              <a:rPr lang="en-US" sz="2100" b="1" dirty="0">
                <a:solidFill>
                  <a:srgbClr val="0A1F33"/>
                </a:solidFill>
                <a:latin typeface="Cambria" pitchFamily="34" charset="0"/>
                <a:ea typeface="Cambria" pitchFamily="34" charset="-122"/>
                <a:cs typeface="Cambria" pitchFamily="34" charset="-120"/>
              </a:rPr>
              <a:t>Rs 8 L</a:t>
            </a:r>
            <a:endParaRPr lang="en-US" sz="2100" dirty="0"/>
          </a:p>
        </p:txBody>
      </p:sp>
      <p:sp>
        <p:nvSpPr>
          <p:cNvPr id="13" name="Text 11"/>
          <p:cNvSpPr/>
          <p:nvPr/>
        </p:nvSpPr>
        <p:spPr>
          <a:xfrm>
            <a:off x="3493008" y="2606040"/>
            <a:ext cx="2276856" cy="365760"/>
          </a:xfrm>
          <a:prstGeom prst="rect">
            <a:avLst/>
          </a:prstGeom>
          <a:noFill/>
          <a:ln/>
        </p:spPr>
        <p:txBody>
          <a:bodyPr wrap="square" rtlCol="0" anchor="ctr"/>
          <a:lstStyle/>
          <a:p>
            <a:pPr indent="0" marL="0">
              <a:buNone/>
            </a:pPr>
            <a:r>
              <a:rPr lang="en-US" sz="900" dirty="0">
                <a:solidFill>
                  <a:srgbClr val="9AA7B4"/>
                </a:solidFill>
                <a:latin typeface="Calibri" pitchFamily="34" charset="0"/>
                <a:ea typeface="Calibri" pitchFamily="34" charset="-122"/>
                <a:cs typeface="Calibri" pitchFamily="34" charset="-120"/>
              </a:rPr>
              <a:t>95% of income was FD interest</a:t>
            </a:r>
            <a:endParaRPr lang="en-US" sz="900" dirty="0"/>
          </a:p>
        </p:txBody>
      </p:sp>
      <p:sp>
        <p:nvSpPr>
          <p:cNvPr id="14" name="Shape 12"/>
          <p:cNvSpPr/>
          <p:nvPr/>
        </p:nvSpPr>
        <p:spPr>
          <a:xfrm>
            <a:off x="6089904" y="1783080"/>
            <a:ext cx="2606040" cy="1325880"/>
          </a:xfrm>
          <a:prstGeom prst="rect">
            <a:avLst/>
          </a:prstGeom>
          <a:solidFill>
            <a:srgbClr val="F6F8FA"/>
          </a:solidFill>
          <a:ln w="12700">
            <a:solidFill>
              <a:srgbClr val="E6E9EE"/>
            </a:solidFill>
            <a:prstDash val="solid"/>
          </a:ln>
        </p:spPr>
      </p:sp>
      <p:sp>
        <p:nvSpPr>
          <p:cNvPr id="15" name="Text 13"/>
          <p:cNvSpPr/>
          <p:nvPr/>
        </p:nvSpPr>
        <p:spPr>
          <a:xfrm>
            <a:off x="6254496" y="1911096"/>
            <a:ext cx="2276856" cy="274320"/>
          </a:xfrm>
          <a:prstGeom prst="rect">
            <a:avLst/>
          </a:prstGeom>
          <a:noFill/>
          <a:ln/>
        </p:spPr>
        <p:txBody>
          <a:bodyPr wrap="square" rtlCol="0" anchor="ctr"/>
          <a:lstStyle/>
          <a:p>
            <a:pPr indent="0" marL="0">
              <a:buNone/>
            </a:pPr>
            <a:r>
              <a:rPr lang="en-US" sz="1050" dirty="0">
                <a:solidFill>
                  <a:srgbClr val="5B6B7B"/>
                </a:solidFill>
                <a:latin typeface="Calibri" pitchFamily="34" charset="0"/>
                <a:ea typeface="Calibri" pitchFamily="34" charset="-122"/>
                <a:cs typeface="Calibri" pitchFamily="34" charset="-120"/>
              </a:rPr>
              <a:t>Ratings, Q1 FY27</a:t>
            </a:r>
            <a:endParaRPr lang="en-US" sz="1050" dirty="0"/>
          </a:p>
        </p:txBody>
      </p:sp>
      <p:sp>
        <p:nvSpPr>
          <p:cNvPr id="16" name="Text 14"/>
          <p:cNvSpPr/>
          <p:nvPr/>
        </p:nvSpPr>
        <p:spPr>
          <a:xfrm>
            <a:off x="6254496" y="2148840"/>
            <a:ext cx="2276856" cy="457200"/>
          </a:xfrm>
          <a:prstGeom prst="rect">
            <a:avLst/>
          </a:prstGeom>
          <a:noFill/>
          <a:ln/>
        </p:spPr>
        <p:txBody>
          <a:bodyPr wrap="square" rtlCol="0" anchor="ctr"/>
          <a:lstStyle/>
          <a:p>
            <a:pPr indent="0" marL="0">
              <a:buNone/>
            </a:pPr>
            <a:r>
              <a:rPr lang="en-US" sz="2100" b="1" dirty="0">
                <a:solidFill>
                  <a:srgbClr val="0A1F33"/>
                </a:solidFill>
                <a:latin typeface="Cambria" pitchFamily="34" charset="0"/>
                <a:ea typeface="Cambria" pitchFamily="34" charset="-122"/>
                <a:cs typeface="Cambria" pitchFamily="34" charset="-120"/>
              </a:rPr>
              <a:t>Rs 28.5 L</a:t>
            </a:r>
            <a:endParaRPr lang="en-US" sz="2100" dirty="0"/>
          </a:p>
        </p:txBody>
      </p:sp>
      <p:sp>
        <p:nvSpPr>
          <p:cNvPr id="17" name="Text 15"/>
          <p:cNvSpPr/>
          <p:nvPr/>
        </p:nvSpPr>
        <p:spPr>
          <a:xfrm>
            <a:off x="6254496" y="2606040"/>
            <a:ext cx="2276856" cy="365760"/>
          </a:xfrm>
          <a:prstGeom prst="rect">
            <a:avLst/>
          </a:prstGeom>
          <a:noFill/>
          <a:ln/>
        </p:spPr>
        <p:txBody>
          <a:bodyPr wrap="square" rtlCol="0" anchor="ctr"/>
          <a:lstStyle/>
          <a:p>
            <a:pPr indent="0" marL="0">
              <a:buNone/>
            </a:pPr>
            <a:r>
              <a:rPr lang="en-US" sz="900" dirty="0">
                <a:solidFill>
                  <a:srgbClr val="9AA7B4"/>
                </a:solidFill>
                <a:latin typeface="Calibri" pitchFamily="34" charset="0"/>
                <a:ea typeface="Calibri" pitchFamily="34" charset="-122"/>
                <a:cs typeface="Calibri" pitchFamily="34" charset="-120"/>
              </a:rPr>
              <a:t>3.5x all of FY26, inflecting</a:t>
            </a:r>
            <a:endParaRPr lang="en-US" sz="900" dirty="0"/>
          </a:p>
        </p:txBody>
      </p:sp>
      <p:sp>
        <p:nvSpPr>
          <p:cNvPr id="18" name="Shape 16"/>
          <p:cNvSpPr/>
          <p:nvPr/>
        </p:nvSpPr>
        <p:spPr>
          <a:xfrm>
            <a:off x="8851392" y="1783080"/>
            <a:ext cx="2606040" cy="1325880"/>
          </a:xfrm>
          <a:prstGeom prst="rect">
            <a:avLst/>
          </a:prstGeom>
          <a:solidFill>
            <a:srgbClr val="F6F8FA"/>
          </a:solidFill>
          <a:ln w="12700">
            <a:solidFill>
              <a:srgbClr val="E6E9EE"/>
            </a:solidFill>
            <a:prstDash val="solid"/>
          </a:ln>
        </p:spPr>
      </p:sp>
      <p:sp>
        <p:nvSpPr>
          <p:cNvPr id="19" name="Text 17"/>
          <p:cNvSpPr/>
          <p:nvPr/>
        </p:nvSpPr>
        <p:spPr>
          <a:xfrm>
            <a:off x="9015984" y="1911096"/>
            <a:ext cx="2276856" cy="274320"/>
          </a:xfrm>
          <a:prstGeom prst="rect">
            <a:avLst/>
          </a:prstGeom>
          <a:noFill/>
          <a:ln/>
        </p:spPr>
        <p:txBody>
          <a:bodyPr wrap="square" rtlCol="0" anchor="ctr"/>
          <a:lstStyle/>
          <a:p>
            <a:pPr indent="0" marL="0">
              <a:buNone/>
            </a:pPr>
            <a:r>
              <a:rPr lang="en-US" sz="1050" dirty="0">
                <a:solidFill>
                  <a:srgbClr val="5B6B7B"/>
                </a:solidFill>
                <a:latin typeface="Calibri" pitchFamily="34" charset="0"/>
                <a:ea typeface="Calibri" pitchFamily="34" charset="-122"/>
                <a:cs typeface="Calibri" pitchFamily="34" charset="-120"/>
              </a:rPr>
              <a:t>FY27 run rate P&amp;L</a:t>
            </a:r>
            <a:endParaRPr lang="en-US" sz="1050" dirty="0"/>
          </a:p>
        </p:txBody>
      </p:sp>
      <p:sp>
        <p:nvSpPr>
          <p:cNvPr id="20" name="Text 18"/>
          <p:cNvSpPr/>
          <p:nvPr/>
        </p:nvSpPr>
        <p:spPr>
          <a:xfrm>
            <a:off x="9015984" y="2148840"/>
            <a:ext cx="2276856" cy="457200"/>
          </a:xfrm>
          <a:prstGeom prst="rect">
            <a:avLst/>
          </a:prstGeom>
          <a:noFill/>
          <a:ln/>
        </p:spPr>
        <p:txBody>
          <a:bodyPr wrap="square" rtlCol="0" anchor="ctr"/>
          <a:lstStyle/>
          <a:p>
            <a:pPr indent="0" marL="0">
              <a:buNone/>
            </a:pPr>
            <a:r>
              <a:rPr lang="en-US" sz="2100" b="1" dirty="0">
                <a:solidFill>
                  <a:srgbClr val="B3261E"/>
                </a:solidFill>
                <a:latin typeface="Cambria" pitchFamily="34" charset="0"/>
                <a:ea typeface="Cambria" pitchFamily="34" charset="-122"/>
                <a:cs typeface="Cambria" pitchFamily="34" charset="-120"/>
              </a:rPr>
              <a:t>Rs -2.6 Cr</a:t>
            </a:r>
            <a:endParaRPr lang="en-US" sz="2100" dirty="0"/>
          </a:p>
        </p:txBody>
      </p:sp>
      <p:sp>
        <p:nvSpPr>
          <p:cNvPr id="21" name="Text 19"/>
          <p:cNvSpPr/>
          <p:nvPr/>
        </p:nvSpPr>
        <p:spPr>
          <a:xfrm>
            <a:off x="9015984" y="2606040"/>
            <a:ext cx="2276856" cy="365760"/>
          </a:xfrm>
          <a:prstGeom prst="rect">
            <a:avLst/>
          </a:prstGeom>
          <a:noFill/>
          <a:ln/>
        </p:spPr>
        <p:txBody>
          <a:bodyPr wrap="square" rtlCol="0" anchor="ctr"/>
          <a:lstStyle/>
          <a:p>
            <a:pPr indent="0" marL="0">
              <a:buNone/>
            </a:pPr>
            <a:r>
              <a:rPr lang="en-US" sz="900" dirty="0">
                <a:solidFill>
                  <a:srgbClr val="9AA7B4"/>
                </a:solidFill>
                <a:latin typeface="Calibri" pitchFamily="34" charset="0"/>
                <a:ea typeface="Calibri" pitchFamily="34" charset="-122"/>
                <a:cs typeface="Calibri" pitchFamily="34" charset="-120"/>
              </a:rPr>
              <a:t>before any BLR revenue</a:t>
            </a:r>
            <a:endParaRPr lang="en-US" sz="900" dirty="0"/>
          </a:p>
        </p:txBody>
      </p:sp>
      <p:sp>
        <p:nvSpPr>
          <p:cNvPr id="22" name="Text 20"/>
          <p:cNvSpPr/>
          <p:nvPr/>
        </p:nvSpPr>
        <p:spPr>
          <a:xfrm>
            <a:off x="566928" y="3429000"/>
            <a:ext cx="10972800" cy="2377440"/>
          </a:xfrm>
          <a:prstGeom prst="rect">
            <a:avLst/>
          </a:prstGeom>
          <a:noFill/>
          <a:ln/>
        </p:spPr>
        <p:txBody>
          <a:bodyPr wrap="square" rtlCol="0" anchor="t"/>
          <a:lstStyle/>
          <a:p>
            <a:pPr marL="177800" indent="-177800">
              <a:spcAft>
                <a:spcPts val="800"/>
              </a:spcAft>
              <a:buSzPct val="100000"/>
              <a:buChar char="•"/>
            </a:pPr>
            <a:r>
              <a:rPr lang="en-US" sz="1400" dirty="0">
                <a:solidFill>
                  <a:srgbClr val="2B3F52"/>
                </a:solidFill>
                <a:latin typeface="Calibri" pitchFamily="34" charset="0"/>
                <a:ea typeface="Calibri" pitchFamily="34" charset="-122"/>
                <a:cs typeface="Calibri" pitchFamily="34" charset="-120"/>
              </a:rPr>
              <a:t>Income is carried by interest on the deposit corpus, not by the rating business. A capital story, not yet an operating one.</a:t>
            </a:r>
            <a:endParaRPr lang="en-US" sz="1400" dirty="0"/>
          </a:p>
          <a:p>
            <a:pPr marL="177800" indent="-177800">
              <a:spcAft>
                <a:spcPts val="800"/>
              </a:spcAft>
              <a:buSzPct val="100000"/>
              <a:buChar char="•"/>
            </a:pPr>
            <a:r>
              <a:rPr lang="en-US" sz="1400" dirty="0">
                <a:solidFill>
                  <a:srgbClr val="2B3F52"/>
                </a:solidFill>
                <a:latin typeface="Calibri" pitchFamily="34" charset="0"/>
                <a:ea typeface="Calibri" pitchFamily="34" charset="-122"/>
                <a:cs typeface="Calibri" pitchFamily="34" charset="-120"/>
              </a:rPr>
              <a:t>The Rs 25 Cr net worth barrier that stops most new entrants is already met and parked in fixed deposits.</a:t>
            </a:r>
            <a:endParaRPr lang="en-US" sz="1400" dirty="0"/>
          </a:p>
          <a:p>
            <a:pPr marL="177800" indent="-177800">
              <a:spcAft>
                <a:spcPts val="800"/>
              </a:spcAft>
              <a:buSzPct val="100000"/>
              <a:buChar char="•"/>
            </a:pPr>
            <a:r>
              <a:rPr lang="en-US" sz="1400" dirty="0">
                <a:solidFill>
                  <a:srgbClr val="2B3F52"/>
                </a:solidFill>
                <a:latin typeface="Calibri" pitchFamily="34" charset="0"/>
                <a:ea typeface="Calibri" pitchFamily="34" charset="-122"/>
                <a:cs typeface="Calibri" pitchFamily="34" charset="-120"/>
              </a:rPr>
              <a:t>Operating revenue has just begun to inflect, from Rs 8 L in all of FY26 to Rs 28.5 L in the first quarter of FY27.</a:t>
            </a:r>
            <a:endParaRPr lang="en-US" sz="1400" dirty="0"/>
          </a:p>
        </p:txBody>
      </p:sp>
      <p:sp>
        <p:nvSpPr>
          <p:cNvPr id="23" name="Text 21"/>
          <p:cNvSpPr/>
          <p:nvPr/>
        </p:nvSpPr>
        <p:spPr>
          <a:xfrm>
            <a:off x="566928" y="6455664"/>
            <a:ext cx="11064240" cy="292608"/>
          </a:xfrm>
          <a:prstGeom prst="rect">
            <a:avLst/>
          </a:prstGeom>
          <a:noFill/>
          <a:ln/>
        </p:spPr>
        <p:txBody>
          <a:bodyPr wrap="square" rtlCol="0" anchor="ctr"/>
          <a:lstStyle/>
          <a:p>
            <a:pPr indent="0" marL="0">
              <a:buNone/>
            </a:pPr>
            <a:r>
              <a:rPr lang="en-US" sz="900" dirty="0">
                <a:solidFill>
                  <a:srgbClr val="9AA7B4"/>
                </a:solidFill>
                <a:latin typeface="Calibri" pitchFamily="34" charset="0"/>
                <a:ea typeface="Calibri" pitchFamily="34" charset="-122"/>
                <a:cs typeface="Calibri" pitchFamily="34" charset="-120"/>
              </a:rPr>
              <a:t>Source: Internal [1]. SEBI net worth requirement [10].</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30000" y="420624"/>
            <a:ext cx="365760" cy="274320"/>
          </a:xfrm>
          <a:prstGeom prst="rect">
            <a:avLst/>
          </a:prstGeom>
          <a:noFill/>
          <a:ln/>
        </p:spPr>
        <p:txBody>
          <a:bodyPr wrap="square" rtlCol="0" anchor="ctr"/>
          <a:lstStyle/>
          <a:p>
            <a:pPr algn="r" indent="0" marL="0">
              <a:buNone/>
            </a:pPr>
            <a:r>
              <a:rPr lang="en-US" sz="1100" b="1" dirty="0">
                <a:solidFill>
                  <a:srgbClr val="9AA7B4"/>
                </a:solidFill>
                <a:latin typeface="Calibri" pitchFamily="34" charset="0"/>
                <a:ea typeface="Calibri" pitchFamily="34" charset="-122"/>
                <a:cs typeface="Calibri" pitchFamily="34" charset="-120"/>
              </a:rPr>
              <a:t>03</a:t>
            </a:r>
            <a:endParaRPr lang="en-US" sz="1100" dirty="0"/>
          </a:p>
        </p:txBody>
      </p:sp>
      <p:sp>
        <p:nvSpPr>
          <p:cNvPr id="3" name="Text 1"/>
          <p:cNvSpPr/>
          <p:nvPr/>
        </p:nvSpPr>
        <p:spPr>
          <a:xfrm>
            <a:off x="566928" y="457200"/>
            <a:ext cx="10058400" cy="274320"/>
          </a:xfrm>
          <a:prstGeom prst="rect">
            <a:avLst/>
          </a:prstGeom>
          <a:noFill/>
          <a:ln/>
        </p:spPr>
        <p:txBody>
          <a:bodyPr wrap="square" rtlCol="0" anchor="ctr"/>
          <a:lstStyle/>
          <a:p>
            <a:pPr indent="0" marL="0">
              <a:buNone/>
            </a:pPr>
            <a:r>
              <a:rPr lang="en-US" sz="1100" b="1" spc="200" kern="0" dirty="0">
                <a:solidFill>
                  <a:srgbClr val="0F766E"/>
                </a:solidFill>
                <a:latin typeface="Calibri" pitchFamily="34" charset="0"/>
                <a:ea typeface="Calibri" pitchFamily="34" charset="-122"/>
                <a:cs typeface="Calibri" pitchFamily="34" charset="-120"/>
              </a:rPr>
              <a:t>THE REVENUE ENGINE</a:t>
            </a:r>
            <a:endParaRPr lang="en-US" sz="1100" dirty="0"/>
          </a:p>
        </p:txBody>
      </p:sp>
      <p:sp>
        <p:nvSpPr>
          <p:cNvPr id="4" name="Text 2"/>
          <p:cNvSpPr/>
          <p:nvPr/>
        </p:nvSpPr>
        <p:spPr>
          <a:xfrm>
            <a:off x="566928" y="713232"/>
            <a:ext cx="11064240" cy="640080"/>
          </a:xfrm>
          <a:prstGeom prst="rect">
            <a:avLst/>
          </a:prstGeom>
          <a:noFill/>
          <a:ln/>
        </p:spPr>
        <p:txBody>
          <a:bodyPr wrap="square" rtlCol="0" anchor="ctr"/>
          <a:lstStyle/>
          <a:p>
            <a:pPr indent="0" marL="0">
              <a:buNone/>
            </a:pPr>
            <a:r>
              <a:rPr lang="en-US" sz="2700" b="1" dirty="0">
                <a:solidFill>
                  <a:srgbClr val="0A1F33"/>
                </a:solidFill>
                <a:latin typeface="Cambria" pitchFamily="34" charset="0"/>
                <a:ea typeface="Cambria" pitchFamily="34" charset="-122"/>
                <a:cs typeface="Cambria" pitchFamily="34" charset="-120"/>
              </a:rPr>
              <a:t>One licence turns idle capital into an operating engine</a:t>
            </a:r>
            <a:endParaRPr lang="en-US" sz="2700" dirty="0"/>
          </a:p>
        </p:txBody>
      </p:sp>
      <p:sp>
        <p:nvSpPr>
          <p:cNvPr id="5" name="Text 3"/>
          <p:cNvSpPr/>
          <p:nvPr/>
        </p:nvSpPr>
        <p:spPr>
          <a:xfrm>
            <a:off x="566928" y="1353312"/>
            <a:ext cx="11064240" cy="457200"/>
          </a:xfrm>
          <a:prstGeom prst="rect">
            <a:avLst/>
          </a:prstGeom>
          <a:noFill/>
          <a:ln/>
        </p:spPr>
        <p:txBody>
          <a:bodyPr wrap="square" rtlCol="0" anchor="ctr"/>
          <a:lstStyle/>
          <a:p>
            <a:pPr indent="0" marL="0">
              <a:buNone/>
            </a:pPr>
            <a:r>
              <a:rPr lang="en-US" sz="1400" dirty="0">
                <a:solidFill>
                  <a:srgbClr val="5B6B7B"/>
                </a:solidFill>
                <a:latin typeface="Calibri" pitchFamily="34" charset="0"/>
                <a:ea typeface="Calibri" pitchFamily="34" charset="-122"/>
                <a:cs typeface="Calibri" pitchFamily="34" charset="-120"/>
              </a:rPr>
              <a:t>Bank Loan Ratings, unlocked by RBI ECAI accreditation, open the largest addressable pool in the industry.</a:t>
            </a:r>
            <a:endParaRPr lang="en-US" sz="1400" dirty="0"/>
          </a:p>
        </p:txBody>
      </p:sp>
      <p:sp>
        <p:nvSpPr>
          <p:cNvPr id="6" name="Shape 4"/>
          <p:cNvSpPr/>
          <p:nvPr/>
        </p:nvSpPr>
        <p:spPr>
          <a:xfrm>
            <a:off x="566928" y="1783080"/>
            <a:ext cx="3520440" cy="1783080"/>
          </a:xfrm>
          <a:prstGeom prst="rect">
            <a:avLst/>
          </a:prstGeom>
          <a:solidFill>
            <a:srgbClr val="F6F8FA"/>
          </a:solidFill>
          <a:ln w="12700">
            <a:solidFill>
              <a:srgbClr val="E6E9EE"/>
            </a:solidFill>
            <a:prstDash val="solid"/>
          </a:ln>
        </p:spPr>
      </p:sp>
      <p:sp>
        <p:nvSpPr>
          <p:cNvPr id="7" name="Text 5"/>
          <p:cNvSpPr/>
          <p:nvPr/>
        </p:nvSpPr>
        <p:spPr>
          <a:xfrm>
            <a:off x="749808" y="1938528"/>
            <a:ext cx="3108960" cy="320040"/>
          </a:xfrm>
          <a:prstGeom prst="rect">
            <a:avLst/>
          </a:prstGeom>
          <a:noFill/>
          <a:ln/>
        </p:spPr>
        <p:txBody>
          <a:bodyPr wrap="square" rtlCol="0" anchor="ctr"/>
          <a:lstStyle/>
          <a:p>
            <a:pPr indent="0" marL="0">
              <a:buNone/>
            </a:pPr>
            <a:r>
              <a:rPr lang="en-US" sz="1500" b="1" dirty="0">
                <a:solidFill>
                  <a:srgbClr val="0A1F33"/>
                </a:solidFill>
                <a:latin typeface="Cambria" pitchFamily="34" charset="0"/>
                <a:ea typeface="Cambria" pitchFamily="34" charset="-122"/>
                <a:cs typeface="Cambria" pitchFamily="34" charset="-120"/>
              </a:rPr>
              <a:t>The lever</a:t>
            </a:r>
            <a:endParaRPr lang="en-US" sz="1500" dirty="0"/>
          </a:p>
        </p:txBody>
      </p:sp>
      <p:sp>
        <p:nvSpPr>
          <p:cNvPr id="8" name="Text 6"/>
          <p:cNvSpPr/>
          <p:nvPr/>
        </p:nvSpPr>
        <p:spPr>
          <a:xfrm>
            <a:off x="749808" y="2304288"/>
            <a:ext cx="3154680" cy="1188720"/>
          </a:xfrm>
          <a:prstGeom prst="rect">
            <a:avLst/>
          </a:prstGeom>
          <a:noFill/>
          <a:ln/>
        </p:spPr>
        <p:txBody>
          <a:bodyPr wrap="square" rtlCol="0" anchor="ctr"/>
          <a:lstStyle/>
          <a:p>
            <a:pPr indent="0" marL="0">
              <a:buNone/>
            </a:pPr>
            <a:r>
              <a:rPr lang="en-US" sz="1250" dirty="0">
                <a:solidFill>
                  <a:srgbClr val="2B3F52"/>
                </a:solidFill>
                <a:latin typeface="Calibri" pitchFamily="34" charset="0"/>
                <a:ea typeface="Calibri" pitchFamily="34" charset="-122"/>
                <a:cs typeface="Calibri" pitchFamily="34" charset="-120"/>
              </a:rPr>
              <a:t>Bank Loan Ratings, via RBI ECAI accreditation. Every bank borrower is a candidate, not only bond issuers.</a:t>
            </a:r>
            <a:endParaRPr lang="en-US" sz="1250" dirty="0"/>
          </a:p>
        </p:txBody>
      </p:sp>
      <p:sp>
        <p:nvSpPr>
          <p:cNvPr id="9" name="Shape 7"/>
          <p:cNvSpPr/>
          <p:nvPr/>
        </p:nvSpPr>
        <p:spPr>
          <a:xfrm>
            <a:off x="4270248" y="1783080"/>
            <a:ext cx="3520440" cy="1783080"/>
          </a:xfrm>
          <a:prstGeom prst="rect">
            <a:avLst/>
          </a:prstGeom>
          <a:solidFill>
            <a:srgbClr val="F6F8FA"/>
          </a:solidFill>
          <a:ln w="12700">
            <a:solidFill>
              <a:srgbClr val="E6E9EE"/>
            </a:solidFill>
            <a:prstDash val="solid"/>
          </a:ln>
        </p:spPr>
      </p:sp>
      <p:sp>
        <p:nvSpPr>
          <p:cNvPr id="10" name="Text 8"/>
          <p:cNvSpPr/>
          <p:nvPr/>
        </p:nvSpPr>
        <p:spPr>
          <a:xfrm>
            <a:off x="4453128" y="1938528"/>
            <a:ext cx="3108960" cy="320040"/>
          </a:xfrm>
          <a:prstGeom prst="rect">
            <a:avLst/>
          </a:prstGeom>
          <a:noFill/>
          <a:ln/>
        </p:spPr>
        <p:txBody>
          <a:bodyPr wrap="square" rtlCol="0" anchor="ctr"/>
          <a:lstStyle/>
          <a:p>
            <a:pPr indent="0" marL="0">
              <a:buNone/>
            </a:pPr>
            <a:r>
              <a:rPr lang="en-US" sz="1500" b="1" dirty="0">
                <a:solidFill>
                  <a:srgbClr val="0A1F33"/>
                </a:solidFill>
                <a:latin typeface="Cambria" pitchFamily="34" charset="0"/>
                <a:ea typeface="Cambria" pitchFamily="34" charset="-122"/>
                <a:cs typeface="Cambria" pitchFamily="34" charset="-120"/>
              </a:rPr>
              <a:t>Why us</a:t>
            </a:r>
            <a:endParaRPr lang="en-US" sz="1500" dirty="0"/>
          </a:p>
        </p:txBody>
      </p:sp>
      <p:sp>
        <p:nvSpPr>
          <p:cNvPr id="11" name="Text 9"/>
          <p:cNvSpPr/>
          <p:nvPr/>
        </p:nvSpPr>
        <p:spPr>
          <a:xfrm>
            <a:off x="4453128" y="2304288"/>
            <a:ext cx="3154680" cy="1188720"/>
          </a:xfrm>
          <a:prstGeom prst="rect">
            <a:avLst/>
          </a:prstGeom>
          <a:noFill/>
          <a:ln/>
        </p:spPr>
        <p:txBody>
          <a:bodyPr wrap="square" rtlCol="0" anchor="ctr"/>
          <a:lstStyle/>
          <a:p>
            <a:pPr indent="0" marL="0">
              <a:buNone/>
            </a:pPr>
            <a:r>
              <a:rPr lang="en-US" sz="1250" dirty="0">
                <a:solidFill>
                  <a:srgbClr val="2B3F52"/>
                </a:solidFill>
                <a:latin typeface="Calibri" pitchFamily="34" charset="0"/>
                <a:ea typeface="Calibri" pitchFamily="34" charset="-122"/>
                <a:cs typeface="Calibri" pitchFamily="34" charset="-120"/>
              </a:rPr>
              <a:t>Competitive 3 bps pricing, faster turnaround, and demand for a second rating on larger facilities give a new CRA a genuine opening.</a:t>
            </a:r>
            <a:endParaRPr lang="en-US" sz="1250" dirty="0"/>
          </a:p>
        </p:txBody>
      </p:sp>
      <p:sp>
        <p:nvSpPr>
          <p:cNvPr id="12" name="Shape 10"/>
          <p:cNvSpPr/>
          <p:nvPr/>
        </p:nvSpPr>
        <p:spPr>
          <a:xfrm>
            <a:off x="7973568" y="1783080"/>
            <a:ext cx="3520440" cy="1783080"/>
          </a:xfrm>
          <a:prstGeom prst="rect">
            <a:avLst/>
          </a:prstGeom>
          <a:solidFill>
            <a:srgbClr val="F6F8FA"/>
          </a:solidFill>
          <a:ln w="12700">
            <a:solidFill>
              <a:srgbClr val="E6E9EE"/>
            </a:solidFill>
            <a:prstDash val="solid"/>
          </a:ln>
        </p:spPr>
      </p:sp>
      <p:sp>
        <p:nvSpPr>
          <p:cNvPr id="13" name="Text 11"/>
          <p:cNvSpPr/>
          <p:nvPr/>
        </p:nvSpPr>
        <p:spPr>
          <a:xfrm>
            <a:off x="8156448" y="1938528"/>
            <a:ext cx="3108960" cy="320040"/>
          </a:xfrm>
          <a:prstGeom prst="rect">
            <a:avLst/>
          </a:prstGeom>
          <a:noFill/>
          <a:ln/>
        </p:spPr>
        <p:txBody>
          <a:bodyPr wrap="square" rtlCol="0" anchor="ctr"/>
          <a:lstStyle/>
          <a:p>
            <a:pPr indent="0" marL="0">
              <a:buNone/>
            </a:pPr>
            <a:r>
              <a:rPr lang="en-US" sz="1500" b="1" dirty="0">
                <a:solidFill>
                  <a:srgbClr val="0A1F33"/>
                </a:solidFill>
                <a:latin typeface="Cambria" pitchFamily="34" charset="0"/>
                <a:ea typeface="Cambria" pitchFamily="34" charset="-122"/>
                <a:cs typeface="Cambria" pitchFamily="34" charset="-120"/>
              </a:rPr>
              <a:t>The capacity</a:t>
            </a:r>
            <a:endParaRPr lang="en-US" sz="1500" dirty="0"/>
          </a:p>
        </p:txBody>
      </p:sp>
      <p:sp>
        <p:nvSpPr>
          <p:cNvPr id="14" name="Text 12"/>
          <p:cNvSpPr/>
          <p:nvPr/>
        </p:nvSpPr>
        <p:spPr>
          <a:xfrm>
            <a:off x="8156448" y="2304288"/>
            <a:ext cx="3154680" cy="1188720"/>
          </a:xfrm>
          <a:prstGeom prst="rect">
            <a:avLst/>
          </a:prstGeom>
          <a:noFill/>
          <a:ln/>
        </p:spPr>
        <p:txBody>
          <a:bodyPr wrap="square" rtlCol="0" anchor="ctr"/>
          <a:lstStyle/>
          <a:p>
            <a:pPr indent="0" marL="0">
              <a:buNone/>
            </a:pPr>
            <a:r>
              <a:rPr lang="en-US" sz="1250" dirty="0">
                <a:solidFill>
                  <a:srgbClr val="2B3F52"/>
                </a:solidFill>
                <a:latin typeface="Calibri" pitchFamily="34" charset="0"/>
                <a:ea typeface="Calibri" pitchFamily="34" charset="-122"/>
                <a:cs typeface="Calibri" pitchFamily="34" charset="-120"/>
              </a:rPr>
              <a:t>Four BDs are already onboarded, so mandates can be serviced from day one once the licence is live.</a:t>
            </a:r>
            <a:endParaRPr lang="en-US" sz="1250" dirty="0"/>
          </a:p>
        </p:txBody>
      </p:sp>
      <p:sp>
        <p:nvSpPr>
          <p:cNvPr id="15" name="Text 13"/>
          <p:cNvSpPr/>
          <p:nvPr/>
        </p:nvSpPr>
        <p:spPr>
          <a:xfrm>
            <a:off x="566928" y="3931920"/>
            <a:ext cx="10972800" cy="1828800"/>
          </a:xfrm>
          <a:prstGeom prst="rect">
            <a:avLst/>
          </a:prstGeom>
          <a:noFill/>
          <a:ln/>
        </p:spPr>
        <p:txBody>
          <a:bodyPr wrap="square" rtlCol="0" anchor="t"/>
          <a:lstStyle/>
          <a:p>
            <a:pPr marL="177800" indent="-177800">
              <a:spcAft>
                <a:spcPts val="800"/>
              </a:spcAft>
              <a:buSzPct val="100000"/>
              <a:buChar char="•"/>
            </a:pPr>
            <a:r>
              <a:rPr lang="en-US" sz="1400" dirty="0">
                <a:solidFill>
                  <a:srgbClr val="2B3F52"/>
                </a:solidFill>
                <a:latin typeface="Calibri" pitchFamily="34" charset="0"/>
                <a:ea typeface="Calibri" pitchFamily="34" charset="-122"/>
                <a:cs typeface="Calibri" pitchFamily="34" charset="-120"/>
              </a:rPr>
              <a:t>The plan: invest through FY27 to be ready, win BLR mandates the moment the licence lands, and let recurring surveillance fees compound into a durable annuity.</a:t>
            </a:r>
            <a:endParaRPr lang="en-US" sz="1400" dirty="0"/>
          </a:p>
          <a:p>
            <a:pPr marL="177800" indent="-177800">
              <a:spcAft>
                <a:spcPts val="800"/>
              </a:spcAft>
              <a:buSzPct val="100000"/>
              <a:buChar char="•"/>
            </a:pPr>
            <a:r>
              <a:rPr lang="en-US" sz="1400" dirty="0">
                <a:solidFill>
                  <a:srgbClr val="2B3F52"/>
                </a:solidFill>
                <a:latin typeface="Calibri" pitchFamily="34" charset="0"/>
                <a:ea typeface="Calibri" pitchFamily="34" charset="-122"/>
                <a:cs typeface="Calibri" pitchFamily="34" charset="-120"/>
              </a:rPr>
              <a:t>The proof it works: Infomerics, a peer, grew rating revenue from Rs 64 Cr to Rs 95 Cr in three years on a BLR led model.</a:t>
            </a:r>
            <a:endParaRPr lang="en-US" sz="1400" dirty="0"/>
          </a:p>
        </p:txBody>
      </p:sp>
      <p:sp>
        <p:nvSpPr>
          <p:cNvPr id="16" name="Text 14"/>
          <p:cNvSpPr/>
          <p:nvPr/>
        </p:nvSpPr>
        <p:spPr>
          <a:xfrm>
            <a:off x="566928" y="6455664"/>
            <a:ext cx="11064240" cy="292608"/>
          </a:xfrm>
          <a:prstGeom prst="rect">
            <a:avLst/>
          </a:prstGeom>
          <a:noFill/>
          <a:ln/>
        </p:spPr>
        <p:txBody>
          <a:bodyPr wrap="square" rtlCol="0" anchor="ctr"/>
          <a:lstStyle/>
          <a:p>
            <a:pPr indent="0" marL="0">
              <a:buNone/>
            </a:pPr>
            <a:r>
              <a:rPr lang="en-US" sz="900" dirty="0">
                <a:solidFill>
                  <a:srgbClr val="9AA7B4"/>
                </a:solidFill>
                <a:latin typeface="Calibri" pitchFamily="34" charset="0"/>
                <a:ea typeface="Calibri" pitchFamily="34" charset="-122"/>
                <a:cs typeface="Calibri" pitchFamily="34" charset="-120"/>
              </a:rPr>
              <a:t>Source: Infomerics [7]. Pricing, Internal [1] and assumption [2]. Regulatory basis [10].</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30000" y="420624"/>
            <a:ext cx="365760" cy="274320"/>
          </a:xfrm>
          <a:prstGeom prst="rect">
            <a:avLst/>
          </a:prstGeom>
          <a:noFill/>
          <a:ln/>
        </p:spPr>
        <p:txBody>
          <a:bodyPr wrap="square" rtlCol="0" anchor="ctr"/>
          <a:lstStyle/>
          <a:p>
            <a:pPr algn="r" indent="0" marL="0">
              <a:buNone/>
            </a:pPr>
            <a:r>
              <a:rPr lang="en-US" sz="1100" b="1" dirty="0">
                <a:solidFill>
                  <a:srgbClr val="9AA7B4"/>
                </a:solidFill>
                <a:latin typeface="Calibri" pitchFamily="34" charset="0"/>
                <a:ea typeface="Calibri" pitchFamily="34" charset="-122"/>
                <a:cs typeface="Calibri" pitchFamily="34" charset="-120"/>
              </a:rPr>
              <a:t>04</a:t>
            </a:r>
            <a:endParaRPr lang="en-US" sz="1100" dirty="0"/>
          </a:p>
        </p:txBody>
      </p:sp>
      <p:sp>
        <p:nvSpPr>
          <p:cNvPr id="3" name="Text 1"/>
          <p:cNvSpPr/>
          <p:nvPr/>
        </p:nvSpPr>
        <p:spPr>
          <a:xfrm>
            <a:off x="566928" y="457200"/>
            <a:ext cx="10058400" cy="274320"/>
          </a:xfrm>
          <a:prstGeom prst="rect">
            <a:avLst/>
          </a:prstGeom>
          <a:noFill/>
          <a:ln/>
        </p:spPr>
        <p:txBody>
          <a:bodyPr wrap="square" rtlCol="0" anchor="ctr"/>
          <a:lstStyle/>
          <a:p>
            <a:pPr indent="0" marL="0">
              <a:buNone/>
            </a:pPr>
            <a:r>
              <a:rPr lang="en-US" sz="1100" b="1" spc="200" kern="0" dirty="0">
                <a:solidFill>
                  <a:srgbClr val="0F766E"/>
                </a:solidFill>
                <a:latin typeface="Calibri" pitchFamily="34" charset="0"/>
                <a:ea typeface="Calibri" pitchFamily="34" charset="-122"/>
                <a:cs typeface="Calibri" pitchFamily="34" charset="-120"/>
              </a:rPr>
              <a:t>THE REVENUE ENGINE</a:t>
            </a:r>
            <a:endParaRPr lang="en-US" sz="1100" dirty="0"/>
          </a:p>
        </p:txBody>
      </p:sp>
      <p:sp>
        <p:nvSpPr>
          <p:cNvPr id="4" name="Text 2"/>
          <p:cNvSpPr/>
          <p:nvPr/>
        </p:nvSpPr>
        <p:spPr>
          <a:xfrm>
            <a:off x="566928" y="713232"/>
            <a:ext cx="11064240" cy="640080"/>
          </a:xfrm>
          <a:prstGeom prst="rect">
            <a:avLst/>
          </a:prstGeom>
          <a:noFill/>
          <a:ln/>
        </p:spPr>
        <p:txBody>
          <a:bodyPr wrap="square" rtlCol="0" anchor="ctr"/>
          <a:lstStyle/>
          <a:p>
            <a:pPr indent="0" marL="0">
              <a:buNone/>
            </a:pPr>
            <a:r>
              <a:rPr lang="en-US" sz="2700" b="1" dirty="0">
                <a:solidFill>
                  <a:srgbClr val="0A1F33"/>
                </a:solidFill>
                <a:latin typeface="Cambria" pitchFamily="34" charset="0"/>
                <a:ea typeface="Cambria" pitchFamily="34" charset="-122"/>
                <a:cs typeface="Cambria" pitchFamily="34" charset="-120"/>
              </a:rPr>
              <a:t>Unit economics, and the scale it builds</a:t>
            </a:r>
            <a:endParaRPr lang="en-US" sz="2700" dirty="0"/>
          </a:p>
        </p:txBody>
      </p:sp>
      <p:sp>
        <p:nvSpPr>
          <p:cNvPr id="5" name="Shape 3"/>
          <p:cNvSpPr/>
          <p:nvPr/>
        </p:nvSpPr>
        <p:spPr>
          <a:xfrm>
            <a:off x="566928" y="1691640"/>
            <a:ext cx="2606040" cy="1325880"/>
          </a:xfrm>
          <a:prstGeom prst="rect">
            <a:avLst/>
          </a:prstGeom>
          <a:solidFill>
            <a:srgbClr val="F6F8FA"/>
          </a:solidFill>
          <a:ln w="12700">
            <a:solidFill>
              <a:srgbClr val="E6E9EE"/>
            </a:solidFill>
            <a:prstDash val="solid"/>
          </a:ln>
        </p:spPr>
      </p:sp>
      <p:sp>
        <p:nvSpPr>
          <p:cNvPr id="6" name="Text 4"/>
          <p:cNvSpPr/>
          <p:nvPr/>
        </p:nvSpPr>
        <p:spPr>
          <a:xfrm>
            <a:off x="731520" y="1819656"/>
            <a:ext cx="2276856" cy="274320"/>
          </a:xfrm>
          <a:prstGeom prst="rect">
            <a:avLst/>
          </a:prstGeom>
          <a:noFill/>
          <a:ln/>
        </p:spPr>
        <p:txBody>
          <a:bodyPr wrap="square" rtlCol="0" anchor="ctr"/>
          <a:lstStyle/>
          <a:p>
            <a:pPr indent="0" marL="0">
              <a:buNone/>
            </a:pPr>
            <a:r>
              <a:rPr lang="en-US" sz="1050" dirty="0">
                <a:solidFill>
                  <a:srgbClr val="5B6B7B"/>
                </a:solidFill>
                <a:latin typeface="Calibri" pitchFamily="34" charset="0"/>
                <a:ea typeface="Calibri" pitchFamily="34" charset="-122"/>
                <a:cs typeface="Calibri" pitchFamily="34" charset="-120"/>
              </a:rPr>
              <a:t>Ticket, min debt rated</a:t>
            </a:r>
            <a:endParaRPr lang="en-US" sz="1050" dirty="0"/>
          </a:p>
        </p:txBody>
      </p:sp>
      <p:sp>
        <p:nvSpPr>
          <p:cNvPr id="7" name="Text 5"/>
          <p:cNvSpPr/>
          <p:nvPr/>
        </p:nvSpPr>
        <p:spPr>
          <a:xfrm>
            <a:off x="731520" y="2057400"/>
            <a:ext cx="2276856" cy="457200"/>
          </a:xfrm>
          <a:prstGeom prst="rect">
            <a:avLst/>
          </a:prstGeom>
          <a:noFill/>
          <a:ln/>
        </p:spPr>
        <p:txBody>
          <a:bodyPr wrap="square" rtlCol="0" anchor="ctr"/>
          <a:lstStyle/>
          <a:p>
            <a:pPr indent="0" marL="0">
              <a:buNone/>
            </a:pPr>
            <a:r>
              <a:rPr lang="en-US" sz="2100" b="1" dirty="0">
                <a:solidFill>
                  <a:srgbClr val="0A1F33"/>
                </a:solidFill>
                <a:latin typeface="Cambria" pitchFamily="34" charset="0"/>
                <a:ea typeface="Cambria" pitchFamily="34" charset="-122"/>
                <a:cs typeface="Cambria" pitchFamily="34" charset="-120"/>
              </a:rPr>
              <a:t>Rs 100 Cr</a:t>
            </a:r>
            <a:endParaRPr lang="en-US" sz="2100" dirty="0"/>
          </a:p>
        </p:txBody>
      </p:sp>
      <p:sp>
        <p:nvSpPr>
          <p:cNvPr id="8" name="Text 6"/>
          <p:cNvSpPr/>
          <p:nvPr/>
        </p:nvSpPr>
        <p:spPr>
          <a:xfrm>
            <a:off x="731520" y="2514600"/>
            <a:ext cx="2276856" cy="365760"/>
          </a:xfrm>
          <a:prstGeom prst="rect">
            <a:avLst/>
          </a:prstGeom>
          <a:noFill/>
          <a:ln/>
        </p:spPr>
        <p:txBody>
          <a:bodyPr wrap="square" rtlCol="0" anchor="ctr"/>
          <a:lstStyle/>
          <a:p>
            <a:pPr indent="0" marL="0">
              <a:buNone/>
            </a:pPr>
            <a:r>
              <a:rPr lang="en-US" sz="900" dirty="0">
                <a:solidFill>
                  <a:srgbClr val="9AA7B4"/>
                </a:solidFill>
                <a:latin typeface="Calibri" pitchFamily="34" charset="0"/>
                <a:ea typeface="Calibri" pitchFamily="34" charset="-122"/>
                <a:cs typeface="Calibri" pitchFamily="34" charset="-120"/>
              </a:rPr>
              <a:t>sub Rs 50 Cr stays with banks</a:t>
            </a:r>
            <a:endParaRPr lang="en-US" sz="900" dirty="0"/>
          </a:p>
        </p:txBody>
      </p:sp>
      <p:sp>
        <p:nvSpPr>
          <p:cNvPr id="9" name="Shape 7"/>
          <p:cNvSpPr/>
          <p:nvPr/>
        </p:nvSpPr>
        <p:spPr>
          <a:xfrm>
            <a:off x="3328416" y="1691640"/>
            <a:ext cx="2606040" cy="1325880"/>
          </a:xfrm>
          <a:prstGeom prst="rect">
            <a:avLst/>
          </a:prstGeom>
          <a:solidFill>
            <a:srgbClr val="F6F8FA"/>
          </a:solidFill>
          <a:ln w="12700">
            <a:solidFill>
              <a:srgbClr val="E6E9EE"/>
            </a:solidFill>
            <a:prstDash val="solid"/>
          </a:ln>
        </p:spPr>
      </p:sp>
      <p:sp>
        <p:nvSpPr>
          <p:cNvPr id="10" name="Text 8"/>
          <p:cNvSpPr/>
          <p:nvPr/>
        </p:nvSpPr>
        <p:spPr>
          <a:xfrm>
            <a:off x="3493008" y="1819656"/>
            <a:ext cx="2276856" cy="274320"/>
          </a:xfrm>
          <a:prstGeom prst="rect">
            <a:avLst/>
          </a:prstGeom>
          <a:noFill/>
          <a:ln/>
        </p:spPr>
        <p:txBody>
          <a:bodyPr wrap="square" rtlCol="0" anchor="ctr"/>
          <a:lstStyle/>
          <a:p>
            <a:pPr indent="0" marL="0">
              <a:buNone/>
            </a:pPr>
            <a:r>
              <a:rPr lang="en-US" sz="1050" dirty="0">
                <a:solidFill>
                  <a:srgbClr val="5B6B7B"/>
                </a:solidFill>
                <a:latin typeface="Calibri" pitchFamily="34" charset="0"/>
                <a:ea typeface="Calibri" pitchFamily="34" charset="-122"/>
                <a:cs typeface="Calibri" pitchFamily="34" charset="-120"/>
              </a:rPr>
              <a:t>Initial fee, 3 bps</a:t>
            </a:r>
            <a:endParaRPr lang="en-US" sz="1050" dirty="0"/>
          </a:p>
        </p:txBody>
      </p:sp>
      <p:sp>
        <p:nvSpPr>
          <p:cNvPr id="11" name="Text 9"/>
          <p:cNvSpPr/>
          <p:nvPr/>
        </p:nvSpPr>
        <p:spPr>
          <a:xfrm>
            <a:off x="3493008" y="2057400"/>
            <a:ext cx="2276856" cy="457200"/>
          </a:xfrm>
          <a:prstGeom prst="rect">
            <a:avLst/>
          </a:prstGeom>
          <a:noFill/>
          <a:ln/>
        </p:spPr>
        <p:txBody>
          <a:bodyPr wrap="square" rtlCol="0" anchor="ctr"/>
          <a:lstStyle/>
          <a:p>
            <a:pPr indent="0" marL="0">
              <a:buNone/>
            </a:pPr>
            <a:r>
              <a:rPr lang="en-US" sz="2100" b="1" dirty="0">
                <a:solidFill>
                  <a:srgbClr val="0A1F33"/>
                </a:solidFill>
                <a:latin typeface="Cambria" pitchFamily="34" charset="0"/>
                <a:ea typeface="Cambria" pitchFamily="34" charset="-122"/>
                <a:cs typeface="Cambria" pitchFamily="34" charset="-120"/>
              </a:rPr>
              <a:t>Rs 3.0 L</a:t>
            </a:r>
            <a:endParaRPr lang="en-US" sz="2100" dirty="0"/>
          </a:p>
        </p:txBody>
      </p:sp>
      <p:sp>
        <p:nvSpPr>
          <p:cNvPr id="12" name="Text 10"/>
          <p:cNvSpPr/>
          <p:nvPr/>
        </p:nvSpPr>
        <p:spPr>
          <a:xfrm>
            <a:off x="3493008" y="2514600"/>
            <a:ext cx="2276856" cy="365760"/>
          </a:xfrm>
          <a:prstGeom prst="rect">
            <a:avLst/>
          </a:prstGeom>
          <a:noFill/>
          <a:ln/>
        </p:spPr>
        <p:txBody>
          <a:bodyPr wrap="square" rtlCol="0" anchor="ctr"/>
          <a:lstStyle/>
          <a:p>
            <a:pPr indent="0" marL="0">
              <a:buNone/>
            </a:pPr>
            <a:r>
              <a:rPr lang="en-US" sz="900" dirty="0">
                <a:solidFill>
                  <a:srgbClr val="9AA7B4"/>
                </a:solidFill>
                <a:latin typeface="Calibri" pitchFamily="34" charset="0"/>
                <a:ea typeface="Calibri" pitchFamily="34" charset="-122"/>
                <a:cs typeface="Calibri" pitchFamily="34" charset="-120"/>
              </a:rPr>
              <a:t>one time, at onboarding</a:t>
            </a:r>
            <a:endParaRPr lang="en-US" sz="900" dirty="0"/>
          </a:p>
        </p:txBody>
      </p:sp>
      <p:sp>
        <p:nvSpPr>
          <p:cNvPr id="13" name="Shape 11"/>
          <p:cNvSpPr/>
          <p:nvPr/>
        </p:nvSpPr>
        <p:spPr>
          <a:xfrm>
            <a:off x="6089904" y="1691640"/>
            <a:ext cx="2606040" cy="1325880"/>
          </a:xfrm>
          <a:prstGeom prst="rect">
            <a:avLst/>
          </a:prstGeom>
          <a:solidFill>
            <a:srgbClr val="F6F8FA"/>
          </a:solidFill>
          <a:ln w="12700">
            <a:solidFill>
              <a:srgbClr val="E6E9EE"/>
            </a:solidFill>
            <a:prstDash val="solid"/>
          </a:ln>
        </p:spPr>
      </p:sp>
      <p:sp>
        <p:nvSpPr>
          <p:cNvPr id="14" name="Text 12"/>
          <p:cNvSpPr/>
          <p:nvPr/>
        </p:nvSpPr>
        <p:spPr>
          <a:xfrm>
            <a:off x="6254496" y="1819656"/>
            <a:ext cx="2276856" cy="274320"/>
          </a:xfrm>
          <a:prstGeom prst="rect">
            <a:avLst/>
          </a:prstGeom>
          <a:noFill/>
          <a:ln/>
        </p:spPr>
        <p:txBody>
          <a:bodyPr wrap="square" rtlCol="0" anchor="ctr"/>
          <a:lstStyle/>
          <a:p>
            <a:pPr indent="0" marL="0">
              <a:buNone/>
            </a:pPr>
            <a:r>
              <a:rPr lang="en-US" sz="1050" dirty="0">
                <a:solidFill>
                  <a:srgbClr val="5B6B7B"/>
                </a:solidFill>
                <a:latin typeface="Calibri" pitchFamily="34" charset="0"/>
                <a:ea typeface="Calibri" pitchFamily="34" charset="-122"/>
                <a:cs typeface="Calibri" pitchFamily="34" charset="-120"/>
              </a:rPr>
              <a:t>Surveillance, 1.5 bps</a:t>
            </a:r>
            <a:endParaRPr lang="en-US" sz="1050" dirty="0"/>
          </a:p>
        </p:txBody>
      </p:sp>
      <p:sp>
        <p:nvSpPr>
          <p:cNvPr id="15" name="Text 13"/>
          <p:cNvSpPr/>
          <p:nvPr/>
        </p:nvSpPr>
        <p:spPr>
          <a:xfrm>
            <a:off x="6254496" y="2057400"/>
            <a:ext cx="2276856" cy="457200"/>
          </a:xfrm>
          <a:prstGeom prst="rect">
            <a:avLst/>
          </a:prstGeom>
          <a:noFill/>
          <a:ln/>
        </p:spPr>
        <p:txBody>
          <a:bodyPr wrap="square" rtlCol="0" anchor="ctr"/>
          <a:lstStyle/>
          <a:p>
            <a:pPr indent="0" marL="0">
              <a:buNone/>
            </a:pPr>
            <a:r>
              <a:rPr lang="en-US" sz="2100" b="1" dirty="0">
                <a:solidFill>
                  <a:srgbClr val="0A1F33"/>
                </a:solidFill>
                <a:latin typeface="Cambria" pitchFamily="34" charset="0"/>
                <a:ea typeface="Cambria" pitchFamily="34" charset="-122"/>
                <a:cs typeface="Cambria" pitchFamily="34" charset="-120"/>
              </a:rPr>
              <a:t>Rs 1.5 L</a:t>
            </a:r>
            <a:endParaRPr lang="en-US" sz="2100" dirty="0"/>
          </a:p>
        </p:txBody>
      </p:sp>
      <p:sp>
        <p:nvSpPr>
          <p:cNvPr id="16" name="Text 14"/>
          <p:cNvSpPr/>
          <p:nvPr/>
        </p:nvSpPr>
        <p:spPr>
          <a:xfrm>
            <a:off x="6254496" y="2514600"/>
            <a:ext cx="2276856" cy="365760"/>
          </a:xfrm>
          <a:prstGeom prst="rect">
            <a:avLst/>
          </a:prstGeom>
          <a:noFill/>
          <a:ln/>
        </p:spPr>
        <p:txBody>
          <a:bodyPr wrap="square" rtlCol="0" anchor="ctr"/>
          <a:lstStyle/>
          <a:p>
            <a:pPr indent="0" marL="0">
              <a:buNone/>
            </a:pPr>
            <a:r>
              <a:rPr lang="en-US" sz="900" dirty="0">
                <a:solidFill>
                  <a:srgbClr val="9AA7B4"/>
                </a:solidFill>
                <a:latin typeface="Calibri" pitchFamily="34" charset="0"/>
                <a:ea typeface="Calibri" pitchFamily="34" charset="-122"/>
                <a:cs typeface="Calibri" pitchFamily="34" charset="-120"/>
              </a:rPr>
              <a:t>every year, recurring</a:t>
            </a:r>
            <a:endParaRPr lang="en-US" sz="900" dirty="0"/>
          </a:p>
        </p:txBody>
      </p:sp>
      <p:sp>
        <p:nvSpPr>
          <p:cNvPr id="17" name="Shape 15"/>
          <p:cNvSpPr/>
          <p:nvPr/>
        </p:nvSpPr>
        <p:spPr>
          <a:xfrm>
            <a:off x="8851392" y="1691640"/>
            <a:ext cx="2606040" cy="1325880"/>
          </a:xfrm>
          <a:prstGeom prst="rect">
            <a:avLst/>
          </a:prstGeom>
          <a:solidFill>
            <a:srgbClr val="F6F8FA"/>
          </a:solidFill>
          <a:ln w="12700">
            <a:solidFill>
              <a:srgbClr val="E6E9EE"/>
            </a:solidFill>
            <a:prstDash val="solid"/>
          </a:ln>
        </p:spPr>
      </p:sp>
      <p:sp>
        <p:nvSpPr>
          <p:cNvPr id="18" name="Text 16"/>
          <p:cNvSpPr/>
          <p:nvPr/>
        </p:nvSpPr>
        <p:spPr>
          <a:xfrm>
            <a:off x="9015984" y="1819656"/>
            <a:ext cx="2276856" cy="274320"/>
          </a:xfrm>
          <a:prstGeom prst="rect">
            <a:avLst/>
          </a:prstGeom>
          <a:noFill/>
          <a:ln/>
        </p:spPr>
        <p:txBody>
          <a:bodyPr wrap="square" rtlCol="0" anchor="ctr"/>
          <a:lstStyle/>
          <a:p>
            <a:pPr indent="0" marL="0">
              <a:buNone/>
            </a:pPr>
            <a:r>
              <a:rPr lang="en-US" sz="1050" dirty="0">
                <a:solidFill>
                  <a:srgbClr val="5B6B7B"/>
                </a:solidFill>
                <a:latin typeface="Calibri" pitchFamily="34" charset="0"/>
                <a:ea typeface="Calibri" pitchFamily="34" charset="-122"/>
                <a:cs typeface="Calibri" pitchFamily="34" charset="-120"/>
              </a:rPr>
              <a:t>Volume target</a:t>
            </a:r>
            <a:endParaRPr lang="en-US" sz="1050" dirty="0"/>
          </a:p>
        </p:txBody>
      </p:sp>
      <p:sp>
        <p:nvSpPr>
          <p:cNvPr id="19" name="Text 17"/>
          <p:cNvSpPr/>
          <p:nvPr/>
        </p:nvSpPr>
        <p:spPr>
          <a:xfrm>
            <a:off x="9015984" y="2057400"/>
            <a:ext cx="2276856" cy="457200"/>
          </a:xfrm>
          <a:prstGeom prst="rect">
            <a:avLst/>
          </a:prstGeom>
          <a:noFill/>
          <a:ln/>
        </p:spPr>
        <p:txBody>
          <a:bodyPr wrap="square" rtlCol="0" anchor="ctr"/>
          <a:lstStyle/>
          <a:p>
            <a:pPr indent="0" marL="0">
              <a:buNone/>
            </a:pPr>
            <a:r>
              <a:rPr lang="en-US" sz="2100" b="1" dirty="0">
                <a:solidFill>
                  <a:srgbClr val="0A1F33"/>
                </a:solidFill>
                <a:latin typeface="Cambria" pitchFamily="34" charset="0"/>
                <a:ea typeface="Cambria" pitchFamily="34" charset="-122"/>
                <a:cs typeface="Cambria" pitchFamily="34" charset="-120"/>
              </a:rPr>
              <a:t>16 / mo</a:t>
            </a:r>
            <a:endParaRPr lang="en-US" sz="2100" dirty="0"/>
          </a:p>
        </p:txBody>
      </p:sp>
      <p:sp>
        <p:nvSpPr>
          <p:cNvPr id="20" name="Text 18"/>
          <p:cNvSpPr/>
          <p:nvPr/>
        </p:nvSpPr>
        <p:spPr>
          <a:xfrm>
            <a:off x="9015984" y="2514600"/>
            <a:ext cx="2276856" cy="365760"/>
          </a:xfrm>
          <a:prstGeom prst="rect">
            <a:avLst/>
          </a:prstGeom>
          <a:noFill/>
          <a:ln/>
        </p:spPr>
        <p:txBody>
          <a:bodyPr wrap="square" rtlCol="0" anchor="ctr"/>
          <a:lstStyle/>
          <a:p>
            <a:pPr indent="0" marL="0">
              <a:buNone/>
            </a:pPr>
            <a:r>
              <a:rPr lang="en-US" sz="900" dirty="0">
                <a:solidFill>
                  <a:srgbClr val="9AA7B4"/>
                </a:solidFill>
                <a:latin typeface="Calibri" pitchFamily="34" charset="0"/>
                <a:ea typeface="Calibri" pitchFamily="34" charset="-122"/>
                <a:cs typeface="Calibri" pitchFamily="34" charset="-120"/>
              </a:rPr>
              <a:t>4 BDs x 4 cases</a:t>
            </a:r>
            <a:endParaRPr lang="en-US" sz="900" dirty="0"/>
          </a:p>
        </p:txBody>
      </p:sp>
      <p:sp>
        <p:nvSpPr>
          <p:cNvPr id="21" name="Text 19"/>
          <p:cNvSpPr/>
          <p:nvPr/>
        </p:nvSpPr>
        <p:spPr>
          <a:xfrm>
            <a:off x="566928" y="3154680"/>
            <a:ext cx="5486400" cy="914400"/>
          </a:xfrm>
          <a:prstGeom prst="rect">
            <a:avLst/>
          </a:prstGeom>
          <a:noFill/>
          <a:ln/>
        </p:spPr>
        <p:txBody>
          <a:bodyPr wrap="square" rtlCol="0" anchor="ctr"/>
          <a:lstStyle/>
          <a:p>
            <a:pPr indent="0" marL="0">
              <a:buNone/>
            </a:pPr>
            <a:r>
              <a:rPr lang="en-US" sz="1350" dirty="0">
                <a:solidFill>
                  <a:srgbClr val="2B3F52"/>
                </a:solidFill>
                <a:latin typeface="Calibri" pitchFamily="34" charset="0"/>
                <a:ea typeface="Calibri" pitchFamily="34" charset="-122"/>
                <a:cs typeface="Calibri" pitchFamily="34" charset="-120"/>
              </a:rPr>
              <a:t>16 x Rs 100 Cr = Rs 1,600 Cr of debt rated every month. Cumulative rated debt reaches about Rs 9,600 Cr over the six live months in the base case.</a:t>
            </a:r>
            <a:endParaRPr lang="en-US" sz="1350" dirty="0"/>
          </a:p>
        </p:txBody>
      </p:sp>
      <p:sp>
        <p:nvSpPr>
          <p:cNvPr id="22" name="Shape 20"/>
          <p:cNvSpPr/>
          <p:nvPr/>
        </p:nvSpPr>
        <p:spPr>
          <a:xfrm>
            <a:off x="566928" y="4114800"/>
            <a:ext cx="2606040" cy="1097280"/>
          </a:xfrm>
          <a:prstGeom prst="rect">
            <a:avLst/>
          </a:prstGeom>
          <a:solidFill>
            <a:srgbClr val="F6F8FA"/>
          </a:solidFill>
          <a:ln w="12700">
            <a:solidFill>
              <a:srgbClr val="E6E9EE"/>
            </a:solidFill>
            <a:prstDash val="solid"/>
          </a:ln>
        </p:spPr>
      </p:sp>
      <p:sp>
        <p:nvSpPr>
          <p:cNvPr id="23" name="Text 21"/>
          <p:cNvSpPr/>
          <p:nvPr/>
        </p:nvSpPr>
        <p:spPr>
          <a:xfrm>
            <a:off x="731520" y="4242816"/>
            <a:ext cx="2276856" cy="274320"/>
          </a:xfrm>
          <a:prstGeom prst="rect">
            <a:avLst/>
          </a:prstGeom>
          <a:noFill/>
          <a:ln/>
        </p:spPr>
        <p:txBody>
          <a:bodyPr wrap="square" rtlCol="0" anchor="ctr"/>
          <a:lstStyle/>
          <a:p>
            <a:pPr indent="0" marL="0">
              <a:buNone/>
            </a:pPr>
            <a:r>
              <a:rPr lang="en-US" sz="1050" dirty="0">
                <a:solidFill>
                  <a:srgbClr val="5B6B7B"/>
                </a:solidFill>
                <a:latin typeface="Calibri" pitchFamily="34" charset="0"/>
                <a:ea typeface="Calibri" pitchFamily="34" charset="-122"/>
                <a:cs typeface="Calibri" pitchFamily="34" charset="-120"/>
              </a:rPr>
              <a:t>Full run rate initial fees</a:t>
            </a:r>
            <a:endParaRPr lang="en-US" sz="1050" dirty="0"/>
          </a:p>
        </p:txBody>
      </p:sp>
      <p:sp>
        <p:nvSpPr>
          <p:cNvPr id="24" name="Text 22"/>
          <p:cNvSpPr/>
          <p:nvPr/>
        </p:nvSpPr>
        <p:spPr>
          <a:xfrm>
            <a:off x="731520" y="4480560"/>
            <a:ext cx="2276856" cy="457200"/>
          </a:xfrm>
          <a:prstGeom prst="rect">
            <a:avLst/>
          </a:prstGeom>
          <a:noFill/>
          <a:ln/>
        </p:spPr>
        <p:txBody>
          <a:bodyPr wrap="square" rtlCol="0" anchor="ctr"/>
          <a:lstStyle/>
          <a:p>
            <a:pPr indent="0" marL="0">
              <a:buNone/>
            </a:pPr>
            <a:r>
              <a:rPr lang="en-US" sz="2100" b="1" dirty="0">
                <a:solidFill>
                  <a:srgbClr val="0F766E"/>
                </a:solidFill>
                <a:latin typeface="Cambria" pitchFamily="34" charset="0"/>
                <a:ea typeface="Cambria" pitchFamily="34" charset="-122"/>
                <a:cs typeface="Cambria" pitchFamily="34" charset="-120"/>
              </a:rPr>
              <a:t>Rs 5.76 Cr</a:t>
            </a:r>
            <a:endParaRPr lang="en-US" sz="2100" dirty="0"/>
          </a:p>
        </p:txBody>
      </p:sp>
      <p:sp>
        <p:nvSpPr>
          <p:cNvPr id="25" name="Text 23"/>
          <p:cNvSpPr/>
          <p:nvPr/>
        </p:nvSpPr>
        <p:spPr>
          <a:xfrm>
            <a:off x="731520" y="4937760"/>
            <a:ext cx="2276856" cy="365760"/>
          </a:xfrm>
          <a:prstGeom prst="rect">
            <a:avLst/>
          </a:prstGeom>
          <a:noFill/>
          <a:ln/>
        </p:spPr>
        <p:txBody>
          <a:bodyPr wrap="square" rtlCol="0" anchor="ctr"/>
          <a:lstStyle/>
          <a:p>
            <a:pPr indent="0" marL="0">
              <a:buNone/>
            </a:pPr>
            <a:r>
              <a:rPr lang="en-US" sz="900" dirty="0">
                <a:solidFill>
                  <a:srgbClr val="9AA7B4"/>
                </a:solidFill>
                <a:latin typeface="Calibri" pitchFamily="34" charset="0"/>
                <a:ea typeface="Calibri" pitchFamily="34" charset="-122"/>
                <a:cs typeface="Calibri" pitchFamily="34" charset="-120"/>
              </a:rPr>
              <a:t>192 mandates per year</a:t>
            </a:r>
            <a:endParaRPr lang="en-US" sz="900" dirty="0"/>
          </a:p>
        </p:txBody>
      </p:sp>
      <p:sp>
        <p:nvSpPr>
          <p:cNvPr id="26" name="Shape 24"/>
          <p:cNvSpPr/>
          <p:nvPr/>
        </p:nvSpPr>
        <p:spPr>
          <a:xfrm>
            <a:off x="3328416" y="4114800"/>
            <a:ext cx="2606040" cy="1097280"/>
          </a:xfrm>
          <a:prstGeom prst="rect">
            <a:avLst/>
          </a:prstGeom>
          <a:solidFill>
            <a:srgbClr val="F6F8FA"/>
          </a:solidFill>
          <a:ln w="12700">
            <a:solidFill>
              <a:srgbClr val="E6E9EE"/>
            </a:solidFill>
            <a:prstDash val="solid"/>
          </a:ln>
        </p:spPr>
      </p:sp>
      <p:sp>
        <p:nvSpPr>
          <p:cNvPr id="27" name="Text 25"/>
          <p:cNvSpPr/>
          <p:nvPr/>
        </p:nvSpPr>
        <p:spPr>
          <a:xfrm>
            <a:off x="3493008" y="4242816"/>
            <a:ext cx="2276856" cy="274320"/>
          </a:xfrm>
          <a:prstGeom prst="rect">
            <a:avLst/>
          </a:prstGeom>
          <a:noFill/>
          <a:ln/>
        </p:spPr>
        <p:txBody>
          <a:bodyPr wrap="square" rtlCol="0" anchor="ctr"/>
          <a:lstStyle/>
          <a:p>
            <a:pPr indent="0" marL="0">
              <a:buNone/>
            </a:pPr>
            <a:r>
              <a:rPr lang="en-US" sz="1050" dirty="0">
                <a:solidFill>
                  <a:srgbClr val="5B6B7B"/>
                </a:solidFill>
                <a:latin typeface="Calibri" pitchFamily="34" charset="0"/>
                <a:ea typeface="Calibri" pitchFamily="34" charset="-122"/>
                <a:cs typeface="Calibri" pitchFamily="34" charset="-120"/>
              </a:rPr>
              <a:t>Surveillance annuity</a:t>
            </a:r>
            <a:endParaRPr lang="en-US" sz="1050" dirty="0"/>
          </a:p>
        </p:txBody>
      </p:sp>
      <p:sp>
        <p:nvSpPr>
          <p:cNvPr id="28" name="Text 26"/>
          <p:cNvSpPr/>
          <p:nvPr/>
        </p:nvSpPr>
        <p:spPr>
          <a:xfrm>
            <a:off x="3493008" y="4480560"/>
            <a:ext cx="2276856" cy="457200"/>
          </a:xfrm>
          <a:prstGeom prst="rect">
            <a:avLst/>
          </a:prstGeom>
          <a:noFill/>
          <a:ln/>
        </p:spPr>
        <p:txBody>
          <a:bodyPr wrap="square" rtlCol="0" anchor="ctr"/>
          <a:lstStyle/>
          <a:p>
            <a:pPr indent="0" marL="0">
              <a:buNone/>
            </a:pPr>
            <a:r>
              <a:rPr lang="en-US" sz="2100" b="1" dirty="0">
                <a:solidFill>
                  <a:srgbClr val="0F766E"/>
                </a:solidFill>
                <a:latin typeface="Cambria" pitchFamily="34" charset="0"/>
                <a:ea typeface="Cambria" pitchFamily="34" charset="-122"/>
                <a:cs typeface="Cambria" pitchFamily="34" charset="-120"/>
              </a:rPr>
              <a:t>Rs 2.88 Cr/yr</a:t>
            </a:r>
            <a:endParaRPr lang="en-US" sz="2100" dirty="0"/>
          </a:p>
        </p:txBody>
      </p:sp>
      <p:sp>
        <p:nvSpPr>
          <p:cNvPr id="29" name="Text 27"/>
          <p:cNvSpPr/>
          <p:nvPr/>
        </p:nvSpPr>
        <p:spPr>
          <a:xfrm>
            <a:off x="3493008" y="4937760"/>
            <a:ext cx="2276856" cy="365760"/>
          </a:xfrm>
          <a:prstGeom prst="rect">
            <a:avLst/>
          </a:prstGeom>
          <a:noFill/>
          <a:ln/>
        </p:spPr>
        <p:txBody>
          <a:bodyPr wrap="square" rtlCol="0" anchor="ctr"/>
          <a:lstStyle/>
          <a:p>
            <a:pPr indent="0" marL="0">
              <a:buNone/>
            </a:pPr>
            <a:r>
              <a:rPr lang="en-US" sz="900" dirty="0">
                <a:solidFill>
                  <a:srgbClr val="9AA7B4"/>
                </a:solidFill>
                <a:latin typeface="Calibri" pitchFamily="34" charset="0"/>
                <a:ea typeface="Calibri" pitchFamily="34" charset="-122"/>
                <a:cs typeface="Calibri" pitchFamily="34" charset="-120"/>
              </a:rPr>
              <a:t>on a full book</a:t>
            </a:r>
            <a:endParaRPr lang="en-US" sz="900" dirty="0"/>
          </a:p>
        </p:txBody>
      </p:sp>
      <p:graphicFrame>
        <p:nvGraphicFramePr>
          <p:cNvPr id="30" name="Chart 0" descr=""/>
          <p:cNvGraphicFramePr/>
          <p:nvPr/>
        </p:nvGraphicFramePr>
        <p:xfrm>
          <a:off x="5760720" y="3063240"/>
          <a:ext cx="5852160" cy="3017520"/>
        </p:xfrm>
        <a:graphic xmlns:a="http://schemas.openxmlformats.org/drawingml/2006/main">
          <a:graphicData uri="http://schemas.openxmlformats.org/drawingml/2006/chart">
            <c:chart xmlns:c="http://schemas.openxmlformats.org/drawingml/2006/chart" r:id="rId1"/>
          </a:graphicData>
        </a:graphic>
      </p:graphicFrame>
      <p:sp>
        <p:nvSpPr>
          <p:cNvPr id="31" name="Text 28"/>
          <p:cNvSpPr/>
          <p:nvPr/>
        </p:nvSpPr>
        <p:spPr>
          <a:xfrm>
            <a:off x="566928" y="6455664"/>
            <a:ext cx="11064240" cy="292608"/>
          </a:xfrm>
          <a:prstGeom prst="rect">
            <a:avLst/>
          </a:prstGeom>
          <a:noFill/>
          <a:ln/>
        </p:spPr>
        <p:txBody>
          <a:bodyPr wrap="square" rtlCol="0" anchor="ctr"/>
          <a:lstStyle/>
          <a:p>
            <a:pPr indent="0" marL="0">
              <a:buNone/>
            </a:pPr>
            <a:r>
              <a:rPr lang="en-US" sz="900" dirty="0">
                <a:solidFill>
                  <a:srgbClr val="9AA7B4"/>
                </a:solidFill>
                <a:latin typeface="Calibri" pitchFamily="34" charset="0"/>
                <a:ea typeface="Calibri" pitchFamily="34" charset="-122"/>
                <a:cs typeface="Calibri" pitchFamily="34" charset="-120"/>
              </a:rPr>
              <a:t>Source: fee rates, ticket size and volume are ACER management and Board assumptions [2].</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30000" y="420624"/>
            <a:ext cx="365760" cy="274320"/>
          </a:xfrm>
          <a:prstGeom prst="rect">
            <a:avLst/>
          </a:prstGeom>
          <a:noFill/>
          <a:ln/>
        </p:spPr>
        <p:txBody>
          <a:bodyPr wrap="square" rtlCol="0" anchor="ctr"/>
          <a:lstStyle/>
          <a:p>
            <a:pPr algn="r" indent="0" marL="0">
              <a:buNone/>
            </a:pPr>
            <a:r>
              <a:rPr lang="en-US" sz="1100" b="1" dirty="0">
                <a:solidFill>
                  <a:srgbClr val="9AA7B4"/>
                </a:solidFill>
                <a:latin typeface="Calibri" pitchFamily="34" charset="0"/>
                <a:ea typeface="Calibri" pitchFamily="34" charset="-122"/>
                <a:cs typeface="Calibri" pitchFamily="34" charset="-120"/>
              </a:rPr>
              <a:t>05</a:t>
            </a:r>
            <a:endParaRPr lang="en-US" sz="1100" dirty="0"/>
          </a:p>
        </p:txBody>
      </p:sp>
      <p:sp>
        <p:nvSpPr>
          <p:cNvPr id="3" name="Text 1"/>
          <p:cNvSpPr/>
          <p:nvPr/>
        </p:nvSpPr>
        <p:spPr>
          <a:xfrm>
            <a:off x="566928" y="457200"/>
            <a:ext cx="10058400" cy="274320"/>
          </a:xfrm>
          <a:prstGeom prst="rect">
            <a:avLst/>
          </a:prstGeom>
          <a:noFill/>
          <a:ln/>
        </p:spPr>
        <p:txBody>
          <a:bodyPr wrap="square" rtlCol="0" anchor="ctr"/>
          <a:lstStyle/>
          <a:p>
            <a:pPr indent="0" marL="0">
              <a:buNone/>
            </a:pPr>
            <a:r>
              <a:rPr lang="en-US" sz="1100" b="1" spc="200" kern="0" dirty="0">
                <a:solidFill>
                  <a:srgbClr val="0F766E"/>
                </a:solidFill>
                <a:latin typeface="Calibri" pitchFamily="34" charset="0"/>
                <a:ea typeface="Calibri" pitchFamily="34" charset="-122"/>
                <a:cs typeface="Calibri" pitchFamily="34" charset="-120"/>
              </a:rPr>
              <a:t>THE THREE SCENARIOS</a:t>
            </a:r>
            <a:endParaRPr lang="en-US" sz="1100" dirty="0"/>
          </a:p>
        </p:txBody>
      </p:sp>
      <p:sp>
        <p:nvSpPr>
          <p:cNvPr id="4" name="Text 2"/>
          <p:cNvSpPr/>
          <p:nvPr/>
        </p:nvSpPr>
        <p:spPr>
          <a:xfrm>
            <a:off x="566928" y="713232"/>
            <a:ext cx="11064240" cy="640080"/>
          </a:xfrm>
          <a:prstGeom prst="rect">
            <a:avLst/>
          </a:prstGeom>
          <a:noFill/>
          <a:ln/>
        </p:spPr>
        <p:txBody>
          <a:bodyPr wrap="square" rtlCol="0" anchor="ctr"/>
          <a:lstStyle/>
          <a:p>
            <a:pPr indent="0" marL="0">
              <a:buNone/>
            </a:pPr>
            <a:r>
              <a:rPr lang="en-US" sz="2700" b="1" dirty="0">
                <a:solidFill>
                  <a:srgbClr val="0A1F33"/>
                </a:solidFill>
                <a:latin typeface="Cambria" pitchFamily="34" charset="0"/>
                <a:ea typeface="Cambria" pitchFamily="34" charset="-122"/>
                <a:cs typeface="Cambria" pitchFamily="34" charset="-120"/>
              </a:rPr>
              <a:t>BLR timing alone decides whether FY27 breaks even</a:t>
            </a:r>
            <a:endParaRPr lang="en-US" sz="2700" dirty="0"/>
          </a:p>
        </p:txBody>
      </p:sp>
      <p:sp>
        <p:nvSpPr>
          <p:cNvPr id="5" name="Text 3"/>
          <p:cNvSpPr/>
          <p:nvPr/>
        </p:nvSpPr>
        <p:spPr>
          <a:xfrm>
            <a:off x="566928" y="1353312"/>
            <a:ext cx="11064240" cy="457200"/>
          </a:xfrm>
          <a:prstGeom prst="rect">
            <a:avLst/>
          </a:prstGeom>
          <a:noFill/>
          <a:ln/>
        </p:spPr>
        <p:txBody>
          <a:bodyPr wrap="square" rtlCol="0" anchor="ctr"/>
          <a:lstStyle/>
          <a:p>
            <a:pPr indent="0" marL="0">
              <a:buNone/>
            </a:pPr>
            <a:r>
              <a:rPr lang="en-US" sz="1400" dirty="0">
                <a:solidFill>
                  <a:srgbClr val="5B6B7B"/>
                </a:solidFill>
                <a:latin typeface="Calibri" pitchFamily="34" charset="0"/>
                <a:ea typeface="Calibri" pitchFamily="34" charset="-122"/>
                <a:cs typeface="Calibri" pitchFamily="34" charset="-120"/>
              </a:rPr>
              <a:t>Same cost base of Rs 5.24 Cr and same FD income across all three. Only the licence date changes. S1 is the base case.</a:t>
            </a:r>
            <a:endParaRPr lang="en-US" sz="1400" dirty="0"/>
          </a:p>
        </p:txBody>
      </p:sp>
      <p:sp>
        <p:nvSpPr>
          <p:cNvPr id="6" name="Shape 4"/>
          <p:cNvSpPr/>
          <p:nvPr/>
        </p:nvSpPr>
        <p:spPr>
          <a:xfrm>
            <a:off x="566928" y="1965960"/>
            <a:ext cx="3520440" cy="3383280"/>
          </a:xfrm>
          <a:prstGeom prst="rect">
            <a:avLst/>
          </a:prstGeom>
          <a:solidFill>
            <a:srgbClr val="F3FAF8"/>
          </a:solidFill>
          <a:ln w="25400">
            <a:solidFill>
              <a:srgbClr val="0F766E"/>
            </a:solidFill>
            <a:prstDash val="solid"/>
          </a:ln>
        </p:spPr>
      </p:sp>
      <p:sp>
        <p:nvSpPr>
          <p:cNvPr id="7" name="Shape 5"/>
          <p:cNvSpPr/>
          <p:nvPr/>
        </p:nvSpPr>
        <p:spPr>
          <a:xfrm>
            <a:off x="749808" y="2167128"/>
            <a:ext cx="1417320" cy="292608"/>
          </a:xfrm>
          <a:prstGeom prst="rect">
            <a:avLst/>
          </a:prstGeom>
          <a:solidFill>
            <a:srgbClr val="E2F2EF"/>
          </a:solidFill>
          <a:ln/>
        </p:spPr>
      </p:sp>
      <p:sp>
        <p:nvSpPr>
          <p:cNvPr id="8" name="Text 6"/>
          <p:cNvSpPr/>
          <p:nvPr/>
        </p:nvSpPr>
        <p:spPr>
          <a:xfrm>
            <a:off x="749808" y="2167128"/>
            <a:ext cx="1417320" cy="292608"/>
          </a:xfrm>
          <a:prstGeom prst="rect">
            <a:avLst/>
          </a:prstGeom>
          <a:noFill/>
          <a:ln/>
        </p:spPr>
        <p:txBody>
          <a:bodyPr wrap="square" rtlCol="0" anchor="ctr"/>
          <a:lstStyle/>
          <a:p>
            <a:pPr algn="ctr" indent="0" marL="0">
              <a:buNone/>
            </a:pPr>
            <a:r>
              <a:rPr lang="en-US" sz="1000" b="1" dirty="0">
                <a:solidFill>
                  <a:srgbClr val="0F766E"/>
                </a:solidFill>
                <a:latin typeface="Calibri" pitchFamily="34" charset="0"/>
                <a:ea typeface="Calibri" pitchFamily="34" charset="-122"/>
                <a:cs typeface="Calibri" pitchFamily="34" charset="-120"/>
              </a:rPr>
              <a:t>Base case</a:t>
            </a:r>
            <a:endParaRPr lang="en-US" sz="1000" dirty="0"/>
          </a:p>
        </p:txBody>
      </p:sp>
      <p:sp>
        <p:nvSpPr>
          <p:cNvPr id="9" name="Text 7"/>
          <p:cNvSpPr/>
          <p:nvPr/>
        </p:nvSpPr>
        <p:spPr>
          <a:xfrm>
            <a:off x="749808" y="2532888"/>
            <a:ext cx="3108960" cy="320040"/>
          </a:xfrm>
          <a:prstGeom prst="rect">
            <a:avLst/>
          </a:prstGeom>
          <a:noFill/>
          <a:ln/>
        </p:spPr>
        <p:txBody>
          <a:bodyPr wrap="square" rtlCol="0" anchor="ctr"/>
          <a:lstStyle/>
          <a:p>
            <a:pPr indent="0" marL="0">
              <a:buNone/>
            </a:pPr>
            <a:r>
              <a:rPr lang="en-US" sz="1450" b="1" dirty="0">
                <a:solidFill>
                  <a:srgbClr val="0A1F33"/>
                </a:solidFill>
                <a:latin typeface="Cambria" pitchFamily="34" charset="0"/>
                <a:ea typeface="Cambria" pitchFamily="34" charset="-122"/>
                <a:cs typeface="Cambria" pitchFamily="34" charset="-120"/>
              </a:rPr>
              <a:t>S1. BLR by 1 Oct</a:t>
            </a:r>
            <a:endParaRPr lang="en-US" sz="1450" dirty="0"/>
          </a:p>
        </p:txBody>
      </p:sp>
      <p:sp>
        <p:nvSpPr>
          <p:cNvPr id="10" name="Text 8"/>
          <p:cNvSpPr/>
          <p:nvPr/>
        </p:nvSpPr>
        <p:spPr>
          <a:xfrm>
            <a:off x="749808" y="2916936"/>
            <a:ext cx="1920240" cy="274320"/>
          </a:xfrm>
          <a:prstGeom prst="rect">
            <a:avLst/>
          </a:prstGeom>
          <a:noFill/>
          <a:ln/>
        </p:spPr>
        <p:txBody>
          <a:bodyPr wrap="square" rtlCol="0" anchor="ctr"/>
          <a:lstStyle/>
          <a:p>
            <a:pPr indent="0" marL="0">
              <a:buNone/>
            </a:pPr>
            <a:r>
              <a:rPr lang="en-US" sz="1150" dirty="0">
                <a:solidFill>
                  <a:srgbClr val="5B6B7B"/>
                </a:solidFill>
                <a:latin typeface="Calibri" pitchFamily="34" charset="0"/>
                <a:ea typeface="Calibri" pitchFamily="34" charset="-122"/>
                <a:cs typeface="Calibri" pitchFamily="34" charset="-120"/>
              </a:rPr>
              <a:t>FD interest</a:t>
            </a:r>
            <a:endParaRPr lang="en-US" sz="1150" dirty="0"/>
          </a:p>
        </p:txBody>
      </p:sp>
      <p:sp>
        <p:nvSpPr>
          <p:cNvPr id="11" name="Text 9"/>
          <p:cNvSpPr/>
          <p:nvPr/>
        </p:nvSpPr>
        <p:spPr>
          <a:xfrm>
            <a:off x="2350008" y="2916936"/>
            <a:ext cx="1554480" cy="274320"/>
          </a:xfrm>
          <a:prstGeom prst="rect">
            <a:avLst/>
          </a:prstGeom>
          <a:noFill/>
          <a:ln/>
        </p:spPr>
        <p:txBody>
          <a:bodyPr wrap="square" rtlCol="0" anchor="ctr"/>
          <a:lstStyle/>
          <a:p>
            <a:pPr algn="r" indent="0" marL="0">
              <a:buNone/>
            </a:pPr>
            <a:r>
              <a:rPr lang="en-US" sz="1150" b="1" dirty="0">
                <a:solidFill>
                  <a:srgbClr val="0A1F33"/>
                </a:solidFill>
                <a:latin typeface="Calibri" pitchFamily="34" charset="0"/>
                <a:ea typeface="Calibri" pitchFamily="34" charset="-122"/>
                <a:cs typeface="Calibri" pitchFamily="34" charset="-120"/>
              </a:rPr>
              <a:t>Rs 1.80 Cr</a:t>
            </a:r>
            <a:endParaRPr lang="en-US" sz="1150" dirty="0"/>
          </a:p>
        </p:txBody>
      </p:sp>
      <p:sp>
        <p:nvSpPr>
          <p:cNvPr id="12" name="Text 10"/>
          <p:cNvSpPr/>
          <p:nvPr/>
        </p:nvSpPr>
        <p:spPr>
          <a:xfrm>
            <a:off x="749808" y="3236976"/>
            <a:ext cx="1920240" cy="274320"/>
          </a:xfrm>
          <a:prstGeom prst="rect">
            <a:avLst/>
          </a:prstGeom>
          <a:noFill/>
          <a:ln/>
        </p:spPr>
        <p:txBody>
          <a:bodyPr wrap="square" rtlCol="0" anchor="ctr"/>
          <a:lstStyle/>
          <a:p>
            <a:pPr indent="0" marL="0">
              <a:buNone/>
            </a:pPr>
            <a:r>
              <a:rPr lang="en-US" sz="1150" dirty="0">
                <a:solidFill>
                  <a:srgbClr val="5B6B7B"/>
                </a:solidFill>
                <a:latin typeface="Calibri" pitchFamily="34" charset="0"/>
                <a:ea typeface="Calibri" pitchFamily="34" charset="-122"/>
                <a:cs typeface="Calibri" pitchFamily="34" charset="-120"/>
              </a:rPr>
              <a:t>Ratings revenue</a:t>
            </a:r>
            <a:endParaRPr lang="en-US" sz="1150" dirty="0"/>
          </a:p>
        </p:txBody>
      </p:sp>
      <p:sp>
        <p:nvSpPr>
          <p:cNvPr id="13" name="Text 11"/>
          <p:cNvSpPr/>
          <p:nvPr/>
        </p:nvSpPr>
        <p:spPr>
          <a:xfrm>
            <a:off x="2350008" y="3236976"/>
            <a:ext cx="1554480" cy="274320"/>
          </a:xfrm>
          <a:prstGeom prst="rect">
            <a:avLst/>
          </a:prstGeom>
          <a:noFill/>
          <a:ln/>
        </p:spPr>
        <p:txBody>
          <a:bodyPr wrap="square" rtlCol="0" anchor="ctr"/>
          <a:lstStyle/>
          <a:p>
            <a:pPr algn="r" indent="0" marL="0">
              <a:buNone/>
            </a:pPr>
            <a:r>
              <a:rPr lang="en-US" sz="1150" b="1" dirty="0">
                <a:solidFill>
                  <a:srgbClr val="0A1F33"/>
                </a:solidFill>
                <a:latin typeface="Calibri" pitchFamily="34" charset="0"/>
                <a:ea typeface="Calibri" pitchFamily="34" charset="-122"/>
                <a:cs typeface="Calibri" pitchFamily="34" charset="-120"/>
              </a:rPr>
              <a:t>Rs 3.75 Cr</a:t>
            </a:r>
            <a:endParaRPr lang="en-US" sz="1150" dirty="0"/>
          </a:p>
        </p:txBody>
      </p:sp>
      <p:sp>
        <p:nvSpPr>
          <p:cNvPr id="14" name="Text 12"/>
          <p:cNvSpPr/>
          <p:nvPr/>
        </p:nvSpPr>
        <p:spPr>
          <a:xfrm>
            <a:off x="749808" y="3557016"/>
            <a:ext cx="1920240" cy="274320"/>
          </a:xfrm>
          <a:prstGeom prst="rect">
            <a:avLst/>
          </a:prstGeom>
          <a:noFill/>
          <a:ln/>
        </p:spPr>
        <p:txBody>
          <a:bodyPr wrap="square" rtlCol="0" anchor="ctr"/>
          <a:lstStyle/>
          <a:p>
            <a:pPr indent="0" marL="0">
              <a:buNone/>
            </a:pPr>
            <a:r>
              <a:rPr lang="en-US" sz="1150" dirty="0">
                <a:solidFill>
                  <a:srgbClr val="5B6B7B"/>
                </a:solidFill>
                <a:latin typeface="Calibri" pitchFamily="34" charset="0"/>
                <a:ea typeface="Calibri" pitchFamily="34" charset="-122"/>
                <a:cs typeface="Calibri" pitchFamily="34" charset="-120"/>
              </a:rPr>
              <a:t>Total income</a:t>
            </a:r>
            <a:endParaRPr lang="en-US" sz="1150" dirty="0"/>
          </a:p>
        </p:txBody>
      </p:sp>
      <p:sp>
        <p:nvSpPr>
          <p:cNvPr id="15" name="Text 13"/>
          <p:cNvSpPr/>
          <p:nvPr/>
        </p:nvSpPr>
        <p:spPr>
          <a:xfrm>
            <a:off x="2350008" y="3557016"/>
            <a:ext cx="1554480" cy="274320"/>
          </a:xfrm>
          <a:prstGeom prst="rect">
            <a:avLst/>
          </a:prstGeom>
          <a:noFill/>
          <a:ln/>
        </p:spPr>
        <p:txBody>
          <a:bodyPr wrap="square" rtlCol="0" anchor="ctr"/>
          <a:lstStyle/>
          <a:p>
            <a:pPr algn="r" indent="0" marL="0">
              <a:buNone/>
            </a:pPr>
            <a:r>
              <a:rPr lang="en-US" sz="1150" b="1" dirty="0">
                <a:solidFill>
                  <a:srgbClr val="0A1F33"/>
                </a:solidFill>
                <a:latin typeface="Calibri" pitchFamily="34" charset="0"/>
                <a:ea typeface="Calibri" pitchFamily="34" charset="-122"/>
                <a:cs typeface="Calibri" pitchFamily="34" charset="-120"/>
              </a:rPr>
              <a:t>Rs 5.55 Cr</a:t>
            </a:r>
            <a:endParaRPr lang="en-US" sz="1150" dirty="0"/>
          </a:p>
        </p:txBody>
      </p:sp>
      <p:sp>
        <p:nvSpPr>
          <p:cNvPr id="16" name="Text 14"/>
          <p:cNvSpPr/>
          <p:nvPr/>
        </p:nvSpPr>
        <p:spPr>
          <a:xfrm>
            <a:off x="749808" y="3877056"/>
            <a:ext cx="1920240" cy="274320"/>
          </a:xfrm>
          <a:prstGeom prst="rect">
            <a:avLst/>
          </a:prstGeom>
          <a:noFill/>
          <a:ln/>
        </p:spPr>
        <p:txBody>
          <a:bodyPr wrap="square" rtlCol="0" anchor="ctr"/>
          <a:lstStyle/>
          <a:p>
            <a:pPr indent="0" marL="0">
              <a:buNone/>
            </a:pPr>
            <a:r>
              <a:rPr lang="en-US" sz="1150" dirty="0">
                <a:solidFill>
                  <a:srgbClr val="5B6B7B"/>
                </a:solidFill>
                <a:latin typeface="Calibri" pitchFamily="34" charset="0"/>
                <a:ea typeface="Calibri" pitchFamily="34" charset="-122"/>
                <a:cs typeface="Calibri" pitchFamily="34" charset="-120"/>
              </a:rPr>
              <a:t>Ratings share</a:t>
            </a:r>
            <a:endParaRPr lang="en-US" sz="1150" dirty="0"/>
          </a:p>
        </p:txBody>
      </p:sp>
      <p:sp>
        <p:nvSpPr>
          <p:cNvPr id="17" name="Text 15"/>
          <p:cNvSpPr/>
          <p:nvPr/>
        </p:nvSpPr>
        <p:spPr>
          <a:xfrm>
            <a:off x="2350008" y="3877056"/>
            <a:ext cx="1554480" cy="274320"/>
          </a:xfrm>
          <a:prstGeom prst="rect">
            <a:avLst/>
          </a:prstGeom>
          <a:noFill/>
          <a:ln/>
        </p:spPr>
        <p:txBody>
          <a:bodyPr wrap="square" rtlCol="0" anchor="ctr"/>
          <a:lstStyle/>
          <a:p>
            <a:pPr algn="r" indent="0" marL="0">
              <a:buNone/>
            </a:pPr>
            <a:r>
              <a:rPr lang="en-US" sz="1150" b="1" dirty="0">
                <a:solidFill>
                  <a:srgbClr val="0A1F33"/>
                </a:solidFill>
                <a:latin typeface="Calibri" pitchFamily="34" charset="0"/>
                <a:ea typeface="Calibri" pitchFamily="34" charset="-122"/>
                <a:cs typeface="Calibri" pitchFamily="34" charset="-120"/>
              </a:rPr>
              <a:t>68%</a:t>
            </a:r>
            <a:endParaRPr lang="en-US" sz="1150" dirty="0"/>
          </a:p>
        </p:txBody>
      </p:sp>
      <p:sp>
        <p:nvSpPr>
          <p:cNvPr id="18" name="Text 16"/>
          <p:cNvSpPr/>
          <p:nvPr/>
        </p:nvSpPr>
        <p:spPr>
          <a:xfrm>
            <a:off x="749808" y="4270248"/>
            <a:ext cx="3108960" cy="411480"/>
          </a:xfrm>
          <a:prstGeom prst="rect">
            <a:avLst/>
          </a:prstGeom>
          <a:noFill/>
          <a:ln/>
        </p:spPr>
        <p:txBody>
          <a:bodyPr wrap="square" rtlCol="0" anchor="ctr"/>
          <a:lstStyle/>
          <a:p>
            <a:pPr indent="0" marL="0">
              <a:buNone/>
            </a:pPr>
            <a:r>
              <a:rPr lang="en-US" sz="1800" b="1" dirty="0">
                <a:solidFill>
                  <a:srgbClr val="0F766E"/>
                </a:solidFill>
                <a:latin typeface="Cambria" pitchFamily="34" charset="0"/>
                <a:ea typeface="Cambria" pitchFamily="34" charset="-122"/>
                <a:cs typeface="Cambria" pitchFamily="34" charset="-120"/>
              </a:rPr>
              <a:t>Net +Rs 0.31 Cr</a:t>
            </a:r>
            <a:endParaRPr lang="en-US" sz="1800" dirty="0"/>
          </a:p>
        </p:txBody>
      </p:sp>
      <p:sp>
        <p:nvSpPr>
          <p:cNvPr id="19" name="Text 17"/>
          <p:cNvSpPr/>
          <p:nvPr/>
        </p:nvSpPr>
        <p:spPr>
          <a:xfrm>
            <a:off x="749808" y="4727448"/>
            <a:ext cx="3108960" cy="457200"/>
          </a:xfrm>
          <a:prstGeom prst="rect">
            <a:avLst/>
          </a:prstGeom>
          <a:noFill/>
          <a:ln/>
        </p:spPr>
        <p:txBody>
          <a:bodyPr wrap="square" rtlCol="0" anchor="ctr"/>
          <a:lstStyle/>
          <a:p>
            <a:pPr indent="0" marL="0">
              <a:buNone/>
            </a:pPr>
            <a:r>
              <a:rPr lang="en-US" sz="1100" dirty="0">
                <a:solidFill>
                  <a:srgbClr val="5B6B7B"/>
                </a:solidFill>
                <a:latin typeface="Calibri" pitchFamily="34" charset="0"/>
                <a:ea typeface="Calibri" pitchFamily="34" charset="-122"/>
                <a:cs typeface="Calibri" pitchFamily="34" charset="-120"/>
              </a:rPr>
              <a:t>Breaks even, flips to ratings led.</a:t>
            </a:r>
            <a:endParaRPr lang="en-US" sz="1100" dirty="0"/>
          </a:p>
        </p:txBody>
      </p:sp>
      <p:sp>
        <p:nvSpPr>
          <p:cNvPr id="20" name="Shape 18"/>
          <p:cNvSpPr/>
          <p:nvPr/>
        </p:nvSpPr>
        <p:spPr>
          <a:xfrm>
            <a:off x="4270248" y="1965960"/>
            <a:ext cx="3520440" cy="3383280"/>
          </a:xfrm>
          <a:prstGeom prst="rect">
            <a:avLst/>
          </a:prstGeom>
          <a:solidFill>
            <a:srgbClr val="FFFFFF"/>
          </a:solidFill>
          <a:ln w="12700">
            <a:solidFill>
              <a:srgbClr val="E6E9EE"/>
            </a:solidFill>
            <a:prstDash val="solid"/>
          </a:ln>
        </p:spPr>
      </p:sp>
      <p:sp>
        <p:nvSpPr>
          <p:cNvPr id="21" name="Shape 19"/>
          <p:cNvSpPr/>
          <p:nvPr/>
        </p:nvSpPr>
        <p:spPr>
          <a:xfrm>
            <a:off x="4453128" y="2167128"/>
            <a:ext cx="1417320" cy="292608"/>
          </a:xfrm>
          <a:prstGeom prst="rect">
            <a:avLst/>
          </a:prstGeom>
          <a:solidFill>
            <a:srgbClr val="E7EDF5"/>
          </a:solidFill>
          <a:ln/>
        </p:spPr>
      </p:sp>
      <p:sp>
        <p:nvSpPr>
          <p:cNvPr id="22" name="Text 20"/>
          <p:cNvSpPr/>
          <p:nvPr/>
        </p:nvSpPr>
        <p:spPr>
          <a:xfrm>
            <a:off x="4453128" y="2167128"/>
            <a:ext cx="1417320" cy="292608"/>
          </a:xfrm>
          <a:prstGeom prst="rect">
            <a:avLst/>
          </a:prstGeom>
          <a:noFill/>
          <a:ln/>
        </p:spPr>
        <p:txBody>
          <a:bodyPr wrap="square" rtlCol="0" anchor="ctr"/>
          <a:lstStyle/>
          <a:p>
            <a:pPr algn="ctr" indent="0" marL="0">
              <a:buNone/>
            </a:pPr>
            <a:r>
              <a:rPr lang="en-US" sz="1000" b="1" dirty="0">
                <a:solidFill>
                  <a:srgbClr val="1E4E79"/>
                </a:solidFill>
                <a:latin typeface="Calibri" pitchFamily="34" charset="0"/>
                <a:ea typeface="Calibri" pitchFamily="34" charset="-122"/>
                <a:cs typeface="Calibri" pitchFamily="34" charset="-120"/>
              </a:rPr>
              <a:t>Downside 1</a:t>
            </a:r>
            <a:endParaRPr lang="en-US" sz="1000" dirty="0"/>
          </a:p>
        </p:txBody>
      </p:sp>
      <p:sp>
        <p:nvSpPr>
          <p:cNvPr id="23" name="Text 21"/>
          <p:cNvSpPr/>
          <p:nvPr/>
        </p:nvSpPr>
        <p:spPr>
          <a:xfrm>
            <a:off x="4453128" y="2532888"/>
            <a:ext cx="3108960" cy="320040"/>
          </a:xfrm>
          <a:prstGeom prst="rect">
            <a:avLst/>
          </a:prstGeom>
          <a:noFill/>
          <a:ln/>
        </p:spPr>
        <p:txBody>
          <a:bodyPr wrap="square" rtlCol="0" anchor="ctr"/>
          <a:lstStyle/>
          <a:p>
            <a:pPr indent="0" marL="0">
              <a:buNone/>
            </a:pPr>
            <a:r>
              <a:rPr lang="en-US" sz="1450" b="1" dirty="0">
                <a:solidFill>
                  <a:srgbClr val="0A1F33"/>
                </a:solidFill>
                <a:latin typeface="Cambria" pitchFamily="34" charset="0"/>
                <a:ea typeface="Cambria" pitchFamily="34" charset="-122"/>
                <a:cs typeface="Cambria" pitchFamily="34" charset="-120"/>
              </a:rPr>
              <a:t>S2. BLR by 1 Jan</a:t>
            </a:r>
            <a:endParaRPr lang="en-US" sz="1450" dirty="0"/>
          </a:p>
        </p:txBody>
      </p:sp>
      <p:sp>
        <p:nvSpPr>
          <p:cNvPr id="24" name="Text 22"/>
          <p:cNvSpPr/>
          <p:nvPr/>
        </p:nvSpPr>
        <p:spPr>
          <a:xfrm>
            <a:off x="4453128" y="2916936"/>
            <a:ext cx="1920240" cy="274320"/>
          </a:xfrm>
          <a:prstGeom prst="rect">
            <a:avLst/>
          </a:prstGeom>
          <a:noFill/>
          <a:ln/>
        </p:spPr>
        <p:txBody>
          <a:bodyPr wrap="square" rtlCol="0" anchor="ctr"/>
          <a:lstStyle/>
          <a:p>
            <a:pPr indent="0" marL="0">
              <a:buNone/>
            </a:pPr>
            <a:r>
              <a:rPr lang="en-US" sz="1150" dirty="0">
                <a:solidFill>
                  <a:srgbClr val="5B6B7B"/>
                </a:solidFill>
                <a:latin typeface="Calibri" pitchFamily="34" charset="0"/>
                <a:ea typeface="Calibri" pitchFamily="34" charset="-122"/>
                <a:cs typeface="Calibri" pitchFamily="34" charset="-120"/>
              </a:rPr>
              <a:t>FD interest</a:t>
            </a:r>
            <a:endParaRPr lang="en-US" sz="1150" dirty="0"/>
          </a:p>
        </p:txBody>
      </p:sp>
      <p:sp>
        <p:nvSpPr>
          <p:cNvPr id="25" name="Text 23"/>
          <p:cNvSpPr/>
          <p:nvPr/>
        </p:nvSpPr>
        <p:spPr>
          <a:xfrm>
            <a:off x="6053328" y="2916936"/>
            <a:ext cx="1554480" cy="274320"/>
          </a:xfrm>
          <a:prstGeom prst="rect">
            <a:avLst/>
          </a:prstGeom>
          <a:noFill/>
          <a:ln/>
        </p:spPr>
        <p:txBody>
          <a:bodyPr wrap="square" rtlCol="0" anchor="ctr"/>
          <a:lstStyle/>
          <a:p>
            <a:pPr algn="r" indent="0" marL="0">
              <a:buNone/>
            </a:pPr>
            <a:r>
              <a:rPr lang="en-US" sz="1150" b="1" dirty="0">
                <a:solidFill>
                  <a:srgbClr val="0A1F33"/>
                </a:solidFill>
                <a:latin typeface="Calibri" pitchFamily="34" charset="0"/>
                <a:ea typeface="Calibri" pitchFamily="34" charset="-122"/>
                <a:cs typeface="Calibri" pitchFamily="34" charset="-120"/>
              </a:rPr>
              <a:t>Rs 1.80 Cr</a:t>
            </a:r>
            <a:endParaRPr lang="en-US" sz="1150" dirty="0"/>
          </a:p>
        </p:txBody>
      </p:sp>
      <p:sp>
        <p:nvSpPr>
          <p:cNvPr id="26" name="Text 24"/>
          <p:cNvSpPr/>
          <p:nvPr/>
        </p:nvSpPr>
        <p:spPr>
          <a:xfrm>
            <a:off x="4453128" y="3236976"/>
            <a:ext cx="1920240" cy="274320"/>
          </a:xfrm>
          <a:prstGeom prst="rect">
            <a:avLst/>
          </a:prstGeom>
          <a:noFill/>
          <a:ln/>
        </p:spPr>
        <p:txBody>
          <a:bodyPr wrap="square" rtlCol="0" anchor="ctr"/>
          <a:lstStyle/>
          <a:p>
            <a:pPr indent="0" marL="0">
              <a:buNone/>
            </a:pPr>
            <a:r>
              <a:rPr lang="en-US" sz="1150" dirty="0">
                <a:solidFill>
                  <a:srgbClr val="5B6B7B"/>
                </a:solidFill>
                <a:latin typeface="Calibri" pitchFamily="34" charset="0"/>
                <a:ea typeface="Calibri" pitchFamily="34" charset="-122"/>
                <a:cs typeface="Calibri" pitchFamily="34" charset="-120"/>
              </a:rPr>
              <a:t>Ratings revenue</a:t>
            </a:r>
            <a:endParaRPr lang="en-US" sz="1150" dirty="0"/>
          </a:p>
        </p:txBody>
      </p:sp>
      <p:sp>
        <p:nvSpPr>
          <p:cNvPr id="27" name="Text 25"/>
          <p:cNvSpPr/>
          <p:nvPr/>
        </p:nvSpPr>
        <p:spPr>
          <a:xfrm>
            <a:off x="6053328" y="3236976"/>
            <a:ext cx="1554480" cy="274320"/>
          </a:xfrm>
          <a:prstGeom prst="rect">
            <a:avLst/>
          </a:prstGeom>
          <a:noFill/>
          <a:ln/>
        </p:spPr>
        <p:txBody>
          <a:bodyPr wrap="square" rtlCol="0" anchor="ctr"/>
          <a:lstStyle/>
          <a:p>
            <a:pPr algn="r" indent="0" marL="0">
              <a:buNone/>
            </a:pPr>
            <a:r>
              <a:rPr lang="en-US" sz="1150" b="1" dirty="0">
                <a:solidFill>
                  <a:srgbClr val="0A1F33"/>
                </a:solidFill>
                <a:latin typeface="Calibri" pitchFamily="34" charset="0"/>
                <a:ea typeface="Calibri" pitchFamily="34" charset="-122"/>
                <a:cs typeface="Calibri" pitchFamily="34" charset="-120"/>
              </a:rPr>
              <a:t>Rs 2.31 Cr</a:t>
            </a:r>
            <a:endParaRPr lang="en-US" sz="1150" dirty="0"/>
          </a:p>
        </p:txBody>
      </p:sp>
      <p:sp>
        <p:nvSpPr>
          <p:cNvPr id="28" name="Text 26"/>
          <p:cNvSpPr/>
          <p:nvPr/>
        </p:nvSpPr>
        <p:spPr>
          <a:xfrm>
            <a:off x="4453128" y="3557016"/>
            <a:ext cx="1920240" cy="274320"/>
          </a:xfrm>
          <a:prstGeom prst="rect">
            <a:avLst/>
          </a:prstGeom>
          <a:noFill/>
          <a:ln/>
        </p:spPr>
        <p:txBody>
          <a:bodyPr wrap="square" rtlCol="0" anchor="ctr"/>
          <a:lstStyle/>
          <a:p>
            <a:pPr indent="0" marL="0">
              <a:buNone/>
            </a:pPr>
            <a:r>
              <a:rPr lang="en-US" sz="1150" dirty="0">
                <a:solidFill>
                  <a:srgbClr val="5B6B7B"/>
                </a:solidFill>
                <a:latin typeface="Calibri" pitchFamily="34" charset="0"/>
                <a:ea typeface="Calibri" pitchFamily="34" charset="-122"/>
                <a:cs typeface="Calibri" pitchFamily="34" charset="-120"/>
              </a:rPr>
              <a:t>Total income</a:t>
            </a:r>
            <a:endParaRPr lang="en-US" sz="1150" dirty="0"/>
          </a:p>
        </p:txBody>
      </p:sp>
      <p:sp>
        <p:nvSpPr>
          <p:cNvPr id="29" name="Text 27"/>
          <p:cNvSpPr/>
          <p:nvPr/>
        </p:nvSpPr>
        <p:spPr>
          <a:xfrm>
            <a:off x="6053328" y="3557016"/>
            <a:ext cx="1554480" cy="274320"/>
          </a:xfrm>
          <a:prstGeom prst="rect">
            <a:avLst/>
          </a:prstGeom>
          <a:noFill/>
          <a:ln/>
        </p:spPr>
        <p:txBody>
          <a:bodyPr wrap="square" rtlCol="0" anchor="ctr"/>
          <a:lstStyle/>
          <a:p>
            <a:pPr algn="r" indent="0" marL="0">
              <a:buNone/>
            </a:pPr>
            <a:r>
              <a:rPr lang="en-US" sz="1150" b="1" dirty="0">
                <a:solidFill>
                  <a:srgbClr val="0A1F33"/>
                </a:solidFill>
                <a:latin typeface="Calibri" pitchFamily="34" charset="0"/>
                <a:ea typeface="Calibri" pitchFamily="34" charset="-122"/>
                <a:cs typeface="Calibri" pitchFamily="34" charset="-120"/>
              </a:rPr>
              <a:t>Rs 4.11 Cr</a:t>
            </a:r>
            <a:endParaRPr lang="en-US" sz="1150" dirty="0"/>
          </a:p>
        </p:txBody>
      </p:sp>
      <p:sp>
        <p:nvSpPr>
          <p:cNvPr id="30" name="Text 28"/>
          <p:cNvSpPr/>
          <p:nvPr/>
        </p:nvSpPr>
        <p:spPr>
          <a:xfrm>
            <a:off x="4453128" y="3877056"/>
            <a:ext cx="1920240" cy="274320"/>
          </a:xfrm>
          <a:prstGeom prst="rect">
            <a:avLst/>
          </a:prstGeom>
          <a:noFill/>
          <a:ln/>
        </p:spPr>
        <p:txBody>
          <a:bodyPr wrap="square" rtlCol="0" anchor="ctr"/>
          <a:lstStyle/>
          <a:p>
            <a:pPr indent="0" marL="0">
              <a:buNone/>
            </a:pPr>
            <a:r>
              <a:rPr lang="en-US" sz="1150" dirty="0">
                <a:solidFill>
                  <a:srgbClr val="5B6B7B"/>
                </a:solidFill>
                <a:latin typeface="Calibri" pitchFamily="34" charset="0"/>
                <a:ea typeface="Calibri" pitchFamily="34" charset="-122"/>
                <a:cs typeface="Calibri" pitchFamily="34" charset="-120"/>
              </a:rPr>
              <a:t>Ratings share</a:t>
            </a:r>
            <a:endParaRPr lang="en-US" sz="1150" dirty="0"/>
          </a:p>
        </p:txBody>
      </p:sp>
      <p:sp>
        <p:nvSpPr>
          <p:cNvPr id="31" name="Text 29"/>
          <p:cNvSpPr/>
          <p:nvPr/>
        </p:nvSpPr>
        <p:spPr>
          <a:xfrm>
            <a:off x="6053328" y="3877056"/>
            <a:ext cx="1554480" cy="274320"/>
          </a:xfrm>
          <a:prstGeom prst="rect">
            <a:avLst/>
          </a:prstGeom>
          <a:noFill/>
          <a:ln/>
        </p:spPr>
        <p:txBody>
          <a:bodyPr wrap="square" rtlCol="0" anchor="ctr"/>
          <a:lstStyle/>
          <a:p>
            <a:pPr algn="r" indent="0" marL="0">
              <a:buNone/>
            </a:pPr>
            <a:r>
              <a:rPr lang="en-US" sz="1150" b="1" dirty="0">
                <a:solidFill>
                  <a:srgbClr val="0A1F33"/>
                </a:solidFill>
                <a:latin typeface="Calibri" pitchFamily="34" charset="0"/>
                <a:ea typeface="Calibri" pitchFamily="34" charset="-122"/>
                <a:cs typeface="Calibri" pitchFamily="34" charset="-120"/>
              </a:rPr>
              <a:t>56%</a:t>
            </a:r>
            <a:endParaRPr lang="en-US" sz="1150" dirty="0"/>
          </a:p>
        </p:txBody>
      </p:sp>
      <p:sp>
        <p:nvSpPr>
          <p:cNvPr id="32" name="Text 30"/>
          <p:cNvSpPr/>
          <p:nvPr/>
        </p:nvSpPr>
        <p:spPr>
          <a:xfrm>
            <a:off x="4453128" y="4270248"/>
            <a:ext cx="3108960" cy="411480"/>
          </a:xfrm>
          <a:prstGeom prst="rect">
            <a:avLst/>
          </a:prstGeom>
          <a:noFill/>
          <a:ln/>
        </p:spPr>
        <p:txBody>
          <a:bodyPr wrap="square" rtlCol="0" anchor="ctr"/>
          <a:lstStyle/>
          <a:p>
            <a:pPr indent="0" marL="0">
              <a:buNone/>
            </a:pPr>
            <a:r>
              <a:rPr lang="en-US" sz="1800" b="1" dirty="0">
                <a:solidFill>
                  <a:srgbClr val="B3261E"/>
                </a:solidFill>
                <a:latin typeface="Cambria" pitchFamily="34" charset="0"/>
                <a:ea typeface="Cambria" pitchFamily="34" charset="-122"/>
                <a:cs typeface="Cambria" pitchFamily="34" charset="-120"/>
              </a:rPr>
              <a:t>Net -Rs 1.13 Cr</a:t>
            </a:r>
            <a:endParaRPr lang="en-US" sz="1800" dirty="0"/>
          </a:p>
        </p:txBody>
      </p:sp>
      <p:sp>
        <p:nvSpPr>
          <p:cNvPr id="33" name="Text 31"/>
          <p:cNvSpPr/>
          <p:nvPr/>
        </p:nvSpPr>
        <p:spPr>
          <a:xfrm>
            <a:off x="4453128" y="4727448"/>
            <a:ext cx="3108960" cy="457200"/>
          </a:xfrm>
          <a:prstGeom prst="rect">
            <a:avLst/>
          </a:prstGeom>
          <a:noFill/>
          <a:ln/>
        </p:spPr>
        <p:txBody>
          <a:bodyPr wrap="square" rtlCol="0" anchor="ctr"/>
          <a:lstStyle/>
          <a:p>
            <a:pPr indent="0" marL="0">
              <a:buNone/>
            </a:pPr>
            <a:r>
              <a:rPr lang="en-US" sz="1100" dirty="0">
                <a:solidFill>
                  <a:srgbClr val="5B6B7B"/>
                </a:solidFill>
                <a:latin typeface="Calibri" pitchFamily="34" charset="0"/>
                <a:ea typeface="Calibri" pitchFamily="34" charset="-122"/>
                <a:cs typeface="Calibri" pitchFamily="34" charset="-120"/>
              </a:rPr>
              <a:t>Only 3 months of BLR revenue.</a:t>
            </a:r>
            <a:endParaRPr lang="en-US" sz="1100" dirty="0"/>
          </a:p>
        </p:txBody>
      </p:sp>
      <p:sp>
        <p:nvSpPr>
          <p:cNvPr id="34" name="Shape 32"/>
          <p:cNvSpPr/>
          <p:nvPr/>
        </p:nvSpPr>
        <p:spPr>
          <a:xfrm>
            <a:off x="7973568" y="1965960"/>
            <a:ext cx="3520440" cy="3383280"/>
          </a:xfrm>
          <a:prstGeom prst="rect">
            <a:avLst/>
          </a:prstGeom>
          <a:solidFill>
            <a:srgbClr val="FFFFFF"/>
          </a:solidFill>
          <a:ln w="12700">
            <a:solidFill>
              <a:srgbClr val="E6E9EE"/>
            </a:solidFill>
            <a:prstDash val="solid"/>
          </a:ln>
        </p:spPr>
      </p:sp>
      <p:sp>
        <p:nvSpPr>
          <p:cNvPr id="35" name="Shape 33"/>
          <p:cNvSpPr/>
          <p:nvPr/>
        </p:nvSpPr>
        <p:spPr>
          <a:xfrm>
            <a:off x="8156448" y="2167128"/>
            <a:ext cx="1417320" cy="292608"/>
          </a:xfrm>
          <a:prstGeom prst="rect">
            <a:avLst/>
          </a:prstGeom>
          <a:solidFill>
            <a:srgbClr val="F6E6E4"/>
          </a:solidFill>
          <a:ln/>
        </p:spPr>
      </p:sp>
      <p:sp>
        <p:nvSpPr>
          <p:cNvPr id="36" name="Text 34"/>
          <p:cNvSpPr/>
          <p:nvPr/>
        </p:nvSpPr>
        <p:spPr>
          <a:xfrm>
            <a:off x="8156448" y="2167128"/>
            <a:ext cx="1417320" cy="292608"/>
          </a:xfrm>
          <a:prstGeom prst="rect">
            <a:avLst/>
          </a:prstGeom>
          <a:noFill/>
          <a:ln/>
        </p:spPr>
        <p:txBody>
          <a:bodyPr wrap="square" rtlCol="0" anchor="ctr"/>
          <a:lstStyle/>
          <a:p>
            <a:pPr algn="ctr" indent="0" marL="0">
              <a:buNone/>
            </a:pPr>
            <a:r>
              <a:rPr lang="en-US" sz="1000" b="1" dirty="0">
                <a:solidFill>
                  <a:srgbClr val="B3261E"/>
                </a:solidFill>
                <a:latin typeface="Calibri" pitchFamily="34" charset="0"/>
                <a:ea typeface="Calibri" pitchFamily="34" charset="-122"/>
                <a:cs typeface="Calibri" pitchFamily="34" charset="-120"/>
              </a:rPr>
              <a:t>Downside 2</a:t>
            </a:r>
            <a:endParaRPr lang="en-US" sz="1000" dirty="0"/>
          </a:p>
        </p:txBody>
      </p:sp>
      <p:sp>
        <p:nvSpPr>
          <p:cNvPr id="37" name="Text 35"/>
          <p:cNvSpPr/>
          <p:nvPr/>
        </p:nvSpPr>
        <p:spPr>
          <a:xfrm>
            <a:off x="8156448" y="2532888"/>
            <a:ext cx="3108960" cy="320040"/>
          </a:xfrm>
          <a:prstGeom prst="rect">
            <a:avLst/>
          </a:prstGeom>
          <a:noFill/>
          <a:ln/>
        </p:spPr>
        <p:txBody>
          <a:bodyPr wrap="square" rtlCol="0" anchor="ctr"/>
          <a:lstStyle/>
          <a:p>
            <a:pPr indent="0" marL="0">
              <a:buNone/>
            </a:pPr>
            <a:r>
              <a:rPr lang="en-US" sz="1450" b="1" dirty="0">
                <a:solidFill>
                  <a:srgbClr val="0A1F33"/>
                </a:solidFill>
                <a:latin typeface="Cambria" pitchFamily="34" charset="0"/>
                <a:ea typeface="Cambria" pitchFamily="34" charset="-122"/>
                <a:cs typeface="Cambria" pitchFamily="34" charset="-120"/>
              </a:rPr>
              <a:t>S3. No BLR this FY</a:t>
            </a:r>
            <a:endParaRPr lang="en-US" sz="1450" dirty="0"/>
          </a:p>
        </p:txBody>
      </p:sp>
      <p:sp>
        <p:nvSpPr>
          <p:cNvPr id="38" name="Text 36"/>
          <p:cNvSpPr/>
          <p:nvPr/>
        </p:nvSpPr>
        <p:spPr>
          <a:xfrm>
            <a:off x="8156448" y="2916936"/>
            <a:ext cx="1920240" cy="274320"/>
          </a:xfrm>
          <a:prstGeom prst="rect">
            <a:avLst/>
          </a:prstGeom>
          <a:noFill/>
          <a:ln/>
        </p:spPr>
        <p:txBody>
          <a:bodyPr wrap="square" rtlCol="0" anchor="ctr"/>
          <a:lstStyle/>
          <a:p>
            <a:pPr indent="0" marL="0">
              <a:buNone/>
            </a:pPr>
            <a:r>
              <a:rPr lang="en-US" sz="1150" dirty="0">
                <a:solidFill>
                  <a:srgbClr val="5B6B7B"/>
                </a:solidFill>
                <a:latin typeface="Calibri" pitchFamily="34" charset="0"/>
                <a:ea typeface="Calibri" pitchFamily="34" charset="-122"/>
                <a:cs typeface="Calibri" pitchFamily="34" charset="-120"/>
              </a:rPr>
              <a:t>FD interest</a:t>
            </a:r>
            <a:endParaRPr lang="en-US" sz="1150" dirty="0"/>
          </a:p>
        </p:txBody>
      </p:sp>
      <p:sp>
        <p:nvSpPr>
          <p:cNvPr id="39" name="Text 37"/>
          <p:cNvSpPr/>
          <p:nvPr/>
        </p:nvSpPr>
        <p:spPr>
          <a:xfrm>
            <a:off x="9756648" y="2916936"/>
            <a:ext cx="1554480" cy="274320"/>
          </a:xfrm>
          <a:prstGeom prst="rect">
            <a:avLst/>
          </a:prstGeom>
          <a:noFill/>
          <a:ln/>
        </p:spPr>
        <p:txBody>
          <a:bodyPr wrap="square" rtlCol="0" anchor="ctr"/>
          <a:lstStyle/>
          <a:p>
            <a:pPr algn="r" indent="0" marL="0">
              <a:buNone/>
            </a:pPr>
            <a:r>
              <a:rPr lang="en-US" sz="1150" b="1" dirty="0">
                <a:solidFill>
                  <a:srgbClr val="0A1F33"/>
                </a:solidFill>
                <a:latin typeface="Calibri" pitchFamily="34" charset="0"/>
                <a:ea typeface="Calibri" pitchFamily="34" charset="-122"/>
                <a:cs typeface="Calibri" pitchFamily="34" charset="-120"/>
              </a:rPr>
              <a:t>Rs 1.80 Cr</a:t>
            </a:r>
            <a:endParaRPr lang="en-US" sz="1150" dirty="0"/>
          </a:p>
        </p:txBody>
      </p:sp>
      <p:sp>
        <p:nvSpPr>
          <p:cNvPr id="40" name="Text 38"/>
          <p:cNvSpPr/>
          <p:nvPr/>
        </p:nvSpPr>
        <p:spPr>
          <a:xfrm>
            <a:off x="8156448" y="3236976"/>
            <a:ext cx="1920240" cy="274320"/>
          </a:xfrm>
          <a:prstGeom prst="rect">
            <a:avLst/>
          </a:prstGeom>
          <a:noFill/>
          <a:ln/>
        </p:spPr>
        <p:txBody>
          <a:bodyPr wrap="square" rtlCol="0" anchor="ctr"/>
          <a:lstStyle/>
          <a:p>
            <a:pPr indent="0" marL="0">
              <a:buNone/>
            </a:pPr>
            <a:r>
              <a:rPr lang="en-US" sz="1150" dirty="0">
                <a:solidFill>
                  <a:srgbClr val="5B6B7B"/>
                </a:solidFill>
                <a:latin typeface="Calibri" pitchFamily="34" charset="0"/>
                <a:ea typeface="Calibri" pitchFamily="34" charset="-122"/>
                <a:cs typeface="Calibri" pitchFamily="34" charset="-120"/>
              </a:rPr>
              <a:t>Ratings revenue</a:t>
            </a:r>
            <a:endParaRPr lang="en-US" sz="1150" dirty="0"/>
          </a:p>
        </p:txBody>
      </p:sp>
      <p:sp>
        <p:nvSpPr>
          <p:cNvPr id="41" name="Text 39"/>
          <p:cNvSpPr/>
          <p:nvPr/>
        </p:nvSpPr>
        <p:spPr>
          <a:xfrm>
            <a:off x="9756648" y="3236976"/>
            <a:ext cx="1554480" cy="274320"/>
          </a:xfrm>
          <a:prstGeom prst="rect">
            <a:avLst/>
          </a:prstGeom>
          <a:noFill/>
          <a:ln/>
        </p:spPr>
        <p:txBody>
          <a:bodyPr wrap="square" rtlCol="0" anchor="ctr"/>
          <a:lstStyle/>
          <a:p>
            <a:pPr algn="r" indent="0" marL="0">
              <a:buNone/>
            </a:pPr>
            <a:r>
              <a:rPr lang="en-US" sz="1150" b="1" dirty="0">
                <a:solidFill>
                  <a:srgbClr val="0A1F33"/>
                </a:solidFill>
                <a:latin typeface="Calibri" pitchFamily="34" charset="0"/>
                <a:ea typeface="Calibri" pitchFamily="34" charset="-122"/>
                <a:cs typeface="Calibri" pitchFamily="34" charset="-120"/>
              </a:rPr>
              <a:t>Rs 0.87 Cr</a:t>
            </a:r>
            <a:endParaRPr lang="en-US" sz="1150" dirty="0"/>
          </a:p>
        </p:txBody>
      </p:sp>
      <p:sp>
        <p:nvSpPr>
          <p:cNvPr id="42" name="Text 40"/>
          <p:cNvSpPr/>
          <p:nvPr/>
        </p:nvSpPr>
        <p:spPr>
          <a:xfrm>
            <a:off x="8156448" y="3557016"/>
            <a:ext cx="1920240" cy="274320"/>
          </a:xfrm>
          <a:prstGeom prst="rect">
            <a:avLst/>
          </a:prstGeom>
          <a:noFill/>
          <a:ln/>
        </p:spPr>
        <p:txBody>
          <a:bodyPr wrap="square" rtlCol="0" anchor="ctr"/>
          <a:lstStyle/>
          <a:p>
            <a:pPr indent="0" marL="0">
              <a:buNone/>
            </a:pPr>
            <a:r>
              <a:rPr lang="en-US" sz="1150" dirty="0">
                <a:solidFill>
                  <a:srgbClr val="5B6B7B"/>
                </a:solidFill>
                <a:latin typeface="Calibri" pitchFamily="34" charset="0"/>
                <a:ea typeface="Calibri" pitchFamily="34" charset="-122"/>
                <a:cs typeface="Calibri" pitchFamily="34" charset="-120"/>
              </a:rPr>
              <a:t>Total income</a:t>
            </a:r>
            <a:endParaRPr lang="en-US" sz="1150" dirty="0"/>
          </a:p>
        </p:txBody>
      </p:sp>
      <p:sp>
        <p:nvSpPr>
          <p:cNvPr id="43" name="Text 41"/>
          <p:cNvSpPr/>
          <p:nvPr/>
        </p:nvSpPr>
        <p:spPr>
          <a:xfrm>
            <a:off x="9756648" y="3557016"/>
            <a:ext cx="1554480" cy="274320"/>
          </a:xfrm>
          <a:prstGeom prst="rect">
            <a:avLst/>
          </a:prstGeom>
          <a:noFill/>
          <a:ln/>
        </p:spPr>
        <p:txBody>
          <a:bodyPr wrap="square" rtlCol="0" anchor="ctr"/>
          <a:lstStyle/>
          <a:p>
            <a:pPr algn="r" indent="0" marL="0">
              <a:buNone/>
            </a:pPr>
            <a:r>
              <a:rPr lang="en-US" sz="1150" b="1" dirty="0">
                <a:solidFill>
                  <a:srgbClr val="0A1F33"/>
                </a:solidFill>
                <a:latin typeface="Calibri" pitchFamily="34" charset="0"/>
                <a:ea typeface="Calibri" pitchFamily="34" charset="-122"/>
                <a:cs typeface="Calibri" pitchFamily="34" charset="-120"/>
              </a:rPr>
              <a:t>Rs 2.67 Cr</a:t>
            </a:r>
            <a:endParaRPr lang="en-US" sz="1150" dirty="0"/>
          </a:p>
        </p:txBody>
      </p:sp>
      <p:sp>
        <p:nvSpPr>
          <p:cNvPr id="44" name="Text 42"/>
          <p:cNvSpPr/>
          <p:nvPr/>
        </p:nvSpPr>
        <p:spPr>
          <a:xfrm>
            <a:off x="8156448" y="3877056"/>
            <a:ext cx="1920240" cy="274320"/>
          </a:xfrm>
          <a:prstGeom prst="rect">
            <a:avLst/>
          </a:prstGeom>
          <a:noFill/>
          <a:ln/>
        </p:spPr>
        <p:txBody>
          <a:bodyPr wrap="square" rtlCol="0" anchor="ctr"/>
          <a:lstStyle/>
          <a:p>
            <a:pPr indent="0" marL="0">
              <a:buNone/>
            </a:pPr>
            <a:r>
              <a:rPr lang="en-US" sz="1150" dirty="0">
                <a:solidFill>
                  <a:srgbClr val="5B6B7B"/>
                </a:solidFill>
                <a:latin typeface="Calibri" pitchFamily="34" charset="0"/>
                <a:ea typeface="Calibri" pitchFamily="34" charset="-122"/>
                <a:cs typeface="Calibri" pitchFamily="34" charset="-120"/>
              </a:rPr>
              <a:t>Ratings share</a:t>
            </a:r>
            <a:endParaRPr lang="en-US" sz="1150" dirty="0"/>
          </a:p>
        </p:txBody>
      </p:sp>
      <p:sp>
        <p:nvSpPr>
          <p:cNvPr id="45" name="Text 43"/>
          <p:cNvSpPr/>
          <p:nvPr/>
        </p:nvSpPr>
        <p:spPr>
          <a:xfrm>
            <a:off x="9756648" y="3877056"/>
            <a:ext cx="1554480" cy="274320"/>
          </a:xfrm>
          <a:prstGeom prst="rect">
            <a:avLst/>
          </a:prstGeom>
          <a:noFill/>
          <a:ln/>
        </p:spPr>
        <p:txBody>
          <a:bodyPr wrap="square" rtlCol="0" anchor="ctr"/>
          <a:lstStyle/>
          <a:p>
            <a:pPr algn="r" indent="0" marL="0">
              <a:buNone/>
            </a:pPr>
            <a:r>
              <a:rPr lang="en-US" sz="1150" b="1" dirty="0">
                <a:solidFill>
                  <a:srgbClr val="0A1F33"/>
                </a:solidFill>
                <a:latin typeface="Calibri" pitchFamily="34" charset="0"/>
                <a:ea typeface="Calibri" pitchFamily="34" charset="-122"/>
                <a:cs typeface="Calibri" pitchFamily="34" charset="-120"/>
              </a:rPr>
              <a:t>33%</a:t>
            </a:r>
            <a:endParaRPr lang="en-US" sz="1150" dirty="0"/>
          </a:p>
        </p:txBody>
      </p:sp>
      <p:sp>
        <p:nvSpPr>
          <p:cNvPr id="46" name="Text 44"/>
          <p:cNvSpPr/>
          <p:nvPr/>
        </p:nvSpPr>
        <p:spPr>
          <a:xfrm>
            <a:off x="8156448" y="4270248"/>
            <a:ext cx="3108960" cy="411480"/>
          </a:xfrm>
          <a:prstGeom prst="rect">
            <a:avLst/>
          </a:prstGeom>
          <a:noFill/>
          <a:ln/>
        </p:spPr>
        <p:txBody>
          <a:bodyPr wrap="square" rtlCol="0" anchor="ctr"/>
          <a:lstStyle/>
          <a:p>
            <a:pPr indent="0" marL="0">
              <a:buNone/>
            </a:pPr>
            <a:r>
              <a:rPr lang="en-US" sz="1800" b="1" dirty="0">
                <a:solidFill>
                  <a:srgbClr val="B3261E"/>
                </a:solidFill>
                <a:latin typeface="Cambria" pitchFamily="34" charset="0"/>
                <a:ea typeface="Cambria" pitchFamily="34" charset="-122"/>
                <a:cs typeface="Cambria" pitchFamily="34" charset="-120"/>
              </a:rPr>
              <a:t>Net -Rs 2.57 Cr</a:t>
            </a:r>
            <a:endParaRPr lang="en-US" sz="1800" dirty="0"/>
          </a:p>
        </p:txBody>
      </p:sp>
      <p:sp>
        <p:nvSpPr>
          <p:cNvPr id="47" name="Text 45"/>
          <p:cNvSpPr/>
          <p:nvPr/>
        </p:nvSpPr>
        <p:spPr>
          <a:xfrm>
            <a:off x="8156448" y="4727448"/>
            <a:ext cx="3108960" cy="457200"/>
          </a:xfrm>
          <a:prstGeom prst="rect">
            <a:avLst/>
          </a:prstGeom>
          <a:noFill/>
          <a:ln/>
        </p:spPr>
        <p:txBody>
          <a:bodyPr wrap="square" rtlCol="0" anchor="ctr"/>
          <a:lstStyle/>
          <a:p>
            <a:pPr indent="0" marL="0">
              <a:buNone/>
            </a:pPr>
            <a:r>
              <a:rPr lang="en-US" sz="1100" dirty="0">
                <a:solidFill>
                  <a:srgbClr val="5B6B7B"/>
                </a:solidFill>
                <a:latin typeface="Calibri" pitchFamily="34" charset="0"/>
                <a:ea typeface="Calibri" pitchFamily="34" charset="-122"/>
                <a:cs typeface="Calibri" pitchFamily="34" charset="-120"/>
              </a:rPr>
              <a:t>Invest through year on reserves.</a:t>
            </a:r>
            <a:endParaRPr lang="en-US" sz="1100" dirty="0"/>
          </a:p>
        </p:txBody>
      </p:sp>
      <p:sp>
        <p:nvSpPr>
          <p:cNvPr id="48" name="Text 46"/>
          <p:cNvSpPr/>
          <p:nvPr/>
        </p:nvSpPr>
        <p:spPr>
          <a:xfrm>
            <a:off x="566928" y="6455664"/>
            <a:ext cx="11064240" cy="292608"/>
          </a:xfrm>
          <a:prstGeom prst="rect">
            <a:avLst/>
          </a:prstGeom>
          <a:noFill/>
          <a:ln/>
        </p:spPr>
        <p:txBody>
          <a:bodyPr wrap="square" rtlCol="0" anchor="ctr"/>
          <a:lstStyle/>
          <a:p>
            <a:pPr indent="0" marL="0">
              <a:buNone/>
            </a:pPr>
            <a:r>
              <a:rPr lang="en-US" sz="900" dirty="0">
                <a:solidFill>
                  <a:srgbClr val="9AA7B4"/>
                </a:solidFill>
                <a:latin typeface="Calibri" pitchFamily="34" charset="0"/>
                <a:ea typeface="Calibri" pitchFamily="34" charset="-122"/>
                <a:cs typeface="Calibri" pitchFamily="34" charset="-120"/>
              </a:rPr>
              <a:t>Source: FD interest and cost base, Internal run rate [1]. BLR revenue, assumptions [2]. Flat 16 cases per month from launch; FY27 counts initial fees only.</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30000" y="420624"/>
            <a:ext cx="365760" cy="274320"/>
          </a:xfrm>
          <a:prstGeom prst="rect">
            <a:avLst/>
          </a:prstGeom>
          <a:noFill/>
          <a:ln/>
        </p:spPr>
        <p:txBody>
          <a:bodyPr wrap="square" rtlCol="0" anchor="ctr"/>
          <a:lstStyle/>
          <a:p>
            <a:pPr algn="r" indent="0" marL="0">
              <a:buNone/>
            </a:pPr>
            <a:r>
              <a:rPr lang="en-US" sz="1100" b="1" dirty="0">
                <a:solidFill>
                  <a:srgbClr val="9AA7B4"/>
                </a:solidFill>
                <a:latin typeface="Calibri" pitchFamily="34" charset="0"/>
                <a:ea typeface="Calibri" pitchFamily="34" charset="-122"/>
                <a:cs typeface="Calibri" pitchFamily="34" charset="-120"/>
              </a:rPr>
              <a:t>06</a:t>
            </a:r>
            <a:endParaRPr lang="en-US" sz="1100" dirty="0"/>
          </a:p>
        </p:txBody>
      </p:sp>
      <p:sp>
        <p:nvSpPr>
          <p:cNvPr id="3" name="Text 1"/>
          <p:cNvSpPr/>
          <p:nvPr/>
        </p:nvSpPr>
        <p:spPr>
          <a:xfrm>
            <a:off x="566928" y="457200"/>
            <a:ext cx="10058400" cy="274320"/>
          </a:xfrm>
          <a:prstGeom prst="rect">
            <a:avLst/>
          </a:prstGeom>
          <a:noFill/>
          <a:ln/>
        </p:spPr>
        <p:txBody>
          <a:bodyPr wrap="square" rtlCol="0" anchor="ctr"/>
          <a:lstStyle/>
          <a:p>
            <a:pPr indent="0" marL="0">
              <a:buNone/>
            </a:pPr>
            <a:r>
              <a:rPr lang="en-US" sz="1100" b="1" spc="200" kern="0" dirty="0">
                <a:solidFill>
                  <a:srgbClr val="0F766E"/>
                </a:solidFill>
                <a:latin typeface="Calibri" pitchFamily="34" charset="0"/>
                <a:ea typeface="Calibri" pitchFamily="34" charset="-122"/>
                <a:cs typeface="Calibri" pitchFamily="34" charset="-120"/>
              </a:rPr>
              <a:t>MONTHLY PATH TO BREAK EVEN</a:t>
            </a:r>
            <a:endParaRPr lang="en-US" sz="1100" dirty="0"/>
          </a:p>
        </p:txBody>
      </p:sp>
      <p:sp>
        <p:nvSpPr>
          <p:cNvPr id="4" name="Text 2"/>
          <p:cNvSpPr/>
          <p:nvPr/>
        </p:nvSpPr>
        <p:spPr>
          <a:xfrm>
            <a:off x="566928" y="713232"/>
            <a:ext cx="11064240" cy="640080"/>
          </a:xfrm>
          <a:prstGeom prst="rect">
            <a:avLst/>
          </a:prstGeom>
          <a:noFill/>
          <a:ln/>
        </p:spPr>
        <p:txBody>
          <a:bodyPr wrap="square" rtlCol="0" anchor="ctr"/>
          <a:lstStyle/>
          <a:p>
            <a:pPr indent="0" marL="0">
              <a:buNone/>
            </a:pPr>
            <a:r>
              <a:rPr lang="en-US" sz="2700" b="1" dirty="0">
                <a:solidFill>
                  <a:srgbClr val="0A1F33"/>
                </a:solidFill>
                <a:latin typeface="Cambria" pitchFamily="34" charset="0"/>
                <a:ea typeface="Cambria" pitchFamily="34" charset="-122"/>
                <a:cs typeface="Cambria" pitchFamily="34" charset="-120"/>
              </a:rPr>
              <a:t>S1. BLR by October</a:t>
            </a:r>
            <a:endParaRPr lang="en-US" sz="2700" dirty="0"/>
          </a:p>
        </p:txBody>
      </p:sp>
      <p:sp>
        <p:nvSpPr>
          <p:cNvPr id="5" name="Text 3"/>
          <p:cNvSpPr/>
          <p:nvPr/>
        </p:nvSpPr>
        <p:spPr>
          <a:xfrm>
            <a:off x="566928" y="1325880"/>
            <a:ext cx="10972800" cy="320040"/>
          </a:xfrm>
          <a:prstGeom prst="rect">
            <a:avLst/>
          </a:prstGeom>
          <a:noFill/>
          <a:ln/>
        </p:spPr>
        <p:txBody>
          <a:bodyPr wrap="square" rtlCol="0" anchor="ctr"/>
          <a:lstStyle/>
          <a:p>
            <a:pPr indent="0" marL="0">
              <a:buNone/>
            </a:pPr>
            <a:r>
              <a:rPr lang="en-US" sz="1300" b="1" dirty="0">
                <a:solidFill>
                  <a:srgbClr val="0F766E"/>
                </a:solidFill>
                <a:latin typeface="Calibri" pitchFamily="34" charset="0"/>
                <a:ea typeface="Calibri" pitchFamily="34" charset="-122"/>
                <a:cs typeface="Calibri" pitchFamily="34" charset="-120"/>
              </a:rPr>
              <a:t>Cash positive from October   ·   Apr to Jun actual, rest projected</a:t>
            </a:r>
            <a:endParaRPr lang="en-US" sz="1300" dirty="0"/>
          </a:p>
        </p:txBody>
      </p:sp>
      <p:graphicFrame>
        <p:nvGraphicFramePr>
          <p:cNvPr id="6" name="Chart 0" descr=""/>
          <p:cNvGraphicFramePr/>
          <p:nvPr/>
        </p:nvGraphicFramePr>
        <p:xfrm>
          <a:off x="566928" y="1737360"/>
          <a:ext cx="11064240" cy="397764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566928" y="5806440"/>
            <a:ext cx="11064240" cy="457200"/>
          </a:xfrm>
          <a:prstGeom prst="rect">
            <a:avLst/>
          </a:prstGeom>
          <a:noFill/>
          <a:ln/>
        </p:spPr>
        <p:txBody>
          <a:bodyPr wrap="square" rtlCol="0" anchor="ctr"/>
          <a:lstStyle/>
          <a:p>
            <a:pPr indent="0" marL="0">
              <a:buNone/>
            </a:pPr>
            <a:r>
              <a:rPr lang="en-US" sz="1250" dirty="0">
                <a:solidFill>
                  <a:srgbClr val="2B3F52"/>
                </a:solidFill>
                <a:latin typeface="Calibri" pitchFamily="34" charset="0"/>
                <a:ea typeface="Calibri" pitchFamily="34" charset="-122"/>
                <a:cs typeface="Calibri" pitchFamily="34" charset="-120"/>
              </a:rPr>
              <a:t>Earning jumps from Rs 8 L to Rs 56 L in October as 16 cases at Rs 3 L land, clearing the Rs 46 L monthly expense line.</a:t>
            </a:r>
            <a:endParaRPr lang="en-US" sz="1250" dirty="0"/>
          </a:p>
        </p:txBody>
      </p:sp>
      <p:sp>
        <p:nvSpPr>
          <p:cNvPr id="8" name="Text 5"/>
          <p:cNvSpPr/>
          <p:nvPr/>
        </p:nvSpPr>
        <p:spPr>
          <a:xfrm>
            <a:off x="566928" y="6455664"/>
            <a:ext cx="11064240" cy="292608"/>
          </a:xfrm>
          <a:prstGeom prst="rect">
            <a:avLst/>
          </a:prstGeom>
          <a:noFill/>
          <a:ln/>
        </p:spPr>
        <p:txBody>
          <a:bodyPr wrap="square" rtlCol="0" anchor="ctr"/>
          <a:lstStyle/>
          <a:p>
            <a:pPr indent="0" marL="0">
              <a:buNone/>
            </a:pPr>
            <a:r>
              <a:rPr lang="en-US" sz="900" dirty="0">
                <a:solidFill>
                  <a:srgbClr val="9AA7B4"/>
                </a:solidFill>
                <a:latin typeface="Calibri" pitchFamily="34" charset="0"/>
                <a:ea typeface="Calibri" pitchFamily="34" charset="-122"/>
                <a:cs typeface="Calibri" pitchFamily="34" charset="-120"/>
              </a:rPr>
              <a:t>Source: Apr to Jun actual, Internal ledger [1]; Jul to Mar projected [1][2]. Rs Lakh. Earning = existing ratings plus 16 cases at Rs 3 L each once BLR is live.</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30000" y="420624"/>
            <a:ext cx="365760" cy="274320"/>
          </a:xfrm>
          <a:prstGeom prst="rect">
            <a:avLst/>
          </a:prstGeom>
          <a:noFill/>
          <a:ln/>
        </p:spPr>
        <p:txBody>
          <a:bodyPr wrap="square" rtlCol="0" anchor="ctr"/>
          <a:lstStyle/>
          <a:p>
            <a:pPr algn="r" indent="0" marL="0">
              <a:buNone/>
            </a:pPr>
            <a:r>
              <a:rPr lang="en-US" sz="1100" b="1" dirty="0">
                <a:solidFill>
                  <a:srgbClr val="9AA7B4"/>
                </a:solidFill>
                <a:latin typeface="Calibri" pitchFamily="34" charset="0"/>
                <a:ea typeface="Calibri" pitchFamily="34" charset="-122"/>
                <a:cs typeface="Calibri" pitchFamily="34" charset="-120"/>
              </a:rPr>
              <a:t>07</a:t>
            </a:r>
            <a:endParaRPr lang="en-US" sz="1100" dirty="0"/>
          </a:p>
        </p:txBody>
      </p:sp>
      <p:sp>
        <p:nvSpPr>
          <p:cNvPr id="3" name="Text 1"/>
          <p:cNvSpPr/>
          <p:nvPr/>
        </p:nvSpPr>
        <p:spPr>
          <a:xfrm>
            <a:off x="566928" y="457200"/>
            <a:ext cx="10058400" cy="274320"/>
          </a:xfrm>
          <a:prstGeom prst="rect">
            <a:avLst/>
          </a:prstGeom>
          <a:noFill/>
          <a:ln/>
        </p:spPr>
        <p:txBody>
          <a:bodyPr wrap="square" rtlCol="0" anchor="ctr"/>
          <a:lstStyle/>
          <a:p>
            <a:pPr indent="0" marL="0">
              <a:buNone/>
            </a:pPr>
            <a:r>
              <a:rPr lang="en-US" sz="1100" b="1" spc="200" kern="0" dirty="0">
                <a:solidFill>
                  <a:srgbClr val="0F766E"/>
                </a:solidFill>
                <a:latin typeface="Calibri" pitchFamily="34" charset="0"/>
                <a:ea typeface="Calibri" pitchFamily="34" charset="-122"/>
                <a:cs typeface="Calibri" pitchFamily="34" charset="-120"/>
              </a:rPr>
              <a:t>MONTHLY PATH TO BREAK EVEN</a:t>
            </a:r>
            <a:endParaRPr lang="en-US" sz="1100" dirty="0"/>
          </a:p>
        </p:txBody>
      </p:sp>
      <p:sp>
        <p:nvSpPr>
          <p:cNvPr id="4" name="Text 2"/>
          <p:cNvSpPr/>
          <p:nvPr/>
        </p:nvSpPr>
        <p:spPr>
          <a:xfrm>
            <a:off x="566928" y="713232"/>
            <a:ext cx="11064240" cy="640080"/>
          </a:xfrm>
          <a:prstGeom prst="rect">
            <a:avLst/>
          </a:prstGeom>
          <a:noFill/>
          <a:ln/>
        </p:spPr>
        <p:txBody>
          <a:bodyPr wrap="square" rtlCol="0" anchor="ctr"/>
          <a:lstStyle/>
          <a:p>
            <a:pPr indent="0" marL="0">
              <a:buNone/>
            </a:pPr>
            <a:r>
              <a:rPr lang="en-US" sz="2700" b="1" dirty="0">
                <a:solidFill>
                  <a:srgbClr val="0A1F33"/>
                </a:solidFill>
                <a:latin typeface="Cambria" pitchFamily="34" charset="0"/>
                <a:ea typeface="Cambria" pitchFamily="34" charset="-122"/>
                <a:cs typeface="Cambria" pitchFamily="34" charset="-120"/>
              </a:rPr>
              <a:t>S2. BLR by January</a:t>
            </a:r>
            <a:endParaRPr lang="en-US" sz="2700" dirty="0"/>
          </a:p>
        </p:txBody>
      </p:sp>
      <p:sp>
        <p:nvSpPr>
          <p:cNvPr id="5" name="Text 3"/>
          <p:cNvSpPr/>
          <p:nvPr/>
        </p:nvSpPr>
        <p:spPr>
          <a:xfrm>
            <a:off x="566928" y="1325880"/>
            <a:ext cx="10972800" cy="320040"/>
          </a:xfrm>
          <a:prstGeom prst="rect">
            <a:avLst/>
          </a:prstGeom>
          <a:noFill/>
          <a:ln/>
        </p:spPr>
        <p:txBody>
          <a:bodyPr wrap="square" rtlCol="0" anchor="ctr"/>
          <a:lstStyle/>
          <a:p>
            <a:pPr indent="0" marL="0">
              <a:buNone/>
            </a:pPr>
            <a:r>
              <a:rPr lang="en-US" sz="1300" b="1" dirty="0">
                <a:solidFill>
                  <a:srgbClr val="1E4E79"/>
                </a:solidFill>
                <a:latin typeface="Calibri" pitchFamily="34" charset="0"/>
                <a:ea typeface="Calibri" pitchFamily="34" charset="-122"/>
                <a:cs typeface="Calibri" pitchFamily="34" charset="-120"/>
              </a:rPr>
              <a:t>Cash positive from January   ·   Apr to Jun actual, rest projected</a:t>
            </a:r>
            <a:endParaRPr lang="en-US" sz="1300" dirty="0"/>
          </a:p>
        </p:txBody>
      </p:sp>
      <p:graphicFrame>
        <p:nvGraphicFramePr>
          <p:cNvPr id="6" name="Chart 0" descr=""/>
          <p:cNvGraphicFramePr/>
          <p:nvPr/>
        </p:nvGraphicFramePr>
        <p:xfrm>
          <a:off x="566928" y="1737360"/>
          <a:ext cx="11064240" cy="397764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566928" y="5806440"/>
            <a:ext cx="11064240" cy="457200"/>
          </a:xfrm>
          <a:prstGeom prst="rect">
            <a:avLst/>
          </a:prstGeom>
          <a:noFill/>
          <a:ln/>
        </p:spPr>
        <p:txBody>
          <a:bodyPr wrap="square" rtlCol="0" anchor="ctr"/>
          <a:lstStyle/>
          <a:p>
            <a:pPr indent="0" marL="0">
              <a:buNone/>
            </a:pPr>
            <a:r>
              <a:rPr lang="en-US" sz="1250" dirty="0">
                <a:solidFill>
                  <a:srgbClr val="2B3F52"/>
                </a:solidFill>
                <a:latin typeface="Calibri" pitchFamily="34" charset="0"/>
                <a:ea typeface="Calibri" pitchFamily="34" charset="-122"/>
                <a:cs typeface="Calibri" pitchFamily="34" charset="-120"/>
              </a:rPr>
              <a:t>The team and expense run all year, but earning only steps up in January. FY27 stays a loss overall.</a:t>
            </a:r>
            <a:endParaRPr lang="en-US" sz="1250" dirty="0"/>
          </a:p>
        </p:txBody>
      </p:sp>
      <p:sp>
        <p:nvSpPr>
          <p:cNvPr id="8" name="Text 5"/>
          <p:cNvSpPr/>
          <p:nvPr/>
        </p:nvSpPr>
        <p:spPr>
          <a:xfrm>
            <a:off x="566928" y="6455664"/>
            <a:ext cx="11064240" cy="292608"/>
          </a:xfrm>
          <a:prstGeom prst="rect">
            <a:avLst/>
          </a:prstGeom>
          <a:noFill/>
          <a:ln/>
        </p:spPr>
        <p:txBody>
          <a:bodyPr wrap="square" rtlCol="0" anchor="ctr"/>
          <a:lstStyle/>
          <a:p>
            <a:pPr indent="0" marL="0">
              <a:buNone/>
            </a:pPr>
            <a:r>
              <a:rPr lang="en-US" sz="900" dirty="0">
                <a:solidFill>
                  <a:srgbClr val="9AA7B4"/>
                </a:solidFill>
                <a:latin typeface="Calibri" pitchFamily="34" charset="0"/>
                <a:ea typeface="Calibri" pitchFamily="34" charset="-122"/>
                <a:cs typeface="Calibri" pitchFamily="34" charset="-120"/>
              </a:rPr>
              <a:t>Source: Apr to Jun actual, Internal ledger [1]; Jul to Mar projected [1][2]. Rs Lakh. Earning = existing ratings plus 16 cases at Rs 3 L each once BLR is live.</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30000" y="420624"/>
            <a:ext cx="365760" cy="274320"/>
          </a:xfrm>
          <a:prstGeom prst="rect">
            <a:avLst/>
          </a:prstGeom>
          <a:noFill/>
          <a:ln/>
        </p:spPr>
        <p:txBody>
          <a:bodyPr wrap="square" rtlCol="0" anchor="ctr"/>
          <a:lstStyle/>
          <a:p>
            <a:pPr algn="r" indent="0" marL="0">
              <a:buNone/>
            </a:pPr>
            <a:r>
              <a:rPr lang="en-US" sz="1100" b="1" dirty="0">
                <a:solidFill>
                  <a:srgbClr val="9AA7B4"/>
                </a:solidFill>
                <a:latin typeface="Calibri" pitchFamily="34" charset="0"/>
                <a:ea typeface="Calibri" pitchFamily="34" charset="-122"/>
                <a:cs typeface="Calibri" pitchFamily="34" charset="-120"/>
              </a:rPr>
              <a:t>08</a:t>
            </a:r>
            <a:endParaRPr lang="en-US" sz="1100" dirty="0"/>
          </a:p>
        </p:txBody>
      </p:sp>
      <p:sp>
        <p:nvSpPr>
          <p:cNvPr id="3" name="Text 1"/>
          <p:cNvSpPr/>
          <p:nvPr/>
        </p:nvSpPr>
        <p:spPr>
          <a:xfrm>
            <a:off x="566928" y="457200"/>
            <a:ext cx="10058400" cy="274320"/>
          </a:xfrm>
          <a:prstGeom prst="rect">
            <a:avLst/>
          </a:prstGeom>
          <a:noFill/>
          <a:ln/>
        </p:spPr>
        <p:txBody>
          <a:bodyPr wrap="square" rtlCol="0" anchor="ctr"/>
          <a:lstStyle/>
          <a:p>
            <a:pPr indent="0" marL="0">
              <a:buNone/>
            </a:pPr>
            <a:r>
              <a:rPr lang="en-US" sz="1100" b="1" spc="200" kern="0" dirty="0">
                <a:solidFill>
                  <a:srgbClr val="0F766E"/>
                </a:solidFill>
                <a:latin typeface="Calibri" pitchFamily="34" charset="0"/>
                <a:ea typeface="Calibri" pitchFamily="34" charset="-122"/>
                <a:cs typeface="Calibri" pitchFamily="34" charset="-120"/>
              </a:rPr>
              <a:t>MONTHLY PATH TO BREAK EVEN</a:t>
            </a:r>
            <a:endParaRPr lang="en-US" sz="1100" dirty="0"/>
          </a:p>
        </p:txBody>
      </p:sp>
      <p:sp>
        <p:nvSpPr>
          <p:cNvPr id="4" name="Text 2"/>
          <p:cNvSpPr/>
          <p:nvPr/>
        </p:nvSpPr>
        <p:spPr>
          <a:xfrm>
            <a:off x="566928" y="713232"/>
            <a:ext cx="11064240" cy="640080"/>
          </a:xfrm>
          <a:prstGeom prst="rect">
            <a:avLst/>
          </a:prstGeom>
          <a:noFill/>
          <a:ln/>
        </p:spPr>
        <p:txBody>
          <a:bodyPr wrap="square" rtlCol="0" anchor="ctr"/>
          <a:lstStyle/>
          <a:p>
            <a:pPr indent="0" marL="0">
              <a:buNone/>
            </a:pPr>
            <a:r>
              <a:rPr lang="en-US" sz="2700" b="1" dirty="0">
                <a:solidFill>
                  <a:srgbClr val="0A1F33"/>
                </a:solidFill>
                <a:latin typeface="Cambria" pitchFamily="34" charset="0"/>
                <a:ea typeface="Cambria" pitchFamily="34" charset="-122"/>
                <a:cs typeface="Cambria" pitchFamily="34" charset="-120"/>
              </a:rPr>
              <a:t>S3. No BLR this financial year</a:t>
            </a:r>
            <a:endParaRPr lang="en-US" sz="2700" dirty="0"/>
          </a:p>
        </p:txBody>
      </p:sp>
      <p:sp>
        <p:nvSpPr>
          <p:cNvPr id="5" name="Text 3"/>
          <p:cNvSpPr/>
          <p:nvPr/>
        </p:nvSpPr>
        <p:spPr>
          <a:xfrm>
            <a:off x="566928" y="1325880"/>
            <a:ext cx="10972800" cy="320040"/>
          </a:xfrm>
          <a:prstGeom prst="rect">
            <a:avLst/>
          </a:prstGeom>
          <a:noFill/>
          <a:ln/>
        </p:spPr>
        <p:txBody>
          <a:bodyPr wrap="square" rtlCol="0" anchor="ctr"/>
          <a:lstStyle/>
          <a:p>
            <a:pPr indent="0" marL="0">
              <a:buNone/>
            </a:pPr>
            <a:r>
              <a:rPr lang="en-US" sz="1300" b="1" dirty="0">
                <a:solidFill>
                  <a:srgbClr val="B3261E"/>
                </a:solidFill>
                <a:latin typeface="Calibri" pitchFamily="34" charset="0"/>
                <a:ea typeface="Calibri" pitchFamily="34" charset="-122"/>
                <a:cs typeface="Calibri" pitchFamily="34" charset="-120"/>
              </a:rPr>
              <a:t>Break even not reached   ·   Apr to Jun actual, rest projected</a:t>
            </a:r>
            <a:endParaRPr lang="en-US" sz="1300" dirty="0"/>
          </a:p>
        </p:txBody>
      </p:sp>
      <p:graphicFrame>
        <p:nvGraphicFramePr>
          <p:cNvPr id="6" name="Chart 0" descr=""/>
          <p:cNvGraphicFramePr/>
          <p:nvPr/>
        </p:nvGraphicFramePr>
        <p:xfrm>
          <a:off x="566928" y="1737360"/>
          <a:ext cx="11064240" cy="397764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566928" y="5806440"/>
            <a:ext cx="11064240" cy="457200"/>
          </a:xfrm>
          <a:prstGeom prst="rect">
            <a:avLst/>
          </a:prstGeom>
          <a:noFill/>
          <a:ln/>
        </p:spPr>
        <p:txBody>
          <a:bodyPr wrap="square" rtlCol="0" anchor="ctr"/>
          <a:lstStyle/>
          <a:p>
            <a:pPr indent="0" marL="0">
              <a:buNone/>
            </a:pPr>
            <a:r>
              <a:rPr lang="en-US" sz="1250" dirty="0">
                <a:solidFill>
                  <a:srgbClr val="2B3F52"/>
                </a:solidFill>
                <a:latin typeface="Calibri" pitchFamily="34" charset="0"/>
                <a:ea typeface="Calibri" pitchFamily="34" charset="-122"/>
                <a:cs typeface="Calibri" pitchFamily="34" charset="-120"/>
              </a:rPr>
              <a:t>Existing ratings grow to about Rs 8 L a month, well short of the Rs 46 L expense. Funded from reserves.</a:t>
            </a:r>
            <a:endParaRPr lang="en-US" sz="1250" dirty="0"/>
          </a:p>
        </p:txBody>
      </p:sp>
      <p:sp>
        <p:nvSpPr>
          <p:cNvPr id="8" name="Text 5"/>
          <p:cNvSpPr/>
          <p:nvPr/>
        </p:nvSpPr>
        <p:spPr>
          <a:xfrm>
            <a:off x="566928" y="6455664"/>
            <a:ext cx="11064240" cy="292608"/>
          </a:xfrm>
          <a:prstGeom prst="rect">
            <a:avLst/>
          </a:prstGeom>
          <a:noFill/>
          <a:ln/>
        </p:spPr>
        <p:txBody>
          <a:bodyPr wrap="square" rtlCol="0" anchor="ctr"/>
          <a:lstStyle/>
          <a:p>
            <a:pPr indent="0" marL="0">
              <a:buNone/>
            </a:pPr>
            <a:r>
              <a:rPr lang="en-US" sz="900" dirty="0">
                <a:solidFill>
                  <a:srgbClr val="9AA7B4"/>
                </a:solidFill>
                <a:latin typeface="Calibri" pitchFamily="34" charset="0"/>
                <a:ea typeface="Calibri" pitchFamily="34" charset="-122"/>
                <a:cs typeface="Calibri" pitchFamily="34" charset="-120"/>
              </a:rPr>
              <a:t>Source: Apr to Jun actual, Internal ledger [1]; Jul to Mar projected [1][2]. Rs Lakh. Earning = existing ratings plus 16 cases at Rs 3 L each once BLR is live.</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30000" y="420624"/>
            <a:ext cx="365760" cy="274320"/>
          </a:xfrm>
          <a:prstGeom prst="rect">
            <a:avLst/>
          </a:prstGeom>
          <a:noFill/>
          <a:ln/>
        </p:spPr>
        <p:txBody>
          <a:bodyPr wrap="square" rtlCol="0" anchor="ctr"/>
          <a:lstStyle/>
          <a:p>
            <a:pPr algn="r" indent="0" marL="0">
              <a:buNone/>
            </a:pPr>
            <a:r>
              <a:rPr lang="en-US" sz="1100" b="1" dirty="0">
                <a:solidFill>
                  <a:srgbClr val="9AA7B4"/>
                </a:solidFill>
                <a:latin typeface="Calibri" pitchFamily="34" charset="0"/>
                <a:ea typeface="Calibri" pitchFamily="34" charset="-122"/>
                <a:cs typeface="Calibri" pitchFamily="34" charset="-120"/>
              </a:rPr>
              <a:t>09</a:t>
            </a:r>
            <a:endParaRPr lang="en-US" sz="1100" dirty="0"/>
          </a:p>
        </p:txBody>
      </p:sp>
      <p:sp>
        <p:nvSpPr>
          <p:cNvPr id="3" name="Text 1"/>
          <p:cNvSpPr/>
          <p:nvPr/>
        </p:nvSpPr>
        <p:spPr>
          <a:xfrm>
            <a:off x="566928" y="457200"/>
            <a:ext cx="10058400" cy="274320"/>
          </a:xfrm>
          <a:prstGeom prst="rect">
            <a:avLst/>
          </a:prstGeom>
          <a:noFill/>
          <a:ln/>
        </p:spPr>
        <p:txBody>
          <a:bodyPr wrap="square" rtlCol="0" anchor="ctr"/>
          <a:lstStyle/>
          <a:p>
            <a:pPr indent="0" marL="0">
              <a:buNone/>
            </a:pPr>
            <a:r>
              <a:rPr lang="en-US" sz="1100" b="1" spc="200" kern="0" dirty="0">
                <a:solidFill>
                  <a:srgbClr val="0F766E"/>
                </a:solidFill>
                <a:latin typeface="Calibri" pitchFamily="34" charset="0"/>
                <a:ea typeface="Calibri" pitchFamily="34" charset="-122"/>
                <a:cs typeface="Calibri" pitchFamily="34" charset="-120"/>
              </a:rPr>
              <a:t>THE OPERATING PLAN</a:t>
            </a:r>
            <a:endParaRPr lang="en-US" sz="1100" dirty="0"/>
          </a:p>
        </p:txBody>
      </p:sp>
      <p:sp>
        <p:nvSpPr>
          <p:cNvPr id="4" name="Text 2"/>
          <p:cNvSpPr/>
          <p:nvPr/>
        </p:nvSpPr>
        <p:spPr>
          <a:xfrm>
            <a:off x="566928" y="713232"/>
            <a:ext cx="11064240" cy="640080"/>
          </a:xfrm>
          <a:prstGeom prst="rect">
            <a:avLst/>
          </a:prstGeom>
          <a:noFill/>
          <a:ln/>
        </p:spPr>
        <p:txBody>
          <a:bodyPr wrap="square" rtlCol="0" anchor="ctr"/>
          <a:lstStyle/>
          <a:p>
            <a:pPr indent="0" marL="0">
              <a:buNone/>
            </a:pPr>
            <a:r>
              <a:rPr lang="en-US" sz="2700" b="1" dirty="0">
                <a:solidFill>
                  <a:srgbClr val="0A1F33"/>
                </a:solidFill>
                <a:latin typeface="Cambria" pitchFamily="34" charset="0"/>
                <a:ea typeface="Cambria" pitchFamily="34" charset="-122"/>
                <a:cs typeface="Cambria" pitchFamily="34" charset="-120"/>
              </a:rPr>
              <a:t>Salary is the plan, nearly 60 paise of every rupee</a:t>
            </a:r>
            <a:endParaRPr lang="en-US" sz="2700" dirty="0"/>
          </a:p>
        </p:txBody>
      </p:sp>
      <p:sp>
        <p:nvSpPr>
          <p:cNvPr id="5" name="Text 3"/>
          <p:cNvSpPr/>
          <p:nvPr/>
        </p:nvSpPr>
        <p:spPr>
          <a:xfrm>
            <a:off x="566928" y="1417320"/>
            <a:ext cx="5486400" cy="274320"/>
          </a:xfrm>
          <a:prstGeom prst="rect">
            <a:avLst/>
          </a:prstGeom>
          <a:noFill/>
          <a:ln/>
        </p:spPr>
        <p:txBody>
          <a:bodyPr wrap="square" rtlCol="0" anchor="ctr"/>
          <a:lstStyle/>
          <a:p>
            <a:pPr indent="0" marL="0">
              <a:buNone/>
            </a:pPr>
            <a:r>
              <a:rPr lang="en-US" sz="1200" b="1" dirty="0">
                <a:solidFill>
                  <a:srgbClr val="2B3F52"/>
                </a:solidFill>
                <a:latin typeface="Calibri" pitchFamily="34" charset="0"/>
                <a:ea typeface="Calibri" pitchFamily="34" charset="-122"/>
                <a:cs typeface="Calibri" pitchFamily="34" charset="-120"/>
              </a:rPr>
              <a:t>Quarterly P&amp;L, base case (Rs Cr)</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5486400" cy="914400"/>
        </p:xfrm>
        <a:graphic>
          <a:graphicData uri="http://schemas.openxmlformats.org/drawingml/2006/table">
            <a:tbl>
              <a:tblPr/>
              <a:tblGrid>
                <a:gridCol w="2194560"/>
                <a:gridCol w="1097280"/>
                <a:gridCol w="1097280"/>
                <a:gridCol w="1097280"/>
              </a:tblGrid>
              <a:tr h="384048">
                <a:tc>
                  <a:txBody>
                    <a:bodyPr/>
                    <a:lstStyle/>
                    <a:p>
                      <a:pPr algn="l"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E6E9EE"/>
                      </a:solidFill>
                      <a:prstDash val="solid"/>
                      <a:round/>
                      <a:headEnd type="none" w="med" len="med"/>
                      <a:tailEnd type="none" w="med" len="med"/>
                    </a:lnL>
                    <a:lnR w="6350" cap="flat" cmpd="sng" algn="ctr">
                      <a:solidFill>
                        <a:srgbClr val="E6E9EE"/>
                      </a:solidFill>
                      <a:prstDash val="solid"/>
                      <a:round/>
                      <a:headEnd type="none" w="med" len="med"/>
                      <a:tailEnd type="none" w="med" len="med"/>
                    </a:lnR>
                    <a:lnT w="6350" cap="flat" cmpd="sng" algn="ctr">
                      <a:solidFill>
                        <a:srgbClr val="E6E9EE"/>
                      </a:solidFill>
                      <a:prstDash val="solid"/>
                      <a:round/>
                      <a:headEnd type="none" w="med" len="med"/>
                      <a:tailEnd type="none" w="med" len="med"/>
                    </a:lnT>
                    <a:lnB w="6350" cap="flat" cmpd="sng" algn="ctr">
                      <a:solidFill>
                        <a:srgbClr val="E6E9EE"/>
                      </a:solidFill>
                      <a:prstDash val="solid"/>
                      <a:round/>
                      <a:headEnd type="none" w="med" len="med"/>
                      <a:tailEnd type="none" w="med" len="med"/>
                    </a:lnB>
                    <a:solidFill>
                      <a:srgbClr val="F6F8FA"/>
                    </a:solidFill>
                  </a:tcPr>
                </a:tc>
                <a:tc>
                  <a:txBody>
                    <a:bodyPr/>
                    <a:lstStyle/>
                    <a:p>
                      <a:pPr algn="r" indent="0" marL="0">
                        <a:buNone/>
                      </a:pPr>
                      <a:r>
                        <a:rPr lang="en-US" sz="1100" b="1" dirty="0">
                          <a:solidFill>
                            <a:srgbClr val="5B6B7B"/>
                          </a:solidFill>
                          <a:latin typeface="Calibri" pitchFamily="34" charset="0"/>
                          <a:ea typeface="Calibri" pitchFamily="34" charset="-122"/>
                          <a:cs typeface="Calibri" pitchFamily="34" charset="-120"/>
                        </a:rPr>
                        <a:t>Income</a:t>
                      </a:r>
                      <a:endParaRPr lang="en-US" sz="1100" dirty="0">
                        <a:latin typeface="Calibri" charset="0"/>
                        <a:ea typeface="Calibri" charset="0"/>
                        <a:cs typeface="Calibri" charset="0"/>
                      </a:endParaRPr>
                    </a:p>
                  </a:txBody>
                  <a:tcPr marL="91440" marR="91440" marT="45720" marB="45720" anchor="ctr">
                    <a:lnL w="6350" cap="flat" cmpd="sng" algn="ctr">
                      <a:solidFill>
                        <a:srgbClr val="E6E9EE"/>
                      </a:solidFill>
                      <a:prstDash val="solid"/>
                      <a:round/>
                      <a:headEnd type="none" w="med" len="med"/>
                      <a:tailEnd type="none" w="med" len="med"/>
                    </a:lnL>
                    <a:lnR w="6350" cap="flat" cmpd="sng" algn="ctr">
                      <a:solidFill>
                        <a:srgbClr val="E6E9EE"/>
                      </a:solidFill>
                      <a:prstDash val="solid"/>
                      <a:round/>
                      <a:headEnd type="none" w="med" len="med"/>
                      <a:tailEnd type="none" w="med" len="med"/>
                    </a:lnR>
                    <a:lnT w="6350" cap="flat" cmpd="sng" algn="ctr">
                      <a:solidFill>
                        <a:srgbClr val="E6E9EE"/>
                      </a:solidFill>
                      <a:prstDash val="solid"/>
                      <a:round/>
                      <a:headEnd type="none" w="med" len="med"/>
                      <a:tailEnd type="none" w="med" len="med"/>
                    </a:lnT>
                    <a:lnB w="6350" cap="flat" cmpd="sng" algn="ctr">
                      <a:solidFill>
                        <a:srgbClr val="E6E9EE"/>
                      </a:solidFill>
                      <a:prstDash val="solid"/>
                      <a:round/>
                      <a:headEnd type="none" w="med" len="med"/>
                      <a:tailEnd type="none" w="med" len="med"/>
                    </a:lnB>
                    <a:solidFill>
                      <a:srgbClr val="F6F8FA"/>
                    </a:solidFill>
                  </a:tcPr>
                </a:tc>
                <a:tc>
                  <a:txBody>
                    <a:bodyPr/>
                    <a:lstStyle/>
                    <a:p>
                      <a:pPr algn="r" indent="0" marL="0">
                        <a:buNone/>
                      </a:pPr>
                      <a:r>
                        <a:rPr lang="en-US" sz="1100" b="1" dirty="0">
                          <a:solidFill>
                            <a:srgbClr val="5B6B7B"/>
                          </a:solidFill>
                          <a:latin typeface="Calibri" pitchFamily="34" charset="0"/>
                          <a:ea typeface="Calibri" pitchFamily="34" charset="-122"/>
                          <a:cs typeface="Calibri" pitchFamily="34" charset="-120"/>
                        </a:rPr>
                        <a:t>Expense</a:t>
                      </a:r>
                      <a:endParaRPr lang="en-US" sz="1100" dirty="0">
                        <a:latin typeface="Calibri" charset="0"/>
                        <a:ea typeface="Calibri" charset="0"/>
                        <a:cs typeface="Calibri" charset="0"/>
                      </a:endParaRPr>
                    </a:p>
                  </a:txBody>
                  <a:tcPr marL="91440" marR="91440" marT="45720" marB="45720" anchor="ctr">
                    <a:lnL w="6350" cap="flat" cmpd="sng" algn="ctr">
                      <a:solidFill>
                        <a:srgbClr val="E6E9EE"/>
                      </a:solidFill>
                      <a:prstDash val="solid"/>
                      <a:round/>
                      <a:headEnd type="none" w="med" len="med"/>
                      <a:tailEnd type="none" w="med" len="med"/>
                    </a:lnL>
                    <a:lnR w="6350" cap="flat" cmpd="sng" algn="ctr">
                      <a:solidFill>
                        <a:srgbClr val="E6E9EE"/>
                      </a:solidFill>
                      <a:prstDash val="solid"/>
                      <a:round/>
                      <a:headEnd type="none" w="med" len="med"/>
                      <a:tailEnd type="none" w="med" len="med"/>
                    </a:lnR>
                    <a:lnT w="6350" cap="flat" cmpd="sng" algn="ctr">
                      <a:solidFill>
                        <a:srgbClr val="E6E9EE"/>
                      </a:solidFill>
                      <a:prstDash val="solid"/>
                      <a:round/>
                      <a:headEnd type="none" w="med" len="med"/>
                      <a:tailEnd type="none" w="med" len="med"/>
                    </a:lnT>
                    <a:lnB w="6350" cap="flat" cmpd="sng" algn="ctr">
                      <a:solidFill>
                        <a:srgbClr val="E6E9EE"/>
                      </a:solidFill>
                      <a:prstDash val="solid"/>
                      <a:round/>
                      <a:headEnd type="none" w="med" len="med"/>
                      <a:tailEnd type="none" w="med" len="med"/>
                    </a:lnB>
                    <a:solidFill>
                      <a:srgbClr val="F6F8FA"/>
                    </a:solidFill>
                  </a:tcPr>
                </a:tc>
                <a:tc>
                  <a:txBody>
                    <a:bodyPr/>
                    <a:lstStyle/>
                    <a:p>
                      <a:pPr algn="r" indent="0" marL="0">
                        <a:buNone/>
                      </a:pPr>
                      <a:r>
                        <a:rPr lang="en-US" sz="1100" b="1" dirty="0">
                          <a:solidFill>
                            <a:srgbClr val="5B6B7B"/>
                          </a:solidFill>
                          <a:latin typeface="Calibri" pitchFamily="34" charset="0"/>
                          <a:ea typeface="Calibri" pitchFamily="34" charset="-122"/>
                          <a:cs typeface="Calibri" pitchFamily="34" charset="-120"/>
                        </a:rPr>
                        <a:t>Net</a:t>
                      </a:r>
                      <a:endParaRPr lang="en-US" sz="1100" dirty="0">
                        <a:latin typeface="Calibri" charset="0"/>
                        <a:ea typeface="Calibri" charset="0"/>
                        <a:cs typeface="Calibri" charset="0"/>
                      </a:endParaRPr>
                    </a:p>
                  </a:txBody>
                  <a:tcPr marL="91440" marR="91440" marT="45720" marB="45720" anchor="ctr">
                    <a:lnL w="6350" cap="flat" cmpd="sng" algn="ctr">
                      <a:solidFill>
                        <a:srgbClr val="E6E9EE"/>
                      </a:solidFill>
                      <a:prstDash val="solid"/>
                      <a:round/>
                      <a:headEnd type="none" w="med" len="med"/>
                      <a:tailEnd type="none" w="med" len="med"/>
                    </a:lnL>
                    <a:lnR w="6350" cap="flat" cmpd="sng" algn="ctr">
                      <a:solidFill>
                        <a:srgbClr val="E6E9EE"/>
                      </a:solidFill>
                      <a:prstDash val="solid"/>
                      <a:round/>
                      <a:headEnd type="none" w="med" len="med"/>
                      <a:tailEnd type="none" w="med" len="med"/>
                    </a:lnR>
                    <a:lnT w="6350" cap="flat" cmpd="sng" algn="ctr">
                      <a:solidFill>
                        <a:srgbClr val="E6E9EE"/>
                      </a:solidFill>
                      <a:prstDash val="solid"/>
                      <a:round/>
                      <a:headEnd type="none" w="med" len="med"/>
                      <a:tailEnd type="none" w="med" len="med"/>
                    </a:lnT>
                    <a:lnB w="6350" cap="flat" cmpd="sng" algn="ctr">
                      <a:solidFill>
                        <a:srgbClr val="E6E9EE"/>
                      </a:solidFill>
                      <a:prstDash val="solid"/>
                      <a:round/>
                      <a:headEnd type="none" w="med" len="med"/>
                      <a:tailEnd type="none" w="med" len="med"/>
                    </a:lnB>
                    <a:solidFill>
                      <a:srgbClr val="F6F8FA"/>
                    </a:solidFill>
                  </a:tcPr>
                </a:tc>
              </a:tr>
              <a:tr h="384048">
                <a:tc>
                  <a:txBody>
                    <a:bodyPr/>
                    <a:lstStyle/>
                    <a:p>
                      <a:pPr algn="l" indent="0" marL="0">
                        <a:buNone/>
                      </a:pPr>
                      <a:r>
                        <a:rPr lang="en-US" sz="1150" dirty="0">
                          <a:solidFill>
                            <a:srgbClr val="2B3F52"/>
                          </a:solidFill>
                          <a:latin typeface="Calibri" pitchFamily="34" charset="0"/>
                          <a:ea typeface="Calibri" pitchFamily="34" charset="-122"/>
                          <a:cs typeface="Calibri" pitchFamily="34" charset="-120"/>
                        </a:rPr>
                        <a:t>Q1 (Apr-Jun) actual</a:t>
                      </a:r>
                      <a:endParaRPr lang="en-US" sz="1150" dirty="0">
                        <a:latin typeface="Calibri" charset="0"/>
                        <a:ea typeface="Calibri" charset="0"/>
                        <a:cs typeface="Calibri" charset="0"/>
                      </a:endParaRPr>
                    </a:p>
                  </a:txBody>
                  <a:tcPr marL="91440" marR="91440" marT="45720" marB="45720" anchor="ctr">
                    <a:lnL w="6350" cap="flat" cmpd="sng" algn="ctr">
                      <a:solidFill>
                        <a:srgbClr val="E6E9EE"/>
                      </a:solidFill>
                      <a:prstDash val="solid"/>
                      <a:round/>
                      <a:headEnd type="none" w="med" len="med"/>
                      <a:tailEnd type="none" w="med" len="med"/>
                    </a:lnL>
                    <a:lnR w="6350" cap="flat" cmpd="sng" algn="ctr">
                      <a:solidFill>
                        <a:srgbClr val="E6E9EE"/>
                      </a:solidFill>
                      <a:prstDash val="solid"/>
                      <a:round/>
                      <a:headEnd type="none" w="med" len="med"/>
                      <a:tailEnd type="none" w="med" len="med"/>
                    </a:lnR>
                    <a:lnT w="6350" cap="flat" cmpd="sng" algn="ctr">
                      <a:solidFill>
                        <a:srgbClr val="E6E9EE"/>
                      </a:solidFill>
                      <a:prstDash val="solid"/>
                      <a:round/>
                      <a:headEnd type="none" w="med" len="med"/>
                      <a:tailEnd type="none" w="med" len="med"/>
                    </a:lnT>
                    <a:lnB w="6350" cap="flat" cmpd="sng" algn="ctr">
                      <a:solidFill>
                        <a:srgbClr val="E6E9EE"/>
                      </a:solidFill>
                      <a:prstDash val="solid"/>
                      <a:round/>
                      <a:headEnd type="none" w="med" len="med"/>
                      <a:tailEnd type="none" w="med" len="med"/>
                    </a:lnB>
                    <a:solidFill>
                      <a:srgbClr val="FFFFFF"/>
                    </a:solidFill>
                  </a:tcPr>
                </a:tc>
                <a:tc>
                  <a:txBody>
                    <a:bodyPr/>
                    <a:lstStyle/>
                    <a:p>
                      <a:pPr algn="r" indent="0" marL="0">
                        <a:buNone/>
                      </a:pPr>
                      <a:r>
                        <a:rPr lang="en-US" sz="1150" dirty="0">
                          <a:solidFill>
                            <a:srgbClr val="2B3F52"/>
                          </a:solidFill>
                          <a:latin typeface="Calibri" pitchFamily="34" charset="0"/>
                          <a:ea typeface="Calibri" pitchFamily="34" charset="-122"/>
                          <a:cs typeface="Calibri" pitchFamily="34" charset="-120"/>
                        </a:rPr>
                        <a:t>0.60</a:t>
                      </a:r>
                      <a:endParaRPr lang="en-US" sz="1150" dirty="0">
                        <a:latin typeface="Calibri" charset="0"/>
                        <a:ea typeface="Calibri" charset="0"/>
                        <a:cs typeface="Calibri" charset="0"/>
                      </a:endParaRPr>
                    </a:p>
                  </a:txBody>
                  <a:tcPr marL="91440" marR="91440" marT="45720" marB="45720" anchor="ctr">
                    <a:lnL w="6350" cap="flat" cmpd="sng" algn="ctr">
                      <a:solidFill>
                        <a:srgbClr val="E6E9EE"/>
                      </a:solidFill>
                      <a:prstDash val="solid"/>
                      <a:round/>
                      <a:headEnd type="none" w="med" len="med"/>
                      <a:tailEnd type="none" w="med" len="med"/>
                    </a:lnL>
                    <a:lnR w="6350" cap="flat" cmpd="sng" algn="ctr">
                      <a:solidFill>
                        <a:srgbClr val="E6E9EE"/>
                      </a:solidFill>
                      <a:prstDash val="solid"/>
                      <a:round/>
                      <a:headEnd type="none" w="med" len="med"/>
                      <a:tailEnd type="none" w="med" len="med"/>
                    </a:lnR>
                    <a:lnT w="6350" cap="flat" cmpd="sng" algn="ctr">
                      <a:solidFill>
                        <a:srgbClr val="E6E9EE"/>
                      </a:solidFill>
                      <a:prstDash val="solid"/>
                      <a:round/>
                      <a:headEnd type="none" w="med" len="med"/>
                      <a:tailEnd type="none" w="med" len="med"/>
                    </a:lnT>
                    <a:lnB w="6350" cap="flat" cmpd="sng" algn="ctr">
                      <a:solidFill>
                        <a:srgbClr val="E6E9EE"/>
                      </a:solidFill>
                      <a:prstDash val="solid"/>
                      <a:round/>
                      <a:headEnd type="none" w="med" len="med"/>
                      <a:tailEnd type="none" w="med" len="med"/>
                    </a:lnB>
                    <a:solidFill>
                      <a:srgbClr val="FFFFFF"/>
                    </a:solidFill>
                  </a:tcPr>
                </a:tc>
                <a:tc>
                  <a:txBody>
                    <a:bodyPr/>
                    <a:lstStyle/>
                    <a:p>
                      <a:pPr algn="r" indent="0" marL="0">
                        <a:buNone/>
                      </a:pPr>
                      <a:r>
                        <a:rPr lang="en-US" sz="1150" dirty="0">
                          <a:solidFill>
                            <a:srgbClr val="2B3F52"/>
                          </a:solidFill>
                          <a:latin typeface="Calibri" pitchFamily="34" charset="0"/>
                          <a:ea typeface="Calibri" pitchFamily="34" charset="-122"/>
                          <a:cs typeface="Calibri" pitchFamily="34" charset="-120"/>
                        </a:rPr>
                        <a:t>1.16</a:t>
                      </a:r>
                      <a:endParaRPr lang="en-US" sz="1150" dirty="0">
                        <a:latin typeface="Calibri" charset="0"/>
                        <a:ea typeface="Calibri" charset="0"/>
                        <a:cs typeface="Calibri" charset="0"/>
                      </a:endParaRPr>
                    </a:p>
                  </a:txBody>
                  <a:tcPr marL="91440" marR="91440" marT="45720" marB="45720" anchor="ctr">
                    <a:lnL w="6350" cap="flat" cmpd="sng" algn="ctr">
                      <a:solidFill>
                        <a:srgbClr val="E6E9EE"/>
                      </a:solidFill>
                      <a:prstDash val="solid"/>
                      <a:round/>
                      <a:headEnd type="none" w="med" len="med"/>
                      <a:tailEnd type="none" w="med" len="med"/>
                    </a:lnL>
                    <a:lnR w="6350" cap="flat" cmpd="sng" algn="ctr">
                      <a:solidFill>
                        <a:srgbClr val="E6E9EE"/>
                      </a:solidFill>
                      <a:prstDash val="solid"/>
                      <a:round/>
                      <a:headEnd type="none" w="med" len="med"/>
                      <a:tailEnd type="none" w="med" len="med"/>
                    </a:lnR>
                    <a:lnT w="6350" cap="flat" cmpd="sng" algn="ctr">
                      <a:solidFill>
                        <a:srgbClr val="E6E9EE"/>
                      </a:solidFill>
                      <a:prstDash val="solid"/>
                      <a:round/>
                      <a:headEnd type="none" w="med" len="med"/>
                      <a:tailEnd type="none" w="med" len="med"/>
                    </a:lnT>
                    <a:lnB w="6350" cap="flat" cmpd="sng" algn="ctr">
                      <a:solidFill>
                        <a:srgbClr val="E6E9EE"/>
                      </a:solidFill>
                      <a:prstDash val="solid"/>
                      <a:round/>
                      <a:headEnd type="none" w="med" len="med"/>
                      <a:tailEnd type="none" w="med" len="med"/>
                    </a:lnB>
                    <a:solidFill>
                      <a:srgbClr val="FFFFFF"/>
                    </a:solidFill>
                  </a:tcPr>
                </a:tc>
                <a:tc>
                  <a:txBody>
                    <a:bodyPr/>
                    <a:lstStyle/>
                    <a:p>
                      <a:pPr algn="r" indent="0" marL="0">
                        <a:buNone/>
                      </a:pPr>
                      <a:r>
                        <a:rPr lang="en-US" sz="1150" dirty="0">
                          <a:solidFill>
                            <a:srgbClr val="B3261E"/>
                          </a:solidFill>
                          <a:latin typeface="Calibri" pitchFamily="34" charset="0"/>
                          <a:ea typeface="Calibri" pitchFamily="34" charset="-122"/>
                          <a:cs typeface="Calibri" pitchFamily="34" charset="-120"/>
                        </a:rPr>
                        <a:t>-0.56</a:t>
                      </a:r>
                      <a:endParaRPr lang="en-US" sz="1150" dirty="0">
                        <a:latin typeface="Calibri" charset="0"/>
                        <a:ea typeface="Calibri" charset="0"/>
                        <a:cs typeface="Calibri" charset="0"/>
                      </a:endParaRPr>
                    </a:p>
                  </a:txBody>
                  <a:tcPr marL="91440" marR="91440" marT="45720" marB="45720" anchor="ctr">
                    <a:lnL w="6350" cap="flat" cmpd="sng" algn="ctr">
                      <a:solidFill>
                        <a:srgbClr val="E6E9EE"/>
                      </a:solidFill>
                      <a:prstDash val="solid"/>
                      <a:round/>
                      <a:headEnd type="none" w="med" len="med"/>
                      <a:tailEnd type="none" w="med" len="med"/>
                    </a:lnL>
                    <a:lnR w="6350" cap="flat" cmpd="sng" algn="ctr">
                      <a:solidFill>
                        <a:srgbClr val="E6E9EE"/>
                      </a:solidFill>
                      <a:prstDash val="solid"/>
                      <a:round/>
                      <a:headEnd type="none" w="med" len="med"/>
                      <a:tailEnd type="none" w="med" len="med"/>
                    </a:lnR>
                    <a:lnT w="6350" cap="flat" cmpd="sng" algn="ctr">
                      <a:solidFill>
                        <a:srgbClr val="E6E9EE"/>
                      </a:solidFill>
                      <a:prstDash val="solid"/>
                      <a:round/>
                      <a:headEnd type="none" w="med" len="med"/>
                      <a:tailEnd type="none" w="med" len="med"/>
                    </a:lnT>
                    <a:lnB w="6350" cap="flat" cmpd="sng" algn="ctr">
                      <a:solidFill>
                        <a:srgbClr val="E6E9EE"/>
                      </a:solidFill>
                      <a:prstDash val="solid"/>
                      <a:round/>
                      <a:headEnd type="none" w="med" len="med"/>
                      <a:tailEnd type="none" w="med" len="med"/>
                    </a:lnB>
                    <a:solidFill>
                      <a:srgbClr val="FFFFFF"/>
                    </a:solidFill>
                  </a:tcPr>
                </a:tc>
              </a:tr>
              <a:tr h="384048">
                <a:tc>
                  <a:txBody>
                    <a:bodyPr/>
                    <a:lstStyle/>
                    <a:p>
                      <a:pPr algn="l" indent="0" marL="0">
                        <a:buNone/>
                      </a:pPr>
                      <a:r>
                        <a:rPr lang="en-US" sz="1150" dirty="0">
                          <a:solidFill>
                            <a:srgbClr val="2B3F52"/>
                          </a:solidFill>
                          <a:latin typeface="Calibri" pitchFamily="34" charset="0"/>
                          <a:ea typeface="Calibri" pitchFamily="34" charset="-122"/>
                          <a:cs typeface="Calibri" pitchFamily="34" charset="-120"/>
                        </a:rPr>
                        <a:t>Q2 (Jul-Sep)</a:t>
                      </a:r>
                      <a:endParaRPr lang="en-US" sz="1150" dirty="0">
                        <a:latin typeface="Calibri" charset="0"/>
                        <a:ea typeface="Calibri" charset="0"/>
                        <a:cs typeface="Calibri" charset="0"/>
                      </a:endParaRPr>
                    </a:p>
                  </a:txBody>
                  <a:tcPr marL="91440" marR="91440" marT="45720" marB="45720" anchor="ctr">
                    <a:lnL w="6350" cap="flat" cmpd="sng" algn="ctr">
                      <a:solidFill>
                        <a:srgbClr val="E6E9EE"/>
                      </a:solidFill>
                      <a:prstDash val="solid"/>
                      <a:round/>
                      <a:headEnd type="none" w="med" len="med"/>
                      <a:tailEnd type="none" w="med" len="med"/>
                    </a:lnL>
                    <a:lnR w="6350" cap="flat" cmpd="sng" algn="ctr">
                      <a:solidFill>
                        <a:srgbClr val="E6E9EE"/>
                      </a:solidFill>
                      <a:prstDash val="solid"/>
                      <a:round/>
                      <a:headEnd type="none" w="med" len="med"/>
                      <a:tailEnd type="none" w="med" len="med"/>
                    </a:lnR>
                    <a:lnT w="6350" cap="flat" cmpd="sng" algn="ctr">
                      <a:solidFill>
                        <a:srgbClr val="E6E9EE"/>
                      </a:solidFill>
                      <a:prstDash val="solid"/>
                      <a:round/>
                      <a:headEnd type="none" w="med" len="med"/>
                      <a:tailEnd type="none" w="med" len="med"/>
                    </a:lnT>
                    <a:lnB w="6350" cap="flat" cmpd="sng" algn="ctr">
                      <a:solidFill>
                        <a:srgbClr val="E6E9EE"/>
                      </a:solidFill>
                      <a:prstDash val="solid"/>
                      <a:round/>
                      <a:headEnd type="none" w="med" len="med"/>
                      <a:tailEnd type="none" w="med" len="med"/>
                    </a:lnB>
                    <a:solidFill>
                      <a:srgbClr val="FFFFFF"/>
                    </a:solidFill>
                  </a:tcPr>
                </a:tc>
                <a:tc>
                  <a:txBody>
                    <a:bodyPr/>
                    <a:lstStyle/>
                    <a:p>
                      <a:pPr algn="r" indent="0" marL="0">
                        <a:buNone/>
                      </a:pPr>
                      <a:r>
                        <a:rPr lang="en-US" sz="1150" dirty="0">
                          <a:solidFill>
                            <a:srgbClr val="2B3F52"/>
                          </a:solidFill>
                          <a:latin typeface="Calibri" pitchFamily="34" charset="0"/>
                          <a:ea typeface="Calibri" pitchFamily="34" charset="-122"/>
                          <a:cs typeface="Calibri" pitchFamily="34" charset="-120"/>
                        </a:rPr>
                        <a:t>0.69</a:t>
                      </a:r>
                      <a:endParaRPr lang="en-US" sz="1150" dirty="0">
                        <a:latin typeface="Calibri" charset="0"/>
                        <a:ea typeface="Calibri" charset="0"/>
                        <a:cs typeface="Calibri" charset="0"/>
                      </a:endParaRPr>
                    </a:p>
                  </a:txBody>
                  <a:tcPr marL="91440" marR="91440" marT="45720" marB="45720" anchor="ctr">
                    <a:lnL w="6350" cap="flat" cmpd="sng" algn="ctr">
                      <a:solidFill>
                        <a:srgbClr val="E6E9EE"/>
                      </a:solidFill>
                      <a:prstDash val="solid"/>
                      <a:round/>
                      <a:headEnd type="none" w="med" len="med"/>
                      <a:tailEnd type="none" w="med" len="med"/>
                    </a:lnL>
                    <a:lnR w="6350" cap="flat" cmpd="sng" algn="ctr">
                      <a:solidFill>
                        <a:srgbClr val="E6E9EE"/>
                      </a:solidFill>
                      <a:prstDash val="solid"/>
                      <a:round/>
                      <a:headEnd type="none" w="med" len="med"/>
                      <a:tailEnd type="none" w="med" len="med"/>
                    </a:lnR>
                    <a:lnT w="6350" cap="flat" cmpd="sng" algn="ctr">
                      <a:solidFill>
                        <a:srgbClr val="E6E9EE"/>
                      </a:solidFill>
                      <a:prstDash val="solid"/>
                      <a:round/>
                      <a:headEnd type="none" w="med" len="med"/>
                      <a:tailEnd type="none" w="med" len="med"/>
                    </a:lnT>
                    <a:lnB w="6350" cap="flat" cmpd="sng" algn="ctr">
                      <a:solidFill>
                        <a:srgbClr val="E6E9EE"/>
                      </a:solidFill>
                      <a:prstDash val="solid"/>
                      <a:round/>
                      <a:headEnd type="none" w="med" len="med"/>
                      <a:tailEnd type="none" w="med" len="med"/>
                    </a:lnB>
                    <a:solidFill>
                      <a:srgbClr val="FFFFFF"/>
                    </a:solidFill>
                  </a:tcPr>
                </a:tc>
                <a:tc>
                  <a:txBody>
                    <a:bodyPr/>
                    <a:lstStyle/>
                    <a:p>
                      <a:pPr algn="r" indent="0" marL="0">
                        <a:buNone/>
                      </a:pPr>
                      <a:r>
                        <a:rPr lang="en-US" sz="1150" dirty="0">
                          <a:solidFill>
                            <a:srgbClr val="2B3F52"/>
                          </a:solidFill>
                          <a:latin typeface="Calibri" pitchFamily="34" charset="0"/>
                          <a:ea typeface="Calibri" pitchFamily="34" charset="-122"/>
                          <a:cs typeface="Calibri" pitchFamily="34" charset="-120"/>
                        </a:rPr>
                        <a:t>1.32</a:t>
                      </a:r>
                      <a:endParaRPr lang="en-US" sz="1150" dirty="0">
                        <a:latin typeface="Calibri" charset="0"/>
                        <a:ea typeface="Calibri" charset="0"/>
                        <a:cs typeface="Calibri" charset="0"/>
                      </a:endParaRPr>
                    </a:p>
                  </a:txBody>
                  <a:tcPr marL="91440" marR="91440" marT="45720" marB="45720" anchor="ctr">
                    <a:lnL w="6350" cap="flat" cmpd="sng" algn="ctr">
                      <a:solidFill>
                        <a:srgbClr val="E6E9EE"/>
                      </a:solidFill>
                      <a:prstDash val="solid"/>
                      <a:round/>
                      <a:headEnd type="none" w="med" len="med"/>
                      <a:tailEnd type="none" w="med" len="med"/>
                    </a:lnL>
                    <a:lnR w="6350" cap="flat" cmpd="sng" algn="ctr">
                      <a:solidFill>
                        <a:srgbClr val="E6E9EE"/>
                      </a:solidFill>
                      <a:prstDash val="solid"/>
                      <a:round/>
                      <a:headEnd type="none" w="med" len="med"/>
                      <a:tailEnd type="none" w="med" len="med"/>
                    </a:lnR>
                    <a:lnT w="6350" cap="flat" cmpd="sng" algn="ctr">
                      <a:solidFill>
                        <a:srgbClr val="E6E9EE"/>
                      </a:solidFill>
                      <a:prstDash val="solid"/>
                      <a:round/>
                      <a:headEnd type="none" w="med" len="med"/>
                      <a:tailEnd type="none" w="med" len="med"/>
                    </a:lnT>
                    <a:lnB w="6350" cap="flat" cmpd="sng" algn="ctr">
                      <a:solidFill>
                        <a:srgbClr val="E6E9EE"/>
                      </a:solidFill>
                      <a:prstDash val="solid"/>
                      <a:round/>
                      <a:headEnd type="none" w="med" len="med"/>
                      <a:tailEnd type="none" w="med" len="med"/>
                    </a:lnB>
                    <a:solidFill>
                      <a:srgbClr val="FFFFFF"/>
                    </a:solidFill>
                  </a:tcPr>
                </a:tc>
                <a:tc>
                  <a:txBody>
                    <a:bodyPr/>
                    <a:lstStyle/>
                    <a:p>
                      <a:pPr algn="r" indent="0" marL="0">
                        <a:buNone/>
                      </a:pPr>
                      <a:r>
                        <a:rPr lang="en-US" sz="1150" dirty="0">
                          <a:solidFill>
                            <a:srgbClr val="B3261E"/>
                          </a:solidFill>
                          <a:latin typeface="Calibri" pitchFamily="34" charset="0"/>
                          <a:ea typeface="Calibri" pitchFamily="34" charset="-122"/>
                          <a:cs typeface="Calibri" pitchFamily="34" charset="-120"/>
                        </a:rPr>
                        <a:t>-0.63</a:t>
                      </a:r>
                      <a:endParaRPr lang="en-US" sz="1150" dirty="0">
                        <a:latin typeface="Calibri" charset="0"/>
                        <a:ea typeface="Calibri" charset="0"/>
                        <a:cs typeface="Calibri" charset="0"/>
                      </a:endParaRPr>
                    </a:p>
                  </a:txBody>
                  <a:tcPr marL="91440" marR="91440" marT="45720" marB="45720" anchor="ctr">
                    <a:lnL w="6350" cap="flat" cmpd="sng" algn="ctr">
                      <a:solidFill>
                        <a:srgbClr val="E6E9EE"/>
                      </a:solidFill>
                      <a:prstDash val="solid"/>
                      <a:round/>
                      <a:headEnd type="none" w="med" len="med"/>
                      <a:tailEnd type="none" w="med" len="med"/>
                    </a:lnL>
                    <a:lnR w="6350" cap="flat" cmpd="sng" algn="ctr">
                      <a:solidFill>
                        <a:srgbClr val="E6E9EE"/>
                      </a:solidFill>
                      <a:prstDash val="solid"/>
                      <a:round/>
                      <a:headEnd type="none" w="med" len="med"/>
                      <a:tailEnd type="none" w="med" len="med"/>
                    </a:lnR>
                    <a:lnT w="6350" cap="flat" cmpd="sng" algn="ctr">
                      <a:solidFill>
                        <a:srgbClr val="E6E9EE"/>
                      </a:solidFill>
                      <a:prstDash val="solid"/>
                      <a:round/>
                      <a:headEnd type="none" w="med" len="med"/>
                      <a:tailEnd type="none" w="med" len="med"/>
                    </a:lnT>
                    <a:lnB w="6350" cap="flat" cmpd="sng" algn="ctr">
                      <a:solidFill>
                        <a:srgbClr val="E6E9EE"/>
                      </a:solidFill>
                      <a:prstDash val="solid"/>
                      <a:round/>
                      <a:headEnd type="none" w="med" len="med"/>
                      <a:tailEnd type="none" w="med" len="med"/>
                    </a:lnB>
                    <a:solidFill>
                      <a:srgbClr val="FFFFFF"/>
                    </a:solidFill>
                  </a:tcPr>
                </a:tc>
              </a:tr>
              <a:tr h="384048">
                <a:tc>
                  <a:txBody>
                    <a:bodyPr/>
                    <a:lstStyle/>
                    <a:p>
                      <a:pPr algn="l" indent="0" marL="0">
                        <a:buNone/>
                      </a:pPr>
                      <a:r>
                        <a:rPr lang="en-US" sz="1150" dirty="0">
                          <a:solidFill>
                            <a:srgbClr val="2B3F52"/>
                          </a:solidFill>
                          <a:latin typeface="Calibri" pitchFamily="34" charset="0"/>
                          <a:ea typeface="Calibri" pitchFamily="34" charset="-122"/>
                          <a:cs typeface="Calibri" pitchFamily="34" charset="-120"/>
                        </a:rPr>
                        <a:t>Q3 (Oct-Dec)</a:t>
                      </a:r>
                      <a:endParaRPr lang="en-US" sz="1150" dirty="0">
                        <a:latin typeface="Calibri" charset="0"/>
                        <a:ea typeface="Calibri" charset="0"/>
                        <a:cs typeface="Calibri" charset="0"/>
                      </a:endParaRPr>
                    </a:p>
                  </a:txBody>
                  <a:tcPr marL="91440" marR="91440" marT="45720" marB="45720" anchor="ctr">
                    <a:lnL w="6350" cap="flat" cmpd="sng" algn="ctr">
                      <a:solidFill>
                        <a:srgbClr val="E6E9EE"/>
                      </a:solidFill>
                      <a:prstDash val="solid"/>
                      <a:round/>
                      <a:headEnd type="none" w="med" len="med"/>
                      <a:tailEnd type="none" w="med" len="med"/>
                    </a:lnL>
                    <a:lnR w="6350" cap="flat" cmpd="sng" algn="ctr">
                      <a:solidFill>
                        <a:srgbClr val="E6E9EE"/>
                      </a:solidFill>
                      <a:prstDash val="solid"/>
                      <a:round/>
                      <a:headEnd type="none" w="med" len="med"/>
                      <a:tailEnd type="none" w="med" len="med"/>
                    </a:lnR>
                    <a:lnT w="6350" cap="flat" cmpd="sng" algn="ctr">
                      <a:solidFill>
                        <a:srgbClr val="E6E9EE"/>
                      </a:solidFill>
                      <a:prstDash val="solid"/>
                      <a:round/>
                      <a:headEnd type="none" w="med" len="med"/>
                      <a:tailEnd type="none" w="med" len="med"/>
                    </a:lnT>
                    <a:lnB w="6350" cap="flat" cmpd="sng" algn="ctr">
                      <a:solidFill>
                        <a:srgbClr val="E6E9EE"/>
                      </a:solidFill>
                      <a:prstDash val="solid"/>
                      <a:round/>
                      <a:headEnd type="none" w="med" len="med"/>
                      <a:tailEnd type="none" w="med" len="med"/>
                    </a:lnB>
                    <a:solidFill>
                      <a:srgbClr val="FFFFFF"/>
                    </a:solidFill>
                  </a:tcPr>
                </a:tc>
                <a:tc>
                  <a:txBody>
                    <a:bodyPr/>
                    <a:lstStyle/>
                    <a:p>
                      <a:pPr algn="r" indent="0" marL="0">
                        <a:buNone/>
                      </a:pPr>
                      <a:r>
                        <a:rPr lang="en-US" sz="1150" dirty="0">
                          <a:solidFill>
                            <a:srgbClr val="2B3F52"/>
                          </a:solidFill>
                          <a:latin typeface="Calibri" pitchFamily="34" charset="0"/>
                          <a:ea typeface="Calibri" pitchFamily="34" charset="-122"/>
                          <a:cs typeface="Calibri" pitchFamily="34" charset="-120"/>
                        </a:rPr>
                        <a:t>2.13</a:t>
                      </a:r>
                      <a:endParaRPr lang="en-US" sz="1150" dirty="0">
                        <a:latin typeface="Calibri" charset="0"/>
                        <a:ea typeface="Calibri" charset="0"/>
                        <a:cs typeface="Calibri" charset="0"/>
                      </a:endParaRPr>
                    </a:p>
                  </a:txBody>
                  <a:tcPr marL="91440" marR="91440" marT="45720" marB="45720" anchor="ctr">
                    <a:lnL w="6350" cap="flat" cmpd="sng" algn="ctr">
                      <a:solidFill>
                        <a:srgbClr val="E6E9EE"/>
                      </a:solidFill>
                      <a:prstDash val="solid"/>
                      <a:round/>
                      <a:headEnd type="none" w="med" len="med"/>
                      <a:tailEnd type="none" w="med" len="med"/>
                    </a:lnL>
                    <a:lnR w="6350" cap="flat" cmpd="sng" algn="ctr">
                      <a:solidFill>
                        <a:srgbClr val="E6E9EE"/>
                      </a:solidFill>
                      <a:prstDash val="solid"/>
                      <a:round/>
                      <a:headEnd type="none" w="med" len="med"/>
                      <a:tailEnd type="none" w="med" len="med"/>
                    </a:lnR>
                    <a:lnT w="6350" cap="flat" cmpd="sng" algn="ctr">
                      <a:solidFill>
                        <a:srgbClr val="E6E9EE"/>
                      </a:solidFill>
                      <a:prstDash val="solid"/>
                      <a:round/>
                      <a:headEnd type="none" w="med" len="med"/>
                      <a:tailEnd type="none" w="med" len="med"/>
                    </a:lnT>
                    <a:lnB w="6350" cap="flat" cmpd="sng" algn="ctr">
                      <a:solidFill>
                        <a:srgbClr val="E6E9EE"/>
                      </a:solidFill>
                      <a:prstDash val="solid"/>
                      <a:round/>
                      <a:headEnd type="none" w="med" len="med"/>
                      <a:tailEnd type="none" w="med" len="med"/>
                    </a:lnB>
                    <a:solidFill>
                      <a:srgbClr val="FFFFFF"/>
                    </a:solidFill>
                  </a:tcPr>
                </a:tc>
                <a:tc>
                  <a:txBody>
                    <a:bodyPr/>
                    <a:lstStyle/>
                    <a:p>
                      <a:pPr algn="r" indent="0" marL="0">
                        <a:buNone/>
                      </a:pPr>
                      <a:r>
                        <a:rPr lang="en-US" sz="1150" dirty="0">
                          <a:solidFill>
                            <a:srgbClr val="2B3F52"/>
                          </a:solidFill>
                          <a:latin typeface="Calibri" pitchFamily="34" charset="0"/>
                          <a:ea typeface="Calibri" pitchFamily="34" charset="-122"/>
                          <a:cs typeface="Calibri" pitchFamily="34" charset="-120"/>
                        </a:rPr>
                        <a:t>1.38</a:t>
                      </a:r>
                      <a:endParaRPr lang="en-US" sz="1150" dirty="0">
                        <a:latin typeface="Calibri" charset="0"/>
                        <a:ea typeface="Calibri" charset="0"/>
                        <a:cs typeface="Calibri" charset="0"/>
                      </a:endParaRPr>
                    </a:p>
                  </a:txBody>
                  <a:tcPr marL="91440" marR="91440" marT="45720" marB="45720" anchor="ctr">
                    <a:lnL w="6350" cap="flat" cmpd="sng" algn="ctr">
                      <a:solidFill>
                        <a:srgbClr val="E6E9EE"/>
                      </a:solidFill>
                      <a:prstDash val="solid"/>
                      <a:round/>
                      <a:headEnd type="none" w="med" len="med"/>
                      <a:tailEnd type="none" w="med" len="med"/>
                    </a:lnL>
                    <a:lnR w="6350" cap="flat" cmpd="sng" algn="ctr">
                      <a:solidFill>
                        <a:srgbClr val="E6E9EE"/>
                      </a:solidFill>
                      <a:prstDash val="solid"/>
                      <a:round/>
                      <a:headEnd type="none" w="med" len="med"/>
                      <a:tailEnd type="none" w="med" len="med"/>
                    </a:lnR>
                    <a:lnT w="6350" cap="flat" cmpd="sng" algn="ctr">
                      <a:solidFill>
                        <a:srgbClr val="E6E9EE"/>
                      </a:solidFill>
                      <a:prstDash val="solid"/>
                      <a:round/>
                      <a:headEnd type="none" w="med" len="med"/>
                      <a:tailEnd type="none" w="med" len="med"/>
                    </a:lnT>
                    <a:lnB w="6350" cap="flat" cmpd="sng" algn="ctr">
                      <a:solidFill>
                        <a:srgbClr val="E6E9EE"/>
                      </a:solidFill>
                      <a:prstDash val="solid"/>
                      <a:round/>
                      <a:headEnd type="none" w="med" len="med"/>
                      <a:tailEnd type="none" w="med" len="med"/>
                    </a:lnB>
                    <a:solidFill>
                      <a:srgbClr val="FFFFFF"/>
                    </a:solidFill>
                  </a:tcPr>
                </a:tc>
                <a:tc>
                  <a:txBody>
                    <a:bodyPr/>
                    <a:lstStyle/>
                    <a:p>
                      <a:pPr algn="r" indent="0" marL="0">
                        <a:buNone/>
                      </a:pPr>
                      <a:r>
                        <a:rPr lang="en-US" sz="1150" dirty="0">
                          <a:solidFill>
                            <a:srgbClr val="0F766E"/>
                          </a:solidFill>
                          <a:latin typeface="Calibri" pitchFamily="34" charset="0"/>
                          <a:ea typeface="Calibri" pitchFamily="34" charset="-122"/>
                          <a:cs typeface="Calibri" pitchFamily="34" charset="-120"/>
                        </a:rPr>
                        <a:t>+0.75</a:t>
                      </a:r>
                      <a:endParaRPr lang="en-US" sz="1150" dirty="0">
                        <a:latin typeface="Calibri" charset="0"/>
                        <a:ea typeface="Calibri" charset="0"/>
                        <a:cs typeface="Calibri" charset="0"/>
                      </a:endParaRPr>
                    </a:p>
                  </a:txBody>
                  <a:tcPr marL="91440" marR="91440" marT="45720" marB="45720" anchor="ctr">
                    <a:lnL w="6350" cap="flat" cmpd="sng" algn="ctr">
                      <a:solidFill>
                        <a:srgbClr val="E6E9EE"/>
                      </a:solidFill>
                      <a:prstDash val="solid"/>
                      <a:round/>
                      <a:headEnd type="none" w="med" len="med"/>
                      <a:tailEnd type="none" w="med" len="med"/>
                    </a:lnL>
                    <a:lnR w="6350" cap="flat" cmpd="sng" algn="ctr">
                      <a:solidFill>
                        <a:srgbClr val="E6E9EE"/>
                      </a:solidFill>
                      <a:prstDash val="solid"/>
                      <a:round/>
                      <a:headEnd type="none" w="med" len="med"/>
                      <a:tailEnd type="none" w="med" len="med"/>
                    </a:lnR>
                    <a:lnT w="6350" cap="flat" cmpd="sng" algn="ctr">
                      <a:solidFill>
                        <a:srgbClr val="E6E9EE"/>
                      </a:solidFill>
                      <a:prstDash val="solid"/>
                      <a:round/>
                      <a:headEnd type="none" w="med" len="med"/>
                      <a:tailEnd type="none" w="med" len="med"/>
                    </a:lnT>
                    <a:lnB w="6350" cap="flat" cmpd="sng" algn="ctr">
                      <a:solidFill>
                        <a:srgbClr val="E6E9EE"/>
                      </a:solidFill>
                      <a:prstDash val="solid"/>
                      <a:round/>
                      <a:headEnd type="none" w="med" len="med"/>
                      <a:tailEnd type="none" w="med" len="med"/>
                    </a:lnB>
                    <a:solidFill>
                      <a:srgbClr val="FFFFFF"/>
                    </a:solidFill>
                  </a:tcPr>
                </a:tc>
              </a:tr>
              <a:tr h="384048">
                <a:tc>
                  <a:txBody>
                    <a:bodyPr/>
                    <a:lstStyle/>
                    <a:p>
                      <a:pPr algn="l" indent="0" marL="0">
                        <a:buNone/>
                      </a:pPr>
                      <a:r>
                        <a:rPr lang="en-US" sz="1150" dirty="0">
                          <a:solidFill>
                            <a:srgbClr val="2B3F52"/>
                          </a:solidFill>
                          <a:latin typeface="Calibri" pitchFamily="34" charset="0"/>
                          <a:ea typeface="Calibri" pitchFamily="34" charset="-122"/>
                          <a:cs typeface="Calibri" pitchFamily="34" charset="-120"/>
                        </a:rPr>
                        <a:t>Q4 (Jan-Mar)</a:t>
                      </a:r>
                      <a:endParaRPr lang="en-US" sz="1150" dirty="0">
                        <a:latin typeface="Calibri" charset="0"/>
                        <a:ea typeface="Calibri" charset="0"/>
                        <a:cs typeface="Calibri" charset="0"/>
                      </a:endParaRPr>
                    </a:p>
                  </a:txBody>
                  <a:tcPr marL="91440" marR="91440" marT="45720" marB="45720" anchor="ctr">
                    <a:lnL w="6350" cap="flat" cmpd="sng" algn="ctr">
                      <a:solidFill>
                        <a:srgbClr val="E6E9EE"/>
                      </a:solidFill>
                      <a:prstDash val="solid"/>
                      <a:round/>
                      <a:headEnd type="none" w="med" len="med"/>
                      <a:tailEnd type="none" w="med" len="med"/>
                    </a:lnL>
                    <a:lnR w="6350" cap="flat" cmpd="sng" algn="ctr">
                      <a:solidFill>
                        <a:srgbClr val="E6E9EE"/>
                      </a:solidFill>
                      <a:prstDash val="solid"/>
                      <a:round/>
                      <a:headEnd type="none" w="med" len="med"/>
                      <a:tailEnd type="none" w="med" len="med"/>
                    </a:lnR>
                    <a:lnT w="6350" cap="flat" cmpd="sng" algn="ctr">
                      <a:solidFill>
                        <a:srgbClr val="E6E9EE"/>
                      </a:solidFill>
                      <a:prstDash val="solid"/>
                      <a:round/>
                      <a:headEnd type="none" w="med" len="med"/>
                      <a:tailEnd type="none" w="med" len="med"/>
                    </a:lnT>
                    <a:lnB w="6350" cap="flat" cmpd="sng" algn="ctr">
                      <a:solidFill>
                        <a:srgbClr val="E6E9EE"/>
                      </a:solidFill>
                      <a:prstDash val="solid"/>
                      <a:round/>
                      <a:headEnd type="none" w="med" len="med"/>
                      <a:tailEnd type="none" w="med" len="med"/>
                    </a:lnB>
                    <a:solidFill>
                      <a:srgbClr val="FFFFFF"/>
                    </a:solidFill>
                  </a:tcPr>
                </a:tc>
                <a:tc>
                  <a:txBody>
                    <a:bodyPr/>
                    <a:lstStyle/>
                    <a:p>
                      <a:pPr algn="r" indent="0" marL="0">
                        <a:buNone/>
                      </a:pPr>
                      <a:r>
                        <a:rPr lang="en-US" sz="1150" dirty="0">
                          <a:solidFill>
                            <a:srgbClr val="2B3F52"/>
                          </a:solidFill>
                          <a:latin typeface="Calibri" pitchFamily="34" charset="0"/>
                          <a:ea typeface="Calibri" pitchFamily="34" charset="-122"/>
                          <a:cs typeface="Calibri" pitchFamily="34" charset="-120"/>
                        </a:rPr>
                        <a:t>2.13</a:t>
                      </a:r>
                      <a:endParaRPr lang="en-US" sz="1150" dirty="0">
                        <a:latin typeface="Calibri" charset="0"/>
                        <a:ea typeface="Calibri" charset="0"/>
                        <a:cs typeface="Calibri" charset="0"/>
                      </a:endParaRPr>
                    </a:p>
                  </a:txBody>
                  <a:tcPr marL="91440" marR="91440" marT="45720" marB="45720" anchor="ctr">
                    <a:lnL w="6350" cap="flat" cmpd="sng" algn="ctr">
                      <a:solidFill>
                        <a:srgbClr val="E6E9EE"/>
                      </a:solidFill>
                      <a:prstDash val="solid"/>
                      <a:round/>
                      <a:headEnd type="none" w="med" len="med"/>
                      <a:tailEnd type="none" w="med" len="med"/>
                    </a:lnL>
                    <a:lnR w="6350" cap="flat" cmpd="sng" algn="ctr">
                      <a:solidFill>
                        <a:srgbClr val="E6E9EE"/>
                      </a:solidFill>
                      <a:prstDash val="solid"/>
                      <a:round/>
                      <a:headEnd type="none" w="med" len="med"/>
                      <a:tailEnd type="none" w="med" len="med"/>
                    </a:lnR>
                    <a:lnT w="6350" cap="flat" cmpd="sng" algn="ctr">
                      <a:solidFill>
                        <a:srgbClr val="E6E9EE"/>
                      </a:solidFill>
                      <a:prstDash val="solid"/>
                      <a:round/>
                      <a:headEnd type="none" w="med" len="med"/>
                      <a:tailEnd type="none" w="med" len="med"/>
                    </a:lnT>
                    <a:lnB w="6350" cap="flat" cmpd="sng" algn="ctr">
                      <a:solidFill>
                        <a:srgbClr val="E6E9EE"/>
                      </a:solidFill>
                      <a:prstDash val="solid"/>
                      <a:round/>
                      <a:headEnd type="none" w="med" len="med"/>
                      <a:tailEnd type="none" w="med" len="med"/>
                    </a:lnB>
                    <a:solidFill>
                      <a:srgbClr val="FFFFFF"/>
                    </a:solidFill>
                  </a:tcPr>
                </a:tc>
                <a:tc>
                  <a:txBody>
                    <a:bodyPr/>
                    <a:lstStyle/>
                    <a:p>
                      <a:pPr algn="r" indent="0" marL="0">
                        <a:buNone/>
                      </a:pPr>
                      <a:r>
                        <a:rPr lang="en-US" sz="1150" dirty="0">
                          <a:solidFill>
                            <a:srgbClr val="2B3F52"/>
                          </a:solidFill>
                          <a:latin typeface="Calibri" pitchFamily="34" charset="0"/>
                          <a:ea typeface="Calibri" pitchFamily="34" charset="-122"/>
                          <a:cs typeface="Calibri" pitchFamily="34" charset="-120"/>
                        </a:rPr>
                        <a:t>1.38</a:t>
                      </a:r>
                      <a:endParaRPr lang="en-US" sz="1150" dirty="0">
                        <a:latin typeface="Calibri" charset="0"/>
                        <a:ea typeface="Calibri" charset="0"/>
                        <a:cs typeface="Calibri" charset="0"/>
                      </a:endParaRPr>
                    </a:p>
                  </a:txBody>
                  <a:tcPr marL="91440" marR="91440" marT="45720" marB="45720" anchor="ctr">
                    <a:lnL w="6350" cap="flat" cmpd="sng" algn="ctr">
                      <a:solidFill>
                        <a:srgbClr val="E6E9EE"/>
                      </a:solidFill>
                      <a:prstDash val="solid"/>
                      <a:round/>
                      <a:headEnd type="none" w="med" len="med"/>
                      <a:tailEnd type="none" w="med" len="med"/>
                    </a:lnL>
                    <a:lnR w="6350" cap="flat" cmpd="sng" algn="ctr">
                      <a:solidFill>
                        <a:srgbClr val="E6E9EE"/>
                      </a:solidFill>
                      <a:prstDash val="solid"/>
                      <a:round/>
                      <a:headEnd type="none" w="med" len="med"/>
                      <a:tailEnd type="none" w="med" len="med"/>
                    </a:lnR>
                    <a:lnT w="6350" cap="flat" cmpd="sng" algn="ctr">
                      <a:solidFill>
                        <a:srgbClr val="E6E9EE"/>
                      </a:solidFill>
                      <a:prstDash val="solid"/>
                      <a:round/>
                      <a:headEnd type="none" w="med" len="med"/>
                      <a:tailEnd type="none" w="med" len="med"/>
                    </a:lnT>
                    <a:lnB w="6350" cap="flat" cmpd="sng" algn="ctr">
                      <a:solidFill>
                        <a:srgbClr val="E6E9EE"/>
                      </a:solidFill>
                      <a:prstDash val="solid"/>
                      <a:round/>
                      <a:headEnd type="none" w="med" len="med"/>
                      <a:tailEnd type="none" w="med" len="med"/>
                    </a:lnB>
                    <a:solidFill>
                      <a:srgbClr val="FFFFFF"/>
                    </a:solidFill>
                  </a:tcPr>
                </a:tc>
                <a:tc>
                  <a:txBody>
                    <a:bodyPr/>
                    <a:lstStyle/>
                    <a:p>
                      <a:pPr algn="r" indent="0" marL="0">
                        <a:buNone/>
                      </a:pPr>
                      <a:r>
                        <a:rPr lang="en-US" sz="1150" dirty="0">
                          <a:solidFill>
                            <a:srgbClr val="0F766E"/>
                          </a:solidFill>
                          <a:latin typeface="Calibri" pitchFamily="34" charset="0"/>
                          <a:ea typeface="Calibri" pitchFamily="34" charset="-122"/>
                          <a:cs typeface="Calibri" pitchFamily="34" charset="-120"/>
                        </a:rPr>
                        <a:t>+0.75</a:t>
                      </a:r>
                      <a:endParaRPr lang="en-US" sz="1150" dirty="0">
                        <a:latin typeface="Calibri" charset="0"/>
                        <a:ea typeface="Calibri" charset="0"/>
                        <a:cs typeface="Calibri" charset="0"/>
                      </a:endParaRPr>
                    </a:p>
                  </a:txBody>
                  <a:tcPr marL="91440" marR="91440" marT="45720" marB="45720" anchor="ctr">
                    <a:lnL w="6350" cap="flat" cmpd="sng" algn="ctr">
                      <a:solidFill>
                        <a:srgbClr val="E6E9EE"/>
                      </a:solidFill>
                      <a:prstDash val="solid"/>
                      <a:round/>
                      <a:headEnd type="none" w="med" len="med"/>
                      <a:tailEnd type="none" w="med" len="med"/>
                    </a:lnL>
                    <a:lnR w="6350" cap="flat" cmpd="sng" algn="ctr">
                      <a:solidFill>
                        <a:srgbClr val="E6E9EE"/>
                      </a:solidFill>
                      <a:prstDash val="solid"/>
                      <a:round/>
                      <a:headEnd type="none" w="med" len="med"/>
                      <a:tailEnd type="none" w="med" len="med"/>
                    </a:lnR>
                    <a:lnT w="6350" cap="flat" cmpd="sng" algn="ctr">
                      <a:solidFill>
                        <a:srgbClr val="E6E9EE"/>
                      </a:solidFill>
                      <a:prstDash val="solid"/>
                      <a:round/>
                      <a:headEnd type="none" w="med" len="med"/>
                      <a:tailEnd type="none" w="med" len="med"/>
                    </a:lnT>
                    <a:lnB w="6350" cap="flat" cmpd="sng" algn="ctr">
                      <a:solidFill>
                        <a:srgbClr val="E6E9EE"/>
                      </a:solidFill>
                      <a:prstDash val="solid"/>
                      <a:round/>
                      <a:headEnd type="none" w="med" len="med"/>
                      <a:tailEnd type="none" w="med" len="med"/>
                    </a:lnB>
                    <a:solidFill>
                      <a:srgbClr val="FFFFFF"/>
                    </a:solidFill>
                  </a:tcPr>
                </a:tc>
              </a:tr>
              <a:tr h="384048">
                <a:tc>
                  <a:txBody>
                    <a:bodyPr/>
                    <a:lstStyle/>
                    <a:p>
                      <a:pPr algn="l" indent="0" marL="0">
                        <a:buNone/>
                      </a:pPr>
                      <a:r>
                        <a:rPr lang="en-US" sz="1150" b="1" dirty="0">
                          <a:solidFill>
                            <a:srgbClr val="2B3F52"/>
                          </a:solidFill>
                          <a:latin typeface="Calibri" pitchFamily="34" charset="0"/>
                          <a:ea typeface="Calibri" pitchFamily="34" charset="-122"/>
                          <a:cs typeface="Calibri" pitchFamily="34" charset="-120"/>
                        </a:rPr>
                        <a:t>FY27 total</a:t>
                      </a:r>
                      <a:endParaRPr lang="en-US" sz="1150" dirty="0">
                        <a:latin typeface="Calibri" charset="0"/>
                        <a:ea typeface="Calibri" charset="0"/>
                        <a:cs typeface="Calibri" charset="0"/>
                      </a:endParaRPr>
                    </a:p>
                  </a:txBody>
                  <a:tcPr marL="91440" marR="91440" marT="45720" marB="45720" anchor="ctr">
                    <a:lnL w="6350" cap="flat" cmpd="sng" algn="ctr">
                      <a:solidFill>
                        <a:srgbClr val="E6E9EE"/>
                      </a:solidFill>
                      <a:prstDash val="solid"/>
                      <a:round/>
                      <a:headEnd type="none" w="med" len="med"/>
                      <a:tailEnd type="none" w="med" len="med"/>
                    </a:lnL>
                    <a:lnR w="6350" cap="flat" cmpd="sng" algn="ctr">
                      <a:solidFill>
                        <a:srgbClr val="E6E9EE"/>
                      </a:solidFill>
                      <a:prstDash val="solid"/>
                      <a:round/>
                      <a:headEnd type="none" w="med" len="med"/>
                      <a:tailEnd type="none" w="med" len="med"/>
                    </a:lnR>
                    <a:lnT w="6350" cap="flat" cmpd="sng" algn="ctr">
                      <a:solidFill>
                        <a:srgbClr val="E6E9EE"/>
                      </a:solidFill>
                      <a:prstDash val="solid"/>
                      <a:round/>
                      <a:headEnd type="none" w="med" len="med"/>
                      <a:tailEnd type="none" w="med" len="med"/>
                    </a:lnT>
                    <a:lnB w="6350" cap="flat" cmpd="sng" algn="ctr">
                      <a:solidFill>
                        <a:srgbClr val="E6E9EE"/>
                      </a:solidFill>
                      <a:prstDash val="solid"/>
                      <a:round/>
                      <a:headEnd type="none" w="med" len="med"/>
                      <a:tailEnd type="none" w="med" len="med"/>
                    </a:lnB>
                    <a:solidFill>
                      <a:srgbClr val="EAF2F0"/>
                    </a:solidFill>
                  </a:tcPr>
                </a:tc>
                <a:tc>
                  <a:txBody>
                    <a:bodyPr/>
                    <a:lstStyle/>
                    <a:p>
                      <a:pPr algn="r" indent="0" marL="0">
                        <a:buNone/>
                      </a:pPr>
                      <a:r>
                        <a:rPr lang="en-US" sz="1150" b="1" dirty="0">
                          <a:solidFill>
                            <a:srgbClr val="2B3F52"/>
                          </a:solidFill>
                          <a:latin typeface="Calibri" pitchFamily="34" charset="0"/>
                          <a:ea typeface="Calibri" pitchFamily="34" charset="-122"/>
                          <a:cs typeface="Calibri" pitchFamily="34" charset="-120"/>
                        </a:rPr>
                        <a:t>5.55</a:t>
                      </a:r>
                      <a:endParaRPr lang="en-US" sz="1150" dirty="0">
                        <a:latin typeface="Calibri" charset="0"/>
                        <a:ea typeface="Calibri" charset="0"/>
                        <a:cs typeface="Calibri" charset="0"/>
                      </a:endParaRPr>
                    </a:p>
                  </a:txBody>
                  <a:tcPr marL="91440" marR="91440" marT="45720" marB="45720" anchor="ctr">
                    <a:lnL w="6350" cap="flat" cmpd="sng" algn="ctr">
                      <a:solidFill>
                        <a:srgbClr val="E6E9EE"/>
                      </a:solidFill>
                      <a:prstDash val="solid"/>
                      <a:round/>
                      <a:headEnd type="none" w="med" len="med"/>
                      <a:tailEnd type="none" w="med" len="med"/>
                    </a:lnL>
                    <a:lnR w="6350" cap="flat" cmpd="sng" algn="ctr">
                      <a:solidFill>
                        <a:srgbClr val="E6E9EE"/>
                      </a:solidFill>
                      <a:prstDash val="solid"/>
                      <a:round/>
                      <a:headEnd type="none" w="med" len="med"/>
                      <a:tailEnd type="none" w="med" len="med"/>
                    </a:lnR>
                    <a:lnT w="6350" cap="flat" cmpd="sng" algn="ctr">
                      <a:solidFill>
                        <a:srgbClr val="E6E9EE"/>
                      </a:solidFill>
                      <a:prstDash val="solid"/>
                      <a:round/>
                      <a:headEnd type="none" w="med" len="med"/>
                      <a:tailEnd type="none" w="med" len="med"/>
                    </a:lnT>
                    <a:lnB w="6350" cap="flat" cmpd="sng" algn="ctr">
                      <a:solidFill>
                        <a:srgbClr val="E6E9EE"/>
                      </a:solidFill>
                      <a:prstDash val="solid"/>
                      <a:round/>
                      <a:headEnd type="none" w="med" len="med"/>
                      <a:tailEnd type="none" w="med" len="med"/>
                    </a:lnB>
                    <a:solidFill>
                      <a:srgbClr val="EAF2F0"/>
                    </a:solidFill>
                  </a:tcPr>
                </a:tc>
                <a:tc>
                  <a:txBody>
                    <a:bodyPr/>
                    <a:lstStyle/>
                    <a:p>
                      <a:pPr algn="r" indent="0" marL="0">
                        <a:buNone/>
                      </a:pPr>
                      <a:r>
                        <a:rPr lang="en-US" sz="1150" b="1" dirty="0">
                          <a:solidFill>
                            <a:srgbClr val="2B3F52"/>
                          </a:solidFill>
                          <a:latin typeface="Calibri" pitchFamily="34" charset="0"/>
                          <a:ea typeface="Calibri" pitchFamily="34" charset="-122"/>
                          <a:cs typeface="Calibri" pitchFamily="34" charset="-120"/>
                        </a:rPr>
                        <a:t>5.24</a:t>
                      </a:r>
                      <a:endParaRPr lang="en-US" sz="1150" dirty="0">
                        <a:latin typeface="Calibri" charset="0"/>
                        <a:ea typeface="Calibri" charset="0"/>
                        <a:cs typeface="Calibri" charset="0"/>
                      </a:endParaRPr>
                    </a:p>
                  </a:txBody>
                  <a:tcPr marL="91440" marR="91440" marT="45720" marB="45720" anchor="ctr">
                    <a:lnL w="6350" cap="flat" cmpd="sng" algn="ctr">
                      <a:solidFill>
                        <a:srgbClr val="E6E9EE"/>
                      </a:solidFill>
                      <a:prstDash val="solid"/>
                      <a:round/>
                      <a:headEnd type="none" w="med" len="med"/>
                      <a:tailEnd type="none" w="med" len="med"/>
                    </a:lnL>
                    <a:lnR w="6350" cap="flat" cmpd="sng" algn="ctr">
                      <a:solidFill>
                        <a:srgbClr val="E6E9EE"/>
                      </a:solidFill>
                      <a:prstDash val="solid"/>
                      <a:round/>
                      <a:headEnd type="none" w="med" len="med"/>
                      <a:tailEnd type="none" w="med" len="med"/>
                    </a:lnR>
                    <a:lnT w="6350" cap="flat" cmpd="sng" algn="ctr">
                      <a:solidFill>
                        <a:srgbClr val="E6E9EE"/>
                      </a:solidFill>
                      <a:prstDash val="solid"/>
                      <a:round/>
                      <a:headEnd type="none" w="med" len="med"/>
                      <a:tailEnd type="none" w="med" len="med"/>
                    </a:lnT>
                    <a:lnB w="6350" cap="flat" cmpd="sng" algn="ctr">
                      <a:solidFill>
                        <a:srgbClr val="E6E9EE"/>
                      </a:solidFill>
                      <a:prstDash val="solid"/>
                      <a:round/>
                      <a:headEnd type="none" w="med" len="med"/>
                      <a:tailEnd type="none" w="med" len="med"/>
                    </a:lnB>
                    <a:solidFill>
                      <a:srgbClr val="EAF2F0"/>
                    </a:solidFill>
                  </a:tcPr>
                </a:tc>
                <a:tc>
                  <a:txBody>
                    <a:bodyPr/>
                    <a:lstStyle/>
                    <a:p>
                      <a:pPr algn="r" indent="0" marL="0">
                        <a:buNone/>
                      </a:pPr>
                      <a:r>
                        <a:rPr lang="en-US" sz="1150" b="1" dirty="0">
                          <a:solidFill>
                            <a:srgbClr val="0F766E"/>
                          </a:solidFill>
                          <a:latin typeface="Calibri" pitchFamily="34" charset="0"/>
                          <a:ea typeface="Calibri" pitchFamily="34" charset="-122"/>
                          <a:cs typeface="Calibri" pitchFamily="34" charset="-120"/>
                        </a:rPr>
                        <a:t>+0.31</a:t>
                      </a:r>
                      <a:endParaRPr lang="en-US" sz="1150" dirty="0">
                        <a:latin typeface="Calibri" charset="0"/>
                        <a:ea typeface="Calibri" charset="0"/>
                        <a:cs typeface="Calibri" charset="0"/>
                      </a:endParaRPr>
                    </a:p>
                  </a:txBody>
                  <a:tcPr marL="91440" marR="91440" marT="45720" marB="45720" anchor="ctr">
                    <a:lnL w="6350" cap="flat" cmpd="sng" algn="ctr">
                      <a:solidFill>
                        <a:srgbClr val="E6E9EE"/>
                      </a:solidFill>
                      <a:prstDash val="solid"/>
                      <a:round/>
                      <a:headEnd type="none" w="med" len="med"/>
                      <a:tailEnd type="none" w="med" len="med"/>
                    </a:lnL>
                    <a:lnR w="6350" cap="flat" cmpd="sng" algn="ctr">
                      <a:solidFill>
                        <a:srgbClr val="E6E9EE"/>
                      </a:solidFill>
                      <a:prstDash val="solid"/>
                      <a:round/>
                      <a:headEnd type="none" w="med" len="med"/>
                      <a:tailEnd type="none" w="med" len="med"/>
                    </a:lnR>
                    <a:lnT w="6350" cap="flat" cmpd="sng" algn="ctr">
                      <a:solidFill>
                        <a:srgbClr val="E6E9EE"/>
                      </a:solidFill>
                      <a:prstDash val="solid"/>
                      <a:round/>
                      <a:headEnd type="none" w="med" len="med"/>
                      <a:tailEnd type="none" w="med" len="med"/>
                    </a:lnT>
                    <a:lnB w="6350" cap="flat" cmpd="sng" algn="ctr">
                      <a:solidFill>
                        <a:srgbClr val="E6E9EE"/>
                      </a:solidFill>
                      <a:prstDash val="solid"/>
                      <a:round/>
                      <a:headEnd type="none" w="med" len="med"/>
                      <a:tailEnd type="none" w="med" len="med"/>
                    </a:lnB>
                    <a:solidFill>
                      <a:srgbClr val="EAF2F0"/>
                    </a:solidFill>
                  </a:tcPr>
                </a:tc>
              </a:tr>
            </a:tbl>
          </a:graphicData>
        </a:graphic>
      </p:graphicFrame>
      <p:sp>
        <p:nvSpPr>
          <p:cNvPr id="7" name="Text 4"/>
          <p:cNvSpPr/>
          <p:nvPr/>
        </p:nvSpPr>
        <p:spPr>
          <a:xfrm>
            <a:off x="6492240" y="1417320"/>
            <a:ext cx="5212080" cy="274320"/>
          </a:xfrm>
          <a:prstGeom prst="rect">
            <a:avLst/>
          </a:prstGeom>
          <a:noFill/>
          <a:ln/>
        </p:spPr>
        <p:txBody>
          <a:bodyPr wrap="square" rtlCol="0" anchor="ctr"/>
          <a:lstStyle/>
          <a:p>
            <a:pPr indent="0" marL="0">
              <a:buNone/>
            </a:pPr>
            <a:r>
              <a:rPr lang="en-US" sz="1200" b="1" dirty="0">
                <a:solidFill>
                  <a:srgbClr val="2B3F52"/>
                </a:solidFill>
                <a:latin typeface="Calibri" pitchFamily="34" charset="0"/>
                <a:ea typeface="Calibri" pitchFamily="34" charset="-122"/>
                <a:cs typeface="Calibri" pitchFamily="34" charset="-120"/>
              </a:rPr>
              <a:t>Cost composition, share of spend to date (%)</a:t>
            </a:r>
            <a:endParaRPr lang="en-US" sz="1200" dirty="0"/>
          </a:p>
        </p:txBody>
      </p:sp>
      <p:graphicFrame>
        <p:nvGraphicFramePr>
          <p:cNvPr id="8" name="Chart 0" descr=""/>
          <p:cNvGraphicFramePr/>
          <p:nvPr/>
        </p:nvGraphicFramePr>
        <p:xfrm>
          <a:off x="6400800" y="1737360"/>
          <a:ext cx="5394960" cy="3566160"/>
        </p:xfrm>
        <a:graphic xmlns:a="http://schemas.openxmlformats.org/drawingml/2006/main">
          <a:graphicData uri="http://schemas.openxmlformats.org/drawingml/2006/chart">
            <c:chart xmlns:c="http://schemas.openxmlformats.org/drawingml/2006/chart" r:id="rId1"/>
          </a:graphicData>
        </a:graphic>
      </p:graphicFrame>
      <p:sp>
        <p:nvSpPr>
          <p:cNvPr id="9" name="Text 5"/>
          <p:cNvSpPr/>
          <p:nvPr/>
        </p:nvSpPr>
        <p:spPr>
          <a:xfrm>
            <a:off x="566928" y="4297680"/>
            <a:ext cx="5486400" cy="1463040"/>
          </a:xfrm>
          <a:prstGeom prst="rect">
            <a:avLst/>
          </a:prstGeom>
          <a:noFill/>
          <a:ln/>
        </p:spPr>
        <p:txBody>
          <a:bodyPr wrap="square" rtlCol="0" anchor="t"/>
          <a:lstStyle/>
          <a:p>
            <a:pPr marL="177800" indent="-177800">
              <a:spcAft>
                <a:spcPts val="800"/>
              </a:spcAft>
              <a:buSzPct val="100000"/>
              <a:buChar char="•"/>
            </a:pPr>
            <a:r>
              <a:rPr lang="en-US" sz="1300" dirty="0">
                <a:solidFill>
                  <a:srgbClr val="2B3F52"/>
                </a:solidFill>
                <a:latin typeface="Calibri" pitchFamily="34" charset="0"/>
                <a:ea typeface="Calibri" pitchFamily="34" charset="-122"/>
                <a:cs typeface="Calibri" pitchFamily="34" charset="-120"/>
              </a:rPr>
              <a:t>Salary is the largest line and the single lever the Board controls. Full year cost base is budgeted at Rs 5.24 Cr, with Q1 booked actual and Q2 to Q4 projected.</a:t>
            </a:r>
            <a:endParaRPr lang="en-US" sz="1300" dirty="0"/>
          </a:p>
        </p:txBody>
      </p:sp>
      <p:sp>
        <p:nvSpPr>
          <p:cNvPr id="10" name="Text 6"/>
          <p:cNvSpPr/>
          <p:nvPr/>
        </p:nvSpPr>
        <p:spPr>
          <a:xfrm>
            <a:off x="566928" y="6455664"/>
            <a:ext cx="11064240" cy="292608"/>
          </a:xfrm>
          <a:prstGeom prst="rect">
            <a:avLst/>
          </a:prstGeom>
          <a:noFill/>
          <a:ln/>
        </p:spPr>
        <p:txBody>
          <a:bodyPr wrap="square" rtlCol="0" anchor="ctr"/>
          <a:lstStyle/>
          <a:p>
            <a:pPr indent="0" marL="0">
              <a:buNone/>
            </a:pPr>
            <a:r>
              <a:rPr lang="en-US" sz="900" dirty="0">
                <a:solidFill>
                  <a:srgbClr val="9AA7B4"/>
                </a:solidFill>
                <a:latin typeface="Calibri" pitchFamily="34" charset="0"/>
                <a:ea typeface="Calibri" pitchFamily="34" charset="-122"/>
                <a:cs typeface="Calibri" pitchFamily="34" charset="-120"/>
              </a:rPr>
              <a:t>Source: cost heads are Internal actuals to 21 Jul [1]; quarterly build uses Internal run rate [1] and BLR assumptions [2].</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30000" y="420624"/>
            <a:ext cx="365760" cy="274320"/>
          </a:xfrm>
          <a:prstGeom prst="rect">
            <a:avLst/>
          </a:prstGeom>
          <a:noFill/>
          <a:ln/>
        </p:spPr>
        <p:txBody>
          <a:bodyPr wrap="square" rtlCol="0" anchor="ctr"/>
          <a:lstStyle/>
          <a:p>
            <a:pPr algn="r" indent="0" marL="0">
              <a:buNone/>
            </a:pPr>
            <a:r>
              <a:rPr lang="en-US" sz="1100" b="1" dirty="0">
                <a:solidFill>
                  <a:srgbClr val="9AA7B4"/>
                </a:solidFill>
                <a:latin typeface="Calibri" pitchFamily="34" charset="0"/>
                <a:ea typeface="Calibri" pitchFamily="34" charset="-122"/>
                <a:cs typeface="Calibri" pitchFamily="34" charset="-120"/>
              </a:rPr>
              <a:t>10</a:t>
            </a:r>
            <a:endParaRPr lang="en-US" sz="1100" dirty="0"/>
          </a:p>
        </p:txBody>
      </p:sp>
      <p:sp>
        <p:nvSpPr>
          <p:cNvPr id="3" name="Text 1"/>
          <p:cNvSpPr/>
          <p:nvPr/>
        </p:nvSpPr>
        <p:spPr>
          <a:xfrm>
            <a:off x="566928" y="457200"/>
            <a:ext cx="10058400" cy="274320"/>
          </a:xfrm>
          <a:prstGeom prst="rect">
            <a:avLst/>
          </a:prstGeom>
          <a:noFill/>
          <a:ln/>
        </p:spPr>
        <p:txBody>
          <a:bodyPr wrap="square" rtlCol="0" anchor="ctr"/>
          <a:lstStyle/>
          <a:p>
            <a:pPr indent="0" marL="0">
              <a:buNone/>
            </a:pPr>
            <a:r>
              <a:rPr lang="en-US" sz="1100" b="1" spc="200" kern="0" dirty="0">
                <a:solidFill>
                  <a:srgbClr val="0F766E"/>
                </a:solidFill>
                <a:latin typeface="Calibri" pitchFamily="34" charset="0"/>
                <a:ea typeface="Calibri" pitchFamily="34" charset="-122"/>
                <a:cs typeface="Calibri" pitchFamily="34" charset="-120"/>
              </a:rPr>
              <a:t>FUNDING AND RUNWAY</a:t>
            </a:r>
            <a:endParaRPr lang="en-US" sz="1100" dirty="0"/>
          </a:p>
        </p:txBody>
      </p:sp>
      <p:sp>
        <p:nvSpPr>
          <p:cNvPr id="4" name="Text 2"/>
          <p:cNvSpPr/>
          <p:nvPr/>
        </p:nvSpPr>
        <p:spPr>
          <a:xfrm>
            <a:off x="566928" y="713232"/>
            <a:ext cx="11064240" cy="640080"/>
          </a:xfrm>
          <a:prstGeom prst="rect">
            <a:avLst/>
          </a:prstGeom>
          <a:noFill/>
          <a:ln/>
        </p:spPr>
        <p:txBody>
          <a:bodyPr wrap="square" rtlCol="0" anchor="ctr"/>
          <a:lstStyle/>
          <a:p>
            <a:pPr indent="0" marL="0">
              <a:buNone/>
            </a:pPr>
            <a:r>
              <a:rPr lang="en-US" sz="2700" b="1" dirty="0">
                <a:solidFill>
                  <a:srgbClr val="0A1F33"/>
                </a:solidFill>
                <a:latin typeface="Cambria" pitchFamily="34" charset="0"/>
                <a:ea typeface="Cambria" pitchFamily="34" charset="-122"/>
                <a:cs typeface="Cambria" pitchFamily="34" charset="-120"/>
              </a:rPr>
              <a:t>A loss year is never a solvency risk</a:t>
            </a:r>
            <a:endParaRPr lang="en-US" sz="2700" dirty="0"/>
          </a:p>
        </p:txBody>
      </p:sp>
      <p:sp>
        <p:nvSpPr>
          <p:cNvPr id="5" name="Text 3"/>
          <p:cNvSpPr/>
          <p:nvPr/>
        </p:nvSpPr>
        <p:spPr>
          <a:xfrm>
            <a:off x="566928" y="1353312"/>
            <a:ext cx="11064240" cy="457200"/>
          </a:xfrm>
          <a:prstGeom prst="rect">
            <a:avLst/>
          </a:prstGeom>
          <a:noFill/>
          <a:ln/>
        </p:spPr>
        <p:txBody>
          <a:bodyPr wrap="square" rtlCol="0" anchor="ctr"/>
          <a:lstStyle/>
          <a:p>
            <a:pPr indent="0" marL="0">
              <a:buNone/>
            </a:pPr>
            <a:r>
              <a:rPr lang="en-US" sz="1400" dirty="0">
                <a:solidFill>
                  <a:srgbClr val="5B6B7B"/>
                </a:solidFill>
                <a:latin typeface="Calibri" pitchFamily="34" charset="0"/>
                <a:ea typeface="Calibri" pitchFamily="34" charset="-122"/>
                <a:cs typeface="Calibri" pitchFamily="34" charset="-120"/>
              </a:rPr>
              <a:t>Every scenario is funded from reserves and interest without touching the regulatory net worth.</a:t>
            </a:r>
            <a:endParaRPr lang="en-US" sz="1400" dirty="0"/>
          </a:p>
        </p:txBody>
      </p:sp>
      <p:sp>
        <p:nvSpPr>
          <p:cNvPr id="6" name="Shape 4"/>
          <p:cNvSpPr/>
          <p:nvPr/>
        </p:nvSpPr>
        <p:spPr>
          <a:xfrm>
            <a:off x="566928" y="1783080"/>
            <a:ext cx="2606040" cy="1325880"/>
          </a:xfrm>
          <a:prstGeom prst="rect">
            <a:avLst/>
          </a:prstGeom>
          <a:solidFill>
            <a:srgbClr val="F6F8FA"/>
          </a:solidFill>
          <a:ln w="12700">
            <a:solidFill>
              <a:srgbClr val="E6E9EE"/>
            </a:solidFill>
            <a:prstDash val="solid"/>
          </a:ln>
        </p:spPr>
      </p:sp>
      <p:sp>
        <p:nvSpPr>
          <p:cNvPr id="7" name="Text 5"/>
          <p:cNvSpPr/>
          <p:nvPr/>
        </p:nvSpPr>
        <p:spPr>
          <a:xfrm>
            <a:off x="731520" y="1911096"/>
            <a:ext cx="2276856" cy="274320"/>
          </a:xfrm>
          <a:prstGeom prst="rect">
            <a:avLst/>
          </a:prstGeom>
          <a:noFill/>
          <a:ln/>
        </p:spPr>
        <p:txBody>
          <a:bodyPr wrap="square" rtlCol="0" anchor="ctr"/>
          <a:lstStyle/>
          <a:p>
            <a:pPr indent="0" marL="0">
              <a:buNone/>
            </a:pPr>
            <a:r>
              <a:rPr lang="en-US" sz="1050" dirty="0">
                <a:solidFill>
                  <a:srgbClr val="5B6B7B"/>
                </a:solidFill>
                <a:latin typeface="Calibri" pitchFamily="34" charset="0"/>
                <a:ea typeface="Calibri" pitchFamily="34" charset="-122"/>
                <a:cs typeface="Calibri" pitchFamily="34" charset="-120"/>
              </a:rPr>
              <a:t>Total FD corpus</a:t>
            </a:r>
            <a:endParaRPr lang="en-US" sz="1050" dirty="0"/>
          </a:p>
        </p:txBody>
      </p:sp>
      <p:sp>
        <p:nvSpPr>
          <p:cNvPr id="8" name="Text 6"/>
          <p:cNvSpPr/>
          <p:nvPr/>
        </p:nvSpPr>
        <p:spPr>
          <a:xfrm>
            <a:off x="731520" y="2148840"/>
            <a:ext cx="2276856" cy="457200"/>
          </a:xfrm>
          <a:prstGeom prst="rect">
            <a:avLst/>
          </a:prstGeom>
          <a:noFill/>
          <a:ln/>
        </p:spPr>
        <p:txBody>
          <a:bodyPr wrap="square" rtlCol="0" anchor="ctr"/>
          <a:lstStyle/>
          <a:p>
            <a:pPr indent="0" marL="0">
              <a:buNone/>
            </a:pPr>
            <a:r>
              <a:rPr lang="en-US" sz="2100" b="1" dirty="0">
                <a:solidFill>
                  <a:srgbClr val="0A1F33"/>
                </a:solidFill>
                <a:latin typeface="Cambria" pitchFamily="34" charset="0"/>
                <a:ea typeface="Cambria" pitchFamily="34" charset="-122"/>
                <a:cs typeface="Cambria" pitchFamily="34" charset="-120"/>
              </a:rPr>
              <a:t>Rs 26.1 Cr</a:t>
            </a:r>
            <a:endParaRPr lang="en-US" sz="2100" dirty="0"/>
          </a:p>
        </p:txBody>
      </p:sp>
      <p:sp>
        <p:nvSpPr>
          <p:cNvPr id="9" name="Shape 7"/>
          <p:cNvSpPr/>
          <p:nvPr/>
        </p:nvSpPr>
        <p:spPr>
          <a:xfrm>
            <a:off x="3328416" y="1783080"/>
            <a:ext cx="2606040" cy="1325880"/>
          </a:xfrm>
          <a:prstGeom prst="rect">
            <a:avLst/>
          </a:prstGeom>
          <a:solidFill>
            <a:srgbClr val="F6F8FA"/>
          </a:solidFill>
          <a:ln w="12700">
            <a:solidFill>
              <a:srgbClr val="E6E9EE"/>
            </a:solidFill>
            <a:prstDash val="solid"/>
          </a:ln>
        </p:spPr>
      </p:sp>
      <p:sp>
        <p:nvSpPr>
          <p:cNvPr id="10" name="Text 8"/>
          <p:cNvSpPr/>
          <p:nvPr/>
        </p:nvSpPr>
        <p:spPr>
          <a:xfrm>
            <a:off x="3493008" y="1911096"/>
            <a:ext cx="2276856" cy="274320"/>
          </a:xfrm>
          <a:prstGeom prst="rect">
            <a:avLst/>
          </a:prstGeom>
          <a:noFill/>
          <a:ln/>
        </p:spPr>
        <p:txBody>
          <a:bodyPr wrap="square" rtlCol="0" anchor="ctr"/>
          <a:lstStyle/>
          <a:p>
            <a:pPr indent="0" marL="0">
              <a:buNone/>
            </a:pPr>
            <a:r>
              <a:rPr lang="en-US" sz="1050" dirty="0">
                <a:solidFill>
                  <a:srgbClr val="5B6B7B"/>
                </a:solidFill>
                <a:latin typeface="Calibri" pitchFamily="34" charset="0"/>
                <a:ea typeface="Calibri" pitchFamily="34" charset="-122"/>
                <a:cs typeface="Calibri" pitchFamily="34" charset="-120"/>
              </a:rPr>
              <a:t>Locked, SEBI net worth</a:t>
            </a:r>
            <a:endParaRPr lang="en-US" sz="1050" dirty="0"/>
          </a:p>
        </p:txBody>
      </p:sp>
      <p:sp>
        <p:nvSpPr>
          <p:cNvPr id="11" name="Text 9"/>
          <p:cNvSpPr/>
          <p:nvPr/>
        </p:nvSpPr>
        <p:spPr>
          <a:xfrm>
            <a:off x="3493008" y="2148840"/>
            <a:ext cx="2276856" cy="457200"/>
          </a:xfrm>
          <a:prstGeom prst="rect">
            <a:avLst/>
          </a:prstGeom>
          <a:noFill/>
          <a:ln/>
        </p:spPr>
        <p:txBody>
          <a:bodyPr wrap="square" rtlCol="0" anchor="ctr"/>
          <a:lstStyle/>
          <a:p>
            <a:pPr indent="0" marL="0">
              <a:buNone/>
            </a:pPr>
            <a:r>
              <a:rPr lang="en-US" sz="2100" b="1" dirty="0">
                <a:solidFill>
                  <a:srgbClr val="B3261E"/>
                </a:solidFill>
                <a:latin typeface="Cambria" pitchFamily="34" charset="0"/>
                <a:ea typeface="Cambria" pitchFamily="34" charset="-122"/>
                <a:cs typeface="Cambria" pitchFamily="34" charset="-120"/>
              </a:rPr>
              <a:t>Rs 25.0 Cr</a:t>
            </a:r>
            <a:endParaRPr lang="en-US" sz="2100" dirty="0"/>
          </a:p>
        </p:txBody>
      </p:sp>
      <p:sp>
        <p:nvSpPr>
          <p:cNvPr id="12" name="Text 10"/>
          <p:cNvSpPr/>
          <p:nvPr/>
        </p:nvSpPr>
        <p:spPr>
          <a:xfrm>
            <a:off x="3493008" y="2606040"/>
            <a:ext cx="2276856" cy="365760"/>
          </a:xfrm>
          <a:prstGeom prst="rect">
            <a:avLst/>
          </a:prstGeom>
          <a:noFill/>
          <a:ln/>
        </p:spPr>
        <p:txBody>
          <a:bodyPr wrap="square" rtlCol="0" anchor="ctr"/>
          <a:lstStyle/>
          <a:p>
            <a:pPr indent="0" marL="0">
              <a:buNone/>
            </a:pPr>
            <a:r>
              <a:rPr lang="en-US" sz="900" dirty="0">
                <a:solidFill>
                  <a:srgbClr val="9AA7B4"/>
                </a:solidFill>
                <a:latin typeface="Calibri" pitchFamily="34" charset="0"/>
                <a:ea typeface="Calibri" pitchFamily="34" charset="-122"/>
                <a:cs typeface="Calibri" pitchFamily="34" charset="-120"/>
              </a:rPr>
              <a:t>held at all times</a:t>
            </a:r>
            <a:endParaRPr lang="en-US" sz="900" dirty="0"/>
          </a:p>
        </p:txBody>
      </p:sp>
      <p:sp>
        <p:nvSpPr>
          <p:cNvPr id="13" name="Shape 11"/>
          <p:cNvSpPr/>
          <p:nvPr/>
        </p:nvSpPr>
        <p:spPr>
          <a:xfrm>
            <a:off x="6089904" y="1783080"/>
            <a:ext cx="2606040" cy="1325880"/>
          </a:xfrm>
          <a:prstGeom prst="rect">
            <a:avLst/>
          </a:prstGeom>
          <a:solidFill>
            <a:srgbClr val="F6F8FA"/>
          </a:solidFill>
          <a:ln w="12700">
            <a:solidFill>
              <a:srgbClr val="E6E9EE"/>
            </a:solidFill>
            <a:prstDash val="solid"/>
          </a:ln>
        </p:spPr>
      </p:sp>
      <p:sp>
        <p:nvSpPr>
          <p:cNvPr id="14" name="Text 12"/>
          <p:cNvSpPr/>
          <p:nvPr/>
        </p:nvSpPr>
        <p:spPr>
          <a:xfrm>
            <a:off x="6254496" y="1911096"/>
            <a:ext cx="2276856" cy="274320"/>
          </a:xfrm>
          <a:prstGeom prst="rect">
            <a:avLst/>
          </a:prstGeom>
          <a:noFill/>
          <a:ln/>
        </p:spPr>
        <p:txBody>
          <a:bodyPr wrap="square" rtlCol="0" anchor="ctr"/>
          <a:lstStyle/>
          <a:p>
            <a:pPr indent="0" marL="0">
              <a:buNone/>
            </a:pPr>
            <a:r>
              <a:rPr lang="en-US" sz="1050" dirty="0">
                <a:solidFill>
                  <a:srgbClr val="5B6B7B"/>
                </a:solidFill>
                <a:latin typeface="Calibri" pitchFamily="34" charset="0"/>
                <a:ea typeface="Calibri" pitchFamily="34" charset="-122"/>
                <a:cs typeface="Calibri" pitchFamily="34" charset="-120"/>
              </a:rPr>
              <a:t>Accessible funds</a:t>
            </a:r>
            <a:endParaRPr lang="en-US" sz="1050" dirty="0"/>
          </a:p>
        </p:txBody>
      </p:sp>
      <p:sp>
        <p:nvSpPr>
          <p:cNvPr id="15" name="Text 13"/>
          <p:cNvSpPr/>
          <p:nvPr/>
        </p:nvSpPr>
        <p:spPr>
          <a:xfrm>
            <a:off x="6254496" y="2148840"/>
            <a:ext cx="2276856" cy="457200"/>
          </a:xfrm>
          <a:prstGeom prst="rect">
            <a:avLst/>
          </a:prstGeom>
          <a:noFill/>
          <a:ln/>
        </p:spPr>
        <p:txBody>
          <a:bodyPr wrap="square" rtlCol="0" anchor="ctr"/>
          <a:lstStyle/>
          <a:p>
            <a:pPr indent="0" marL="0">
              <a:buNone/>
            </a:pPr>
            <a:r>
              <a:rPr lang="en-US" sz="2100" b="1" dirty="0">
                <a:solidFill>
                  <a:srgbClr val="0F766E"/>
                </a:solidFill>
                <a:latin typeface="Cambria" pitchFamily="34" charset="0"/>
                <a:ea typeface="Cambria" pitchFamily="34" charset="-122"/>
                <a:cs typeface="Cambria" pitchFamily="34" charset="-120"/>
              </a:rPr>
              <a:t>about Rs 3.0 Cr</a:t>
            </a:r>
            <a:endParaRPr lang="en-US" sz="2100" dirty="0"/>
          </a:p>
        </p:txBody>
      </p:sp>
      <p:sp>
        <p:nvSpPr>
          <p:cNvPr id="16" name="Text 14"/>
          <p:cNvSpPr/>
          <p:nvPr/>
        </p:nvSpPr>
        <p:spPr>
          <a:xfrm>
            <a:off x="6254496" y="2606040"/>
            <a:ext cx="2276856" cy="365760"/>
          </a:xfrm>
          <a:prstGeom prst="rect">
            <a:avLst/>
          </a:prstGeom>
          <a:noFill/>
          <a:ln/>
        </p:spPr>
        <p:txBody>
          <a:bodyPr wrap="square" rtlCol="0" anchor="ctr"/>
          <a:lstStyle/>
          <a:p>
            <a:pPr indent="0" marL="0">
              <a:buNone/>
            </a:pPr>
            <a:r>
              <a:rPr lang="en-US" sz="900" dirty="0">
                <a:solidFill>
                  <a:srgbClr val="9AA7B4"/>
                </a:solidFill>
                <a:latin typeface="Calibri" pitchFamily="34" charset="0"/>
                <a:ea typeface="Calibri" pitchFamily="34" charset="-122"/>
                <a:cs typeface="Calibri" pitchFamily="34" charset="-120"/>
              </a:rPr>
              <a:t>non locked FD plus bank</a:t>
            </a:r>
            <a:endParaRPr lang="en-US" sz="900" dirty="0"/>
          </a:p>
        </p:txBody>
      </p:sp>
      <p:sp>
        <p:nvSpPr>
          <p:cNvPr id="17" name="Shape 15"/>
          <p:cNvSpPr/>
          <p:nvPr/>
        </p:nvSpPr>
        <p:spPr>
          <a:xfrm>
            <a:off x="8851392" y="1783080"/>
            <a:ext cx="2606040" cy="1325880"/>
          </a:xfrm>
          <a:prstGeom prst="rect">
            <a:avLst/>
          </a:prstGeom>
          <a:solidFill>
            <a:srgbClr val="F6F8FA"/>
          </a:solidFill>
          <a:ln w="12700">
            <a:solidFill>
              <a:srgbClr val="E6E9EE"/>
            </a:solidFill>
            <a:prstDash val="solid"/>
          </a:ln>
        </p:spPr>
      </p:sp>
      <p:sp>
        <p:nvSpPr>
          <p:cNvPr id="18" name="Text 16"/>
          <p:cNvSpPr/>
          <p:nvPr/>
        </p:nvSpPr>
        <p:spPr>
          <a:xfrm>
            <a:off x="9015984" y="1911096"/>
            <a:ext cx="2276856" cy="274320"/>
          </a:xfrm>
          <a:prstGeom prst="rect">
            <a:avLst/>
          </a:prstGeom>
          <a:noFill/>
          <a:ln/>
        </p:spPr>
        <p:txBody>
          <a:bodyPr wrap="square" rtlCol="0" anchor="ctr"/>
          <a:lstStyle/>
          <a:p>
            <a:pPr indent="0" marL="0">
              <a:buNone/>
            </a:pPr>
            <a:r>
              <a:rPr lang="en-US" sz="1050" dirty="0">
                <a:solidFill>
                  <a:srgbClr val="5B6B7B"/>
                </a:solidFill>
                <a:latin typeface="Calibri" pitchFamily="34" charset="0"/>
                <a:ea typeface="Calibri" pitchFamily="34" charset="-122"/>
                <a:cs typeface="Calibri" pitchFamily="34" charset="-120"/>
              </a:rPr>
              <a:t>Annual FD interest</a:t>
            </a:r>
            <a:endParaRPr lang="en-US" sz="1050" dirty="0"/>
          </a:p>
        </p:txBody>
      </p:sp>
      <p:sp>
        <p:nvSpPr>
          <p:cNvPr id="19" name="Text 17"/>
          <p:cNvSpPr/>
          <p:nvPr/>
        </p:nvSpPr>
        <p:spPr>
          <a:xfrm>
            <a:off x="9015984" y="2148840"/>
            <a:ext cx="2276856" cy="457200"/>
          </a:xfrm>
          <a:prstGeom prst="rect">
            <a:avLst/>
          </a:prstGeom>
          <a:noFill/>
          <a:ln/>
        </p:spPr>
        <p:txBody>
          <a:bodyPr wrap="square" rtlCol="0" anchor="ctr"/>
          <a:lstStyle/>
          <a:p>
            <a:pPr indent="0" marL="0">
              <a:buNone/>
            </a:pPr>
            <a:r>
              <a:rPr lang="en-US" sz="2100" b="1" dirty="0">
                <a:solidFill>
                  <a:srgbClr val="0F766E"/>
                </a:solidFill>
                <a:latin typeface="Cambria" pitchFamily="34" charset="0"/>
                <a:ea typeface="Cambria" pitchFamily="34" charset="-122"/>
                <a:cs typeface="Cambria" pitchFamily="34" charset="-120"/>
              </a:rPr>
              <a:t>about Rs 1.8 Cr</a:t>
            </a:r>
            <a:endParaRPr lang="en-US" sz="2100" dirty="0"/>
          </a:p>
        </p:txBody>
      </p:sp>
      <p:sp>
        <p:nvSpPr>
          <p:cNvPr id="20" name="Text 18"/>
          <p:cNvSpPr/>
          <p:nvPr/>
        </p:nvSpPr>
        <p:spPr>
          <a:xfrm>
            <a:off x="9015984" y="2606040"/>
            <a:ext cx="2276856" cy="365760"/>
          </a:xfrm>
          <a:prstGeom prst="rect">
            <a:avLst/>
          </a:prstGeom>
          <a:noFill/>
          <a:ln/>
        </p:spPr>
        <p:txBody>
          <a:bodyPr wrap="square" rtlCol="0" anchor="ctr"/>
          <a:lstStyle/>
          <a:p>
            <a:pPr indent="0" marL="0">
              <a:buNone/>
            </a:pPr>
            <a:r>
              <a:rPr lang="en-US" sz="900" dirty="0">
                <a:solidFill>
                  <a:srgbClr val="9AA7B4"/>
                </a:solidFill>
                <a:latin typeface="Calibri" pitchFamily="34" charset="0"/>
                <a:ea typeface="Calibri" pitchFamily="34" charset="-122"/>
                <a:cs typeface="Calibri" pitchFamily="34" charset="-120"/>
              </a:rPr>
              <a:t>recurring cash income</a:t>
            </a:r>
            <a:endParaRPr lang="en-US" sz="900" dirty="0"/>
          </a:p>
        </p:txBody>
      </p:sp>
      <p:sp>
        <p:nvSpPr>
          <p:cNvPr id="21" name="Text 19"/>
          <p:cNvSpPr/>
          <p:nvPr/>
        </p:nvSpPr>
        <p:spPr>
          <a:xfrm>
            <a:off x="566928" y="3429000"/>
            <a:ext cx="10972800" cy="2377440"/>
          </a:xfrm>
          <a:prstGeom prst="rect">
            <a:avLst/>
          </a:prstGeom>
          <a:noFill/>
          <a:ln/>
        </p:spPr>
        <p:txBody>
          <a:bodyPr wrap="square" rtlCol="0" anchor="t"/>
          <a:lstStyle/>
          <a:p>
            <a:pPr marL="177800" indent="-177800">
              <a:spcAft>
                <a:spcPts val="800"/>
              </a:spcAft>
              <a:buSzPct val="100000"/>
              <a:buChar char="•"/>
            </a:pPr>
            <a:r>
              <a:rPr lang="en-US" sz="1400" dirty="0">
                <a:solidFill>
                  <a:srgbClr val="2B3F52"/>
                </a:solidFill>
                <a:latin typeface="Calibri" pitchFamily="34" charset="0"/>
                <a:ea typeface="Calibri" pitchFamily="34" charset="-122"/>
                <a:cs typeface="Calibri" pitchFamily="34" charset="-120"/>
              </a:rPr>
              <a:t>Base case S1 breaks even, so no drawdown is needed.</a:t>
            </a:r>
            <a:endParaRPr lang="en-US" sz="1400" dirty="0"/>
          </a:p>
          <a:p>
            <a:pPr marL="177800" indent="-177800">
              <a:spcAft>
                <a:spcPts val="800"/>
              </a:spcAft>
              <a:buSzPct val="100000"/>
              <a:buChar char="•"/>
            </a:pPr>
            <a:r>
              <a:rPr lang="en-US" sz="1400" dirty="0">
                <a:solidFill>
                  <a:srgbClr val="2B3F52"/>
                </a:solidFill>
                <a:latin typeface="Calibri" pitchFamily="34" charset="0"/>
                <a:ea typeface="Calibri" pitchFamily="34" charset="-122"/>
                <a:cs typeface="Calibri" pitchFamily="34" charset="-120"/>
              </a:rPr>
              <a:t>Even the worst case S3, a Rs 2.6 Cr loss, is about Rs 2.5 Cr of cash burn, comfortably inside the roughly Rs 3.0 Cr accessible plus Rs 1.8 Cr of annual interest.</a:t>
            </a:r>
            <a:endParaRPr lang="en-US" sz="1400" dirty="0"/>
          </a:p>
          <a:p>
            <a:pPr marL="177800" indent="-177800">
              <a:spcAft>
                <a:spcPts val="800"/>
              </a:spcAft>
              <a:buSzPct val="100000"/>
              <a:buChar char="•"/>
            </a:pPr>
            <a:r>
              <a:rPr lang="en-US" sz="1400" dirty="0">
                <a:solidFill>
                  <a:srgbClr val="2B3F52"/>
                </a:solidFill>
                <a:latin typeface="Calibri" pitchFamily="34" charset="0"/>
                <a:ea typeface="Calibri" pitchFamily="34" charset="-122"/>
                <a:cs typeface="Calibri" pitchFamily="34" charset="-120"/>
              </a:rPr>
              <a:t>The Rs 25 Cr net worth stays intact in every scenario, so the SEBI registration is never at risk.</a:t>
            </a:r>
            <a:endParaRPr lang="en-US" sz="1400" dirty="0"/>
          </a:p>
        </p:txBody>
      </p:sp>
      <p:sp>
        <p:nvSpPr>
          <p:cNvPr id="22" name="Text 20"/>
          <p:cNvSpPr/>
          <p:nvPr/>
        </p:nvSpPr>
        <p:spPr>
          <a:xfrm>
            <a:off x="566928" y="6455664"/>
            <a:ext cx="11064240" cy="292608"/>
          </a:xfrm>
          <a:prstGeom prst="rect">
            <a:avLst/>
          </a:prstGeom>
          <a:noFill/>
          <a:ln/>
        </p:spPr>
        <p:txBody>
          <a:bodyPr wrap="square" rtlCol="0" anchor="ctr"/>
          <a:lstStyle/>
          <a:p>
            <a:pPr indent="0" marL="0">
              <a:buNone/>
            </a:pPr>
            <a:r>
              <a:rPr lang="en-US" sz="900" dirty="0">
                <a:solidFill>
                  <a:srgbClr val="9AA7B4"/>
                </a:solidFill>
                <a:latin typeface="Calibri" pitchFamily="34" charset="0"/>
                <a:ea typeface="Calibri" pitchFamily="34" charset="-122"/>
                <a:cs typeface="Calibri" pitchFamily="34" charset="-120"/>
              </a:rPr>
              <a:t>Source: Internal [1]. SEBI net worth basis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30000" y="420624"/>
            <a:ext cx="365760" cy="274320"/>
          </a:xfrm>
          <a:prstGeom prst="rect">
            <a:avLst/>
          </a:prstGeom>
          <a:noFill/>
          <a:ln/>
        </p:spPr>
        <p:txBody>
          <a:bodyPr wrap="square" rtlCol="0" anchor="ctr"/>
          <a:lstStyle/>
          <a:p>
            <a:pPr algn="r" indent="0" marL="0">
              <a:buNone/>
            </a:pPr>
            <a:r>
              <a:rPr lang="en-US" sz="1100" b="1" dirty="0">
                <a:solidFill>
                  <a:srgbClr val="9AA7B4"/>
                </a:solidFill>
                <a:latin typeface="Calibri" pitchFamily="34" charset="0"/>
                <a:ea typeface="Calibri" pitchFamily="34" charset="-122"/>
                <a:cs typeface="Calibri" pitchFamily="34" charset="-120"/>
              </a:rPr>
              <a:t>11</a:t>
            </a:r>
            <a:endParaRPr lang="en-US" sz="1100" dirty="0"/>
          </a:p>
        </p:txBody>
      </p:sp>
      <p:sp>
        <p:nvSpPr>
          <p:cNvPr id="3" name="Text 1"/>
          <p:cNvSpPr/>
          <p:nvPr/>
        </p:nvSpPr>
        <p:spPr>
          <a:xfrm>
            <a:off x="566928" y="457200"/>
            <a:ext cx="10058400" cy="274320"/>
          </a:xfrm>
          <a:prstGeom prst="rect">
            <a:avLst/>
          </a:prstGeom>
          <a:noFill/>
          <a:ln/>
        </p:spPr>
        <p:txBody>
          <a:bodyPr wrap="square" rtlCol="0" anchor="ctr"/>
          <a:lstStyle/>
          <a:p>
            <a:pPr indent="0" marL="0">
              <a:buNone/>
            </a:pPr>
            <a:r>
              <a:rPr lang="en-US" sz="1100" b="1" spc="200" kern="0" dirty="0">
                <a:solidFill>
                  <a:srgbClr val="0F766E"/>
                </a:solidFill>
                <a:latin typeface="Calibri" pitchFamily="34" charset="0"/>
                <a:ea typeface="Calibri" pitchFamily="34" charset="-122"/>
                <a:cs typeface="Calibri" pitchFamily="34" charset="-120"/>
              </a:rPr>
              <a:t>THE CLIMB</a:t>
            </a:r>
            <a:endParaRPr lang="en-US" sz="1100" dirty="0"/>
          </a:p>
        </p:txBody>
      </p:sp>
      <p:sp>
        <p:nvSpPr>
          <p:cNvPr id="4" name="Text 2"/>
          <p:cNvSpPr/>
          <p:nvPr/>
        </p:nvSpPr>
        <p:spPr>
          <a:xfrm>
            <a:off x="566928" y="713232"/>
            <a:ext cx="11064240" cy="640080"/>
          </a:xfrm>
          <a:prstGeom prst="rect">
            <a:avLst/>
          </a:prstGeom>
          <a:noFill/>
          <a:ln/>
        </p:spPr>
        <p:txBody>
          <a:bodyPr wrap="square" rtlCol="0" anchor="ctr"/>
          <a:lstStyle/>
          <a:p>
            <a:pPr indent="0" marL="0">
              <a:buNone/>
            </a:pPr>
            <a:r>
              <a:rPr lang="en-US" sz="2700" b="1" dirty="0">
                <a:solidFill>
                  <a:srgbClr val="0A1F33"/>
                </a:solidFill>
                <a:latin typeface="Cambria" pitchFamily="34" charset="0"/>
                <a:ea typeface="Cambria" pitchFamily="34" charset="-122"/>
                <a:cs typeface="Cambria" pitchFamily="34" charset="-120"/>
              </a:rPr>
              <a:t>Initial fees fund the turn, surveillance compounds the climb</a:t>
            </a:r>
            <a:endParaRPr lang="en-US" sz="2700" dirty="0"/>
          </a:p>
        </p:txBody>
      </p:sp>
      <p:sp>
        <p:nvSpPr>
          <p:cNvPr id="5" name="Text 3"/>
          <p:cNvSpPr/>
          <p:nvPr/>
        </p:nvSpPr>
        <p:spPr>
          <a:xfrm>
            <a:off x="566928" y="1417320"/>
            <a:ext cx="5486400" cy="274320"/>
          </a:xfrm>
          <a:prstGeom prst="rect">
            <a:avLst/>
          </a:prstGeom>
          <a:noFill/>
          <a:ln/>
        </p:spPr>
        <p:txBody>
          <a:bodyPr wrap="square" rtlCol="0" anchor="ctr"/>
          <a:lstStyle/>
          <a:p>
            <a:pPr indent="0" marL="0">
              <a:buNone/>
            </a:pPr>
            <a:r>
              <a:rPr lang="en-US" sz="1200" b="1" dirty="0">
                <a:solidFill>
                  <a:srgbClr val="2B3F52"/>
                </a:solidFill>
                <a:latin typeface="Calibri" pitchFamily="34" charset="0"/>
                <a:ea typeface="Calibri" pitchFamily="34" charset="-122"/>
                <a:cs typeface="Calibri" pitchFamily="34" charset="-120"/>
              </a:rPr>
              <a:t>Operating revenue build, base case (Rs Cr)</a:t>
            </a:r>
            <a:endParaRPr lang="en-US" sz="1200" dirty="0"/>
          </a:p>
        </p:txBody>
      </p:sp>
      <p:graphicFrame>
        <p:nvGraphicFramePr>
          <p:cNvPr id="6" name="Chart 0" descr=""/>
          <p:cNvGraphicFramePr/>
          <p:nvPr/>
        </p:nvGraphicFramePr>
        <p:xfrm>
          <a:off x="566928" y="1737360"/>
          <a:ext cx="5669280" cy="402336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6492240" y="1417320"/>
            <a:ext cx="5486400" cy="274320"/>
          </a:xfrm>
          <a:prstGeom prst="rect">
            <a:avLst/>
          </a:prstGeom>
          <a:noFill/>
          <a:ln/>
        </p:spPr>
        <p:txBody>
          <a:bodyPr wrap="square" rtlCol="0" anchor="ctr"/>
          <a:lstStyle/>
          <a:p>
            <a:pPr indent="0" marL="0">
              <a:buNone/>
            </a:pPr>
            <a:r>
              <a:rPr lang="en-US" sz="1200" b="1" dirty="0">
                <a:solidFill>
                  <a:srgbClr val="2B3F52"/>
                </a:solidFill>
                <a:latin typeface="Calibri" pitchFamily="34" charset="0"/>
                <a:ea typeface="Calibri" pitchFamily="34" charset="-122"/>
                <a:cs typeface="Calibri" pitchFamily="34" charset="-120"/>
              </a:rPr>
              <a:t>Income mix, FD versus ratings</a:t>
            </a:r>
            <a:endParaRPr lang="en-US" sz="1200" dirty="0"/>
          </a:p>
        </p:txBody>
      </p:sp>
      <p:graphicFrame>
        <p:nvGraphicFramePr>
          <p:cNvPr id="8" name="Chart 1" descr=""/>
          <p:cNvGraphicFramePr/>
          <p:nvPr/>
        </p:nvGraphicFramePr>
        <p:xfrm>
          <a:off x="6400800" y="1737360"/>
          <a:ext cx="5394960" cy="4023360"/>
        </p:xfrm>
        <a:graphic xmlns:a="http://schemas.openxmlformats.org/drawingml/2006/main">
          <a:graphicData uri="http://schemas.openxmlformats.org/drawingml/2006/chart">
            <c:chart xmlns:c="http://schemas.openxmlformats.org/drawingml/2006/chart" r:id="rId2"/>
          </a:graphicData>
        </a:graphic>
      </p:graphicFrame>
      <p:sp>
        <p:nvSpPr>
          <p:cNvPr id="9" name="Text 5"/>
          <p:cNvSpPr/>
          <p:nvPr/>
        </p:nvSpPr>
        <p:spPr>
          <a:xfrm>
            <a:off x="566928" y="6455664"/>
            <a:ext cx="11064240" cy="292608"/>
          </a:xfrm>
          <a:prstGeom prst="rect">
            <a:avLst/>
          </a:prstGeom>
          <a:noFill/>
          <a:ln/>
        </p:spPr>
        <p:txBody>
          <a:bodyPr wrap="square" rtlCol="0" anchor="ctr"/>
          <a:lstStyle/>
          <a:p>
            <a:pPr indent="0" marL="0">
              <a:buNone/>
            </a:pPr>
            <a:r>
              <a:rPr lang="en-US" sz="900" dirty="0">
                <a:solidFill>
                  <a:srgbClr val="9AA7B4"/>
                </a:solidFill>
                <a:latin typeface="Calibri" pitchFamily="34" charset="0"/>
                <a:ea typeface="Calibri" pitchFamily="34" charset="-122"/>
                <a:cs typeface="Calibri" pitchFamily="34" charset="-120"/>
              </a:rPr>
              <a:t>Source: FY26 actual, Internal [1]. FY27 to FY29 modelled [1][2].</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30000" y="420624"/>
            <a:ext cx="365760" cy="274320"/>
          </a:xfrm>
          <a:prstGeom prst="rect">
            <a:avLst/>
          </a:prstGeom>
          <a:noFill/>
          <a:ln/>
        </p:spPr>
        <p:txBody>
          <a:bodyPr wrap="square" rtlCol="0" anchor="ctr"/>
          <a:lstStyle/>
          <a:p>
            <a:pPr algn="r" indent="0" marL="0">
              <a:buNone/>
            </a:pPr>
            <a:r>
              <a:rPr lang="en-US" sz="1100" b="1" dirty="0">
                <a:solidFill>
                  <a:srgbClr val="9AA7B4"/>
                </a:solidFill>
                <a:latin typeface="Calibri" pitchFamily="34" charset="0"/>
                <a:ea typeface="Calibri" pitchFamily="34" charset="-122"/>
                <a:cs typeface="Calibri" pitchFamily="34" charset="-120"/>
              </a:rPr>
              <a:t>12</a:t>
            </a:r>
            <a:endParaRPr lang="en-US" sz="1100" dirty="0"/>
          </a:p>
        </p:txBody>
      </p:sp>
      <p:sp>
        <p:nvSpPr>
          <p:cNvPr id="3" name="Text 1"/>
          <p:cNvSpPr/>
          <p:nvPr/>
        </p:nvSpPr>
        <p:spPr>
          <a:xfrm>
            <a:off x="566928" y="457200"/>
            <a:ext cx="10058400" cy="274320"/>
          </a:xfrm>
          <a:prstGeom prst="rect">
            <a:avLst/>
          </a:prstGeom>
          <a:noFill/>
          <a:ln/>
        </p:spPr>
        <p:txBody>
          <a:bodyPr wrap="square" rtlCol="0" anchor="ctr"/>
          <a:lstStyle/>
          <a:p>
            <a:pPr indent="0" marL="0">
              <a:buNone/>
            </a:pPr>
            <a:r>
              <a:rPr lang="en-US" sz="1100" b="1" spc="200" kern="0" dirty="0">
                <a:solidFill>
                  <a:srgbClr val="0F766E"/>
                </a:solidFill>
                <a:latin typeface="Calibri" pitchFamily="34" charset="0"/>
                <a:ea typeface="Calibri" pitchFamily="34" charset="-122"/>
                <a:cs typeface="Calibri" pitchFamily="34" charset="-120"/>
              </a:rPr>
              <a:t>INDUSTRY MAP</a:t>
            </a:r>
            <a:endParaRPr lang="en-US" sz="1100" dirty="0"/>
          </a:p>
        </p:txBody>
      </p:sp>
      <p:sp>
        <p:nvSpPr>
          <p:cNvPr id="4" name="Text 2"/>
          <p:cNvSpPr/>
          <p:nvPr/>
        </p:nvSpPr>
        <p:spPr>
          <a:xfrm>
            <a:off x="566928" y="713232"/>
            <a:ext cx="11064240" cy="640080"/>
          </a:xfrm>
          <a:prstGeom prst="rect">
            <a:avLst/>
          </a:prstGeom>
          <a:noFill/>
          <a:ln/>
        </p:spPr>
        <p:txBody>
          <a:bodyPr wrap="square" rtlCol="0" anchor="ctr"/>
          <a:lstStyle/>
          <a:p>
            <a:pPr indent="0" marL="0">
              <a:buNone/>
            </a:pPr>
            <a:r>
              <a:rPr lang="en-US" sz="2700" b="1" dirty="0">
                <a:solidFill>
                  <a:srgbClr val="0A1F33"/>
                </a:solidFill>
                <a:latin typeface="Cambria" pitchFamily="34" charset="0"/>
                <a:ea typeface="Cambria" pitchFamily="34" charset="-122"/>
                <a:cs typeface="Cambria" pitchFamily="34" charset="-120"/>
              </a:rPr>
              <a:t>What the CRAs earn, yearly and quarterly, versus ACER</a:t>
            </a:r>
            <a:endParaRPr lang="en-US" sz="2700" dirty="0"/>
          </a:p>
        </p:txBody>
      </p:sp>
      <p:sp>
        <p:nvSpPr>
          <p:cNvPr id="5" name="Text 3"/>
          <p:cNvSpPr/>
          <p:nvPr/>
        </p:nvSpPr>
        <p:spPr>
          <a:xfrm>
            <a:off x="566928" y="1353312"/>
            <a:ext cx="11064240" cy="457200"/>
          </a:xfrm>
          <a:prstGeom prst="rect">
            <a:avLst/>
          </a:prstGeom>
          <a:noFill/>
          <a:ln/>
        </p:spPr>
        <p:txBody>
          <a:bodyPr wrap="square" rtlCol="0" anchor="ctr"/>
          <a:lstStyle/>
          <a:p>
            <a:pPr indent="0" marL="0">
              <a:buNone/>
            </a:pPr>
            <a:r>
              <a:rPr lang="en-US" sz="1400" dirty="0">
                <a:solidFill>
                  <a:srgbClr val="5B6B7B"/>
                </a:solidFill>
                <a:latin typeface="Calibri" pitchFamily="34" charset="0"/>
                <a:ea typeface="Calibri" pitchFamily="34" charset="-122"/>
                <a:cs typeface="Calibri" pitchFamily="34" charset="-120"/>
              </a:rPr>
              <a:t>Established agencies book hundreds of crore a year. ACER starts at the very bottom, by design.</a:t>
            </a:r>
            <a:endParaRPr lang="en-US" sz="1400" dirty="0"/>
          </a:p>
        </p:txBody>
      </p:sp>
      <p:sp>
        <p:nvSpPr>
          <p:cNvPr id="6" name="Text 4"/>
          <p:cNvSpPr/>
          <p:nvPr/>
        </p:nvSpPr>
        <p:spPr>
          <a:xfrm>
            <a:off x="566928" y="1417320"/>
            <a:ext cx="5486400" cy="274320"/>
          </a:xfrm>
          <a:prstGeom prst="rect">
            <a:avLst/>
          </a:prstGeom>
          <a:noFill/>
          <a:ln/>
        </p:spPr>
        <p:txBody>
          <a:bodyPr wrap="square" rtlCol="0" anchor="ctr"/>
          <a:lstStyle/>
          <a:p>
            <a:pPr indent="0" marL="0">
              <a:buNone/>
            </a:pPr>
            <a:r>
              <a:rPr lang="en-US" sz="1200" b="1" dirty="0">
                <a:solidFill>
                  <a:srgbClr val="2B3F52"/>
                </a:solidFill>
                <a:latin typeface="Calibri" pitchFamily="34" charset="0"/>
                <a:ea typeface="Calibri" pitchFamily="34" charset="-122"/>
                <a:cs typeface="Calibri" pitchFamily="34" charset="-120"/>
              </a:rPr>
              <a:t>Yearly rating revenue, latest year (Rs Cr)</a:t>
            </a:r>
            <a:endParaRPr lang="en-US" sz="1200" dirty="0"/>
          </a:p>
        </p:txBody>
      </p:sp>
      <p:graphicFrame>
        <p:nvGraphicFramePr>
          <p:cNvPr id="7" name="Chart 0" descr=""/>
          <p:cNvGraphicFramePr/>
          <p:nvPr/>
        </p:nvGraphicFramePr>
        <p:xfrm>
          <a:off x="566928" y="1737360"/>
          <a:ext cx="5577840" cy="411480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a:off x="6400800" y="1417320"/>
            <a:ext cx="5486400" cy="274320"/>
          </a:xfrm>
          <a:prstGeom prst="rect">
            <a:avLst/>
          </a:prstGeom>
          <a:noFill/>
          <a:ln/>
        </p:spPr>
        <p:txBody>
          <a:bodyPr wrap="square" rtlCol="0" anchor="ctr"/>
          <a:lstStyle/>
          <a:p>
            <a:pPr indent="0" marL="0">
              <a:buNone/>
            </a:pPr>
            <a:r>
              <a:rPr lang="en-US" sz="1200" b="1" dirty="0">
                <a:solidFill>
                  <a:srgbClr val="2B3F52"/>
                </a:solidFill>
                <a:latin typeface="Calibri" pitchFamily="34" charset="0"/>
                <a:ea typeface="Calibri" pitchFamily="34" charset="-122"/>
                <a:cs typeface="Calibri" pitchFamily="34" charset="-120"/>
              </a:rPr>
              <a:t>Quarterly rating revenue, latest quarter (Rs Cr)</a:t>
            </a:r>
            <a:endParaRPr lang="en-US" sz="1200" dirty="0"/>
          </a:p>
        </p:txBody>
      </p:sp>
      <p:graphicFrame>
        <p:nvGraphicFramePr>
          <p:cNvPr id="9" name="Chart 1" descr=""/>
          <p:cNvGraphicFramePr/>
          <p:nvPr/>
        </p:nvGraphicFramePr>
        <p:xfrm>
          <a:off x="6400800" y="1737360"/>
          <a:ext cx="5394960" cy="2926080"/>
        </p:xfrm>
        <a:graphic xmlns:a="http://schemas.openxmlformats.org/drawingml/2006/main">
          <a:graphicData uri="http://schemas.openxmlformats.org/drawingml/2006/chart">
            <c:chart xmlns:c="http://schemas.openxmlformats.org/drawingml/2006/chart" r:id="rId2"/>
          </a:graphicData>
        </a:graphic>
      </p:graphicFrame>
      <p:sp>
        <p:nvSpPr>
          <p:cNvPr id="10" name="Text 6"/>
          <p:cNvSpPr/>
          <p:nvPr/>
        </p:nvSpPr>
        <p:spPr>
          <a:xfrm>
            <a:off x="6400800" y="4846320"/>
            <a:ext cx="5394960" cy="914400"/>
          </a:xfrm>
          <a:prstGeom prst="rect">
            <a:avLst/>
          </a:prstGeom>
          <a:noFill/>
          <a:ln/>
        </p:spPr>
        <p:txBody>
          <a:bodyPr wrap="square" rtlCol="0" anchor="t"/>
          <a:lstStyle/>
          <a:p>
            <a:pPr indent="0" marL="0">
              <a:buNone/>
            </a:pPr>
            <a:r>
              <a:rPr lang="en-US" sz="1200" dirty="0">
                <a:solidFill>
                  <a:srgbClr val="2B3F52"/>
                </a:solidFill>
                <a:latin typeface="Calibri" pitchFamily="34" charset="0"/>
                <a:ea typeface="Calibri" pitchFamily="34" charset="-122"/>
                <a:cs typeface="Calibri" pitchFamily="34" charset="-120"/>
              </a:rPr>
              <a:t>Leaders book Rs 100 to 254 Cr a quarter; ACER about Rs 0.15 Cr. The scale gap is the opportunity, not a red flag.</a:t>
            </a:r>
            <a:endParaRPr lang="en-US" sz="1200" dirty="0"/>
          </a:p>
        </p:txBody>
      </p:sp>
      <p:sp>
        <p:nvSpPr>
          <p:cNvPr id="11" name="Text 7"/>
          <p:cNvSpPr/>
          <p:nvPr/>
        </p:nvSpPr>
        <p:spPr>
          <a:xfrm>
            <a:off x="566928" y="6455664"/>
            <a:ext cx="11064240" cy="292608"/>
          </a:xfrm>
          <a:prstGeom prst="rect">
            <a:avLst/>
          </a:prstGeom>
          <a:noFill/>
          <a:ln/>
        </p:spPr>
        <p:txBody>
          <a:bodyPr wrap="square" rtlCol="0" anchor="ctr"/>
          <a:lstStyle/>
          <a:p>
            <a:pPr indent="0" marL="0">
              <a:buNone/>
            </a:pPr>
            <a:r>
              <a:rPr lang="en-US" sz="900" dirty="0">
                <a:solidFill>
                  <a:srgbClr val="9AA7B4"/>
                </a:solidFill>
                <a:latin typeface="Calibri" pitchFamily="34" charset="0"/>
                <a:ea typeface="Calibri" pitchFamily="34" charset="-122"/>
                <a:cs typeface="Calibri" pitchFamily="34" charset="-120"/>
              </a:rPr>
              <a:t>Source: official filings, CRISIL [3], ICRA [4], CARE [5], India Ratings [6], Infomerics [7], Acuite [8], Brickwork [9]. ACER [1][2]. ICRA yearly is total revenue; others rating revenue. Quarters differ by company.</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30000" y="420624"/>
            <a:ext cx="365760" cy="274320"/>
          </a:xfrm>
          <a:prstGeom prst="rect">
            <a:avLst/>
          </a:prstGeom>
          <a:noFill/>
          <a:ln/>
        </p:spPr>
        <p:txBody>
          <a:bodyPr wrap="square" rtlCol="0" anchor="ctr"/>
          <a:lstStyle/>
          <a:p>
            <a:pPr algn="r" indent="0" marL="0">
              <a:buNone/>
            </a:pPr>
            <a:r>
              <a:rPr lang="en-US" sz="1100" b="1" dirty="0">
                <a:solidFill>
                  <a:srgbClr val="9AA7B4"/>
                </a:solidFill>
                <a:latin typeface="Calibri" pitchFamily="34" charset="0"/>
                <a:ea typeface="Calibri" pitchFamily="34" charset="-122"/>
                <a:cs typeface="Calibri" pitchFamily="34" charset="-120"/>
              </a:rPr>
              <a:t>13</a:t>
            </a:r>
            <a:endParaRPr lang="en-US" sz="1100" dirty="0"/>
          </a:p>
        </p:txBody>
      </p:sp>
      <p:sp>
        <p:nvSpPr>
          <p:cNvPr id="3" name="Text 1"/>
          <p:cNvSpPr/>
          <p:nvPr/>
        </p:nvSpPr>
        <p:spPr>
          <a:xfrm>
            <a:off x="566928" y="457200"/>
            <a:ext cx="10058400" cy="274320"/>
          </a:xfrm>
          <a:prstGeom prst="rect">
            <a:avLst/>
          </a:prstGeom>
          <a:noFill/>
          <a:ln/>
        </p:spPr>
        <p:txBody>
          <a:bodyPr wrap="square" rtlCol="0" anchor="ctr"/>
          <a:lstStyle/>
          <a:p>
            <a:pPr indent="0" marL="0">
              <a:buNone/>
            </a:pPr>
            <a:r>
              <a:rPr lang="en-US" sz="1100" b="1" spc="200" kern="0" dirty="0">
                <a:solidFill>
                  <a:srgbClr val="0F766E"/>
                </a:solidFill>
                <a:latin typeface="Calibri" pitchFamily="34" charset="0"/>
                <a:ea typeface="Calibri" pitchFamily="34" charset="-122"/>
                <a:cs typeface="Calibri" pitchFamily="34" charset="-120"/>
              </a:rPr>
              <a:t>MARKET OPPORTUNITY</a:t>
            </a:r>
            <a:endParaRPr lang="en-US" sz="1100" dirty="0"/>
          </a:p>
        </p:txBody>
      </p:sp>
      <p:sp>
        <p:nvSpPr>
          <p:cNvPr id="4" name="Text 2"/>
          <p:cNvSpPr/>
          <p:nvPr/>
        </p:nvSpPr>
        <p:spPr>
          <a:xfrm>
            <a:off x="566928" y="713232"/>
            <a:ext cx="11064240" cy="640080"/>
          </a:xfrm>
          <a:prstGeom prst="rect">
            <a:avLst/>
          </a:prstGeom>
          <a:noFill/>
          <a:ln/>
        </p:spPr>
        <p:txBody>
          <a:bodyPr wrap="square" rtlCol="0" anchor="ctr"/>
          <a:lstStyle/>
          <a:p>
            <a:pPr indent="0" marL="0">
              <a:buNone/>
            </a:pPr>
            <a:r>
              <a:rPr lang="en-US" sz="2700" b="1" dirty="0">
                <a:solidFill>
                  <a:srgbClr val="0A1F33"/>
                </a:solidFill>
                <a:latin typeface="Cambria" pitchFamily="34" charset="0"/>
                <a:ea typeface="Cambria" pitchFamily="34" charset="-122"/>
                <a:cs typeface="Cambria" pitchFamily="34" charset="-120"/>
              </a:rPr>
              <a:t>Where ACER stands, and what it earns in FY28</a:t>
            </a:r>
            <a:endParaRPr lang="en-US" sz="2700" dirty="0"/>
          </a:p>
        </p:txBody>
      </p:sp>
      <p:sp>
        <p:nvSpPr>
          <p:cNvPr id="5" name="Text 3"/>
          <p:cNvSpPr/>
          <p:nvPr/>
        </p:nvSpPr>
        <p:spPr>
          <a:xfrm>
            <a:off x="566928" y="1417320"/>
            <a:ext cx="5486400" cy="274320"/>
          </a:xfrm>
          <a:prstGeom prst="rect">
            <a:avLst/>
          </a:prstGeom>
          <a:noFill/>
          <a:ln/>
        </p:spPr>
        <p:txBody>
          <a:bodyPr wrap="square" rtlCol="0" anchor="ctr"/>
          <a:lstStyle/>
          <a:p>
            <a:pPr indent="0" marL="0">
              <a:buNone/>
            </a:pPr>
            <a:r>
              <a:rPr lang="en-US" sz="1200" b="1" dirty="0">
                <a:solidFill>
                  <a:srgbClr val="2B3F52"/>
                </a:solidFill>
                <a:latin typeface="Calibri" pitchFamily="34" charset="0"/>
                <a:ea typeface="Calibri" pitchFamily="34" charset="-122"/>
                <a:cs typeface="Calibri" pitchFamily="34" charset="-120"/>
              </a:rPr>
              <a:t>Market size, TAM to SOM</a:t>
            </a:r>
            <a:endParaRPr lang="en-US" sz="1200" dirty="0"/>
          </a:p>
        </p:txBody>
      </p:sp>
      <p:sp>
        <p:nvSpPr>
          <p:cNvPr id="6" name="Shape 4"/>
          <p:cNvSpPr/>
          <p:nvPr/>
        </p:nvSpPr>
        <p:spPr>
          <a:xfrm>
            <a:off x="777240" y="2651760"/>
            <a:ext cx="3017520" cy="3017520"/>
          </a:xfrm>
          <a:prstGeom prst="ellipse">
            <a:avLst/>
          </a:prstGeom>
          <a:solidFill>
            <a:srgbClr val="EEF2F6"/>
          </a:solidFill>
          <a:ln w="12700">
            <a:solidFill>
              <a:srgbClr val="CDD6DF"/>
            </a:solidFill>
            <a:prstDash val="solid"/>
          </a:ln>
        </p:spPr>
      </p:sp>
      <p:sp>
        <p:nvSpPr>
          <p:cNvPr id="7" name="Shape 5"/>
          <p:cNvSpPr/>
          <p:nvPr/>
        </p:nvSpPr>
        <p:spPr>
          <a:xfrm>
            <a:off x="1531620" y="4160520"/>
            <a:ext cx="1508760" cy="1508760"/>
          </a:xfrm>
          <a:prstGeom prst="ellipse">
            <a:avLst/>
          </a:prstGeom>
          <a:solidFill>
            <a:srgbClr val="D9E6F2"/>
          </a:solidFill>
          <a:ln w="12700">
            <a:solidFill>
              <a:srgbClr val="1E4E79"/>
            </a:solidFill>
            <a:prstDash val="solid"/>
          </a:ln>
        </p:spPr>
      </p:sp>
      <p:sp>
        <p:nvSpPr>
          <p:cNvPr id="8" name="Shape 6"/>
          <p:cNvSpPr/>
          <p:nvPr/>
        </p:nvSpPr>
        <p:spPr>
          <a:xfrm>
            <a:off x="2157984" y="5413248"/>
            <a:ext cx="256032" cy="256032"/>
          </a:xfrm>
          <a:prstGeom prst="ellipse">
            <a:avLst/>
          </a:prstGeom>
          <a:solidFill>
            <a:srgbClr val="0F766E"/>
          </a:solidFill>
          <a:ln w="12700">
            <a:solidFill>
              <a:srgbClr val="0F766E"/>
            </a:solidFill>
            <a:prstDash val="solid"/>
          </a:ln>
        </p:spPr>
      </p:sp>
      <p:sp>
        <p:nvSpPr>
          <p:cNvPr id="9" name="Text 7"/>
          <p:cNvSpPr/>
          <p:nvPr/>
        </p:nvSpPr>
        <p:spPr>
          <a:xfrm>
            <a:off x="4297680" y="1874520"/>
            <a:ext cx="3291840" cy="548640"/>
          </a:xfrm>
          <a:prstGeom prst="rect">
            <a:avLst/>
          </a:prstGeom>
          <a:noFill/>
          <a:ln/>
        </p:spPr>
        <p:txBody>
          <a:bodyPr wrap="square" rtlCol="0" anchor="t"/>
          <a:lstStyle/>
          <a:p>
            <a:pPr indent="0" marL="0">
              <a:buNone/>
            </a:pPr>
            <a:r>
              <a:rPr lang="en-US" sz="1300" b="1" dirty="0">
                <a:solidFill>
                  <a:srgbClr val="0A1F33"/>
                </a:solidFill>
                <a:latin typeface="Calibri" pitchFamily="34" charset="0"/>
                <a:ea typeface="Calibri" pitchFamily="34" charset="-122"/>
                <a:cs typeface="Calibri" pitchFamily="34" charset="-120"/>
              </a:rPr>
              <a:t>TAM  Rs 2,000 Cr
</a:t>
            </a:r>
            <a:pPr indent="0" marL="0">
              <a:buNone/>
            </a:pPr>
            <a:r>
              <a:rPr lang="en-US" sz="1100" dirty="0">
                <a:solidFill>
                  <a:srgbClr val="5B6B7B"/>
                </a:solidFill>
                <a:latin typeface="Calibri" pitchFamily="34" charset="0"/>
                <a:ea typeface="Calibri" pitchFamily="34" charset="-122"/>
                <a:cs typeface="Calibri" pitchFamily="34" charset="-120"/>
              </a:rPr>
              <a:t>whole rating industry</a:t>
            </a:r>
            <a:endParaRPr lang="en-US" sz="1300" dirty="0"/>
          </a:p>
        </p:txBody>
      </p:sp>
      <p:sp>
        <p:nvSpPr>
          <p:cNvPr id="10" name="Text 8"/>
          <p:cNvSpPr/>
          <p:nvPr/>
        </p:nvSpPr>
        <p:spPr>
          <a:xfrm>
            <a:off x="4297680" y="3063240"/>
            <a:ext cx="3291840" cy="548640"/>
          </a:xfrm>
          <a:prstGeom prst="rect">
            <a:avLst/>
          </a:prstGeom>
          <a:noFill/>
          <a:ln/>
        </p:spPr>
        <p:txBody>
          <a:bodyPr wrap="square" rtlCol="0" anchor="t"/>
          <a:lstStyle/>
          <a:p>
            <a:pPr indent="0" marL="0">
              <a:buNone/>
            </a:pPr>
            <a:r>
              <a:rPr lang="en-US" sz="1300" b="1" dirty="0">
                <a:solidFill>
                  <a:srgbClr val="1E4E79"/>
                </a:solidFill>
                <a:latin typeface="Calibri" pitchFamily="34" charset="0"/>
                <a:ea typeface="Calibri" pitchFamily="34" charset="-122"/>
                <a:cs typeface="Calibri" pitchFamily="34" charset="-120"/>
              </a:rPr>
              <a:t>SAM  Rs 500 Cr
</a:t>
            </a:r>
            <a:pPr indent="0" marL="0">
              <a:buNone/>
            </a:pPr>
            <a:r>
              <a:rPr lang="en-US" sz="1100" dirty="0">
                <a:solidFill>
                  <a:srgbClr val="5B6B7B"/>
                </a:solidFill>
                <a:latin typeface="Calibri" pitchFamily="34" charset="0"/>
                <a:ea typeface="Calibri" pitchFamily="34" charset="-122"/>
                <a:cs typeface="Calibri" pitchFamily="34" charset="-120"/>
              </a:rPr>
              <a:t>Rs 100 Cr+ BLR segment</a:t>
            </a:r>
            <a:endParaRPr lang="en-US" sz="1300" dirty="0"/>
          </a:p>
        </p:txBody>
      </p:sp>
      <p:sp>
        <p:nvSpPr>
          <p:cNvPr id="11" name="Text 9"/>
          <p:cNvSpPr/>
          <p:nvPr/>
        </p:nvSpPr>
        <p:spPr>
          <a:xfrm>
            <a:off x="4297680" y="4251960"/>
            <a:ext cx="3383280" cy="731520"/>
          </a:xfrm>
          <a:prstGeom prst="rect">
            <a:avLst/>
          </a:prstGeom>
          <a:noFill/>
          <a:ln/>
        </p:spPr>
        <p:txBody>
          <a:bodyPr wrap="square" rtlCol="0" anchor="t"/>
          <a:lstStyle/>
          <a:p>
            <a:pPr indent="0" marL="0">
              <a:buNone/>
            </a:pPr>
            <a:r>
              <a:rPr lang="en-US" sz="1300" b="1" dirty="0">
                <a:solidFill>
                  <a:srgbClr val="0F766E"/>
                </a:solidFill>
                <a:latin typeface="Calibri" pitchFamily="34" charset="0"/>
                <a:ea typeface="Calibri" pitchFamily="34" charset="-122"/>
                <a:cs typeface="Calibri" pitchFamily="34" charset="-120"/>
              </a:rPr>
              <a:t>SOM  Rs 8 Cr
</a:t>
            </a:r>
            <a:pPr indent="0" marL="0">
              <a:buNone/>
            </a:pPr>
            <a:r>
              <a:rPr lang="en-US" sz="1100" dirty="0">
                <a:solidFill>
                  <a:srgbClr val="5B6B7B"/>
                </a:solidFill>
                <a:latin typeface="Calibri" pitchFamily="34" charset="0"/>
                <a:ea typeface="Calibri" pitchFamily="34" charset="-122"/>
                <a:cs typeface="Calibri" pitchFamily="34" charset="-120"/>
              </a:rPr>
              <a:t>ACER FY28, about 0.4%, rising toward 0.8% by FY30</a:t>
            </a:r>
            <a:endParaRPr lang="en-US" sz="1300" dirty="0"/>
          </a:p>
        </p:txBody>
      </p:sp>
      <p:sp>
        <p:nvSpPr>
          <p:cNvPr id="12" name="Text 10"/>
          <p:cNvSpPr/>
          <p:nvPr/>
        </p:nvSpPr>
        <p:spPr>
          <a:xfrm>
            <a:off x="7863840" y="1417320"/>
            <a:ext cx="3931920" cy="274320"/>
          </a:xfrm>
          <a:prstGeom prst="rect">
            <a:avLst/>
          </a:prstGeom>
          <a:noFill/>
          <a:ln/>
        </p:spPr>
        <p:txBody>
          <a:bodyPr wrap="square" rtlCol="0" anchor="ctr"/>
          <a:lstStyle/>
          <a:p>
            <a:pPr indent="0" marL="0">
              <a:buNone/>
            </a:pPr>
            <a:r>
              <a:rPr lang="en-US" sz="1200" b="1" dirty="0">
                <a:solidFill>
                  <a:srgbClr val="2B3F52"/>
                </a:solidFill>
                <a:latin typeface="Calibri" pitchFamily="34" charset="0"/>
                <a:ea typeface="Calibri" pitchFamily="34" charset="-122"/>
                <a:cs typeface="Calibri" pitchFamily="34" charset="-120"/>
              </a:rPr>
              <a:t>What ACER earns in FY28, Rs 8.3 Cr</a:t>
            </a:r>
            <a:endParaRPr lang="en-US" sz="1200" dirty="0"/>
          </a:p>
        </p:txBody>
      </p:sp>
      <p:graphicFrame>
        <p:nvGraphicFramePr>
          <p:cNvPr id="13" name="Chart 0" descr=""/>
          <p:cNvGraphicFramePr/>
          <p:nvPr/>
        </p:nvGraphicFramePr>
        <p:xfrm>
          <a:off x="7680960" y="1737360"/>
          <a:ext cx="4114800" cy="3108960"/>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p:nvPr/>
        </p:nvSpPr>
        <p:spPr>
          <a:xfrm>
            <a:off x="7680960" y="4937760"/>
            <a:ext cx="4114800" cy="1188720"/>
          </a:xfrm>
          <a:prstGeom prst="rect">
            <a:avLst/>
          </a:prstGeom>
          <a:noFill/>
          <a:ln/>
        </p:spPr>
        <p:txBody>
          <a:bodyPr wrap="square" rtlCol="0" anchor="t"/>
          <a:lstStyle/>
          <a:p>
            <a:pPr indent="0" marL="0">
              <a:buNone/>
            </a:pPr>
            <a:r>
              <a:rPr lang="en-US" sz="1150" dirty="0">
                <a:solidFill>
                  <a:srgbClr val="2B3F52"/>
                </a:solidFill>
                <a:latin typeface="Calibri" pitchFamily="34" charset="0"/>
                <a:ea typeface="Calibri" pitchFamily="34" charset="-122"/>
                <a:cs typeface="Calibri" pitchFamily="34" charset="-120"/>
              </a:rPr>
              <a:t>BLR initial fees Rs 5.76 Cr, surveillance Rs 1.44 Cr, existing ratings Rs 1.10 Cr. About 0.4% of the Rs 2,000 Cr industry, a deliberately modest and credible first slice.</a:t>
            </a:r>
            <a:endParaRPr lang="en-US" sz="1150" dirty="0"/>
          </a:p>
        </p:txBody>
      </p:sp>
      <p:sp>
        <p:nvSpPr>
          <p:cNvPr id="15" name="Text 12"/>
          <p:cNvSpPr/>
          <p:nvPr/>
        </p:nvSpPr>
        <p:spPr>
          <a:xfrm>
            <a:off x="566928" y="6455664"/>
            <a:ext cx="11064240" cy="292608"/>
          </a:xfrm>
          <a:prstGeom prst="rect">
            <a:avLst/>
          </a:prstGeom>
          <a:noFill/>
          <a:ln/>
        </p:spPr>
        <p:txBody>
          <a:bodyPr wrap="square" rtlCol="0" anchor="ctr"/>
          <a:lstStyle/>
          <a:p>
            <a:pPr indent="0" marL="0">
              <a:buNone/>
            </a:pPr>
            <a:r>
              <a:rPr lang="en-US" sz="900" dirty="0">
                <a:solidFill>
                  <a:srgbClr val="9AA7B4"/>
                </a:solidFill>
                <a:latin typeface="Calibri" pitchFamily="34" charset="0"/>
                <a:ea typeface="Calibri" pitchFamily="34" charset="-122"/>
                <a:cs typeface="Calibri" pitchFamily="34" charset="-120"/>
              </a:rPr>
              <a:t>Source: TAM and SAM are analyst estimates from official rating revenues [3][5][6]. ACER FY28 from this plan's model [1][2].</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30000" y="420624"/>
            <a:ext cx="365760" cy="274320"/>
          </a:xfrm>
          <a:prstGeom prst="rect">
            <a:avLst/>
          </a:prstGeom>
          <a:noFill/>
          <a:ln/>
        </p:spPr>
        <p:txBody>
          <a:bodyPr wrap="square" rtlCol="0" anchor="ctr"/>
          <a:lstStyle/>
          <a:p>
            <a:pPr algn="r" indent="0" marL="0">
              <a:buNone/>
            </a:pPr>
            <a:r>
              <a:rPr lang="en-US" sz="1100" b="1" dirty="0">
                <a:solidFill>
                  <a:srgbClr val="9AA7B4"/>
                </a:solidFill>
                <a:latin typeface="Calibri" pitchFamily="34" charset="0"/>
                <a:ea typeface="Calibri" pitchFamily="34" charset="-122"/>
                <a:cs typeface="Calibri" pitchFamily="34" charset="-120"/>
              </a:rPr>
              <a:t>14</a:t>
            </a:r>
            <a:endParaRPr lang="en-US" sz="1100" dirty="0"/>
          </a:p>
        </p:txBody>
      </p:sp>
      <p:sp>
        <p:nvSpPr>
          <p:cNvPr id="3" name="Text 1"/>
          <p:cNvSpPr/>
          <p:nvPr/>
        </p:nvSpPr>
        <p:spPr>
          <a:xfrm>
            <a:off x="566928" y="457200"/>
            <a:ext cx="10058400" cy="274320"/>
          </a:xfrm>
          <a:prstGeom prst="rect">
            <a:avLst/>
          </a:prstGeom>
          <a:noFill/>
          <a:ln/>
        </p:spPr>
        <p:txBody>
          <a:bodyPr wrap="square" rtlCol="0" anchor="ctr"/>
          <a:lstStyle/>
          <a:p>
            <a:pPr indent="0" marL="0">
              <a:buNone/>
            </a:pPr>
            <a:r>
              <a:rPr lang="en-US" sz="1100" b="1" spc="200" kern="0" dirty="0">
                <a:solidFill>
                  <a:srgbClr val="0F766E"/>
                </a:solidFill>
                <a:latin typeface="Calibri" pitchFamily="34" charset="0"/>
                <a:ea typeface="Calibri" pitchFamily="34" charset="-122"/>
                <a:cs typeface="Calibri" pitchFamily="34" charset="-120"/>
              </a:rPr>
              <a:t>EXECUTION</a:t>
            </a:r>
            <a:endParaRPr lang="en-US" sz="1100" dirty="0"/>
          </a:p>
        </p:txBody>
      </p:sp>
      <p:sp>
        <p:nvSpPr>
          <p:cNvPr id="4" name="Text 2"/>
          <p:cNvSpPr/>
          <p:nvPr/>
        </p:nvSpPr>
        <p:spPr>
          <a:xfrm>
            <a:off x="566928" y="713232"/>
            <a:ext cx="11064240" cy="640080"/>
          </a:xfrm>
          <a:prstGeom prst="rect">
            <a:avLst/>
          </a:prstGeom>
          <a:noFill/>
          <a:ln/>
        </p:spPr>
        <p:txBody>
          <a:bodyPr wrap="square" rtlCol="0" anchor="ctr"/>
          <a:lstStyle/>
          <a:p>
            <a:pPr indent="0" marL="0">
              <a:buNone/>
            </a:pPr>
            <a:r>
              <a:rPr lang="en-US" sz="2700" b="1" dirty="0">
                <a:solidFill>
                  <a:srgbClr val="0A1F33"/>
                </a:solidFill>
                <a:latin typeface="Cambria" pitchFamily="34" charset="0"/>
                <a:ea typeface="Cambria" pitchFamily="34" charset="-122"/>
                <a:cs typeface="Cambria" pitchFamily="34" charset="-120"/>
              </a:rPr>
              <a:t>A clear path, tracked on hard KPIs, with known risks owned</a:t>
            </a:r>
            <a:endParaRPr lang="en-US" sz="2700" dirty="0"/>
          </a:p>
        </p:txBody>
      </p:sp>
      <p:sp>
        <p:nvSpPr>
          <p:cNvPr id="5" name="Text 3"/>
          <p:cNvSpPr/>
          <p:nvPr/>
        </p:nvSpPr>
        <p:spPr>
          <a:xfrm>
            <a:off x="566928" y="1417320"/>
            <a:ext cx="5486400" cy="274320"/>
          </a:xfrm>
          <a:prstGeom prst="rect">
            <a:avLst/>
          </a:prstGeom>
          <a:noFill/>
          <a:ln/>
        </p:spPr>
        <p:txBody>
          <a:bodyPr wrap="square" rtlCol="0" anchor="ctr"/>
          <a:lstStyle/>
          <a:p>
            <a:pPr indent="0" marL="0">
              <a:buNone/>
            </a:pPr>
            <a:r>
              <a:rPr lang="en-US" sz="1300" b="1" dirty="0">
                <a:solidFill>
                  <a:srgbClr val="0F766E"/>
                </a:solidFill>
                <a:latin typeface="Calibri" pitchFamily="34" charset="0"/>
                <a:ea typeface="Calibri" pitchFamily="34" charset="-122"/>
                <a:cs typeface="Calibri" pitchFamily="34" charset="-120"/>
              </a:rPr>
              <a:t>Milestones (base case)</a:t>
            </a:r>
            <a:endParaRPr lang="en-US" sz="1300" dirty="0"/>
          </a:p>
        </p:txBody>
      </p:sp>
      <p:sp>
        <p:nvSpPr>
          <p:cNvPr id="6" name="Text 4"/>
          <p:cNvSpPr/>
          <p:nvPr/>
        </p:nvSpPr>
        <p:spPr>
          <a:xfrm>
            <a:off x="566928" y="1737360"/>
            <a:ext cx="5394960" cy="2286000"/>
          </a:xfrm>
          <a:prstGeom prst="rect">
            <a:avLst/>
          </a:prstGeom>
          <a:noFill/>
          <a:ln/>
        </p:spPr>
        <p:txBody>
          <a:bodyPr wrap="square" rtlCol="0" anchor="t"/>
          <a:lstStyle/>
          <a:p>
            <a:pPr marL="177800" indent="-177800">
              <a:spcAft>
                <a:spcPts val="800"/>
              </a:spcAft>
              <a:buSzPct val="100000"/>
              <a:buChar char="•"/>
            </a:pPr>
            <a:r>
              <a:rPr lang="en-US" sz="1250" dirty="0">
                <a:solidFill>
                  <a:srgbClr val="2B3F52"/>
                </a:solidFill>
                <a:latin typeface="Calibri" pitchFamily="34" charset="0"/>
                <a:ea typeface="Calibri" pitchFamily="34" charset="-122"/>
                <a:cs typeface="Calibri" pitchFamily="34" charset="-120"/>
              </a:rPr>
              <a:t>Now: SEBI registered, four BDs onboarded, team in place.</a:t>
            </a:r>
            <a:endParaRPr lang="en-US" sz="1250" dirty="0"/>
          </a:p>
          <a:p>
            <a:pPr marL="177800" indent="-177800">
              <a:spcAft>
                <a:spcPts val="800"/>
              </a:spcAft>
              <a:buSzPct val="100000"/>
              <a:buChar char="•"/>
            </a:pPr>
            <a:r>
              <a:rPr lang="en-US" sz="1250" dirty="0">
                <a:solidFill>
                  <a:srgbClr val="2B3F52"/>
                </a:solidFill>
                <a:latin typeface="Calibri" pitchFamily="34" charset="0"/>
                <a:ea typeface="Calibri" pitchFamily="34" charset="-122"/>
                <a:cs typeface="Calibri" pitchFamily="34" charset="-120"/>
              </a:rPr>
              <a:t>Q2: pursue RBI ECAI accreditation, build the BD pipeline.</a:t>
            </a:r>
            <a:endParaRPr lang="en-US" sz="1250" dirty="0"/>
          </a:p>
          <a:p>
            <a:pPr marL="177800" indent="-177800">
              <a:spcAft>
                <a:spcPts val="800"/>
              </a:spcAft>
              <a:buSzPct val="100000"/>
              <a:buChar char="•"/>
            </a:pPr>
            <a:r>
              <a:rPr lang="en-US" sz="1250" dirty="0">
                <a:solidFill>
                  <a:srgbClr val="2B3F52"/>
                </a:solidFill>
                <a:latin typeface="Calibri" pitchFamily="34" charset="0"/>
                <a:ea typeface="Calibri" pitchFamily="34" charset="-122"/>
                <a:cs typeface="Calibri" pitchFamily="34" charset="-120"/>
              </a:rPr>
              <a:t>1 Oct: BLR live, first mandates.</a:t>
            </a:r>
            <a:endParaRPr lang="en-US" sz="1250" dirty="0"/>
          </a:p>
          <a:p>
            <a:pPr marL="177800" indent="-177800">
              <a:spcAft>
                <a:spcPts val="800"/>
              </a:spcAft>
              <a:buSzPct val="100000"/>
              <a:buChar char="•"/>
            </a:pPr>
            <a:r>
              <a:rPr lang="en-US" sz="1250" dirty="0">
                <a:solidFill>
                  <a:srgbClr val="2B3F52"/>
                </a:solidFill>
                <a:latin typeface="Calibri" pitchFamily="34" charset="0"/>
                <a:ea typeface="Calibri" pitchFamily="34" charset="-122"/>
                <a:cs typeface="Calibri" pitchFamily="34" charset="-120"/>
              </a:rPr>
              <a:t>Q3 to Q4: ramp to 16 per month, reach break even.</a:t>
            </a:r>
            <a:endParaRPr lang="en-US" sz="1250" dirty="0"/>
          </a:p>
          <a:p>
            <a:pPr marL="177800" indent="-177800">
              <a:spcAft>
                <a:spcPts val="800"/>
              </a:spcAft>
              <a:buSzPct val="100000"/>
              <a:buChar char="•"/>
            </a:pPr>
            <a:r>
              <a:rPr lang="en-US" sz="1250" dirty="0">
                <a:solidFill>
                  <a:srgbClr val="2B3F52"/>
                </a:solidFill>
                <a:latin typeface="Calibri" pitchFamily="34" charset="0"/>
                <a:ea typeface="Calibri" pitchFamily="34" charset="-122"/>
                <a:cs typeface="Calibri" pitchFamily="34" charset="-120"/>
              </a:rPr>
              <a:t>FY28: full year of BLR, surveillance annuity, profitability.</a:t>
            </a:r>
            <a:endParaRPr lang="en-US" sz="1250" dirty="0"/>
          </a:p>
        </p:txBody>
      </p:sp>
      <p:sp>
        <p:nvSpPr>
          <p:cNvPr id="7" name="Text 5"/>
          <p:cNvSpPr/>
          <p:nvPr/>
        </p:nvSpPr>
        <p:spPr>
          <a:xfrm>
            <a:off x="566928" y="4114800"/>
            <a:ext cx="5486400" cy="274320"/>
          </a:xfrm>
          <a:prstGeom prst="rect">
            <a:avLst/>
          </a:prstGeom>
          <a:noFill/>
          <a:ln/>
        </p:spPr>
        <p:txBody>
          <a:bodyPr wrap="square" rtlCol="0" anchor="ctr"/>
          <a:lstStyle/>
          <a:p>
            <a:pPr indent="0" marL="0">
              <a:buNone/>
            </a:pPr>
            <a:r>
              <a:rPr lang="en-US" sz="1300" b="1" dirty="0">
                <a:solidFill>
                  <a:srgbClr val="0F766E"/>
                </a:solidFill>
                <a:latin typeface="Calibri" pitchFamily="34" charset="0"/>
                <a:ea typeface="Calibri" pitchFamily="34" charset="-122"/>
                <a:cs typeface="Calibri" pitchFamily="34" charset="-120"/>
              </a:rPr>
              <a:t>KPIs the Board will see</a:t>
            </a:r>
            <a:endParaRPr lang="en-US" sz="1300" dirty="0"/>
          </a:p>
        </p:txBody>
      </p:sp>
      <p:sp>
        <p:nvSpPr>
          <p:cNvPr id="8" name="Text 6"/>
          <p:cNvSpPr/>
          <p:nvPr/>
        </p:nvSpPr>
        <p:spPr>
          <a:xfrm>
            <a:off x="566928" y="4434840"/>
            <a:ext cx="5394960" cy="1737360"/>
          </a:xfrm>
          <a:prstGeom prst="rect">
            <a:avLst/>
          </a:prstGeom>
          <a:noFill/>
          <a:ln/>
        </p:spPr>
        <p:txBody>
          <a:bodyPr wrap="square" rtlCol="0" anchor="t"/>
          <a:lstStyle/>
          <a:p>
            <a:pPr marL="177800" indent="-177800">
              <a:spcAft>
                <a:spcPts val="800"/>
              </a:spcAft>
              <a:buSzPct val="100000"/>
              <a:buChar char="•"/>
            </a:pPr>
            <a:r>
              <a:rPr lang="en-US" sz="1250" dirty="0">
                <a:solidFill>
                  <a:srgbClr val="2B3F52"/>
                </a:solidFill>
                <a:latin typeface="Calibri" pitchFamily="34" charset="0"/>
                <a:ea typeface="Calibri" pitchFamily="34" charset="-122"/>
                <a:cs typeface="Calibri" pitchFamily="34" charset="-120"/>
              </a:rPr>
              <a:t>Mandates per month and cumulative rated debt.</a:t>
            </a:r>
            <a:endParaRPr lang="en-US" sz="1250" dirty="0"/>
          </a:p>
          <a:p>
            <a:pPr marL="177800" indent="-177800">
              <a:spcAft>
                <a:spcPts val="800"/>
              </a:spcAft>
              <a:buSzPct val="100000"/>
              <a:buChar char="•"/>
            </a:pPr>
            <a:r>
              <a:rPr lang="en-US" sz="1250" dirty="0">
                <a:solidFill>
                  <a:srgbClr val="2B3F52"/>
                </a:solidFill>
                <a:latin typeface="Calibri" pitchFamily="34" charset="0"/>
                <a:ea typeface="Calibri" pitchFamily="34" charset="-122"/>
                <a:cs typeface="Calibri" pitchFamily="34" charset="-120"/>
              </a:rPr>
              <a:t>Ratings share of income, revenue versus plan.</a:t>
            </a:r>
            <a:endParaRPr lang="en-US" sz="1250" dirty="0"/>
          </a:p>
          <a:p>
            <a:pPr marL="177800" indent="-177800">
              <a:spcAft>
                <a:spcPts val="800"/>
              </a:spcAft>
              <a:buSzPct val="100000"/>
              <a:buChar char="•"/>
            </a:pPr>
            <a:r>
              <a:rPr lang="en-US" sz="1250" dirty="0">
                <a:solidFill>
                  <a:srgbClr val="2B3F52"/>
                </a:solidFill>
                <a:latin typeface="Calibri" pitchFamily="34" charset="0"/>
                <a:ea typeface="Calibri" pitchFamily="34" charset="-122"/>
                <a:cs typeface="Calibri" pitchFamily="34" charset="-120"/>
              </a:rPr>
              <a:t>Cash position and net worth headroom.</a:t>
            </a:r>
            <a:endParaRPr lang="en-US" sz="1250" dirty="0"/>
          </a:p>
        </p:txBody>
      </p:sp>
      <p:sp>
        <p:nvSpPr>
          <p:cNvPr id="9" name="Text 7"/>
          <p:cNvSpPr/>
          <p:nvPr/>
        </p:nvSpPr>
        <p:spPr>
          <a:xfrm>
            <a:off x="6309360" y="1417320"/>
            <a:ext cx="5486400" cy="274320"/>
          </a:xfrm>
          <a:prstGeom prst="rect">
            <a:avLst/>
          </a:prstGeom>
          <a:noFill/>
          <a:ln/>
        </p:spPr>
        <p:txBody>
          <a:bodyPr wrap="square" rtlCol="0" anchor="ctr"/>
          <a:lstStyle/>
          <a:p>
            <a:pPr indent="0" marL="0">
              <a:buNone/>
            </a:pPr>
            <a:r>
              <a:rPr lang="en-US" sz="1300" b="1" dirty="0">
                <a:solidFill>
                  <a:srgbClr val="0F766E"/>
                </a:solidFill>
                <a:latin typeface="Calibri" pitchFamily="34" charset="0"/>
                <a:ea typeface="Calibri" pitchFamily="34" charset="-122"/>
                <a:cs typeface="Calibri" pitchFamily="34" charset="-120"/>
              </a:rPr>
              <a:t>Key risks and mitigations</a:t>
            </a:r>
            <a:endParaRPr lang="en-US" sz="1300" dirty="0"/>
          </a:p>
        </p:txBody>
      </p:sp>
      <p:sp>
        <p:nvSpPr>
          <p:cNvPr id="10" name="Text 8"/>
          <p:cNvSpPr/>
          <p:nvPr/>
        </p:nvSpPr>
        <p:spPr>
          <a:xfrm>
            <a:off x="6309360" y="1737360"/>
            <a:ext cx="5486400" cy="4480560"/>
          </a:xfrm>
          <a:prstGeom prst="rect">
            <a:avLst/>
          </a:prstGeom>
          <a:noFill/>
          <a:ln/>
        </p:spPr>
        <p:txBody>
          <a:bodyPr wrap="square" rtlCol="0" anchor="t"/>
          <a:lstStyle/>
          <a:p>
            <a:pPr marL="177800" indent="-177800">
              <a:spcAft>
                <a:spcPts val="800"/>
              </a:spcAft>
              <a:buSzPct val="100000"/>
              <a:buChar char="•"/>
            </a:pPr>
            <a:r>
              <a:rPr lang="en-US" sz="1250" dirty="0">
                <a:solidFill>
                  <a:srgbClr val="2B3F52"/>
                </a:solidFill>
                <a:latin typeface="Calibri" pitchFamily="34" charset="0"/>
                <a:ea typeface="Calibri" pitchFamily="34" charset="-122"/>
                <a:cs typeface="Calibri" pitchFamily="34" charset="-120"/>
              </a:rPr>
              <a:t>BLR licence delay: cost trigger, tighten discretionary spend if it slips past January.</a:t>
            </a:r>
            <a:endParaRPr lang="en-US" sz="1250" dirty="0"/>
          </a:p>
          <a:p>
            <a:pPr marL="177800" indent="-177800">
              <a:spcAft>
                <a:spcPts val="800"/>
              </a:spcAft>
              <a:buSzPct val="100000"/>
              <a:buChar char="•"/>
            </a:pPr>
            <a:r>
              <a:rPr lang="en-US" sz="1250" dirty="0">
                <a:solidFill>
                  <a:srgbClr val="2B3F52"/>
                </a:solidFill>
                <a:latin typeface="Calibri" pitchFamily="34" charset="0"/>
                <a:ea typeface="Calibri" pitchFamily="34" charset="-122"/>
                <a:cs typeface="Calibri" pitchFamily="34" charset="-120"/>
              </a:rPr>
              <a:t>BD ramp shortfall: disciplined pipeline, phased monthly targets.</a:t>
            </a:r>
            <a:endParaRPr lang="en-US" sz="1250" dirty="0"/>
          </a:p>
          <a:p>
            <a:pPr marL="177800" indent="-177800">
              <a:spcAft>
                <a:spcPts val="800"/>
              </a:spcAft>
              <a:buSzPct val="100000"/>
              <a:buChar char="•"/>
            </a:pPr>
            <a:r>
              <a:rPr lang="en-US" sz="1250" dirty="0">
                <a:solidFill>
                  <a:srgbClr val="2B3F52"/>
                </a:solidFill>
                <a:latin typeface="Calibri" pitchFamily="34" charset="0"/>
                <a:ea typeface="Calibri" pitchFamily="34" charset="-122"/>
                <a:cs typeface="Calibri" pitchFamily="34" charset="-120"/>
              </a:rPr>
              <a:t>Competition from incumbents: price, service and second rating niche.</a:t>
            </a:r>
            <a:endParaRPr lang="en-US" sz="1250" dirty="0"/>
          </a:p>
          <a:p>
            <a:pPr marL="177800" indent="-177800">
              <a:spcAft>
                <a:spcPts val="800"/>
              </a:spcAft>
              <a:buSzPct val="100000"/>
              <a:buChar char="•"/>
            </a:pPr>
            <a:r>
              <a:rPr lang="en-US" sz="1250" dirty="0">
                <a:solidFill>
                  <a:srgbClr val="2B3F52"/>
                </a:solidFill>
                <a:latin typeface="Calibri" pitchFamily="34" charset="0"/>
                <a:ea typeface="Calibri" pitchFamily="34" charset="-122"/>
                <a:cs typeface="Calibri" pitchFamily="34" charset="-120"/>
              </a:rPr>
              <a:t>Rating quality or compliance failure: independent rating committee and strong process. Brickwork lost its licence and most of its revenue to lapses, rating revenue fell from about Rs 48.5 Cr to about Rs 5 Cr.</a:t>
            </a:r>
            <a:endParaRPr lang="en-US" sz="1250" dirty="0"/>
          </a:p>
          <a:p>
            <a:pPr marL="177800" indent="-177800">
              <a:spcAft>
                <a:spcPts val="800"/>
              </a:spcAft>
              <a:buSzPct val="100000"/>
              <a:buChar char="•"/>
            </a:pPr>
            <a:r>
              <a:rPr lang="en-US" sz="1250" dirty="0">
                <a:solidFill>
                  <a:srgbClr val="2B3F52"/>
                </a:solidFill>
                <a:latin typeface="Calibri" pitchFamily="34" charset="0"/>
                <a:ea typeface="Calibri" pitchFamily="34" charset="-122"/>
                <a:cs typeface="Calibri" pitchFamily="34" charset="-120"/>
              </a:rPr>
              <a:t>Client concentration: keep no single issuer above 10% of revenue.</a:t>
            </a:r>
            <a:endParaRPr lang="en-US" sz="1250" dirty="0"/>
          </a:p>
        </p:txBody>
      </p:sp>
      <p:sp>
        <p:nvSpPr>
          <p:cNvPr id="11" name="Text 9"/>
          <p:cNvSpPr/>
          <p:nvPr/>
        </p:nvSpPr>
        <p:spPr>
          <a:xfrm>
            <a:off x="566928" y="6455664"/>
            <a:ext cx="11064240" cy="292608"/>
          </a:xfrm>
          <a:prstGeom prst="rect">
            <a:avLst/>
          </a:prstGeom>
          <a:noFill/>
          <a:ln/>
        </p:spPr>
        <p:txBody>
          <a:bodyPr wrap="square" rtlCol="0" anchor="ctr"/>
          <a:lstStyle/>
          <a:p>
            <a:pPr indent="0" marL="0">
              <a:buNone/>
            </a:pPr>
            <a:r>
              <a:rPr lang="en-US" sz="900" dirty="0">
                <a:solidFill>
                  <a:srgbClr val="9AA7B4"/>
                </a:solidFill>
                <a:latin typeface="Calibri" pitchFamily="34" charset="0"/>
                <a:ea typeface="Calibri" pitchFamily="34" charset="-122"/>
                <a:cs typeface="Calibri" pitchFamily="34" charset="-120"/>
              </a:rPr>
              <a:t>Source: Internal [1]. Brickwork history, brickworkratings.com [9].</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30000" y="420624"/>
            <a:ext cx="365760" cy="274320"/>
          </a:xfrm>
          <a:prstGeom prst="rect">
            <a:avLst/>
          </a:prstGeom>
          <a:noFill/>
          <a:ln/>
        </p:spPr>
        <p:txBody>
          <a:bodyPr wrap="square" rtlCol="0" anchor="ctr"/>
          <a:lstStyle/>
          <a:p>
            <a:pPr algn="r" indent="0" marL="0">
              <a:buNone/>
            </a:pPr>
            <a:r>
              <a:rPr lang="en-US" sz="1100" b="1" dirty="0">
                <a:solidFill>
                  <a:srgbClr val="9AA7B4"/>
                </a:solidFill>
                <a:latin typeface="Calibri" pitchFamily="34" charset="0"/>
                <a:ea typeface="Calibri" pitchFamily="34" charset="-122"/>
                <a:cs typeface="Calibri" pitchFamily="34" charset="-120"/>
              </a:rPr>
              <a:t>15</a:t>
            </a:r>
            <a:endParaRPr lang="en-US" sz="1100" dirty="0"/>
          </a:p>
        </p:txBody>
      </p:sp>
      <p:sp>
        <p:nvSpPr>
          <p:cNvPr id="3" name="Text 1"/>
          <p:cNvSpPr/>
          <p:nvPr/>
        </p:nvSpPr>
        <p:spPr>
          <a:xfrm>
            <a:off x="566928" y="457200"/>
            <a:ext cx="10058400" cy="274320"/>
          </a:xfrm>
          <a:prstGeom prst="rect">
            <a:avLst/>
          </a:prstGeom>
          <a:noFill/>
          <a:ln/>
        </p:spPr>
        <p:txBody>
          <a:bodyPr wrap="square" rtlCol="0" anchor="ctr"/>
          <a:lstStyle/>
          <a:p>
            <a:pPr indent="0" marL="0">
              <a:buNone/>
            </a:pPr>
            <a:r>
              <a:rPr lang="en-US" sz="1100" b="1" spc="200" kern="0" dirty="0">
                <a:solidFill>
                  <a:srgbClr val="0F766E"/>
                </a:solidFill>
                <a:latin typeface="Calibri" pitchFamily="34" charset="0"/>
                <a:ea typeface="Calibri" pitchFamily="34" charset="-122"/>
                <a:cs typeface="Calibri" pitchFamily="34" charset="-120"/>
              </a:rPr>
              <a:t>RECOMMENDATION</a:t>
            </a:r>
            <a:endParaRPr lang="en-US" sz="1100" dirty="0"/>
          </a:p>
        </p:txBody>
      </p:sp>
      <p:sp>
        <p:nvSpPr>
          <p:cNvPr id="4" name="Text 2"/>
          <p:cNvSpPr/>
          <p:nvPr/>
        </p:nvSpPr>
        <p:spPr>
          <a:xfrm>
            <a:off x="566928" y="713232"/>
            <a:ext cx="11064240" cy="640080"/>
          </a:xfrm>
          <a:prstGeom prst="rect">
            <a:avLst/>
          </a:prstGeom>
          <a:noFill/>
          <a:ln/>
        </p:spPr>
        <p:txBody>
          <a:bodyPr wrap="square" rtlCol="0" anchor="ctr"/>
          <a:lstStyle/>
          <a:p>
            <a:pPr indent="0" marL="0">
              <a:buNone/>
            </a:pPr>
            <a:r>
              <a:rPr lang="en-US" sz="2700" b="1" dirty="0">
                <a:solidFill>
                  <a:srgbClr val="0A1F33"/>
                </a:solidFill>
                <a:latin typeface="Cambria" pitchFamily="34" charset="0"/>
                <a:ea typeface="Cambria" pitchFamily="34" charset="-122"/>
                <a:cs typeface="Cambria" pitchFamily="34" charset="-120"/>
              </a:rPr>
              <a:t>Approve an investment year, with a clear trigger</a:t>
            </a:r>
            <a:endParaRPr lang="en-US" sz="2700" dirty="0"/>
          </a:p>
        </p:txBody>
      </p:sp>
      <p:sp>
        <p:nvSpPr>
          <p:cNvPr id="5" name="Text 3"/>
          <p:cNvSpPr/>
          <p:nvPr/>
        </p:nvSpPr>
        <p:spPr>
          <a:xfrm>
            <a:off x="566928" y="1554480"/>
            <a:ext cx="10972800" cy="2194560"/>
          </a:xfrm>
          <a:prstGeom prst="rect">
            <a:avLst/>
          </a:prstGeom>
          <a:noFill/>
          <a:ln/>
        </p:spPr>
        <p:txBody>
          <a:bodyPr wrap="square" rtlCol="0" anchor="t"/>
          <a:lstStyle/>
          <a:p>
            <a:pPr marL="177800" indent="-177800">
              <a:spcAft>
                <a:spcPts val="800"/>
              </a:spcAft>
              <a:buSzPct val="100000"/>
              <a:buChar char="•"/>
            </a:pPr>
            <a:r>
              <a:rPr lang="en-US" sz="1500" dirty="0">
                <a:solidFill>
                  <a:srgbClr val="2B3F52"/>
                </a:solidFill>
                <a:latin typeface="Calibri" pitchFamily="34" charset="0"/>
                <a:ea typeface="Calibri" pitchFamily="34" charset="-122"/>
                <a:cs typeface="Calibri" pitchFamily="34" charset="-120"/>
              </a:rPr>
              <a:t>Approve the FY27 operating budget of Rs 5.24 Cr.</a:t>
            </a:r>
            <a:endParaRPr lang="en-US" sz="1500" dirty="0"/>
          </a:p>
          <a:p>
            <a:pPr marL="177800" indent="-177800">
              <a:spcAft>
                <a:spcPts val="800"/>
              </a:spcAft>
              <a:buSzPct val="100000"/>
              <a:buChar char="•"/>
            </a:pPr>
            <a:r>
              <a:rPr lang="en-US" sz="1500" dirty="0">
                <a:solidFill>
                  <a:srgbClr val="2B3F52"/>
                </a:solidFill>
                <a:latin typeface="Calibri" pitchFamily="34" charset="0"/>
                <a:ea typeface="Calibri" pitchFamily="34" charset="-122"/>
                <a:cs typeface="Calibri" pitchFamily="34" charset="-120"/>
              </a:rPr>
              <a:t>Endorse the base case, BLR live by 1 October at 16 cases per month, serviced by the four BDs already onboarded.</a:t>
            </a:r>
            <a:endParaRPr lang="en-US" sz="1500" dirty="0"/>
          </a:p>
          <a:p>
            <a:pPr marL="177800" indent="-177800">
              <a:spcAft>
                <a:spcPts val="800"/>
              </a:spcAft>
              <a:buSzPct val="100000"/>
              <a:buChar char="•"/>
            </a:pPr>
            <a:r>
              <a:rPr lang="en-US" sz="1500" dirty="0">
                <a:solidFill>
                  <a:srgbClr val="2B3F52"/>
                </a:solidFill>
                <a:latin typeface="Calibri" pitchFamily="34" charset="0"/>
                <a:ea typeface="Calibri" pitchFamily="34" charset="-122"/>
                <a:cs typeface="Calibri" pitchFamily="34" charset="-120"/>
              </a:rPr>
              <a:t>Note that the plan is fully funded without touching the Rs 25 Cr net worth, with a cost trigger if BLR slips past January.</a:t>
            </a:r>
            <a:endParaRPr lang="en-US" sz="1500" dirty="0"/>
          </a:p>
        </p:txBody>
      </p:sp>
      <p:sp>
        <p:nvSpPr>
          <p:cNvPr id="6" name="Shape 4"/>
          <p:cNvSpPr/>
          <p:nvPr/>
        </p:nvSpPr>
        <p:spPr>
          <a:xfrm>
            <a:off x="566928" y="4114800"/>
            <a:ext cx="11064240" cy="1371600"/>
          </a:xfrm>
          <a:prstGeom prst="rect">
            <a:avLst/>
          </a:prstGeom>
          <a:solidFill>
            <a:srgbClr val="0A1F33"/>
          </a:solidFill>
          <a:ln/>
        </p:spPr>
      </p:sp>
      <p:sp>
        <p:nvSpPr>
          <p:cNvPr id="7" name="Text 5"/>
          <p:cNvSpPr/>
          <p:nvPr/>
        </p:nvSpPr>
        <p:spPr>
          <a:xfrm>
            <a:off x="886968" y="4343400"/>
            <a:ext cx="10424160" cy="914400"/>
          </a:xfrm>
          <a:prstGeom prst="rect">
            <a:avLst/>
          </a:prstGeom>
          <a:noFill/>
          <a:ln/>
        </p:spPr>
        <p:txBody>
          <a:bodyPr wrap="square"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Solvency is secure. Operational self sufficiency by FY28 is the goal, and the BLR licence is the one variable that decides the pace.</a:t>
            </a:r>
            <a:endParaRPr lang="en-US" sz="1700" dirty="0"/>
          </a:p>
        </p:txBody>
      </p:sp>
      <p:sp>
        <p:nvSpPr>
          <p:cNvPr id="8" name="Text 6"/>
          <p:cNvSpPr/>
          <p:nvPr/>
        </p:nvSpPr>
        <p:spPr>
          <a:xfrm>
            <a:off x="566928" y="6455664"/>
            <a:ext cx="11064240" cy="292608"/>
          </a:xfrm>
          <a:prstGeom prst="rect">
            <a:avLst/>
          </a:prstGeom>
          <a:noFill/>
          <a:ln/>
        </p:spPr>
        <p:txBody>
          <a:bodyPr wrap="square" rtlCol="0" anchor="ctr"/>
          <a:lstStyle/>
          <a:p>
            <a:pPr indent="0" marL="0">
              <a:buNone/>
            </a:pPr>
            <a:r>
              <a:rPr lang="en-US" sz="900" dirty="0">
                <a:solidFill>
                  <a:srgbClr val="9AA7B4"/>
                </a:solidFill>
                <a:latin typeface="Calibri" pitchFamily="34" charset="0"/>
                <a:ea typeface="Calibri" pitchFamily="34" charset="-122"/>
                <a:cs typeface="Calibri" pitchFamily="34" charset="-120"/>
              </a:rPr>
              <a:t>Sources: [1] Internal. [2] Management assumption. [3] crisil.com. [4] icra.in. [5] careratings.com. [6] indiaratings.co.in. [7] infomerics.com. [8] acuite.in. [9] brickworkratings.com. [10] SEBI CRA Regulations.</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2026-07-24T13:01:12Z</dcterms:created>
  <dcterms:modified xsi:type="dcterms:W3CDTF">2026-07-24T13:01:12Z</dcterms:modified>
</cp:coreProperties>
</file>
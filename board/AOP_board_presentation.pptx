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B6B7B"/>
                </a:solidFill>
                <a:latin typeface="Calibri"/>
              </a:defRPr>
            </a:pPr>
            <a:r>
              <a:rPr sz="1100" b="0" i="0" u="none" strike="noStrike">
                <a:solidFill>
                  <a:srgbClr val="5B6B7B"/>
                </a:solidFill>
                <a:latin typeface="Calibri"/>
              </a:rPr>
              <a:t>Cumulative debt rated, base case (Rs Cr)</a:t>
            </a:r>
          </a:p>
        </c:rich>
      </c:tx>
      <c:layout/>
      <c:overlay val="0"/>
    </c:title>
    <c:autoTitleDeleted val="0"/>
    <c:plotArea>
      <c:layout/>
      <c:barChart>
        <c:barDir val="col"/>
        <c:grouping val="clustered"/>
        <c:varyColors val="0"/>
        <c:ser>
          <c:idx val="0"/>
          <c:order val="0"/>
          <c:tx>
            <c:strRef>
              <c:f>Sheet1!$B$1</c:f>
              <c:strCache>
                <c:ptCount val="1"/>
                <c:pt idx="0">
                  <c:v>Cumulative rated debt (Rs Cr)</c:v>
                </c:pt>
              </c:strCache>
            </c:strRef>
          </c:tx>
          <c:spPr>
            <a:solidFill>
              <a:srgbClr val="1E4E79"/>
            </a:solidFill>
            <a:effectLst/>
          </c:spPr>
          <c:invertIfNegative val="0"/>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cat>
            <c:multiLvlStrRef>
              <c:f>Sheet1!$A$2:$A$7</c:f>
              <c:multiLvlStrCache>
                <c:ptCount val="6"/>
                <c:lvl>
                  <c:pt idx="0">
                    <c:v>Oct</c:v>
                  </c:pt>
                  <c:pt idx="1">
                    <c:v>Nov</c:v>
                  </c:pt>
                  <c:pt idx="2">
                    <c:v>Dec</c:v>
                  </c:pt>
                  <c:pt idx="3">
                    <c:v>Jan</c:v>
                  </c:pt>
                  <c:pt idx="4">
                    <c:v>Feb</c:v>
                  </c:pt>
                  <c:pt idx="5">
                    <c:v>Mar</c:v>
                  </c:pt>
                </c:lvl>
              </c:multiLvlStrCache>
            </c:multiLvlStrRef>
          </c:cat>
          <c:val>
            <c:numRef>
              <c:f>Sheet1!$B$2:$B$7</c:f>
              <c:numCache>
                <c:formatCode>General</c:formatCode>
                <c:ptCount val="6"/>
                <c:pt idx="0">
                  <c:v>1600</c:v>
                </c:pt>
                <c:pt idx="1">
                  <c:v>3200</c:v>
                </c:pt>
                <c:pt idx="2">
                  <c:v>4800</c:v>
                </c:pt>
                <c:pt idx="3">
                  <c:v>6400</c:v>
                </c:pt>
                <c:pt idx="4">
                  <c:v>8000</c:v>
                </c:pt>
                <c:pt idx="5">
                  <c:v>9600</c:v>
                </c:pt>
              </c:numCache>
            </c:numRef>
          </c:val>
        </c:ser>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1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returns</c:v>
                </c:pt>
              </c:strCache>
            </c:strRef>
          </c:tx>
          <c:spPr>
            <a:solidFill>
              <a:srgbClr val="8EA6B8"/>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er>
        <c:ser>
          <c:idx val="1"/>
          <c:order val="1"/>
          <c:tx>
            <c:strRef>
              <c:f>Sheet1!$C$1</c:f>
              <c:strCache>
                <c:ptCount val="1"/>
                <c:pt idx="0">
                  <c:v>Earning (existing + BLR)</c:v>
                </c:pt>
              </c:strCache>
            </c:strRef>
          </c:tx>
          <c:spPr>
            <a:solidFill>
              <a:srgbClr val="0F766E"/>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Sheet1!$C$2:$C$13</c:f>
              <c:numCache>
                <c:formatCode>General</c:formatCode>
                <c:ptCount val="12"/>
                <c:pt idx="0">
                  <c:v>2</c:v>
                </c:pt>
                <c:pt idx="1">
                  <c:v>5</c:v>
                </c:pt>
                <c:pt idx="2">
                  <c:v>8</c:v>
                </c:pt>
                <c:pt idx="3">
                  <c:v>8</c:v>
                </c:pt>
                <c:pt idx="4">
                  <c:v>8</c:v>
                </c:pt>
                <c:pt idx="5">
                  <c:v>8</c:v>
                </c:pt>
                <c:pt idx="6">
                  <c:v>56</c:v>
                </c:pt>
                <c:pt idx="7">
                  <c:v>56</c:v>
                </c:pt>
                <c:pt idx="8">
                  <c:v>56</c:v>
                </c:pt>
                <c:pt idx="9">
                  <c:v>56</c:v>
                </c:pt>
                <c:pt idx="10">
                  <c:v>56</c:v>
                </c:pt>
                <c:pt idx="11">
                  <c:v>56</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lineChart>
        <c:varyColors val="0"/>
        <c:ser>
          <c:idx val="2"/>
          <c:order val="2"/>
          <c:tx>
            <c:strRef>
              <c:f>Sheet1!$D$1</c:f>
              <c:strCache>
                <c:ptCount val="1"/>
                <c:pt idx="0">
                  <c:v>Expense, all in</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c:symbol val="circle"/>
            <c:size val="5"/>
            <c:spPr>
              <a:solidFill>
                <a:srgbClr val="B3261E"/>
              </a:solidFill>
              <a:ln w="9525" cap="flat">
                <a:solidFill>
                  <a:srgbClr val="B3261E"/>
                </a:solidFill>
                <a:prstDash val="solid"/>
                <a:round/>
              </a:ln>
              <a:effectLst/>
            </c:spPr>
          </c:marker>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Sheet1!$D$2:$D$13</c:f>
              <c:numCache>
                <c:formatCode>General</c:formatCode>
                <c:ptCount val="12"/>
                <c:pt idx="0">
                  <c:v>36</c:v>
                </c:pt>
                <c:pt idx="1">
                  <c:v>33</c:v>
                </c:pt>
                <c:pt idx="2">
                  <c:v>46</c:v>
                </c:pt>
                <c:pt idx="3">
                  <c:v>40</c:v>
                </c:pt>
                <c:pt idx="4">
                  <c:v>46</c:v>
                </c:pt>
                <c:pt idx="5">
                  <c:v>46</c:v>
                </c:pt>
                <c:pt idx="6">
                  <c:v>46</c:v>
                </c:pt>
                <c:pt idx="7">
                  <c:v>46</c:v>
                </c:pt>
                <c:pt idx="8">
                  <c:v>46</c:v>
                </c:pt>
                <c:pt idx="9">
                  <c:v>46</c:v>
                </c:pt>
                <c:pt idx="10">
                  <c:v>46</c:v>
                </c:pt>
                <c:pt idx="11">
                  <c:v>46</c:v>
                </c:pt>
              </c:numCache>
            </c:numRef>
          </c:val>
          <c:smooth val="0"/>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returns</c:v>
                </c:pt>
              </c:strCache>
            </c:strRef>
          </c:tx>
          <c:spPr>
            <a:solidFill>
              <a:srgbClr val="8EA6B8"/>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er>
        <c:ser>
          <c:idx val="1"/>
          <c:order val="1"/>
          <c:tx>
            <c:strRef>
              <c:f>Sheet1!$C$1</c:f>
              <c:strCache>
                <c:ptCount val="1"/>
                <c:pt idx="0">
                  <c:v>Earning (existing + BLR)</c:v>
                </c:pt>
              </c:strCache>
            </c:strRef>
          </c:tx>
          <c:spPr>
            <a:solidFill>
              <a:srgbClr val="0F766E"/>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Sheet1!$C$2:$C$13</c:f>
              <c:numCache>
                <c:formatCode>General</c:formatCode>
                <c:ptCount val="12"/>
                <c:pt idx="0">
                  <c:v>2</c:v>
                </c:pt>
                <c:pt idx="1">
                  <c:v>5</c:v>
                </c:pt>
                <c:pt idx="2">
                  <c:v>8</c:v>
                </c:pt>
                <c:pt idx="3">
                  <c:v>8</c:v>
                </c:pt>
                <c:pt idx="4">
                  <c:v>8</c:v>
                </c:pt>
                <c:pt idx="5">
                  <c:v>8</c:v>
                </c:pt>
                <c:pt idx="6">
                  <c:v>8</c:v>
                </c:pt>
                <c:pt idx="7">
                  <c:v>8</c:v>
                </c:pt>
                <c:pt idx="8">
                  <c:v>8</c:v>
                </c:pt>
                <c:pt idx="9">
                  <c:v>56</c:v>
                </c:pt>
                <c:pt idx="10">
                  <c:v>56</c:v>
                </c:pt>
                <c:pt idx="11">
                  <c:v>56</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lineChart>
        <c:varyColors val="0"/>
        <c:ser>
          <c:idx val="2"/>
          <c:order val="2"/>
          <c:tx>
            <c:strRef>
              <c:f>Sheet1!$D$1</c:f>
              <c:strCache>
                <c:ptCount val="1"/>
                <c:pt idx="0">
                  <c:v>Expense, all in</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c:symbol val="circle"/>
            <c:size val="5"/>
            <c:spPr>
              <a:solidFill>
                <a:srgbClr val="B3261E"/>
              </a:solidFill>
              <a:ln w="9525" cap="flat">
                <a:solidFill>
                  <a:srgbClr val="B3261E"/>
                </a:solidFill>
                <a:prstDash val="solid"/>
                <a:round/>
              </a:ln>
              <a:effectLst/>
            </c:spPr>
          </c:marker>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Sheet1!$D$2:$D$13</c:f>
              <c:numCache>
                <c:formatCode>General</c:formatCode>
                <c:ptCount val="12"/>
                <c:pt idx="0">
                  <c:v>36</c:v>
                </c:pt>
                <c:pt idx="1">
                  <c:v>33</c:v>
                </c:pt>
                <c:pt idx="2">
                  <c:v>46</c:v>
                </c:pt>
                <c:pt idx="3">
                  <c:v>40</c:v>
                </c:pt>
                <c:pt idx="4">
                  <c:v>46</c:v>
                </c:pt>
                <c:pt idx="5">
                  <c:v>46</c:v>
                </c:pt>
                <c:pt idx="6">
                  <c:v>46</c:v>
                </c:pt>
                <c:pt idx="7">
                  <c:v>46</c:v>
                </c:pt>
                <c:pt idx="8">
                  <c:v>46</c:v>
                </c:pt>
                <c:pt idx="9">
                  <c:v>46</c:v>
                </c:pt>
                <c:pt idx="10">
                  <c:v>46</c:v>
                </c:pt>
                <c:pt idx="11">
                  <c:v>46</c:v>
                </c:pt>
              </c:numCache>
            </c:numRef>
          </c:val>
          <c:smooth val="0"/>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returns</c:v>
                </c:pt>
              </c:strCache>
            </c:strRef>
          </c:tx>
          <c:spPr>
            <a:solidFill>
              <a:srgbClr val="8EA6B8"/>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er>
        <c:ser>
          <c:idx val="1"/>
          <c:order val="1"/>
          <c:tx>
            <c:strRef>
              <c:f>Sheet1!$C$1</c:f>
              <c:strCache>
                <c:ptCount val="1"/>
                <c:pt idx="0">
                  <c:v>Earning (existing + BLR)</c:v>
                </c:pt>
              </c:strCache>
            </c:strRef>
          </c:tx>
          <c:spPr>
            <a:solidFill>
              <a:srgbClr val="0F766E"/>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Sheet1!$C$2:$C$13</c:f>
              <c:numCache>
                <c:formatCode>General</c:formatCode>
                <c:ptCount val="12"/>
                <c:pt idx="0">
                  <c:v>2</c:v>
                </c:pt>
                <c:pt idx="1">
                  <c:v>5</c:v>
                </c:pt>
                <c:pt idx="2">
                  <c:v>8</c:v>
                </c:pt>
                <c:pt idx="3">
                  <c:v>8</c:v>
                </c:pt>
                <c:pt idx="4">
                  <c:v>8</c:v>
                </c:pt>
                <c:pt idx="5">
                  <c:v>8</c:v>
                </c:pt>
                <c:pt idx="6">
                  <c:v>8</c:v>
                </c:pt>
                <c:pt idx="7">
                  <c:v>8</c:v>
                </c:pt>
                <c:pt idx="8">
                  <c:v>8</c:v>
                </c:pt>
                <c:pt idx="9">
                  <c:v>8</c:v>
                </c:pt>
                <c:pt idx="10">
                  <c:v>8</c:v>
                </c:pt>
                <c:pt idx="11">
                  <c:v>8</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lineChart>
        <c:varyColors val="0"/>
        <c:ser>
          <c:idx val="2"/>
          <c:order val="2"/>
          <c:tx>
            <c:strRef>
              <c:f>Sheet1!$D$1</c:f>
              <c:strCache>
                <c:ptCount val="1"/>
                <c:pt idx="0">
                  <c:v>Expense, all in</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c:symbol val="circle"/>
            <c:size val="5"/>
            <c:spPr>
              <a:solidFill>
                <a:srgbClr val="B3261E"/>
              </a:solidFill>
              <a:ln w="9525" cap="flat">
                <a:solidFill>
                  <a:srgbClr val="B3261E"/>
                </a:solidFill>
                <a:prstDash val="solid"/>
                <a:round/>
              </a:ln>
              <a:effectLst/>
            </c:spPr>
          </c:marker>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Sheet1!$D$2:$D$13</c:f>
              <c:numCache>
                <c:formatCode>General</c:formatCode>
                <c:ptCount val="12"/>
                <c:pt idx="0">
                  <c:v>36</c:v>
                </c:pt>
                <c:pt idx="1">
                  <c:v>33</c:v>
                </c:pt>
                <c:pt idx="2">
                  <c:v>46</c:v>
                </c:pt>
                <c:pt idx="3">
                  <c:v>40</c:v>
                </c:pt>
                <c:pt idx="4">
                  <c:v>46</c:v>
                </c:pt>
                <c:pt idx="5">
                  <c:v>46</c:v>
                </c:pt>
                <c:pt idx="6">
                  <c:v>46</c:v>
                </c:pt>
                <c:pt idx="7">
                  <c:v>46</c:v>
                </c:pt>
                <c:pt idx="8">
                  <c:v>46</c:v>
                </c:pt>
                <c:pt idx="9">
                  <c:v>46</c:v>
                </c:pt>
                <c:pt idx="10">
                  <c:v>46</c:v>
                </c:pt>
                <c:pt idx="11">
                  <c:v>46</c:v>
                </c:pt>
              </c:numCache>
            </c:numRef>
          </c:val>
          <c:smooth val="0"/>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5B52"/>
              </a:solidFill>
              <a:effectLst/>
            </c:spPr>
          </c:dPt>
          <c:dPt>
            <c:idx val="1"/>
            <c:bubble3D val="0"/>
            <c:spPr>
              <a:solidFill>
                <a:srgbClr val="14776B"/>
              </a:solidFill>
              <a:effectLst/>
            </c:spPr>
          </c:dPt>
          <c:dPt>
            <c:idx val="2"/>
            <c:bubble3D val="0"/>
            <c:spPr>
              <a:solidFill>
                <a:srgbClr val="2F938A"/>
              </a:solidFill>
              <a:effectLst/>
            </c:spPr>
          </c:dPt>
          <c:dPt>
            <c:idx val="3"/>
            <c:bubble3D val="0"/>
            <c:spPr>
              <a:solidFill>
                <a:srgbClr val="5AADA3"/>
              </a:solidFill>
              <a:effectLst/>
            </c:spPr>
          </c:dPt>
          <c:dPt>
            <c:idx val="4"/>
            <c:bubble3D val="0"/>
            <c:spPr>
              <a:solidFill>
                <a:srgbClr val="8EC7BF"/>
              </a:solidFill>
              <a:effectLst/>
            </c:spPr>
          </c:dPt>
          <c:dPt>
            <c:idx val="5"/>
            <c:bubble3D val="0"/>
            <c:spPr>
              <a:solidFill>
                <a:srgbClr val="C3CCD6"/>
              </a:solidFill>
              <a:effectLst/>
            </c:spPr>
          </c:dPt>
          <c:dLbls>
            <c:dLbl>
              <c:idx val="0"/>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1"/>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2"/>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3"/>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4"/>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5"/>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Salary 58%</c:v>
                </c:pt>
                <c:pt idx="1">
                  <c:v>Rent 12%</c:v>
                </c:pt>
                <c:pt idx="2">
                  <c:v>Professional 5%</c:v>
                </c:pt>
                <c:pt idx="3">
                  <c:v>Sitting fees 4%</c:v>
                </c:pt>
                <c:pt idx="4">
                  <c:v>Travel 3%</c:v>
                </c:pt>
                <c:pt idx="5">
                  <c:v>Other 18%</c:v>
                </c:pt>
              </c:strCache>
            </c:strRef>
          </c:cat>
          <c:val>
            <c:numRef>
              <c:f>Sheet1!$B$2:$B$7</c:f>
              <c:numCache>
                <c:ptCount val="6"/>
                <c:pt idx="0">
                  <c:v>58</c:v>
                </c:pt>
                <c:pt idx="1">
                  <c:v>12</c:v>
                </c:pt>
                <c:pt idx="2">
                  <c:v>5</c:v>
                </c:pt>
                <c:pt idx="3">
                  <c:v>4</c:v>
                </c:pt>
                <c:pt idx="4">
                  <c:v>3</c:v>
                </c:pt>
                <c:pt idx="5">
                  <c:v>18</c:v>
                </c:pt>
              </c:numCache>
            </c:numRef>
          </c:val>
        </c:ser>
        <c:firstSliceAng val="0"/>
        <c:holeSize val="55"/>
      </c:doughnutChart>
      <c:spPr>
        <a:noFill/>
        <a:ln>
          <a:noFill/>
        </a:ln>
        <a:effectLst/>
      </c:spPr>
    </c:plotArea>
    <c:legend>
      <c:legendPos val="r"/>
      <c:overlay val="0"/>
      <c:txPr>
        <a:bodyPr/>
        <a:lstStyle/>
        <a:p>
          <a:pPr>
            <a:defRPr sz="10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Existing plus FD</c:v>
                </c:pt>
              </c:strCache>
            </c:strRef>
          </c:tx>
          <c:spPr>
            <a:solidFill>
              <a:srgbClr val="8EA6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Sheet1!$B$2:$B$5</c:f>
              <c:numCache>
                <c:formatCode>General</c:formatCode>
                <c:ptCount val="4"/>
                <c:pt idx="0">
                  <c:v>1.56</c:v>
                </c:pt>
                <c:pt idx="1">
                  <c:v>2.67</c:v>
                </c:pt>
                <c:pt idx="2">
                  <c:v>2.9</c:v>
                </c:pt>
                <c:pt idx="3">
                  <c:v>3.1</c:v>
                </c:pt>
              </c:numCache>
            </c:numRef>
          </c:val>
        </c:ser>
        <c:ser>
          <c:idx val="1"/>
          <c:order val="1"/>
          <c:tx>
            <c:strRef>
              <c:f>Sheet1!$C$1</c:f>
              <c:strCache>
                <c:ptCount val="1"/>
                <c:pt idx="0">
                  <c:v>BLR initial fees</c:v>
                </c:pt>
              </c:strCache>
            </c:strRef>
          </c:tx>
          <c:spPr>
            <a:solidFill>
              <a:srgbClr val="0F766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Sheet1!$C$2:$C$5</c:f>
              <c:numCache>
                <c:formatCode>General</c:formatCode>
                <c:ptCount val="4"/>
                <c:pt idx="0">
                  <c:v>0</c:v>
                </c:pt>
                <c:pt idx="1">
                  <c:v>2.88</c:v>
                </c:pt>
                <c:pt idx="2">
                  <c:v>5.76</c:v>
                </c:pt>
                <c:pt idx="3">
                  <c:v>5.76</c:v>
                </c:pt>
              </c:numCache>
            </c:numRef>
          </c:val>
        </c:ser>
        <c:ser>
          <c:idx val="2"/>
          <c:order val="2"/>
          <c:tx>
            <c:strRef>
              <c:f>Sheet1!$D$1</c:f>
              <c:strCache>
                <c:ptCount val="1"/>
                <c:pt idx="0">
                  <c:v>Surveillance annuity</c:v>
                </c:pt>
              </c:strCache>
            </c:strRef>
          </c:tx>
          <c:spPr>
            <a:solidFill>
              <a:srgbClr val="1E4E7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Sheet1!$D$2:$D$5</c:f>
              <c:numCache>
                <c:formatCode>General</c:formatCode>
                <c:ptCount val="4"/>
                <c:pt idx="0">
                  <c:v>0</c:v>
                </c:pt>
                <c:pt idx="1">
                  <c:v>0</c:v>
                </c:pt>
                <c:pt idx="2">
                  <c:v>1.44</c:v>
                </c:pt>
                <c:pt idx="3">
                  <c:v>4.32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16"/>
        </c:scaling>
        <c:delete val="0"/>
        <c:axPos val="l"/>
        <c:majorGridlines>
          <c:spPr>
            <a:ln w="9525" cap="flat">
              <a:solidFill>
                <a:srgbClr val="E6E9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7B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FD interest</c:v>
                </c:pt>
              </c:strCache>
            </c:strRef>
          </c:tx>
          <c:spPr>
            <a:solidFill>
              <a:srgbClr val="8EA6B8"/>
            </a:solidFill>
            <a:effectLst/>
          </c:spPr>
          <c:invertIfNegative val="0"/>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FY26</c:v>
                  </c:pt>
                  <c:pt idx="1">
                    <c:v>FY27</c:v>
                  </c:pt>
                  <c:pt idx="2">
                    <c:v>FY28</c:v>
                  </c:pt>
                </c:lvl>
              </c:multiLvlStrCache>
            </c:multiLvlStrRef>
          </c:cat>
          <c:val>
            <c:numRef>
              <c:f>Sheet1!$B$2:$B$4</c:f>
              <c:numCache>
                <c:formatCode>General</c:formatCode>
                <c:ptCount val="3"/>
                <c:pt idx="0">
                  <c:v>95</c:v>
                </c:pt>
                <c:pt idx="1">
                  <c:v>32</c:v>
                </c:pt>
                <c:pt idx="2">
                  <c:v>18</c:v>
                </c:pt>
              </c:numCache>
            </c:numRef>
          </c:val>
        </c:ser>
        <c:ser>
          <c:idx val="1"/>
          <c:order val="1"/>
          <c:tx>
            <c:strRef>
              <c:f>Sheet1!$C$1</c:f>
              <c:strCache>
                <c:ptCount val="1"/>
                <c:pt idx="0">
                  <c:v>Ratings</c:v>
                </c:pt>
              </c:strCache>
            </c:strRef>
          </c:tx>
          <c:spPr>
            <a:solidFill>
              <a:srgbClr val="0F766E"/>
            </a:solidFill>
            <a:effectLst/>
          </c:spPr>
          <c:invertIfNegative val="0"/>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FY26</c:v>
                  </c:pt>
                  <c:pt idx="1">
                    <c:v>FY27</c:v>
                  </c:pt>
                  <c:pt idx="2">
                    <c:v>FY28</c:v>
                  </c:pt>
                </c:lvl>
              </c:multiLvlStrCache>
            </c:multiLvlStrRef>
          </c:cat>
          <c:val>
            <c:numRef>
              <c:f>Sheet1!$C$2:$C$4</c:f>
              <c:numCache>
                <c:formatCode>General</c:formatCode>
                <c:ptCount val="3"/>
                <c:pt idx="0">
                  <c:v>5</c:v>
                </c:pt>
                <c:pt idx="1">
                  <c:v>68</c:v>
                </c:pt>
                <c:pt idx="2">
                  <c:v>82</c:v>
                </c:pt>
              </c:numCache>
            </c:numRef>
          </c:val>
        </c:ser>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Yearly</c:v>
                </c:pt>
              </c:strCache>
            </c:strRef>
          </c:tx>
          <c:spPr>
            <a:solidFill>
              <a:srgbClr val="1E4E79"/>
            </a:solidFill>
            <a:effectLst/>
          </c:spPr>
          <c:invertIfNegative val="0"/>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ACER now</c:v>
                  </c:pt>
                  <c:pt idx="1">
                    <c:v>Brickwork</c:v>
                  </c:pt>
                  <c:pt idx="2">
                    <c:v>ACER FY28</c:v>
                  </c:pt>
                  <c:pt idx="3">
                    <c:v>Acuite</c:v>
                  </c:pt>
                  <c:pt idx="4">
                    <c:v>Infomerics</c:v>
                  </c:pt>
                  <c:pt idx="5">
                    <c:v>India Ratings</c:v>
                  </c:pt>
                  <c:pt idx="6">
                    <c:v>CARE</c:v>
                  </c:pt>
                  <c:pt idx="7">
                    <c:v>ICRA</c:v>
                  </c:pt>
                  <c:pt idx="8">
                    <c:v>CRISIL</c:v>
                  </c:pt>
                </c:lvl>
              </c:multiLvlStrCache>
            </c:multiLvlStrRef>
          </c:cat>
          <c:val>
            <c:numRef>
              <c:f>Sheet1!$B$2:$B$10</c:f>
              <c:numCache>
                <c:formatCode>General</c:formatCode>
                <c:ptCount val="9"/>
                <c:pt idx="0">
                  <c:v>0.9</c:v>
                </c:pt>
                <c:pt idx="1">
                  <c:v>5.9</c:v>
                </c:pt>
                <c:pt idx="2">
                  <c:v>8</c:v>
                </c:pt>
                <c:pt idx="3">
                  <c:v>57</c:v>
                </c:pt>
                <c:pt idx="4">
                  <c:v>95</c:v>
                </c:pt>
                <c:pt idx="5">
                  <c:v>251</c:v>
                </c:pt>
                <c:pt idx="6">
                  <c:v>423</c:v>
                </c:pt>
                <c:pt idx="7">
                  <c:v>498</c:v>
                </c:pt>
                <c:pt idx="8">
                  <c:v>909</c:v>
                </c:pt>
              </c:numCache>
            </c:numRef>
          </c:val>
        </c:ser>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gapWidth val="38"/>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1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Quarterly</c:v>
                </c:pt>
              </c:strCache>
            </c:strRef>
          </c:tx>
          <c:spPr>
            <a:solidFill>
              <a:srgbClr val="0F766E"/>
            </a:solidFill>
            <a:effectLst/>
          </c:spPr>
          <c:invertIfNegative val="0"/>
          <c:dLbls>
            <c:numFmt formatCode="#,##0" sourceLinked="0"/>
            <c:txPr>
              <a:bodyPr/>
              <a:lstStyle/>
              <a:p>
                <a:pPr>
                  <a:defRPr b="0" i="0" strike="noStrike" sz="1000" u="none">
                    <a:solidFill>
                      <a:srgbClr val="2B3F52"/>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ACER</c:v>
                  </c:pt>
                  <c:pt idx="1">
                    <c:v>ICRA</c:v>
                  </c:pt>
                  <c:pt idx="2">
                    <c:v>CARE</c:v>
                  </c:pt>
                  <c:pt idx="3">
                    <c:v>CRISIL</c:v>
                  </c:pt>
                </c:lvl>
              </c:multiLvlStrCache>
            </c:multiLvlStrRef>
          </c:cat>
          <c:val>
            <c:numRef>
              <c:f>Sheet1!$B$2:$B$5</c:f>
              <c:numCache>
                <c:formatCode>General</c:formatCode>
                <c:ptCount val="4"/>
                <c:pt idx="0">
                  <c:v>0.15</c:v>
                </c:pt>
                <c:pt idx="1">
                  <c:v>87</c:v>
                </c:pt>
                <c:pt idx="2">
                  <c:v>102</c:v>
                </c:pt>
                <c:pt idx="3">
                  <c:v>254</c:v>
                </c:pt>
              </c:numCache>
            </c:numRef>
          </c:val>
        </c:ser>
        <c:dLbls>
          <c:numFmt formatCode="#,##0" sourceLinked="0"/>
          <c:txPr>
            <a:bodyPr/>
            <a:lstStyle/>
            <a:p>
              <a:pPr>
                <a:defRPr b="0" i="0" strike="noStrike" sz="1000" u="none">
                  <a:solidFill>
                    <a:srgbClr val="2B3F52"/>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29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737360"/>
            <a:ext cx="822960" cy="91440"/>
          </a:xfrm>
          <a:prstGeom prst="rect">
            <a:avLst/>
          </a:prstGeom>
          <a:solidFill>
            <a:srgbClr val="0F766E"/>
          </a:solidFill>
          <a:ln/>
        </p:spPr>
      </p:sp>
      <p:sp>
        <p:nvSpPr>
          <p:cNvPr id="3" name="Text 1"/>
          <p:cNvSpPr/>
          <p:nvPr/>
        </p:nvSpPr>
        <p:spPr>
          <a:xfrm>
            <a:off x="640080" y="2011680"/>
            <a:ext cx="10058400" cy="274320"/>
          </a:xfrm>
          <a:prstGeom prst="rect">
            <a:avLst/>
          </a:prstGeom>
          <a:noFill/>
          <a:ln/>
        </p:spPr>
        <p:txBody>
          <a:bodyPr wrap="square" rtlCol="0" anchor="ctr"/>
          <a:lstStyle/>
          <a:p>
            <a:pPr indent="0" marL="0">
              <a:buNone/>
            </a:pPr>
            <a:r>
              <a:rPr lang="en-US" sz="1200" b="1" spc="250" kern="0" dirty="0">
                <a:solidFill>
                  <a:srgbClr val="0F766E"/>
                </a:solidFill>
                <a:latin typeface="Calibri" pitchFamily="34" charset="0"/>
                <a:ea typeface="Calibri" pitchFamily="34" charset="-122"/>
                <a:cs typeface="Calibri" pitchFamily="34" charset="-120"/>
              </a:rPr>
              <a:t>FY27  ·  BOARD PRESENTATION  ·  CONFIDENTIAL</a:t>
            </a:r>
            <a:endParaRPr lang="en-US" sz="1200" dirty="0"/>
          </a:p>
        </p:txBody>
      </p:sp>
      <p:sp>
        <p:nvSpPr>
          <p:cNvPr id="4" name="Text 2"/>
          <p:cNvSpPr/>
          <p:nvPr/>
        </p:nvSpPr>
        <p:spPr>
          <a:xfrm>
            <a:off x="640080" y="2377440"/>
            <a:ext cx="10881360" cy="1554480"/>
          </a:xfrm>
          <a:prstGeom prst="rect">
            <a:avLst/>
          </a:prstGeom>
          <a:noFill/>
          <a:ln/>
        </p:spPr>
        <p:txBody>
          <a:bodyPr wrap="square" rtlCol="0" anchor="ctr"/>
          <a:lstStyle/>
          <a:p>
            <a:pPr indent="0" marL="0">
              <a:lnSpc>
                <a:spcPct val="105000"/>
              </a:lnSpc>
              <a:buNone/>
            </a:pPr>
            <a:r>
              <a:rPr lang="en-US" sz="4000" b="1" dirty="0">
                <a:solidFill>
                  <a:srgbClr val="0A1F33"/>
                </a:solidFill>
                <a:latin typeface="Cambria" pitchFamily="34" charset="0"/>
                <a:ea typeface="Cambria" pitchFamily="34" charset="-122"/>
                <a:cs typeface="Cambria" pitchFamily="34" charset="-120"/>
              </a:rPr>
              <a:t>An investment year to become</a:t>
            </a:r>
            <a:endParaRPr lang="en-US" sz="4000" dirty="0"/>
          </a:p>
          <a:p>
            <a:pPr indent="0" marL="0">
              <a:lnSpc>
                <a:spcPct val="105000"/>
              </a:lnSpc>
              <a:buNone/>
            </a:pPr>
            <a:r>
              <a:rPr lang="en-US" sz="4000" b="1" dirty="0">
                <a:solidFill>
                  <a:srgbClr val="0A1F33"/>
                </a:solidFill>
                <a:latin typeface="Cambria" pitchFamily="34" charset="0"/>
                <a:ea typeface="Cambria" pitchFamily="34" charset="-122"/>
                <a:cs typeface="Cambria" pitchFamily="34" charset="-120"/>
              </a:rPr>
              <a:t>a rating business, not a treasury.</a:t>
            </a:r>
            <a:endParaRPr lang="en-US" sz="4000" dirty="0"/>
          </a:p>
        </p:txBody>
      </p:sp>
      <p:sp>
        <p:nvSpPr>
          <p:cNvPr id="5" name="Text 3"/>
          <p:cNvSpPr/>
          <p:nvPr/>
        </p:nvSpPr>
        <p:spPr>
          <a:xfrm>
            <a:off x="640080" y="4114800"/>
            <a:ext cx="9692640" cy="914400"/>
          </a:xfrm>
          <a:prstGeom prst="rect">
            <a:avLst/>
          </a:prstGeom>
          <a:noFill/>
          <a:ln/>
        </p:spPr>
        <p:txBody>
          <a:bodyPr wrap="square" rtlCol="0" anchor="ctr"/>
          <a:lstStyle/>
          <a:p>
            <a:pPr indent="0" marL="0">
              <a:buNone/>
            </a:pPr>
            <a:r>
              <a:rPr lang="en-US" sz="1500" dirty="0">
                <a:solidFill>
                  <a:srgbClr val="5B6B7B"/>
                </a:solidFill>
                <a:latin typeface="Calibri" pitchFamily="34" charset="0"/>
                <a:ea typeface="Calibri" pitchFamily="34" charset="-122"/>
                <a:cs typeface="Calibri" pitchFamily="34" charset="-120"/>
              </a:rPr>
              <a:t>ACER holds Rs 26 Cr in reserves and earns almost entirely on interest. The Bank Loan Rating licence is the single lever that turns that idle capital into an operating franchise, modelled here across three licence timing scenarios.</a:t>
            </a:r>
            <a:endParaRPr lang="en-US" sz="1500" dirty="0"/>
          </a:p>
        </p:txBody>
      </p:sp>
      <p:sp>
        <p:nvSpPr>
          <p:cNvPr id="6" name="Shape 4"/>
          <p:cNvSpPr/>
          <p:nvPr/>
        </p:nvSpPr>
        <p:spPr>
          <a:xfrm>
            <a:off x="640080" y="5440680"/>
            <a:ext cx="10911535" cy="0"/>
          </a:xfrm>
          <a:prstGeom prst="line">
            <a:avLst/>
          </a:prstGeom>
          <a:noFill/>
          <a:ln w="12700">
            <a:solidFill>
              <a:srgbClr val="E6E9EE"/>
            </a:solidFill>
            <a:prstDash val="solid"/>
          </a:ln>
        </p:spPr>
      </p:sp>
      <p:sp>
        <p:nvSpPr>
          <p:cNvPr id="7" name="Text 5"/>
          <p:cNvSpPr/>
          <p:nvPr/>
        </p:nvSpPr>
        <p:spPr>
          <a:xfrm>
            <a:off x="640080" y="5623560"/>
            <a:ext cx="3474720" cy="274320"/>
          </a:xfrm>
          <a:prstGeom prst="rect">
            <a:avLst/>
          </a:prstGeom>
          <a:noFill/>
          <a:ln/>
        </p:spPr>
        <p:txBody>
          <a:bodyPr wrap="square" rtlCol="0" anchor="ctr"/>
          <a:lstStyle/>
          <a:p>
            <a:pPr indent="0" marL="0">
              <a:buNone/>
            </a:pPr>
            <a:r>
              <a:rPr lang="en-US" sz="1150" dirty="0">
                <a:solidFill>
                  <a:srgbClr val="9AA7B4"/>
                </a:solidFill>
                <a:latin typeface="Calibri" pitchFamily="34" charset="0"/>
                <a:ea typeface="Calibri" pitchFamily="34" charset="-122"/>
                <a:cs typeface="Calibri" pitchFamily="34" charset="-120"/>
              </a:rPr>
              <a:t>Entity</a:t>
            </a:r>
            <a:endParaRPr lang="en-US" sz="1150" dirty="0"/>
          </a:p>
        </p:txBody>
      </p:sp>
      <p:sp>
        <p:nvSpPr>
          <p:cNvPr id="8" name="Text 6"/>
          <p:cNvSpPr/>
          <p:nvPr/>
        </p:nvSpPr>
        <p:spPr>
          <a:xfrm>
            <a:off x="640080" y="5870448"/>
            <a:ext cx="3474720" cy="365760"/>
          </a:xfrm>
          <a:prstGeom prst="rect">
            <a:avLst/>
          </a:prstGeom>
          <a:noFill/>
          <a:ln/>
        </p:spPr>
        <p:txBody>
          <a:bodyPr wrap="square" rtlCol="0" anchor="ctr"/>
          <a:lstStyle/>
          <a:p>
            <a:pPr indent="0" marL="0">
              <a:buNone/>
            </a:pPr>
            <a:r>
              <a:rPr lang="en-US" sz="1400" b="1" dirty="0">
                <a:solidFill>
                  <a:srgbClr val="0A1F33"/>
                </a:solidFill>
                <a:latin typeface="Calibri" pitchFamily="34" charset="0"/>
                <a:ea typeface="Calibri" pitchFamily="34" charset="-122"/>
                <a:cs typeface="Calibri" pitchFamily="34" charset="-120"/>
              </a:rPr>
              <a:t>ACER Credit Rating Pvt. Ltd.</a:t>
            </a:r>
            <a:endParaRPr lang="en-US" sz="1400" dirty="0"/>
          </a:p>
        </p:txBody>
      </p:sp>
      <p:sp>
        <p:nvSpPr>
          <p:cNvPr id="9" name="Text 7"/>
          <p:cNvSpPr/>
          <p:nvPr/>
        </p:nvSpPr>
        <p:spPr>
          <a:xfrm>
            <a:off x="4297680" y="5623560"/>
            <a:ext cx="3474720" cy="274320"/>
          </a:xfrm>
          <a:prstGeom prst="rect">
            <a:avLst/>
          </a:prstGeom>
          <a:noFill/>
          <a:ln/>
        </p:spPr>
        <p:txBody>
          <a:bodyPr wrap="square" rtlCol="0" anchor="ctr"/>
          <a:lstStyle/>
          <a:p>
            <a:pPr indent="0" marL="0">
              <a:buNone/>
            </a:pPr>
            <a:r>
              <a:rPr lang="en-US" sz="1150" dirty="0">
                <a:solidFill>
                  <a:srgbClr val="9AA7B4"/>
                </a:solidFill>
                <a:latin typeface="Calibri" pitchFamily="34" charset="0"/>
                <a:ea typeface="Calibri" pitchFamily="34" charset="-122"/>
                <a:cs typeface="Calibri" pitchFamily="34" charset="-120"/>
              </a:rPr>
              <a:t>Plan year</a:t>
            </a:r>
            <a:endParaRPr lang="en-US" sz="1150" dirty="0"/>
          </a:p>
        </p:txBody>
      </p:sp>
      <p:sp>
        <p:nvSpPr>
          <p:cNvPr id="10" name="Text 8"/>
          <p:cNvSpPr/>
          <p:nvPr/>
        </p:nvSpPr>
        <p:spPr>
          <a:xfrm>
            <a:off x="4297680" y="5870448"/>
            <a:ext cx="3474720" cy="365760"/>
          </a:xfrm>
          <a:prstGeom prst="rect">
            <a:avLst/>
          </a:prstGeom>
          <a:noFill/>
          <a:ln/>
        </p:spPr>
        <p:txBody>
          <a:bodyPr wrap="square" rtlCol="0" anchor="ctr"/>
          <a:lstStyle/>
          <a:p>
            <a:pPr indent="0" marL="0">
              <a:buNone/>
            </a:pPr>
            <a:r>
              <a:rPr lang="en-US" sz="1400" b="1" dirty="0">
                <a:solidFill>
                  <a:srgbClr val="0A1F33"/>
                </a:solidFill>
                <a:latin typeface="Calibri" pitchFamily="34" charset="0"/>
                <a:ea typeface="Calibri" pitchFamily="34" charset="-122"/>
                <a:cs typeface="Calibri" pitchFamily="34" charset="-120"/>
              </a:rPr>
              <a:t>Apr 2026 to Mar 2027</a:t>
            </a:r>
            <a:endParaRPr lang="en-US" sz="1400" dirty="0"/>
          </a:p>
        </p:txBody>
      </p:sp>
      <p:sp>
        <p:nvSpPr>
          <p:cNvPr id="11" name="Text 9"/>
          <p:cNvSpPr/>
          <p:nvPr/>
        </p:nvSpPr>
        <p:spPr>
          <a:xfrm>
            <a:off x="7955280" y="5623560"/>
            <a:ext cx="3474720" cy="274320"/>
          </a:xfrm>
          <a:prstGeom prst="rect">
            <a:avLst/>
          </a:prstGeom>
          <a:noFill/>
          <a:ln/>
        </p:spPr>
        <p:txBody>
          <a:bodyPr wrap="square" rtlCol="0" anchor="ctr"/>
          <a:lstStyle/>
          <a:p>
            <a:pPr indent="0" marL="0">
              <a:buNone/>
            </a:pPr>
            <a:r>
              <a:rPr lang="en-US" sz="1150" dirty="0">
                <a:solidFill>
                  <a:srgbClr val="9AA7B4"/>
                </a:solidFill>
                <a:latin typeface="Calibri" pitchFamily="34" charset="0"/>
                <a:ea typeface="Calibri" pitchFamily="34" charset="-122"/>
                <a:cs typeface="Calibri" pitchFamily="34" charset="-120"/>
              </a:rPr>
              <a:t>Base case</a:t>
            </a:r>
            <a:endParaRPr lang="en-US" sz="1150" dirty="0"/>
          </a:p>
        </p:txBody>
      </p:sp>
      <p:sp>
        <p:nvSpPr>
          <p:cNvPr id="12" name="Text 10"/>
          <p:cNvSpPr/>
          <p:nvPr/>
        </p:nvSpPr>
        <p:spPr>
          <a:xfrm>
            <a:off x="7955280" y="5870448"/>
            <a:ext cx="3474720" cy="365760"/>
          </a:xfrm>
          <a:prstGeom prst="rect">
            <a:avLst/>
          </a:prstGeom>
          <a:noFill/>
          <a:ln/>
        </p:spPr>
        <p:txBody>
          <a:bodyPr wrap="square" rtlCol="0" anchor="ctr"/>
          <a:lstStyle/>
          <a:p>
            <a:pPr indent="0" marL="0">
              <a:buNone/>
            </a:pPr>
            <a:r>
              <a:rPr lang="en-US" sz="1400" b="1" dirty="0">
                <a:solidFill>
                  <a:srgbClr val="0A1F33"/>
                </a:solidFill>
                <a:latin typeface="Calibri" pitchFamily="34" charset="0"/>
                <a:ea typeface="Calibri" pitchFamily="34" charset="-122"/>
                <a:cs typeface="Calibri" pitchFamily="34" charset="-120"/>
              </a:rPr>
              <a:t>BLR live by 1 October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A"/>
        </a:solidFill>
      </p:bgPr>
    </p:bg>
    <p:spTree>
      <p:nvGrpSpPr>
        <p:cNvPr id="1" name=""/>
        <p:cNvGrpSpPr/>
        <p:nvPr/>
      </p:nvGrpSpPr>
      <p:grpSpPr>
        <a:xfrm>
          <a:off x="0" y="0"/>
          <a:ext cx="0" cy="0"/>
          <a:chOff x="0" y="0"/>
          <a:chExt cx="0" cy="0"/>
        </a:xfrm>
      </p:grpSpPr>
      <p:sp>
        <p:nvSpPr>
          <p:cNvPr id="2" name="Text 0"/>
          <p:cNvSpPr/>
          <p:nvPr/>
        </p:nvSpPr>
        <p:spPr>
          <a:xfrm>
            <a:off x="7315200" y="365760"/>
            <a:ext cx="4572000" cy="6126480"/>
          </a:xfrm>
          <a:prstGeom prst="rect">
            <a:avLst/>
          </a:prstGeom>
          <a:noFill/>
          <a:ln/>
        </p:spPr>
        <p:txBody>
          <a:bodyPr wrap="square" rtlCol="0" anchor="ctr"/>
          <a:lstStyle/>
          <a:p>
            <a:pPr algn="r" indent="0" marL="0">
              <a:buNone/>
            </a:pPr>
            <a:r>
              <a:rPr lang="en-US" sz="30000" b="1" dirty="0">
                <a:solidFill>
                  <a:srgbClr val="DCE4EC"/>
                </a:solidFill>
                <a:latin typeface="Cambria" pitchFamily="34" charset="0"/>
                <a:ea typeface="Cambria" pitchFamily="34" charset="-122"/>
                <a:cs typeface="Cambria" pitchFamily="34" charset="-120"/>
              </a:rPr>
              <a:t>I</a:t>
            </a:r>
            <a:endParaRPr lang="en-US" sz="30000" dirty="0"/>
          </a:p>
        </p:txBody>
      </p:sp>
      <p:sp>
        <p:nvSpPr>
          <p:cNvPr id="3" name="Shape 1"/>
          <p:cNvSpPr/>
          <p:nvPr/>
        </p:nvSpPr>
        <p:spPr>
          <a:xfrm>
            <a:off x="640080" y="2743200"/>
            <a:ext cx="822960" cy="91440"/>
          </a:xfrm>
          <a:prstGeom prst="rect">
            <a:avLst/>
          </a:prstGeom>
          <a:solidFill>
            <a:srgbClr val="0F766E"/>
          </a:solidFill>
          <a:ln/>
        </p:spPr>
      </p:sp>
      <p:sp>
        <p:nvSpPr>
          <p:cNvPr id="4" name="Text 2"/>
          <p:cNvSpPr/>
          <p:nvPr/>
        </p:nvSpPr>
        <p:spPr>
          <a:xfrm>
            <a:off x="640080" y="3017520"/>
            <a:ext cx="7315200" cy="274320"/>
          </a:xfrm>
          <a:prstGeom prst="rect">
            <a:avLst/>
          </a:prstGeom>
          <a:noFill/>
          <a:ln/>
        </p:spPr>
        <p:txBody>
          <a:bodyPr wrap="square" rtlCol="0" anchor="ctr"/>
          <a:lstStyle/>
          <a:p>
            <a:pPr indent="0" marL="0">
              <a:buNone/>
            </a:pPr>
            <a:r>
              <a:rPr lang="en-US" sz="1200" b="1" spc="250" kern="0" dirty="0">
                <a:solidFill>
                  <a:srgbClr val="0F766E"/>
                </a:solidFill>
                <a:latin typeface="Calibri" pitchFamily="34" charset="0"/>
                <a:ea typeface="Calibri" pitchFamily="34" charset="-122"/>
                <a:cs typeface="Calibri" pitchFamily="34" charset="-120"/>
              </a:rPr>
              <a:t>SECTION ONE</a:t>
            </a:r>
            <a:endParaRPr lang="en-US" sz="1200" dirty="0"/>
          </a:p>
        </p:txBody>
      </p:sp>
      <p:sp>
        <p:nvSpPr>
          <p:cNvPr id="5" name="Text 3"/>
          <p:cNvSpPr/>
          <p:nvPr/>
        </p:nvSpPr>
        <p:spPr>
          <a:xfrm>
            <a:off x="640080" y="3337560"/>
            <a:ext cx="7680960" cy="1463040"/>
          </a:xfrm>
          <a:prstGeom prst="rect">
            <a:avLst/>
          </a:prstGeom>
          <a:noFill/>
          <a:ln/>
        </p:spPr>
        <p:txBody>
          <a:bodyPr wrap="square" rtlCol="0" anchor="ctr"/>
          <a:lstStyle/>
          <a:p>
            <a:pPr indent="0" marL="0">
              <a:lnSpc>
                <a:spcPct val="105000"/>
              </a:lnSpc>
              <a:buNone/>
            </a:pPr>
            <a:r>
              <a:rPr lang="en-US" sz="3400" b="1" dirty="0">
                <a:solidFill>
                  <a:srgbClr val="0A1F33"/>
                </a:solidFill>
                <a:latin typeface="Cambria" pitchFamily="34" charset="0"/>
                <a:ea typeface="Cambria" pitchFamily="34" charset="-122"/>
                <a:cs typeface="Cambria" pitchFamily="34" charset="-120"/>
              </a:rPr>
              <a:t>The situation and the opportunity</a:t>
            </a:r>
            <a:endParaRPr lang="en-US" sz="3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SITUATION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Today we earn like a treasury, not yet a rating agency</a:t>
            </a:r>
            <a:endParaRPr lang="en-US" sz="2600" dirty="0"/>
          </a:p>
        </p:txBody>
      </p:sp>
      <p:sp>
        <p:nvSpPr>
          <p:cNvPr id="4" name="Shape 2"/>
          <p:cNvSpPr/>
          <p:nvPr/>
        </p:nvSpPr>
        <p:spPr>
          <a:xfrm>
            <a:off x="640080" y="1691640"/>
            <a:ext cx="2578608" cy="1371600"/>
          </a:xfrm>
          <a:prstGeom prst="rect">
            <a:avLst/>
          </a:prstGeom>
          <a:solidFill>
            <a:srgbClr val="F6F8FA"/>
          </a:solidFill>
          <a:ln w="12700">
            <a:solidFill>
              <a:srgbClr val="E6E9EE"/>
            </a:solidFill>
            <a:prstDash val="solid"/>
          </a:ln>
        </p:spPr>
      </p:sp>
      <p:sp>
        <p:nvSpPr>
          <p:cNvPr id="5" name="Text 3"/>
          <p:cNvSpPr/>
          <p:nvPr/>
        </p:nvSpPr>
        <p:spPr>
          <a:xfrm>
            <a:off x="8046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FD corpus</a:t>
            </a:r>
            <a:endParaRPr lang="en-US" sz="1050" dirty="0"/>
          </a:p>
        </p:txBody>
      </p:sp>
      <p:sp>
        <p:nvSpPr>
          <p:cNvPr id="6" name="Text 4"/>
          <p:cNvSpPr/>
          <p:nvPr/>
        </p:nvSpPr>
        <p:spPr>
          <a:xfrm>
            <a:off x="8046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26.1 Cr</a:t>
            </a:r>
            <a:endParaRPr lang="en-US" sz="2200" dirty="0"/>
          </a:p>
        </p:txBody>
      </p:sp>
      <p:sp>
        <p:nvSpPr>
          <p:cNvPr id="7" name="Text 5"/>
          <p:cNvSpPr/>
          <p:nvPr/>
        </p:nvSpPr>
        <p:spPr>
          <a:xfrm>
            <a:off x="8046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Rs 25 Cr is the SEBI net worth lock</a:t>
            </a:r>
            <a:endParaRPr lang="en-US" sz="900" dirty="0"/>
          </a:p>
        </p:txBody>
      </p:sp>
      <p:sp>
        <p:nvSpPr>
          <p:cNvPr id="8" name="Shape 6"/>
          <p:cNvSpPr/>
          <p:nvPr/>
        </p:nvSpPr>
        <p:spPr>
          <a:xfrm>
            <a:off x="3383280" y="1691640"/>
            <a:ext cx="2578608" cy="1371600"/>
          </a:xfrm>
          <a:prstGeom prst="rect">
            <a:avLst/>
          </a:prstGeom>
          <a:solidFill>
            <a:srgbClr val="F6F8FA"/>
          </a:solidFill>
          <a:ln w="12700">
            <a:solidFill>
              <a:srgbClr val="E6E9EE"/>
            </a:solidFill>
            <a:prstDash val="solid"/>
          </a:ln>
        </p:spPr>
      </p:sp>
      <p:sp>
        <p:nvSpPr>
          <p:cNvPr id="9" name="Text 7"/>
          <p:cNvSpPr/>
          <p:nvPr/>
        </p:nvSpPr>
        <p:spPr>
          <a:xfrm>
            <a:off x="35478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FY26 ratings revenue</a:t>
            </a:r>
            <a:endParaRPr lang="en-US" sz="1050" dirty="0"/>
          </a:p>
        </p:txBody>
      </p:sp>
      <p:sp>
        <p:nvSpPr>
          <p:cNvPr id="10" name="Text 8"/>
          <p:cNvSpPr/>
          <p:nvPr/>
        </p:nvSpPr>
        <p:spPr>
          <a:xfrm>
            <a:off x="35478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8 L</a:t>
            </a:r>
            <a:endParaRPr lang="en-US" sz="2200" dirty="0"/>
          </a:p>
        </p:txBody>
      </p:sp>
      <p:sp>
        <p:nvSpPr>
          <p:cNvPr id="11" name="Text 9"/>
          <p:cNvSpPr/>
          <p:nvPr/>
        </p:nvSpPr>
        <p:spPr>
          <a:xfrm>
            <a:off x="35478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95% of income was FD interest</a:t>
            </a:r>
            <a:endParaRPr lang="en-US" sz="900" dirty="0"/>
          </a:p>
        </p:txBody>
      </p:sp>
      <p:sp>
        <p:nvSpPr>
          <p:cNvPr id="12" name="Shape 10"/>
          <p:cNvSpPr/>
          <p:nvPr/>
        </p:nvSpPr>
        <p:spPr>
          <a:xfrm>
            <a:off x="6126480" y="1691640"/>
            <a:ext cx="2578608" cy="1371600"/>
          </a:xfrm>
          <a:prstGeom prst="rect">
            <a:avLst/>
          </a:prstGeom>
          <a:solidFill>
            <a:srgbClr val="F6F8FA"/>
          </a:solidFill>
          <a:ln w="12700">
            <a:solidFill>
              <a:srgbClr val="E6E9EE"/>
            </a:solidFill>
            <a:prstDash val="solid"/>
          </a:ln>
        </p:spPr>
      </p:sp>
      <p:sp>
        <p:nvSpPr>
          <p:cNvPr id="13" name="Text 11"/>
          <p:cNvSpPr/>
          <p:nvPr/>
        </p:nvSpPr>
        <p:spPr>
          <a:xfrm>
            <a:off x="62910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Ratings, Q1 FY27</a:t>
            </a:r>
            <a:endParaRPr lang="en-US" sz="1050" dirty="0"/>
          </a:p>
        </p:txBody>
      </p:sp>
      <p:sp>
        <p:nvSpPr>
          <p:cNvPr id="14" name="Text 12"/>
          <p:cNvSpPr/>
          <p:nvPr/>
        </p:nvSpPr>
        <p:spPr>
          <a:xfrm>
            <a:off x="62910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28.5 L</a:t>
            </a:r>
            <a:endParaRPr lang="en-US" sz="2200" dirty="0"/>
          </a:p>
        </p:txBody>
      </p:sp>
      <p:sp>
        <p:nvSpPr>
          <p:cNvPr id="15" name="Text 13"/>
          <p:cNvSpPr/>
          <p:nvPr/>
        </p:nvSpPr>
        <p:spPr>
          <a:xfrm>
            <a:off x="62910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3.5x all of FY26, inflecting</a:t>
            </a:r>
            <a:endParaRPr lang="en-US" sz="900" dirty="0"/>
          </a:p>
        </p:txBody>
      </p:sp>
      <p:sp>
        <p:nvSpPr>
          <p:cNvPr id="16" name="Shape 14"/>
          <p:cNvSpPr/>
          <p:nvPr/>
        </p:nvSpPr>
        <p:spPr>
          <a:xfrm>
            <a:off x="8869680" y="1691640"/>
            <a:ext cx="2578608" cy="1371600"/>
          </a:xfrm>
          <a:prstGeom prst="rect">
            <a:avLst/>
          </a:prstGeom>
          <a:solidFill>
            <a:srgbClr val="F6F8FA"/>
          </a:solidFill>
          <a:ln w="12700">
            <a:solidFill>
              <a:srgbClr val="E6E9EE"/>
            </a:solidFill>
            <a:prstDash val="solid"/>
          </a:ln>
        </p:spPr>
      </p:sp>
      <p:sp>
        <p:nvSpPr>
          <p:cNvPr id="17" name="Text 15"/>
          <p:cNvSpPr/>
          <p:nvPr/>
        </p:nvSpPr>
        <p:spPr>
          <a:xfrm>
            <a:off x="90342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FY27 run rate P&amp;L</a:t>
            </a:r>
            <a:endParaRPr lang="en-US" sz="1050" dirty="0"/>
          </a:p>
        </p:txBody>
      </p:sp>
      <p:sp>
        <p:nvSpPr>
          <p:cNvPr id="18" name="Text 16"/>
          <p:cNvSpPr/>
          <p:nvPr/>
        </p:nvSpPr>
        <p:spPr>
          <a:xfrm>
            <a:off x="9034272" y="2075688"/>
            <a:ext cx="2249424" cy="457200"/>
          </a:xfrm>
          <a:prstGeom prst="rect">
            <a:avLst/>
          </a:prstGeom>
          <a:noFill/>
          <a:ln/>
        </p:spPr>
        <p:txBody>
          <a:bodyPr wrap="square" rtlCol="0" anchor="ctr"/>
          <a:lstStyle/>
          <a:p>
            <a:pPr indent="0" marL="0">
              <a:buNone/>
            </a:pPr>
            <a:r>
              <a:rPr lang="en-US" sz="2200" b="1" dirty="0">
                <a:solidFill>
                  <a:srgbClr val="B3261E"/>
                </a:solidFill>
                <a:latin typeface="Cambria" pitchFamily="34" charset="0"/>
                <a:ea typeface="Cambria" pitchFamily="34" charset="-122"/>
                <a:cs typeface="Cambria" pitchFamily="34" charset="-120"/>
              </a:rPr>
              <a:t>Rs -2.6 Cr</a:t>
            </a:r>
            <a:endParaRPr lang="en-US" sz="2200" dirty="0"/>
          </a:p>
        </p:txBody>
      </p:sp>
      <p:sp>
        <p:nvSpPr>
          <p:cNvPr id="19" name="Text 17"/>
          <p:cNvSpPr/>
          <p:nvPr/>
        </p:nvSpPr>
        <p:spPr>
          <a:xfrm>
            <a:off x="90342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before any BLR revenue</a:t>
            </a:r>
            <a:endParaRPr lang="en-US" sz="900" dirty="0"/>
          </a:p>
        </p:txBody>
      </p:sp>
      <p:sp>
        <p:nvSpPr>
          <p:cNvPr id="20" name="Text 18"/>
          <p:cNvSpPr/>
          <p:nvPr/>
        </p:nvSpPr>
        <p:spPr>
          <a:xfrm>
            <a:off x="640080" y="3337560"/>
            <a:ext cx="10972800" cy="1737360"/>
          </a:xfrm>
          <a:prstGeom prst="rect">
            <a:avLst/>
          </a:prstGeom>
          <a:noFill/>
          <a:ln/>
        </p:spPr>
        <p:txBody>
          <a:bodyPr wrap="square" rtlCol="0" anchor="t"/>
          <a:lstStyle/>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Income is carried by interest on the deposit corpus, not by the rating business. A capital story, not yet an operating one.</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Rs 25 Cr net worth barrier that stops most new entrants is already met and parked in fixed deposits.</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Operating revenue has just begun to inflect, from Rs 8 L in all of FY26 to Rs 28.5 L in Q1 FY27.</a:t>
            </a:r>
            <a:endParaRPr lang="en-US" sz="1400" dirty="0"/>
          </a:p>
        </p:txBody>
      </p:sp>
      <p:sp>
        <p:nvSpPr>
          <p:cNvPr id="21" name="Shape 19"/>
          <p:cNvSpPr/>
          <p:nvPr/>
        </p:nvSpPr>
        <p:spPr>
          <a:xfrm>
            <a:off x="640080" y="5394960"/>
            <a:ext cx="10911535" cy="731520"/>
          </a:xfrm>
          <a:prstGeom prst="rect">
            <a:avLst/>
          </a:prstGeom>
          <a:solidFill>
            <a:srgbClr val="EEF4F3"/>
          </a:solidFill>
          <a:ln/>
        </p:spPr>
      </p:sp>
      <p:sp>
        <p:nvSpPr>
          <p:cNvPr id="22" name="Shape 20"/>
          <p:cNvSpPr/>
          <p:nvPr/>
        </p:nvSpPr>
        <p:spPr>
          <a:xfrm>
            <a:off x="640080" y="5394960"/>
            <a:ext cx="82296" cy="731520"/>
          </a:xfrm>
          <a:prstGeom prst="rect">
            <a:avLst/>
          </a:prstGeom>
          <a:solidFill>
            <a:srgbClr val="0F766E"/>
          </a:solidFill>
          <a:ln/>
        </p:spPr>
      </p:sp>
      <p:sp>
        <p:nvSpPr>
          <p:cNvPr id="23" name="Text 21"/>
          <p:cNvSpPr/>
          <p:nvPr/>
        </p:nvSpPr>
        <p:spPr>
          <a:xfrm>
            <a:off x="896112" y="539496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The balance sheet is strong; the missing piece is operating revenue, which is only now appearing.</a:t>
            </a:r>
            <a:endParaRPr lang="en-US" sz="1000" dirty="0"/>
          </a:p>
        </p:txBody>
      </p:sp>
      <p:sp>
        <p:nvSpPr>
          <p:cNvPr id="24" name="Shape 22"/>
          <p:cNvSpPr/>
          <p:nvPr/>
        </p:nvSpPr>
        <p:spPr>
          <a:xfrm>
            <a:off x="640080" y="6437376"/>
            <a:ext cx="10911535" cy="0"/>
          </a:xfrm>
          <a:prstGeom prst="line">
            <a:avLst/>
          </a:prstGeom>
          <a:noFill/>
          <a:ln w="12700">
            <a:solidFill>
              <a:srgbClr val="E6E9EE"/>
            </a:solidFill>
            <a:prstDash val="solid"/>
          </a:ln>
        </p:spPr>
      </p:sp>
      <p:sp>
        <p:nvSpPr>
          <p:cNvPr id="25" name="Text 23"/>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Internal [1]. SEBI net worth requirement [10].</a:t>
            </a:r>
            <a:endParaRPr lang="en-US" sz="850" dirty="0"/>
          </a:p>
        </p:txBody>
      </p:sp>
      <p:sp>
        <p:nvSpPr>
          <p:cNvPr id="26" name="Text 24"/>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REVENUE ENGINE</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One licence turns idle capital into an operating engine</a:t>
            </a:r>
            <a:endParaRPr lang="en-US" sz="2600" dirty="0"/>
          </a:p>
        </p:txBody>
      </p:sp>
      <p:sp>
        <p:nvSpPr>
          <p:cNvPr id="4" name="Shape 2"/>
          <p:cNvSpPr/>
          <p:nvPr/>
        </p:nvSpPr>
        <p:spPr>
          <a:xfrm>
            <a:off x="640080" y="1691640"/>
            <a:ext cx="3493008" cy="1828800"/>
          </a:xfrm>
          <a:prstGeom prst="rect">
            <a:avLst/>
          </a:prstGeom>
          <a:solidFill>
            <a:srgbClr val="F6F8FA"/>
          </a:solidFill>
          <a:ln w="12700">
            <a:solidFill>
              <a:srgbClr val="E6E9EE"/>
            </a:solidFill>
            <a:prstDash val="solid"/>
          </a:ln>
        </p:spPr>
      </p:sp>
      <p:sp>
        <p:nvSpPr>
          <p:cNvPr id="5" name="Text 3"/>
          <p:cNvSpPr/>
          <p:nvPr/>
        </p:nvSpPr>
        <p:spPr>
          <a:xfrm>
            <a:off x="841248" y="1874520"/>
            <a:ext cx="3108960" cy="320040"/>
          </a:xfrm>
          <a:prstGeom prst="rect">
            <a:avLst/>
          </a:prstGeom>
          <a:noFill/>
          <a:ln/>
        </p:spPr>
        <p:txBody>
          <a:bodyPr wrap="square" rtlCol="0" anchor="ctr"/>
          <a:lstStyle/>
          <a:p>
            <a:pPr indent="0" marL="0">
              <a:buNone/>
            </a:pPr>
            <a:r>
              <a:rPr lang="en-US" sz="1500" b="1" dirty="0">
                <a:solidFill>
                  <a:srgbClr val="0A1F33"/>
                </a:solidFill>
                <a:latin typeface="Cambria" pitchFamily="34" charset="0"/>
                <a:ea typeface="Cambria" pitchFamily="34" charset="-122"/>
                <a:cs typeface="Cambria" pitchFamily="34" charset="-120"/>
              </a:rPr>
              <a:t>The lever</a:t>
            </a:r>
            <a:endParaRPr lang="en-US" sz="1500" dirty="0"/>
          </a:p>
        </p:txBody>
      </p:sp>
      <p:sp>
        <p:nvSpPr>
          <p:cNvPr id="6" name="Text 4"/>
          <p:cNvSpPr/>
          <p:nvPr/>
        </p:nvSpPr>
        <p:spPr>
          <a:xfrm>
            <a:off x="841248" y="2240280"/>
            <a:ext cx="3108960" cy="118872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Bank Loan Ratings, via RBI ECAI accreditation. Every bank borrower is a candidate, not only bond issuers.</a:t>
            </a:r>
            <a:endParaRPr lang="en-US" sz="1250" dirty="0"/>
          </a:p>
        </p:txBody>
      </p:sp>
      <p:sp>
        <p:nvSpPr>
          <p:cNvPr id="7" name="Shape 5"/>
          <p:cNvSpPr/>
          <p:nvPr/>
        </p:nvSpPr>
        <p:spPr>
          <a:xfrm>
            <a:off x="4315968" y="1691640"/>
            <a:ext cx="3493008" cy="1828800"/>
          </a:xfrm>
          <a:prstGeom prst="rect">
            <a:avLst/>
          </a:prstGeom>
          <a:solidFill>
            <a:srgbClr val="F6F8FA"/>
          </a:solidFill>
          <a:ln w="12700">
            <a:solidFill>
              <a:srgbClr val="E6E9EE"/>
            </a:solidFill>
            <a:prstDash val="solid"/>
          </a:ln>
        </p:spPr>
      </p:sp>
      <p:sp>
        <p:nvSpPr>
          <p:cNvPr id="8" name="Text 6"/>
          <p:cNvSpPr/>
          <p:nvPr/>
        </p:nvSpPr>
        <p:spPr>
          <a:xfrm>
            <a:off x="4517136" y="1874520"/>
            <a:ext cx="3108960" cy="320040"/>
          </a:xfrm>
          <a:prstGeom prst="rect">
            <a:avLst/>
          </a:prstGeom>
          <a:noFill/>
          <a:ln/>
        </p:spPr>
        <p:txBody>
          <a:bodyPr wrap="square" rtlCol="0" anchor="ctr"/>
          <a:lstStyle/>
          <a:p>
            <a:pPr indent="0" marL="0">
              <a:buNone/>
            </a:pPr>
            <a:r>
              <a:rPr lang="en-US" sz="1500" b="1" dirty="0">
                <a:solidFill>
                  <a:srgbClr val="0A1F33"/>
                </a:solidFill>
                <a:latin typeface="Cambria" pitchFamily="34" charset="0"/>
                <a:ea typeface="Cambria" pitchFamily="34" charset="-122"/>
                <a:cs typeface="Cambria" pitchFamily="34" charset="-120"/>
              </a:rPr>
              <a:t>Why us</a:t>
            </a:r>
            <a:endParaRPr lang="en-US" sz="1500" dirty="0"/>
          </a:p>
        </p:txBody>
      </p:sp>
      <p:sp>
        <p:nvSpPr>
          <p:cNvPr id="9" name="Text 7"/>
          <p:cNvSpPr/>
          <p:nvPr/>
        </p:nvSpPr>
        <p:spPr>
          <a:xfrm>
            <a:off x="4517136" y="2240280"/>
            <a:ext cx="3108960" cy="118872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Competitive 3 bps pricing, faster turnaround, and demand for a second rating give a new CRA a genuine opening.</a:t>
            </a:r>
            <a:endParaRPr lang="en-US" sz="1250" dirty="0"/>
          </a:p>
        </p:txBody>
      </p:sp>
      <p:sp>
        <p:nvSpPr>
          <p:cNvPr id="10" name="Shape 8"/>
          <p:cNvSpPr/>
          <p:nvPr/>
        </p:nvSpPr>
        <p:spPr>
          <a:xfrm>
            <a:off x="7991856" y="1691640"/>
            <a:ext cx="3493008" cy="1828800"/>
          </a:xfrm>
          <a:prstGeom prst="rect">
            <a:avLst/>
          </a:prstGeom>
          <a:solidFill>
            <a:srgbClr val="F6F8FA"/>
          </a:solidFill>
          <a:ln w="12700">
            <a:solidFill>
              <a:srgbClr val="E6E9EE"/>
            </a:solidFill>
            <a:prstDash val="solid"/>
          </a:ln>
        </p:spPr>
      </p:sp>
      <p:sp>
        <p:nvSpPr>
          <p:cNvPr id="11" name="Text 9"/>
          <p:cNvSpPr/>
          <p:nvPr/>
        </p:nvSpPr>
        <p:spPr>
          <a:xfrm>
            <a:off x="8193024" y="1874520"/>
            <a:ext cx="3108960" cy="320040"/>
          </a:xfrm>
          <a:prstGeom prst="rect">
            <a:avLst/>
          </a:prstGeom>
          <a:noFill/>
          <a:ln/>
        </p:spPr>
        <p:txBody>
          <a:bodyPr wrap="square" rtlCol="0" anchor="ctr"/>
          <a:lstStyle/>
          <a:p>
            <a:pPr indent="0" marL="0">
              <a:buNone/>
            </a:pPr>
            <a:r>
              <a:rPr lang="en-US" sz="1500" b="1" dirty="0">
                <a:solidFill>
                  <a:srgbClr val="0A1F33"/>
                </a:solidFill>
                <a:latin typeface="Cambria" pitchFamily="34" charset="0"/>
                <a:ea typeface="Cambria" pitchFamily="34" charset="-122"/>
                <a:cs typeface="Cambria" pitchFamily="34" charset="-120"/>
              </a:rPr>
              <a:t>The capacity</a:t>
            </a:r>
            <a:endParaRPr lang="en-US" sz="1500" dirty="0"/>
          </a:p>
        </p:txBody>
      </p:sp>
      <p:sp>
        <p:nvSpPr>
          <p:cNvPr id="12" name="Text 10"/>
          <p:cNvSpPr/>
          <p:nvPr/>
        </p:nvSpPr>
        <p:spPr>
          <a:xfrm>
            <a:off x="8193024" y="2240280"/>
            <a:ext cx="3108960" cy="118872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Four BDs are already onboarded, so mandates can be serviced from day one once the licence is live.</a:t>
            </a:r>
            <a:endParaRPr lang="en-US" sz="1250" dirty="0"/>
          </a:p>
        </p:txBody>
      </p:sp>
      <p:sp>
        <p:nvSpPr>
          <p:cNvPr id="13" name="Text 11"/>
          <p:cNvSpPr/>
          <p:nvPr/>
        </p:nvSpPr>
        <p:spPr>
          <a:xfrm>
            <a:off x="640080" y="3794760"/>
            <a:ext cx="10972800" cy="1554480"/>
          </a:xfrm>
          <a:prstGeom prst="rect">
            <a:avLst/>
          </a:prstGeom>
          <a:noFill/>
          <a:ln/>
        </p:spPr>
        <p:txBody>
          <a:bodyPr wrap="square" rtlCol="0" anchor="t"/>
          <a:lstStyle/>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plan: invest through FY27 to be ready, win BLR mandates the moment the licence lands, and let recurring surveillance fees compound into a durable annuity.</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proof it works: Infomerics, a peer, grew rating revenue from Rs 64 Cr to Rs 95 Cr in three years on a BLR led model.</a:t>
            </a:r>
            <a:endParaRPr lang="en-US" sz="1400" dirty="0"/>
          </a:p>
        </p:txBody>
      </p:sp>
      <p:sp>
        <p:nvSpPr>
          <p:cNvPr id="14" name="Shape 12"/>
          <p:cNvSpPr/>
          <p:nvPr/>
        </p:nvSpPr>
        <p:spPr>
          <a:xfrm>
            <a:off x="640080" y="5440680"/>
            <a:ext cx="10911535" cy="731520"/>
          </a:xfrm>
          <a:prstGeom prst="rect">
            <a:avLst/>
          </a:prstGeom>
          <a:solidFill>
            <a:srgbClr val="EEF4F3"/>
          </a:solidFill>
          <a:ln/>
        </p:spPr>
      </p:sp>
      <p:sp>
        <p:nvSpPr>
          <p:cNvPr id="15" name="Shape 13"/>
          <p:cNvSpPr/>
          <p:nvPr/>
        </p:nvSpPr>
        <p:spPr>
          <a:xfrm>
            <a:off x="640080" y="5440680"/>
            <a:ext cx="82296" cy="731520"/>
          </a:xfrm>
          <a:prstGeom prst="rect">
            <a:avLst/>
          </a:prstGeom>
          <a:solidFill>
            <a:srgbClr val="0F766E"/>
          </a:solidFill>
          <a:ln/>
        </p:spPr>
      </p:sp>
      <p:sp>
        <p:nvSpPr>
          <p:cNvPr id="16" name="Text 14"/>
          <p:cNvSpPr/>
          <p:nvPr/>
        </p:nvSpPr>
        <p:spPr>
          <a:xfrm>
            <a:off x="896112" y="544068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BLR is the switch; it opens the industry's largest revenue pool, and the capacity is already in place.</a:t>
            </a:r>
            <a:endParaRPr lang="en-US" sz="1000" dirty="0"/>
          </a:p>
        </p:txBody>
      </p:sp>
      <p:sp>
        <p:nvSpPr>
          <p:cNvPr id="17" name="Shape 15"/>
          <p:cNvSpPr/>
          <p:nvPr/>
        </p:nvSpPr>
        <p:spPr>
          <a:xfrm>
            <a:off x="640080" y="6437376"/>
            <a:ext cx="10911535" cy="0"/>
          </a:xfrm>
          <a:prstGeom prst="line">
            <a:avLst/>
          </a:prstGeom>
          <a:noFill/>
          <a:ln w="12700">
            <a:solidFill>
              <a:srgbClr val="E6E9EE"/>
            </a:solidFill>
            <a:prstDash val="solid"/>
          </a:ln>
        </p:spPr>
      </p:sp>
      <p:sp>
        <p:nvSpPr>
          <p:cNvPr id="18" name="Text 16"/>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Infomerics [7]. Pricing, Internal [1] and assumption [2]. Regulatory basis [10].</a:t>
            </a:r>
            <a:endParaRPr lang="en-US" sz="850" dirty="0"/>
          </a:p>
        </p:txBody>
      </p:sp>
      <p:sp>
        <p:nvSpPr>
          <p:cNvPr id="19" name="Text 17"/>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REVENUE ENGINE</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The unit economics, and the scale they build</a:t>
            </a:r>
            <a:endParaRPr lang="en-US" sz="2600" dirty="0"/>
          </a:p>
        </p:txBody>
      </p:sp>
      <p:sp>
        <p:nvSpPr>
          <p:cNvPr id="4" name="Shape 2"/>
          <p:cNvSpPr/>
          <p:nvPr/>
        </p:nvSpPr>
        <p:spPr>
          <a:xfrm>
            <a:off x="640080" y="1691640"/>
            <a:ext cx="2578608" cy="1325880"/>
          </a:xfrm>
          <a:prstGeom prst="rect">
            <a:avLst/>
          </a:prstGeom>
          <a:solidFill>
            <a:srgbClr val="F6F8FA"/>
          </a:solidFill>
          <a:ln w="12700">
            <a:solidFill>
              <a:srgbClr val="E6E9EE"/>
            </a:solidFill>
            <a:prstDash val="solid"/>
          </a:ln>
        </p:spPr>
      </p:sp>
      <p:sp>
        <p:nvSpPr>
          <p:cNvPr id="5" name="Text 3"/>
          <p:cNvSpPr/>
          <p:nvPr/>
        </p:nvSpPr>
        <p:spPr>
          <a:xfrm>
            <a:off x="8046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Ticket, min debt rated</a:t>
            </a:r>
            <a:endParaRPr lang="en-US" sz="1050" dirty="0"/>
          </a:p>
        </p:txBody>
      </p:sp>
      <p:sp>
        <p:nvSpPr>
          <p:cNvPr id="6" name="Text 4"/>
          <p:cNvSpPr/>
          <p:nvPr/>
        </p:nvSpPr>
        <p:spPr>
          <a:xfrm>
            <a:off x="8046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100 Cr</a:t>
            </a:r>
            <a:endParaRPr lang="en-US" sz="2200" dirty="0"/>
          </a:p>
        </p:txBody>
      </p:sp>
      <p:sp>
        <p:nvSpPr>
          <p:cNvPr id="7" name="Text 5"/>
          <p:cNvSpPr/>
          <p:nvPr/>
        </p:nvSpPr>
        <p:spPr>
          <a:xfrm>
            <a:off x="8046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sub Rs 50 Cr stays with banks</a:t>
            </a:r>
            <a:endParaRPr lang="en-US" sz="900" dirty="0"/>
          </a:p>
        </p:txBody>
      </p:sp>
      <p:sp>
        <p:nvSpPr>
          <p:cNvPr id="8" name="Shape 6"/>
          <p:cNvSpPr/>
          <p:nvPr/>
        </p:nvSpPr>
        <p:spPr>
          <a:xfrm>
            <a:off x="3383280" y="1691640"/>
            <a:ext cx="2578608" cy="1325880"/>
          </a:xfrm>
          <a:prstGeom prst="rect">
            <a:avLst/>
          </a:prstGeom>
          <a:solidFill>
            <a:srgbClr val="F6F8FA"/>
          </a:solidFill>
          <a:ln w="12700">
            <a:solidFill>
              <a:srgbClr val="E6E9EE"/>
            </a:solidFill>
            <a:prstDash val="solid"/>
          </a:ln>
        </p:spPr>
      </p:sp>
      <p:sp>
        <p:nvSpPr>
          <p:cNvPr id="9" name="Text 7"/>
          <p:cNvSpPr/>
          <p:nvPr/>
        </p:nvSpPr>
        <p:spPr>
          <a:xfrm>
            <a:off x="35478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Initial fee, 3 bps</a:t>
            </a:r>
            <a:endParaRPr lang="en-US" sz="1050" dirty="0"/>
          </a:p>
        </p:txBody>
      </p:sp>
      <p:sp>
        <p:nvSpPr>
          <p:cNvPr id="10" name="Text 8"/>
          <p:cNvSpPr/>
          <p:nvPr/>
        </p:nvSpPr>
        <p:spPr>
          <a:xfrm>
            <a:off x="35478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3.0 L</a:t>
            </a:r>
            <a:endParaRPr lang="en-US" sz="2200" dirty="0"/>
          </a:p>
        </p:txBody>
      </p:sp>
      <p:sp>
        <p:nvSpPr>
          <p:cNvPr id="11" name="Text 9"/>
          <p:cNvSpPr/>
          <p:nvPr/>
        </p:nvSpPr>
        <p:spPr>
          <a:xfrm>
            <a:off x="35478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one time, at onboarding</a:t>
            </a:r>
            <a:endParaRPr lang="en-US" sz="900" dirty="0"/>
          </a:p>
        </p:txBody>
      </p:sp>
      <p:sp>
        <p:nvSpPr>
          <p:cNvPr id="12" name="Shape 10"/>
          <p:cNvSpPr/>
          <p:nvPr/>
        </p:nvSpPr>
        <p:spPr>
          <a:xfrm>
            <a:off x="6126480" y="1691640"/>
            <a:ext cx="2578608" cy="1325880"/>
          </a:xfrm>
          <a:prstGeom prst="rect">
            <a:avLst/>
          </a:prstGeom>
          <a:solidFill>
            <a:srgbClr val="F6F8FA"/>
          </a:solidFill>
          <a:ln w="12700">
            <a:solidFill>
              <a:srgbClr val="E6E9EE"/>
            </a:solidFill>
            <a:prstDash val="solid"/>
          </a:ln>
        </p:spPr>
      </p:sp>
      <p:sp>
        <p:nvSpPr>
          <p:cNvPr id="13" name="Text 11"/>
          <p:cNvSpPr/>
          <p:nvPr/>
        </p:nvSpPr>
        <p:spPr>
          <a:xfrm>
            <a:off x="62910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Surveillance, 1.5 bps</a:t>
            </a:r>
            <a:endParaRPr lang="en-US" sz="1050" dirty="0"/>
          </a:p>
        </p:txBody>
      </p:sp>
      <p:sp>
        <p:nvSpPr>
          <p:cNvPr id="14" name="Text 12"/>
          <p:cNvSpPr/>
          <p:nvPr/>
        </p:nvSpPr>
        <p:spPr>
          <a:xfrm>
            <a:off x="62910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1.5 L</a:t>
            </a:r>
            <a:endParaRPr lang="en-US" sz="2200" dirty="0"/>
          </a:p>
        </p:txBody>
      </p:sp>
      <p:sp>
        <p:nvSpPr>
          <p:cNvPr id="15" name="Text 13"/>
          <p:cNvSpPr/>
          <p:nvPr/>
        </p:nvSpPr>
        <p:spPr>
          <a:xfrm>
            <a:off x="62910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every year, recurring</a:t>
            </a:r>
            <a:endParaRPr lang="en-US" sz="900" dirty="0"/>
          </a:p>
        </p:txBody>
      </p:sp>
      <p:sp>
        <p:nvSpPr>
          <p:cNvPr id="16" name="Shape 14"/>
          <p:cNvSpPr/>
          <p:nvPr/>
        </p:nvSpPr>
        <p:spPr>
          <a:xfrm>
            <a:off x="8869680" y="1691640"/>
            <a:ext cx="2578608" cy="1325880"/>
          </a:xfrm>
          <a:prstGeom prst="rect">
            <a:avLst/>
          </a:prstGeom>
          <a:solidFill>
            <a:srgbClr val="F6F8FA"/>
          </a:solidFill>
          <a:ln w="12700">
            <a:solidFill>
              <a:srgbClr val="E6E9EE"/>
            </a:solidFill>
            <a:prstDash val="solid"/>
          </a:ln>
        </p:spPr>
      </p:sp>
      <p:sp>
        <p:nvSpPr>
          <p:cNvPr id="17" name="Text 15"/>
          <p:cNvSpPr/>
          <p:nvPr/>
        </p:nvSpPr>
        <p:spPr>
          <a:xfrm>
            <a:off x="90342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Volume target</a:t>
            </a:r>
            <a:endParaRPr lang="en-US" sz="1050" dirty="0"/>
          </a:p>
        </p:txBody>
      </p:sp>
      <p:sp>
        <p:nvSpPr>
          <p:cNvPr id="18" name="Text 16"/>
          <p:cNvSpPr/>
          <p:nvPr/>
        </p:nvSpPr>
        <p:spPr>
          <a:xfrm>
            <a:off x="90342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16 / mo</a:t>
            </a:r>
            <a:endParaRPr lang="en-US" sz="2200" dirty="0"/>
          </a:p>
        </p:txBody>
      </p:sp>
      <p:sp>
        <p:nvSpPr>
          <p:cNvPr id="19" name="Text 17"/>
          <p:cNvSpPr/>
          <p:nvPr/>
        </p:nvSpPr>
        <p:spPr>
          <a:xfrm>
            <a:off x="90342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4 BDs x 4 cases</a:t>
            </a:r>
            <a:endParaRPr lang="en-US" sz="900" dirty="0"/>
          </a:p>
        </p:txBody>
      </p:sp>
      <p:sp>
        <p:nvSpPr>
          <p:cNvPr id="20" name="Text 18"/>
          <p:cNvSpPr/>
          <p:nvPr/>
        </p:nvSpPr>
        <p:spPr>
          <a:xfrm>
            <a:off x="640080" y="3200400"/>
            <a:ext cx="5394960" cy="914400"/>
          </a:xfrm>
          <a:prstGeom prst="rect">
            <a:avLst/>
          </a:prstGeom>
          <a:noFill/>
          <a:ln/>
        </p:spPr>
        <p:txBody>
          <a:bodyPr wrap="square" rtlCol="0" anchor="ctr"/>
          <a:lstStyle/>
          <a:p>
            <a:pPr indent="0" marL="0">
              <a:buNone/>
            </a:pPr>
            <a:r>
              <a:rPr lang="en-US" sz="1350" dirty="0">
                <a:solidFill>
                  <a:srgbClr val="2B3F52"/>
                </a:solidFill>
                <a:latin typeface="Calibri" pitchFamily="34" charset="0"/>
                <a:ea typeface="Calibri" pitchFamily="34" charset="-122"/>
                <a:cs typeface="Calibri" pitchFamily="34" charset="-120"/>
              </a:rPr>
              <a:t>16 x Rs 100 Cr = Rs 1,600 Cr of debt rated every month. Cumulative rated debt reaches about Rs 9,600 Cr over the six live months in the base case.</a:t>
            </a:r>
            <a:endParaRPr lang="en-US" sz="1350" dirty="0"/>
          </a:p>
        </p:txBody>
      </p:sp>
      <p:sp>
        <p:nvSpPr>
          <p:cNvPr id="21" name="Shape 19"/>
          <p:cNvSpPr/>
          <p:nvPr/>
        </p:nvSpPr>
        <p:spPr>
          <a:xfrm>
            <a:off x="640080" y="4160520"/>
            <a:ext cx="2578608" cy="1097280"/>
          </a:xfrm>
          <a:prstGeom prst="rect">
            <a:avLst/>
          </a:prstGeom>
          <a:solidFill>
            <a:srgbClr val="F6F8FA"/>
          </a:solidFill>
          <a:ln w="12700">
            <a:solidFill>
              <a:srgbClr val="E6E9EE"/>
            </a:solidFill>
            <a:prstDash val="solid"/>
          </a:ln>
        </p:spPr>
      </p:sp>
      <p:sp>
        <p:nvSpPr>
          <p:cNvPr id="22" name="Text 20"/>
          <p:cNvSpPr/>
          <p:nvPr/>
        </p:nvSpPr>
        <p:spPr>
          <a:xfrm>
            <a:off x="804672" y="429768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Full run rate initial fees</a:t>
            </a:r>
            <a:endParaRPr lang="en-US" sz="1050" dirty="0"/>
          </a:p>
        </p:txBody>
      </p:sp>
      <p:sp>
        <p:nvSpPr>
          <p:cNvPr id="23" name="Text 21"/>
          <p:cNvSpPr/>
          <p:nvPr/>
        </p:nvSpPr>
        <p:spPr>
          <a:xfrm>
            <a:off x="804672" y="4544568"/>
            <a:ext cx="2249424"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Rs 5.76 Cr</a:t>
            </a:r>
            <a:endParaRPr lang="en-US" sz="2200" dirty="0"/>
          </a:p>
        </p:txBody>
      </p:sp>
      <p:sp>
        <p:nvSpPr>
          <p:cNvPr id="24" name="Text 22"/>
          <p:cNvSpPr/>
          <p:nvPr/>
        </p:nvSpPr>
        <p:spPr>
          <a:xfrm>
            <a:off x="804672" y="502005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192 mandates per year</a:t>
            </a:r>
            <a:endParaRPr lang="en-US" sz="900" dirty="0"/>
          </a:p>
        </p:txBody>
      </p:sp>
      <p:sp>
        <p:nvSpPr>
          <p:cNvPr id="25" name="Shape 23"/>
          <p:cNvSpPr/>
          <p:nvPr/>
        </p:nvSpPr>
        <p:spPr>
          <a:xfrm>
            <a:off x="3383280" y="4160520"/>
            <a:ext cx="2578608" cy="1097280"/>
          </a:xfrm>
          <a:prstGeom prst="rect">
            <a:avLst/>
          </a:prstGeom>
          <a:solidFill>
            <a:srgbClr val="F6F8FA"/>
          </a:solidFill>
          <a:ln w="12700">
            <a:solidFill>
              <a:srgbClr val="E6E9EE"/>
            </a:solidFill>
            <a:prstDash val="solid"/>
          </a:ln>
        </p:spPr>
      </p:sp>
      <p:sp>
        <p:nvSpPr>
          <p:cNvPr id="26" name="Text 24"/>
          <p:cNvSpPr/>
          <p:nvPr/>
        </p:nvSpPr>
        <p:spPr>
          <a:xfrm>
            <a:off x="3547872" y="429768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Surveillance annuity</a:t>
            </a:r>
            <a:endParaRPr lang="en-US" sz="1050" dirty="0"/>
          </a:p>
        </p:txBody>
      </p:sp>
      <p:sp>
        <p:nvSpPr>
          <p:cNvPr id="27" name="Text 25"/>
          <p:cNvSpPr/>
          <p:nvPr/>
        </p:nvSpPr>
        <p:spPr>
          <a:xfrm>
            <a:off x="3547872" y="4544568"/>
            <a:ext cx="2249424"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Rs 2.88 Cr/yr</a:t>
            </a:r>
            <a:endParaRPr lang="en-US" sz="2200" dirty="0"/>
          </a:p>
        </p:txBody>
      </p:sp>
      <p:sp>
        <p:nvSpPr>
          <p:cNvPr id="28" name="Text 26"/>
          <p:cNvSpPr/>
          <p:nvPr/>
        </p:nvSpPr>
        <p:spPr>
          <a:xfrm>
            <a:off x="3547872" y="502005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on a full book</a:t>
            </a:r>
            <a:endParaRPr lang="en-US" sz="900" dirty="0"/>
          </a:p>
        </p:txBody>
      </p:sp>
      <p:graphicFrame>
        <p:nvGraphicFramePr>
          <p:cNvPr id="29" name="Chart 0" descr=""/>
          <p:cNvGraphicFramePr/>
          <p:nvPr/>
        </p:nvGraphicFramePr>
        <p:xfrm>
          <a:off x="6309360" y="3063240"/>
          <a:ext cx="5303520" cy="2926080"/>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40080" y="6437376"/>
            <a:ext cx="10911535" cy="0"/>
          </a:xfrm>
          <a:prstGeom prst="line">
            <a:avLst/>
          </a:prstGeom>
          <a:noFill/>
          <a:ln w="12700">
            <a:solidFill>
              <a:srgbClr val="E6E9EE"/>
            </a:solidFill>
            <a:prstDash val="solid"/>
          </a:ln>
        </p:spPr>
      </p:sp>
      <p:sp>
        <p:nvSpPr>
          <p:cNvPr id="31" name="Text 28"/>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fee rates, ticket size and volume are ACER management and Board assumptions [2].</a:t>
            </a:r>
            <a:endParaRPr lang="en-US" sz="850" dirty="0"/>
          </a:p>
        </p:txBody>
      </p:sp>
      <p:sp>
        <p:nvSpPr>
          <p:cNvPr id="32" name="Text 29"/>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A"/>
        </a:solidFill>
      </p:bgPr>
    </p:bg>
    <p:spTree>
      <p:nvGrpSpPr>
        <p:cNvPr id="1" name=""/>
        <p:cNvGrpSpPr/>
        <p:nvPr/>
      </p:nvGrpSpPr>
      <p:grpSpPr>
        <a:xfrm>
          <a:off x="0" y="0"/>
          <a:ext cx="0" cy="0"/>
          <a:chOff x="0" y="0"/>
          <a:chExt cx="0" cy="0"/>
        </a:xfrm>
      </p:grpSpPr>
      <p:sp>
        <p:nvSpPr>
          <p:cNvPr id="2" name="Text 0"/>
          <p:cNvSpPr/>
          <p:nvPr/>
        </p:nvSpPr>
        <p:spPr>
          <a:xfrm>
            <a:off x="7315200" y="365760"/>
            <a:ext cx="4572000" cy="6126480"/>
          </a:xfrm>
          <a:prstGeom prst="rect">
            <a:avLst/>
          </a:prstGeom>
          <a:noFill/>
          <a:ln/>
        </p:spPr>
        <p:txBody>
          <a:bodyPr wrap="square" rtlCol="0" anchor="ctr"/>
          <a:lstStyle/>
          <a:p>
            <a:pPr algn="r" indent="0" marL="0">
              <a:buNone/>
            </a:pPr>
            <a:r>
              <a:rPr lang="en-US" sz="30000" b="1" dirty="0">
                <a:solidFill>
                  <a:srgbClr val="DCE4EC"/>
                </a:solidFill>
                <a:latin typeface="Cambria" pitchFamily="34" charset="0"/>
                <a:ea typeface="Cambria" pitchFamily="34" charset="-122"/>
                <a:cs typeface="Cambria" pitchFamily="34" charset="-120"/>
              </a:rPr>
              <a:t>II</a:t>
            </a:r>
            <a:endParaRPr lang="en-US" sz="30000" dirty="0"/>
          </a:p>
        </p:txBody>
      </p:sp>
      <p:sp>
        <p:nvSpPr>
          <p:cNvPr id="3" name="Shape 1"/>
          <p:cNvSpPr/>
          <p:nvPr/>
        </p:nvSpPr>
        <p:spPr>
          <a:xfrm>
            <a:off x="640080" y="2743200"/>
            <a:ext cx="822960" cy="91440"/>
          </a:xfrm>
          <a:prstGeom prst="rect">
            <a:avLst/>
          </a:prstGeom>
          <a:solidFill>
            <a:srgbClr val="0F766E"/>
          </a:solidFill>
          <a:ln/>
        </p:spPr>
      </p:sp>
      <p:sp>
        <p:nvSpPr>
          <p:cNvPr id="4" name="Text 2"/>
          <p:cNvSpPr/>
          <p:nvPr/>
        </p:nvSpPr>
        <p:spPr>
          <a:xfrm>
            <a:off x="640080" y="3017520"/>
            <a:ext cx="7315200" cy="274320"/>
          </a:xfrm>
          <a:prstGeom prst="rect">
            <a:avLst/>
          </a:prstGeom>
          <a:noFill/>
          <a:ln/>
        </p:spPr>
        <p:txBody>
          <a:bodyPr wrap="square" rtlCol="0" anchor="ctr"/>
          <a:lstStyle/>
          <a:p>
            <a:pPr indent="0" marL="0">
              <a:buNone/>
            </a:pPr>
            <a:r>
              <a:rPr lang="en-US" sz="1200" b="1" spc="250" kern="0" dirty="0">
                <a:solidFill>
                  <a:srgbClr val="0F766E"/>
                </a:solidFill>
                <a:latin typeface="Calibri" pitchFamily="34" charset="0"/>
                <a:ea typeface="Calibri" pitchFamily="34" charset="-122"/>
                <a:cs typeface="Calibri" pitchFamily="34" charset="-120"/>
              </a:rPr>
              <a:t>SECTION TWO</a:t>
            </a:r>
            <a:endParaRPr lang="en-US" sz="1200" dirty="0"/>
          </a:p>
        </p:txBody>
      </p:sp>
      <p:sp>
        <p:nvSpPr>
          <p:cNvPr id="5" name="Text 3"/>
          <p:cNvSpPr/>
          <p:nvPr/>
        </p:nvSpPr>
        <p:spPr>
          <a:xfrm>
            <a:off x="640080" y="3337560"/>
            <a:ext cx="7680960" cy="1463040"/>
          </a:xfrm>
          <a:prstGeom prst="rect">
            <a:avLst/>
          </a:prstGeom>
          <a:noFill/>
          <a:ln/>
        </p:spPr>
        <p:txBody>
          <a:bodyPr wrap="square" rtlCol="0" anchor="ctr"/>
          <a:lstStyle/>
          <a:p>
            <a:pPr indent="0" marL="0">
              <a:lnSpc>
                <a:spcPct val="105000"/>
              </a:lnSpc>
              <a:buNone/>
            </a:pPr>
            <a:r>
              <a:rPr lang="en-US" sz="3400" b="1" dirty="0">
                <a:solidFill>
                  <a:srgbClr val="0A1F33"/>
                </a:solidFill>
                <a:latin typeface="Cambria" pitchFamily="34" charset="0"/>
                <a:ea typeface="Cambria" pitchFamily="34" charset="-122"/>
                <a:cs typeface="Cambria" pitchFamily="34" charset="-120"/>
              </a:rPr>
              <a:t>The plan and the numbers</a:t>
            </a:r>
            <a:endParaRPr lang="en-US" sz="3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THREE SCENARIOS</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BLR timing alone decides whether FY27 breaks even</a:t>
            </a:r>
            <a:endParaRPr lang="en-US" sz="2600" dirty="0"/>
          </a:p>
        </p:txBody>
      </p:sp>
      <p:sp>
        <p:nvSpPr>
          <p:cNvPr id="4" name="Shape 2"/>
          <p:cNvSpPr/>
          <p:nvPr/>
        </p:nvSpPr>
        <p:spPr>
          <a:xfrm>
            <a:off x="640080" y="1737360"/>
            <a:ext cx="3493008" cy="3200400"/>
          </a:xfrm>
          <a:prstGeom prst="rect">
            <a:avLst/>
          </a:prstGeom>
          <a:solidFill>
            <a:srgbClr val="F3FAF8"/>
          </a:solidFill>
          <a:ln w="25400">
            <a:solidFill>
              <a:srgbClr val="0F766E"/>
            </a:solidFill>
            <a:prstDash val="solid"/>
          </a:ln>
        </p:spPr>
      </p:sp>
      <p:sp>
        <p:nvSpPr>
          <p:cNvPr id="5" name="Shape 3"/>
          <p:cNvSpPr/>
          <p:nvPr/>
        </p:nvSpPr>
        <p:spPr>
          <a:xfrm>
            <a:off x="841248" y="1938528"/>
            <a:ext cx="1417320" cy="292608"/>
          </a:xfrm>
          <a:prstGeom prst="rect">
            <a:avLst/>
          </a:prstGeom>
          <a:solidFill>
            <a:srgbClr val="E2F2EF"/>
          </a:solidFill>
          <a:ln/>
        </p:spPr>
      </p:sp>
      <p:sp>
        <p:nvSpPr>
          <p:cNvPr id="6" name="Text 4"/>
          <p:cNvSpPr/>
          <p:nvPr/>
        </p:nvSpPr>
        <p:spPr>
          <a:xfrm>
            <a:off x="841248" y="1938528"/>
            <a:ext cx="1417320" cy="292608"/>
          </a:xfrm>
          <a:prstGeom prst="rect">
            <a:avLst/>
          </a:prstGeom>
          <a:noFill/>
          <a:ln/>
        </p:spPr>
        <p:txBody>
          <a:bodyPr wrap="square" rtlCol="0" anchor="ctr"/>
          <a:lstStyle/>
          <a:p>
            <a:pPr algn="ctr" indent="0" marL="0">
              <a:buNone/>
            </a:pPr>
            <a:r>
              <a:rPr lang="en-US" sz="1000" b="1" dirty="0">
                <a:solidFill>
                  <a:srgbClr val="0F766E"/>
                </a:solidFill>
                <a:latin typeface="Calibri" pitchFamily="34" charset="0"/>
                <a:ea typeface="Calibri" pitchFamily="34" charset="-122"/>
                <a:cs typeface="Calibri" pitchFamily="34" charset="-120"/>
              </a:rPr>
              <a:t>Base case</a:t>
            </a:r>
            <a:endParaRPr lang="en-US" sz="1000" dirty="0"/>
          </a:p>
        </p:txBody>
      </p:sp>
      <p:sp>
        <p:nvSpPr>
          <p:cNvPr id="7" name="Text 5"/>
          <p:cNvSpPr/>
          <p:nvPr/>
        </p:nvSpPr>
        <p:spPr>
          <a:xfrm>
            <a:off x="841248" y="2304288"/>
            <a:ext cx="3108960" cy="320040"/>
          </a:xfrm>
          <a:prstGeom prst="rect">
            <a:avLst/>
          </a:prstGeom>
          <a:noFill/>
          <a:ln/>
        </p:spPr>
        <p:txBody>
          <a:bodyPr wrap="square" rtlCol="0" anchor="ctr"/>
          <a:lstStyle/>
          <a:p>
            <a:pPr indent="0" marL="0">
              <a:buNone/>
            </a:pPr>
            <a:r>
              <a:rPr lang="en-US" sz="1450" b="1" dirty="0">
                <a:solidFill>
                  <a:srgbClr val="0A1F33"/>
                </a:solidFill>
                <a:latin typeface="Cambria" pitchFamily="34" charset="0"/>
                <a:ea typeface="Cambria" pitchFamily="34" charset="-122"/>
                <a:cs typeface="Cambria" pitchFamily="34" charset="-120"/>
              </a:rPr>
              <a:t>S1. BLR by 1 Oct</a:t>
            </a:r>
            <a:endParaRPr lang="en-US" sz="1450" dirty="0"/>
          </a:p>
        </p:txBody>
      </p:sp>
      <p:sp>
        <p:nvSpPr>
          <p:cNvPr id="8" name="Text 6"/>
          <p:cNvSpPr/>
          <p:nvPr/>
        </p:nvSpPr>
        <p:spPr>
          <a:xfrm>
            <a:off x="841248" y="2670048"/>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FD interest</a:t>
            </a:r>
            <a:endParaRPr lang="en-US" sz="1100" dirty="0"/>
          </a:p>
        </p:txBody>
      </p:sp>
      <p:sp>
        <p:nvSpPr>
          <p:cNvPr id="9" name="Text 7"/>
          <p:cNvSpPr/>
          <p:nvPr/>
        </p:nvSpPr>
        <p:spPr>
          <a:xfrm>
            <a:off x="2423160" y="2670048"/>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1.80 Cr</a:t>
            </a:r>
            <a:endParaRPr lang="en-US" sz="1100" dirty="0"/>
          </a:p>
        </p:txBody>
      </p:sp>
      <p:sp>
        <p:nvSpPr>
          <p:cNvPr id="10" name="Text 8"/>
          <p:cNvSpPr/>
          <p:nvPr/>
        </p:nvSpPr>
        <p:spPr>
          <a:xfrm>
            <a:off x="841248" y="2971800"/>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revenue</a:t>
            </a:r>
            <a:endParaRPr lang="en-US" sz="1100" dirty="0"/>
          </a:p>
        </p:txBody>
      </p:sp>
      <p:sp>
        <p:nvSpPr>
          <p:cNvPr id="11" name="Text 9"/>
          <p:cNvSpPr/>
          <p:nvPr/>
        </p:nvSpPr>
        <p:spPr>
          <a:xfrm>
            <a:off x="2423160" y="2971800"/>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3.75 Cr</a:t>
            </a:r>
            <a:endParaRPr lang="en-US" sz="1100" dirty="0"/>
          </a:p>
        </p:txBody>
      </p:sp>
      <p:sp>
        <p:nvSpPr>
          <p:cNvPr id="12" name="Text 10"/>
          <p:cNvSpPr/>
          <p:nvPr/>
        </p:nvSpPr>
        <p:spPr>
          <a:xfrm>
            <a:off x="841248" y="3273552"/>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Total income</a:t>
            </a:r>
            <a:endParaRPr lang="en-US" sz="1100" dirty="0"/>
          </a:p>
        </p:txBody>
      </p:sp>
      <p:sp>
        <p:nvSpPr>
          <p:cNvPr id="13" name="Text 11"/>
          <p:cNvSpPr/>
          <p:nvPr/>
        </p:nvSpPr>
        <p:spPr>
          <a:xfrm>
            <a:off x="2423160" y="3273552"/>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5.55 Cr</a:t>
            </a:r>
            <a:endParaRPr lang="en-US" sz="1100" dirty="0"/>
          </a:p>
        </p:txBody>
      </p:sp>
      <p:sp>
        <p:nvSpPr>
          <p:cNvPr id="14" name="Text 12"/>
          <p:cNvSpPr/>
          <p:nvPr/>
        </p:nvSpPr>
        <p:spPr>
          <a:xfrm>
            <a:off x="841248" y="3575304"/>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share</a:t>
            </a:r>
            <a:endParaRPr lang="en-US" sz="1100" dirty="0"/>
          </a:p>
        </p:txBody>
      </p:sp>
      <p:sp>
        <p:nvSpPr>
          <p:cNvPr id="15" name="Text 13"/>
          <p:cNvSpPr/>
          <p:nvPr/>
        </p:nvSpPr>
        <p:spPr>
          <a:xfrm>
            <a:off x="2423160" y="3575304"/>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68%</a:t>
            </a:r>
            <a:endParaRPr lang="en-US" sz="1100" dirty="0"/>
          </a:p>
        </p:txBody>
      </p:sp>
      <p:sp>
        <p:nvSpPr>
          <p:cNvPr id="16" name="Text 14"/>
          <p:cNvSpPr/>
          <p:nvPr/>
        </p:nvSpPr>
        <p:spPr>
          <a:xfrm>
            <a:off x="841248" y="3950208"/>
            <a:ext cx="3108960" cy="411480"/>
          </a:xfrm>
          <a:prstGeom prst="rect">
            <a:avLst/>
          </a:prstGeom>
          <a:noFill/>
          <a:ln/>
        </p:spPr>
        <p:txBody>
          <a:bodyPr wrap="square"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Net +Rs 0.31 Cr</a:t>
            </a:r>
            <a:endParaRPr lang="en-US" sz="1800" dirty="0"/>
          </a:p>
        </p:txBody>
      </p:sp>
      <p:sp>
        <p:nvSpPr>
          <p:cNvPr id="17" name="Text 15"/>
          <p:cNvSpPr/>
          <p:nvPr/>
        </p:nvSpPr>
        <p:spPr>
          <a:xfrm>
            <a:off x="841248" y="4389120"/>
            <a:ext cx="3108960" cy="45720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Breaks even, ratings led.</a:t>
            </a:r>
            <a:endParaRPr lang="en-US" sz="1100" dirty="0"/>
          </a:p>
        </p:txBody>
      </p:sp>
      <p:sp>
        <p:nvSpPr>
          <p:cNvPr id="18" name="Shape 16"/>
          <p:cNvSpPr/>
          <p:nvPr/>
        </p:nvSpPr>
        <p:spPr>
          <a:xfrm>
            <a:off x="4315968" y="1737360"/>
            <a:ext cx="3493008" cy="3200400"/>
          </a:xfrm>
          <a:prstGeom prst="rect">
            <a:avLst/>
          </a:prstGeom>
          <a:solidFill>
            <a:srgbClr val="FFFFFF"/>
          </a:solidFill>
          <a:ln w="12700">
            <a:solidFill>
              <a:srgbClr val="E6E9EE"/>
            </a:solidFill>
            <a:prstDash val="solid"/>
          </a:ln>
        </p:spPr>
      </p:sp>
      <p:sp>
        <p:nvSpPr>
          <p:cNvPr id="19" name="Shape 17"/>
          <p:cNvSpPr/>
          <p:nvPr/>
        </p:nvSpPr>
        <p:spPr>
          <a:xfrm>
            <a:off x="4517136" y="1938528"/>
            <a:ext cx="1417320" cy="292608"/>
          </a:xfrm>
          <a:prstGeom prst="rect">
            <a:avLst/>
          </a:prstGeom>
          <a:solidFill>
            <a:srgbClr val="E7EDF5"/>
          </a:solidFill>
          <a:ln/>
        </p:spPr>
      </p:sp>
      <p:sp>
        <p:nvSpPr>
          <p:cNvPr id="20" name="Text 18"/>
          <p:cNvSpPr/>
          <p:nvPr/>
        </p:nvSpPr>
        <p:spPr>
          <a:xfrm>
            <a:off x="4517136" y="1938528"/>
            <a:ext cx="1417320" cy="292608"/>
          </a:xfrm>
          <a:prstGeom prst="rect">
            <a:avLst/>
          </a:prstGeom>
          <a:noFill/>
          <a:ln/>
        </p:spPr>
        <p:txBody>
          <a:bodyPr wrap="square" rtlCol="0" anchor="ctr"/>
          <a:lstStyle/>
          <a:p>
            <a:pPr algn="ctr" indent="0" marL="0">
              <a:buNone/>
            </a:pPr>
            <a:r>
              <a:rPr lang="en-US" sz="1000" b="1" dirty="0">
                <a:solidFill>
                  <a:srgbClr val="1E4E79"/>
                </a:solidFill>
                <a:latin typeface="Calibri" pitchFamily="34" charset="0"/>
                <a:ea typeface="Calibri" pitchFamily="34" charset="-122"/>
                <a:cs typeface="Calibri" pitchFamily="34" charset="-120"/>
              </a:rPr>
              <a:t>Downside 1</a:t>
            </a:r>
            <a:endParaRPr lang="en-US" sz="1000" dirty="0"/>
          </a:p>
        </p:txBody>
      </p:sp>
      <p:sp>
        <p:nvSpPr>
          <p:cNvPr id="21" name="Text 19"/>
          <p:cNvSpPr/>
          <p:nvPr/>
        </p:nvSpPr>
        <p:spPr>
          <a:xfrm>
            <a:off x="4517136" y="2304288"/>
            <a:ext cx="3108960" cy="320040"/>
          </a:xfrm>
          <a:prstGeom prst="rect">
            <a:avLst/>
          </a:prstGeom>
          <a:noFill/>
          <a:ln/>
        </p:spPr>
        <p:txBody>
          <a:bodyPr wrap="square" rtlCol="0" anchor="ctr"/>
          <a:lstStyle/>
          <a:p>
            <a:pPr indent="0" marL="0">
              <a:buNone/>
            </a:pPr>
            <a:r>
              <a:rPr lang="en-US" sz="1450" b="1" dirty="0">
                <a:solidFill>
                  <a:srgbClr val="0A1F33"/>
                </a:solidFill>
                <a:latin typeface="Cambria" pitchFamily="34" charset="0"/>
                <a:ea typeface="Cambria" pitchFamily="34" charset="-122"/>
                <a:cs typeface="Cambria" pitchFamily="34" charset="-120"/>
              </a:rPr>
              <a:t>S2. BLR by 1 Jan</a:t>
            </a:r>
            <a:endParaRPr lang="en-US" sz="1450" dirty="0"/>
          </a:p>
        </p:txBody>
      </p:sp>
      <p:sp>
        <p:nvSpPr>
          <p:cNvPr id="22" name="Text 20"/>
          <p:cNvSpPr/>
          <p:nvPr/>
        </p:nvSpPr>
        <p:spPr>
          <a:xfrm>
            <a:off x="4517136" y="2670048"/>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FD interest</a:t>
            </a:r>
            <a:endParaRPr lang="en-US" sz="1100" dirty="0"/>
          </a:p>
        </p:txBody>
      </p:sp>
      <p:sp>
        <p:nvSpPr>
          <p:cNvPr id="23" name="Text 21"/>
          <p:cNvSpPr/>
          <p:nvPr/>
        </p:nvSpPr>
        <p:spPr>
          <a:xfrm>
            <a:off x="6099048" y="2670048"/>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1.80 Cr</a:t>
            </a:r>
            <a:endParaRPr lang="en-US" sz="1100" dirty="0"/>
          </a:p>
        </p:txBody>
      </p:sp>
      <p:sp>
        <p:nvSpPr>
          <p:cNvPr id="24" name="Text 22"/>
          <p:cNvSpPr/>
          <p:nvPr/>
        </p:nvSpPr>
        <p:spPr>
          <a:xfrm>
            <a:off x="4517136" y="2971800"/>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revenue</a:t>
            </a:r>
            <a:endParaRPr lang="en-US" sz="1100" dirty="0"/>
          </a:p>
        </p:txBody>
      </p:sp>
      <p:sp>
        <p:nvSpPr>
          <p:cNvPr id="25" name="Text 23"/>
          <p:cNvSpPr/>
          <p:nvPr/>
        </p:nvSpPr>
        <p:spPr>
          <a:xfrm>
            <a:off x="6099048" y="2971800"/>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2.31 Cr</a:t>
            </a:r>
            <a:endParaRPr lang="en-US" sz="1100" dirty="0"/>
          </a:p>
        </p:txBody>
      </p:sp>
      <p:sp>
        <p:nvSpPr>
          <p:cNvPr id="26" name="Text 24"/>
          <p:cNvSpPr/>
          <p:nvPr/>
        </p:nvSpPr>
        <p:spPr>
          <a:xfrm>
            <a:off x="4517136" y="3273552"/>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Total income</a:t>
            </a:r>
            <a:endParaRPr lang="en-US" sz="1100" dirty="0"/>
          </a:p>
        </p:txBody>
      </p:sp>
      <p:sp>
        <p:nvSpPr>
          <p:cNvPr id="27" name="Text 25"/>
          <p:cNvSpPr/>
          <p:nvPr/>
        </p:nvSpPr>
        <p:spPr>
          <a:xfrm>
            <a:off x="6099048" y="3273552"/>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4.11 Cr</a:t>
            </a:r>
            <a:endParaRPr lang="en-US" sz="1100" dirty="0"/>
          </a:p>
        </p:txBody>
      </p:sp>
      <p:sp>
        <p:nvSpPr>
          <p:cNvPr id="28" name="Text 26"/>
          <p:cNvSpPr/>
          <p:nvPr/>
        </p:nvSpPr>
        <p:spPr>
          <a:xfrm>
            <a:off x="4517136" y="3575304"/>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share</a:t>
            </a:r>
            <a:endParaRPr lang="en-US" sz="1100" dirty="0"/>
          </a:p>
        </p:txBody>
      </p:sp>
      <p:sp>
        <p:nvSpPr>
          <p:cNvPr id="29" name="Text 27"/>
          <p:cNvSpPr/>
          <p:nvPr/>
        </p:nvSpPr>
        <p:spPr>
          <a:xfrm>
            <a:off x="6099048" y="3575304"/>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56%</a:t>
            </a:r>
            <a:endParaRPr lang="en-US" sz="1100" dirty="0"/>
          </a:p>
        </p:txBody>
      </p:sp>
      <p:sp>
        <p:nvSpPr>
          <p:cNvPr id="30" name="Text 28"/>
          <p:cNvSpPr/>
          <p:nvPr/>
        </p:nvSpPr>
        <p:spPr>
          <a:xfrm>
            <a:off x="4517136" y="3950208"/>
            <a:ext cx="3108960" cy="411480"/>
          </a:xfrm>
          <a:prstGeom prst="rect">
            <a:avLst/>
          </a:prstGeom>
          <a:noFill/>
          <a:ln/>
        </p:spPr>
        <p:txBody>
          <a:bodyPr wrap="square" rtlCol="0" anchor="ctr"/>
          <a:lstStyle/>
          <a:p>
            <a:pPr indent="0" marL="0">
              <a:buNone/>
            </a:pPr>
            <a:r>
              <a:rPr lang="en-US" sz="1800" b="1" dirty="0">
                <a:solidFill>
                  <a:srgbClr val="B3261E"/>
                </a:solidFill>
                <a:latin typeface="Cambria" pitchFamily="34" charset="0"/>
                <a:ea typeface="Cambria" pitchFamily="34" charset="-122"/>
                <a:cs typeface="Cambria" pitchFamily="34" charset="-120"/>
              </a:rPr>
              <a:t>Net -Rs 1.13 Cr</a:t>
            </a:r>
            <a:endParaRPr lang="en-US" sz="1800" dirty="0"/>
          </a:p>
        </p:txBody>
      </p:sp>
      <p:sp>
        <p:nvSpPr>
          <p:cNvPr id="31" name="Text 29"/>
          <p:cNvSpPr/>
          <p:nvPr/>
        </p:nvSpPr>
        <p:spPr>
          <a:xfrm>
            <a:off x="4517136" y="4389120"/>
            <a:ext cx="3108960" cy="45720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3 months of BLR only.</a:t>
            </a:r>
            <a:endParaRPr lang="en-US" sz="1100" dirty="0"/>
          </a:p>
        </p:txBody>
      </p:sp>
      <p:sp>
        <p:nvSpPr>
          <p:cNvPr id="32" name="Shape 30"/>
          <p:cNvSpPr/>
          <p:nvPr/>
        </p:nvSpPr>
        <p:spPr>
          <a:xfrm>
            <a:off x="7991856" y="1737360"/>
            <a:ext cx="3493008" cy="3200400"/>
          </a:xfrm>
          <a:prstGeom prst="rect">
            <a:avLst/>
          </a:prstGeom>
          <a:solidFill>
            <a:srgbClr val="FFFFFF"/>
          </a:solidFill>
          <a:ln w="12700">
            <a:solidFill>
              <a:srgbClr val="E6E9EE"/>
            </a:solidFill>
            <a:prstDash val="solid"/>
          </a:ln>
        </p:spPr>
      </p:sp>
      <p:sp>
        <p:nvSpPr>
          <p:cNvPr id="33" name="Shape 31"/>
          <p:cNvSpPr/>
          <p:nvPr/>
        </p:nvSpPr>
        <p:spPr>
          <a:xfrm>
            <a:off x="8193024" y="1938528"/>
            <a:ext cx="1417320" cy="292608"/>
          </a:xfrm>
          <a:prstGeom prst="rect">
            <a:avLst/>
          </a:prstGeom>
          <a:solidFill>
            <a:srgbClr val="F6E6E4"/>
          </a:solidFill>
          <a:ln/>
        </p:spPr>
      </p:sp>
      <p:sp>
        <p:nvSpPr>
          <p:cNvPr id="34" name="Text 32"/>
          <p:cNvSpPr/>
          <p:nvPr/>
        </p:nvSpPr>
        <p:spPr>
          <a:xfrm>
            <a:off x="8193024" y="1938528"/>
            <a:ext cx="1417320" cy="292608"/>
          </a:xfrm>
          <a:prstGeom prst="rect">
            <a:avLst/>
          </a:prstGeom>
          <a:noFill/>
          <a:ln/>
        </p:spPr>
        <p:txBody>
          <a:bodyPr wrap="square" rtlCol="0" anchor="ctr"/>
          <a:lstStyle/>
          <a:p>
            <a:pPr algn="ctr" indent="0" marL="0">
              <a:buNone/>
            </a:pPr>
            <a:r>
              <a:rPr lang="en-US" sz="1000" b="1" dirty="0">
                <a:solidFill>
                  <a:srgbClr val="B3261E"/>
                </a:solidFill>
                <a:latin typeface="Calibri" pitchFamily="34" charset="0"/>
                <a:ea typeface="Calibri" pitchFamily="34" charset="-122"/>
                <a:cs typeface="Calibri" pitchFamily="34" charset="-120"/>
              </a:rPr>
              <a:t>Downside 2</a:t>
            </a:r>
            <a:endParaRPr lang="en-US" sz="1000" dirty="0"/>
          </a:p>
        </p:txBody>
      </p:sp>
      <p:sp>
        <p:nvSpPr>
          <p:cNvPr id="35" name="Text 33"/>
          <p:cNvSpPr/>
          <p:nvPr/>
        </p:nvSpPr>
        <p:spPr>
          <a:xfrm>
            <a:off x="8193024" y="2304288"/>
            <a:ext cx="3108960" cy="320040"/>
          </a:xfrm>
          <a:prstGeom prst="rect">
            <a:avLst/>
          </a:prstGeom>
          <a:noFill/>
          <a:ln/>
        </p:spPr>
        <p:txBody>
          <a:bodyPr wrap="square" rtlCol="0" anchor="ctr"/>
          <a:lstStyle/>
          <a:p>
            <a:pPr indent="0" marL="0">
              <a:buNone/>
            </a:pPr>
            <a:r>
              <a:rPr lang="en-US" sz="1450" b="1" dirty="0">
                <a:solidFill>
                  <a:srgbClr val="0A1F33"/>
                </a:solidFill>
                <a:latin typeface="Cambria" pitchFamily="34" charset="0"/>
                <a:ea typeface="Cambria" pitchFamily="34" charset="-122"/>
                <a:cs typeface="Cambria" pitchFamily="34" charset="-120"/>
              </a:rPr>
              <a:t>S3. No BLR this FY</a:t>
            </a:r>
            <a:endParaRPr lang="en-US" sz="1450" dirty="0"/>
          </a:p>
        </p:txBody>
      </p:sp>
      <p:sp>
        <p:nvSpPr>
          <p:cNvPr id="36" name="Text 34"/>
          <p:cNvSpPr/>
          <p:nvPr/>
        </p:nvSpPr>
        <p:spPr>
          <a:xfrm>
            <a:off x="8193024" y="2670048"/>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FD interest</a:t>
            </a:r>
            <a:endParaRPr lang="en-US" sz="1100" dirty="0"/>
          </a:p>
        </p:txBody>
      </p:sp>
      <p:sp>
        <p:nvSpPr>
          <p:cNvPr id="37" name="Text 35"/>
          <p:cNvSpPr/>
          <p:nvPr/>
        </p:nvSpPr>
        <p:spPr>
          <a:xfrm>
            <a:off x="9774936" y="2670048"/>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1.80 Cr</a:t>
            </a:r>
            <a:endParaRPr lang="en-US" sz="1100" dirty="0"/>
          </a:p>
        </p:txBody>
      </p:sp>
      <p:sp>
        <p:nvSpPr>
          <p:cNvPr id="38" name="Text 36"/>
          <p:cNvSpPr/>
          <p:nvPr/>
        </p:nvSpPr>
        <p:spPr>
          <a:xfrm>
            <a:off x="8193024" y="2971800"/>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revenue</a:t>
            </a:r>
            <a:endParaRPr lang="en-US" sz="1100" dirty="0"/>
          </a:p>
        </p:txBody>
      </p:sp>
      <p:sp>
        <p:nvSpPr>
          <p:cNvPr id="39" name="Text 37"/>
          <p:cNvSpPr/>
          <p:nvPr/>
        </p:nvSpPr>
        <p:spPr>
          <a:xfrm>
            <a:off x="9774936" y="2971800"/>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0.87 Cr</a:t>
            </a:r>
            <a:endParaRPr lang="en-US" sz="1100" dirty="0"/>
          </a:p>
        </p:txBody>
      </p:sp>
      <p:sp>
        <p:nvSpPr>
          <p:cNvPr id="40" name="Text 38"/>
          <p:cNvSpPr/>
          <p:nvPr/>
        </p:nvSpPr>
        <p:spPr>
          <a:xfrm>
            <a:off x="8193024" y="3273552"/>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Total income</a:t>
            </a:r>
            <a:endParaRPr lang="en-US" sz="1100" dirty="0"/>
          </a:p>
        </p:txBody>
      </p:sp>
      <p:sp>
        <p:nvSpPr>
          <p:cNvPr id="41" name="Text 39"/>
          <p:cNvSpPr/>
          <p:nvPr/>
        </p:nvSpPr>
        <p:spPr>
          <a:xfrm>
            <a:off x="9774936" y="3273552"/>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2.67 Cr</a:t>
            </a:r>
            <a:endParaRPr lang="en-US" sz="1100" dirty="0"/>
          </a:p>
        </p:txBody>
      </p:sp>
      <p:sp>
        <p:nvSpPr>
          <p:cNvPr id="42" name="Text 40"/>
          <p:cNvSpPr/>
          <p:nvPr/>
        </p:nvSpPr>
        <p:spPr>
          <a:xfrm>
            <a:off x="8193024" y="3575304"/>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share</a:t>
            </a:r>
            <a:endParaRPr lang="en-US" sz="1100" dirty="0"/>
          </a:p>
        </p:txBody>
      </p:sp>
      <p:sp>
        <p:nvSpPr>
          <p:cNvPr id="43" name="Text 41"/>
          <p:cNvSpPr/>
          <p:nvPr/>
        </p:nvSpPr>
        <p:spPr>
          <a:xfrm>
            <a:off x="9774936" y="3575304"/>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33%</a:t>
            </a:r>
            <a:endParaRPr lang="en-US" sz="1100" dirty="0"/>
          </a:p>
        </p:txBody>
      </p:sp>
      <p:sp>
        <p:nvSpPr>
          <p:cNvPr id="44" name="Text 42"/>
          <p:cNvSpPr/>
          <p:nvPr/>
        </p:nvSpPr>
        <p:spPr>
          <a:xfrm>
            <a:off x="8193024" y="3950208"/>
            <a:ext cx="3108960" cy="411480"/>
          </a:xfrm>
          <a:prstGeom prst="rect">
            <a:avLst/>
          </a:prstGeom>
          <a:noFill/>
          <a:ln/>
        </p:spPr>
        <p:txBody>
          <a:bodyPr wrap="square" rtlCol="0" anchor="ctr"/>
          <a:lstStyle/>
          <a:p>
            <a:pPr indent="0" marL="0">
              <a:buNone/>
            </a:pPr>
            <a:r>
              <a:rPr lang="en-US" sz="1800" b="1" dirty="0">
                <a:solidFill>
                  <a:srgbClr val="B3261E"/>
                </a:solidFill>
                <a:latin typeface="Cambria" pitchFamily="34" charset="0"/>
                <a:ea typeface="Cambria" pitchFamily="34" charset="-122"/>
                <a:cs typeface="Cambria" pitchFamily="34" charset="-120"/>
              </a:rPr>
              <a:t>Net -Rs 2.57 Cr</a:t>
            </a:r>
            <a:endParaRPr lang="en-US" sz="1800" dirty="0"/>
          </a:p>
        </p:txBody>
      </p:sp>
      <p:sp>
        <p:nvSpPr>
          <p:cNvPr id="45" name="Text 43"/>
          <p:cNvSpPr/>
          <p:nvPr/>
        </p:nvSpPr>
        <p:spPr>
          <a:xfrm>
            <a:off x="8193024" y="4389120"/>
            <a:ext cx="3108960" cy="45720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Invest through, on reserves.</a:t>
            </a:r>
            <a:endParaRPr lang="en-US" sz="1100" dirty="0"/>
          </a:p>
        </p:txBody>
      </p:sp>
      <p:sp>
        <p:nvSpPr>
          <p:cNvPr id="46" name="Shape 44"/>
          <p:cNvSpPr/>
          <p:nvPr/>
        </p:nvSpPr>
        <p:spPr>
          <a:xfrm>
            <a:off x="640080" y="5166360"/>
            <a:ext cx="10911535" cy="731520"/>
          </a:xfrm>
          <a:prstGeom prst="rect">
            <a:avLst/>
          </a:prstGeom>
          <a:solidFill>
            <a:srgbClr val="EEF4F3"/>
          </a:solidFill>
          <a:ln/>
        </p:spPr>
      </p:sp>
      <p:sp>
        <p:nvSpPr>
          <p:cNvPr id="47" name="Shape 45"/>
          <p:cNvSpPr/>
          <p:nvPr/>
        </p:nvSpPr>
        <p:spPr>
          <a:xfrm>
            <a:off x="640080" y="5166360"/>
            <a:ext cx="82296" cy="731520"/>
          </a:xfrm>
          <a:prstGeom prst="rect">
            <a:avLst/>
          </a:prstGeom>
          <a:solidFill>
            <a:srgbClr val="0F766E"/>
          </a:solidFill>
          <a:ln/>
        </p:spPr>
      </p:sp>
      <p:sp>
        <p:nvSpPr>
          <p:cNvPr id="48" name="Text 46"/>
          <p:cNvSpPr/>
          <p:nvPr/>
        </p:nvSpPr>
        <p:spPr>
          <a:xfrm>
            <a:off x="896112" y="516636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Same cost base and FD income in all three; only the licence date moves the result from a loss to break even.</a:t>
            </a:r>
            <a:endParaRPr lang="en-US" sz="1000" dirty="0"/>
          </a:p>
        </p:txBody>
      </p:sp>
      <p:sp>
        <p:nvSpPr>
          <p:cNvPr id="49" name="Shape 47"/>
          <p:cNvSpPr/>
          <p:nvPr/>
        </p:nvSpPr>
        <p:spPr>
          <a:xfrm>
            <a:off x="640080" y="6437376"/>
            <a:ext cx="10911535" cy="0"/>
          </a:xfrm>
          <a:prstGeom prst="line">
            <a:avLst/>
          </a:prstGeom>
          <a:noFill/>
          <a:ln w="12700">
            <a:solidFill>
              <a:srgbClr val="E6E9EE"/>
            </a:solidFill>
            <a:prstDash val="solid"/>
          </a:ln>
        </p:spPr>
      </p:sp>
      <p:sp>
        <p:nvSpPr>
          <p:cNvPr id="50" name="Text 48"/>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Internal run rate [1]; BLR revenue, assumptions [2]. Flat 16 cases per month from launch; FY27 counts initial fees only.</a:t>
            </a:r>
            <a:endParaRPr lang="en-US" sz="850" dirty="0"/>
          </a:p>
        </p:txBody>
      </p:sp>
      <p:sp>
        <p:nvSpPr>
          <p:cNvPr id="51" name="Text 49"/>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MONTHLY PATH TO BREAK EVEN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S1. BLR by October</a:t>
            </a:r>
            <a:endParaRPr lang="en-US" sz="2600" dirty="0"/>
          </a:p>
        </p:txBody>
      </p:sp>
      <p:sp>
        <p:nvSpPr>
          <p:cNvPr id="4" name="Text 2"/>
          <p:cNvSpPr/>
          <p:nvPr/>
        </p:nvSpPr>
        <p:spPr>
          <a:xfrm>
            <a:off x="640080" y="1371600"/>
            <a:ext cx="10972800" cy="292608"/>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Cash positive from October   ·   Apr to Jun actual, rest projected</a:t>
            </a:r>
            <a:endParaRPr lang="en-US" sz="1300" dirty="0"/>
          </a:p>
        </p:txBody>
      </p:sp>
      <p:graphicFrame>
        <p:nvGraphicFramePr>
          <p:cNvPr id="5" name="Chart 0" descr=""/>
          <p:cNvGraphicFramePr/>
          <p:nvPr/>
        </p:nvGraphicFramePr>
        <p:xfrm>
          <a:off x="640080" y="1737360"/>
          <a:ext cx="10972800" cy="36576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0080" y="5532120"/>
            <a:ext cx="10911535" cy="731520"/>
          </a:xfrm>
          <a:prstGeom prst="rect">
            <a:avLst/>
          </a:prstGeom>
          <a:solidFill>
            <a:srgbClr val="EEF4F3"/>
          </a:solidFill>
          <a:ln/>
        </p:spPr>
      </p:sp>
      <p:sp>
        <p:nvSpPr>
          <p:cNvPr id="7" name="Shape 4"/>
          <p:cNvSpPr/>
          <p:nvPr/>
        </p:nvSpPr>
        <p:spPr>
          <a:xfrm>
            <a:off x="640080" y="5532120"/>
            <a:ext cx="82296" cy="731520"/>
          </a:xfrm>
          <a:prstGeom prst="rect">
            <a:avLst/>
          </a:prstGeom>
          <a:solidFill>
            <a:srgbClr val="0F766E"/>
          </a:solidFill>
          <a:ln/>
        </p:spPr>
      </p:sp>
      <p:sp>
        <p:nvSpPr>
          <p:cNvPr id="8" name="Text 5"/>
          <p:cNvSpPr/>
          <p:nvPr/>
        </p:nvSpPr>
        <p:spPr>
          <a:xfrm>
            <a:off x="896112" y="553212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In October, earning jumps to Rs 56 L as 16 cases at Rs 3 L land, clearing the Rs 46 L monthly expense.</a:t>
            </a:r>
            <a:endParaRPr lang="en-US" sz="1000" dirty="0"/>
          </a:p>
        </p:txBody>
      </p:sp>
      <p:sp>
        <p:nvSpPr>
          <p:cNvPr id="9" name="Shape 6"/>
          <p:cNvSpPr/>
          <p:nvPr/>
        </p:nvSpPr>
        <p:spPr>
          <a:xfrm>
            <a:off x="640080" y="6437376"/>
            <a:ext cx="10911535" cy="0"/>
          </a:xfrm>
          <a:prstGeom prst="line">
            <a:avLst/>
          </a:prstGeom>
          <a:noFill/>
          <a:ln w="12700">
            <a:solidFill>
              <a:srgbClr val="E6E9EE"/>
            </a:solidFill>
            <a:prstDash val="solid"/>
          </a:ln>
        </p:spPr>
      </p:sp>
      <p:sp>
        <p:nvSpPr>
          <p:cNvPr id="10" name="Text 7"/>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Apr to Jun actual, Internal ledger [1]; Jul to Mar projected [1][2]. Rs Lakh.</a:t>
            </a:r>
            <a:endParaRPr lang="en-US" sz="850" dirty="0"/>
          </a:p>
        </p:txBody>
      </p:sp>
      <p:sp>
        <p:nvSpPr>
          <p:cNvPr id="11" name="Text 8"/>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MONTHLY PATH TO BREAK EVEN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S2. BLR by January</a:t>
            </a:r>
            <a:endParaRPr lang="en-US" sz="2600" dirty="0"/>
          </a:p>
        </p:txBody>
      </p:sp>
      <p:sp>
        <p:nvSpPr>
          <p:cNvPr id="4" name="Text 2"/>
          <p:cNvSpPr/>
          <p:nvPr/>
        </p:nvSpPr>
        <p:spPr>
          <a:xfrm>
            <a:off x="640080" y="1371600"/>
            <a:ext cx="10972800" cy="292608"/>
          </a:xfrm>
          <a:prstGeom prst="rect">
            <a:avLst/>
          </a:prstGeom>
          <a:noFill/>
          <a:ln/>
        </p:spPr>
        <p:txBody>
          <a:bodyPr wrap="square" rtlCol="0" anchor="ctr"/>
          <a:lstStyle/>
          <a:p>
            <a:pPr indent="0" marL="0">
              <a:buNone/>
            </a:pPr>
            <a:r>
              <a:rPr lang="en-US" sz="1300" b="1" dirty="0">
                <a:solidFill>
                  <a:srgbClr val="1E4E79"/>
                </a:solidFill>
                <a:latin typeface="Calibri" pitchFamily="34" charset="0"/>
                <a:ea typeface="Calibri" pitchFamily="34" charset="-122"/>
                <a:cs typeface="Calibri" pitchFamily="34" charset="-120"/>
              </a:rPr>
              <a:t>Cash positive from January   ·   Apr to Jun actual, rest projected</a:t>
            </a:r>
            <a:endParaRPr lang="en-US" sz="1300" dirty="0"/>
          </a:p>
        </p:txBody>
      </p:sp>
      <p:graphicFrame>
        <p:nvGraphicFramePr>
          <p:cNvPr id="5" name="Chart 0" descr=""/>
          <p:cNvGraphicFramePr/>
          <p:nvPr/>
        </p:nvGraphicFramePr>
        <p:xfrm>
          <a:off x="640080" y="1737360"/>
          <a:ext cx="10972800" cy="36576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0080" y="5532120"/>
            <a:ext cx="10911535" cy="731520"/>
          </a:xfrm>
          <a:prstGeom prst="rect">
            <a:avLst/>
          </a:prstGeom>
          <a:solidFill>
            <a:srgbClr val="EEF4F3"/>
          </a:solidFill>
          <a:ln/>
        </p:spPr>
      </p:sp>
      <p:sp>
        <p:nvSpPr>
          <p:cNvPr id="7" name="Shape 4"/>
          <p:cNvSpPr/>
          <p:nvPr/>
        </p:nvSpPr>
        <p:spPr>
          <a:xfrm>
            <a:off x="640080" y="5532120"/>
            <a:ext cx="82296" cy="731520"/>
          </a:xfrm>
          <a:prstGeom prst="rect">
            <a:avLst/>
          </a:prstGeom>
          <a:solidFill>
            <a:srgbClr val="0F766E"/>
          </a:solidFill>
          <a:ln/>
        </p:spPr>
      </p:sp>
      <p:sp>
        <p:nvSpPr>
          <p:cNvPr id="8" name="Text 5"/>
          <p:cNvSpPr/>
          <p:nvPr/>
        </p:nvSpPr>
        <p:spPr>
          <a:xfrm>
            <a:off x="896112" y="553212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The team runs all year but earning steps up only in January, so FY27 stays a loss overall.</a:t>
            </a:r>
            <a:endParaRPr lang="en-US" sz="1000" dirty="0"/>
          </a:p>
        </p:txBody>
      </p:sp>
      <p:sp>
        <p:nvSpPr>
          <p:cNvPr id="9" name="Shape 6"/>
          <p:cNvSpPr/>
          <p:nvPr/>
        </p:nvSpPr>
        <p:spPr>
          <a:xfrm>
            <a:off x="640080" y="6437376"/>
            <a:ext cx="10911535" cy="0"/>
          </a:xfrm>
          <a:prstGeom prst="line">
            <a:avLst/>
          </a:prstGeom>
          <a:noFill/>
          <a:ln w="12700">
            <a:solidFill>
              <a:srgbClr val="E6E9EE"/>
            </a:solidFill>
            <a:prstDash val="solid"/>
          </a:ln>
        </p:spPr>
      </p:sp>
      <p:sp>
        <p:nvSpPr>
          <p:cNvPr id="10" name="Text 7"/>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Apr to Jun actual, Internal ledger [1]; Jul to Mar projected [1][2]. Rs Lakh.</a:t>
            </a:r>
            <a:endParaRPr lang="en-US" sz="850" dirty="0"/>
          </a:p>
        </p:txBody>
      </p:sp>
      <p:sp>
        <p:nvSpPr>
          <p:cNvPr id="11" name="Text 8"/>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MONTHLY PATH TO BREAK EVEN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S3. No BLR this financial year</a:t>
            </a:r>
            <a:endParaRPr lang="en-US" sz="2600" dirty="0"/>
          </a:p>
        </p:txBody>
      </p:sp>
      <p:sp>
        <p:nvSpPr>
          <p:cNvPr id="4" name="Text 2"/>
          <p:cNvSpPr/>
          <p:nvPr/>
        </p:nvSpPr>
        <p:spPr>
          <a:xfrm>
            <a:off x="640080" y="1371600"/>
            <a:ext cx="10972800" cy="292608"/>
          </a:xfrm>
          <a:prstGeom prst="rect">
            <a:avLst/>
          </a:prstGeom>
          <a:noFill/>
          <a:ln/>
        </p:spPr>
        <p:txBody>
          <a:bodyPr wrap="square" rtlCol="0" anchor="ctr"/>
          <a:lstStyle/>
          <a:p>
            <a:pPr indent="0" marL="0">
              <a:buNone/>
            </a:pPr>
            <a:r>
              <a:rPr lang="en-US" sz="1300" b="1" dirty="0">
                <a:solidFill>
                  <a:srgbClr val="B3261E"/>
                </a:solidFill>
                <a:latin typeface="Calibri" pitchFamily="34" charset="0"/>
                <a:ea typeface="Calibri" pitchFamily="34" charset="-122"/>
                <a:cs typeface="Calibri" pitchFamily="34" charset="-120"/>
              </a:rPr>
              <a:t>Break even not reached   ·   Apr to Jun actual, rest projected</a:t>
            </a:r>
            <a:endParaRPr lang="en-US" sz="1300" dirty="0"/>
          </a:p>
        </p:txBody>
      </p:sp>
      <p:graphicFrame>
        <p:nvGraphicFramePr>
          <p:cNvPr id="5" name="Chart 0" descr=""/>
          <p:cNvGraphicFramePr/>
          <p:nvPr/>
        </p:nvGraphicFramePr>
        <p:xfrm>
          <a:off x="640080" y="1737360"/>
          <a:ext cx="10972800" cy="36576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0080" y="5532120"/>
            <a:ext cx="10911535" cy="731520"/>
          </a:xfrm>
          <a:prstGeom prst="rect">
            <a:avLst/>
          </a:prstGeom>
          <a:solidFill>
            <a:srgbClr val="EEF4F3"/>
          </a:solidFill>
          <a:ln/>
        </p:spPr>
      </p:sp>
      <p:sp>
        <p:nvSpPr>
          <p:cNvPr id="7" name="Shape 4"/>
          <p:cNvSpPr/>
          <p:nvPr/>
        </p:nvSpPr>
        <p:spPr>
          <a:xfrm>
            <a:off x="640080" y="5532120"/>
            <a:ext cx="82296" cy="731520"/>
          </a:xfrm>
          <a:prstGeom prst="rect">
            <a:avLst/>
          </a:prstGeom>
          <a:solidFill>
            <a:srgbClr val="0F766E"/>
          </a:solidFill>
          <a:ln/>
        </p:spPr>
      </p:sp>
      <p:sp>
        <p:nvSpPr>
          <p:cNvPr id="8" name="Text 5"/>
          <p:cNvSpPr/>
          <p:nvPr/>
        </p:nvSpPr>
        <p:spPr>
          <a:xfrm>
            <a:off x="896112" y="553212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Existing ratings grow to about Rs 8 L a month, well short of the Rs 46 L expense. Funded from reserves.</a:t>
            </a:r>
            <a:endParaRPr lang="en-US" sz="1000" dirty="0"/>
          </a:p>
        </p:txBody>
      </p:sp>
      <p:sp>
        <p:nvSpPr>
          <p:cNvPr id="9" name="Shape 6"/>
          <p:cNvSpPr/>
          <p:nvPr/>
        </p:nvSpPr>
        <p:spPr>
          <a:xfrm>
            <a:off x="640080" y="6437376"/>
            <a:ext cx="10911535" cy="0"/>
          </a:xfrm>
          <a:prstGeom prst="line">
            <a:avLst/>
          </a:prstGeom>
          <a:noFill/>
          <a:ln w="12700">
            <a:solidFill>
              <a:srgbClr val="E6E9EE"/>
            </a:solidFill>
            <a:prstDash val="solid"/>
          </a:ln>
        </p:spPr>
      </p:sp>
      <p:sp>
        <p:nvSpPr>
          <p:cNvPr id="10" name="Text 7"/>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Apr to Jun actual, Internal ledger [1]; Jul to Mar projected [1][2]. Rs Lakh.</a:t>
            </a:r>
            <a:endParaRPr lang="en-US" sz="850" dirty="0"/>
          </a:p>
        </p:txBody>
      </p:sp>
      <p:sp>
        <p:nvSpPr>
          <p:cNvPr id="11" name="Text 8"/>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OPERATING PLAN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Salary is the plan, nearly 60 paise of every rupee</a:t>
            </a:r>
            <a:endParaRPr lang="en-US" sz="2600" dirty="0"/>
          </a:p>
        </p:txBody>
      </p:sp>
      <p:sp>
        <p:nvSpPr>
          <p:cNvPr id="4" name="Text 2"/>
          <p:cNvSpPr/>
          <p:nvPr/>
        </p:nvSpPr>
        <p:spPr>
          <a:xfrm>
            <a:off x="640080" y="146304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Quarterly P&amp;L, base case (Rs Cr)</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194560"/>
                <a:gridCol w="1097280"/>
                <a:gridCol w="1097280"/>
                <a:gridCol w="1097280"/>
              </a:tblGrid>
              <a:tr h="384048">
                <a:tc>
                  <a:txBody>
                    <a:bodyPr/>
                    <a:lstStyle/>
                    <a:p>
                      <a:pPr algn="l"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c>
                  <a:txBody>
                    <a:bodyPr/>
                    <a:lstStyle/>
                    <a:p>
                      <a:pPr algn="r" indent="0" marL="0">
                        <a:buNone/>
                      </a:pPr>
                      <a:r>
                        <a:rPr lang="en-US" sz="1100" b="1" dirty="0">
                          <a:solidFill>
                            <a:srgbClr val="5B6B7B"/>
                          </a:solidFill>
                          <a:latin typeface="Calibri" pitchFamily="34" charset="0"/>
                          <a:ea typeface="Calibri" pitchFamily="34" charset="-122"/>
                          <a:cs typeface="Calibri" pitchFamily="34" charset="-120"/>
                        </a:rPr>
                        <a:t>Income</a:t>
                      </a: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c>
                  <a:txBody>
                    <a:bodyPr/>
                    <a:lstStyle/>
                    <a:p>
                      <a:pPr algn="r" indent="0" marL="0">
                        <a:buNone/>
                      </a:pPr>
                      <a:r>
                        <a:rPr lang="en-US" sz="1100" b="1" dirty="0">
                          <a:solidFill>
                            <a:srgbClr val="5B6B7B"/>
                          </a:solidFill>
                          <a:latin typeface="Calibri" pitchFamily="34" charset="0"/>
                          <a:ea typeface="Calibri" pitchFamily="34" charset="-122"/>
                          <a:cs typeface="Calibri" pitchFamily="34" charset="-120"/>
                        </a:rPr>
                        <a:t>Expense</a:t>
                      </a: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c>
                  <a:txBody>
                    <a:bodyPr/>
                    <a:lstStyle/>
                    <a:p>
                      <a:pPr algn="r" indent="0" marL="0">
                        <a:buNone/>
                      </a:pPr>
                      <a:r>
                        <a:rPr lang="en-US" sz="1100" b="1" dirty="0">
                          <a:solidFill>
                            <a:srgbClr val="5B6B7B"/>
                          </a:solidFill>
                          <a:latin typeface="Calibri" pitchFamily="34" charset="0"/>
                          <a:ea typeface="Calibri" pitchFamily="34" charset="-122"/>
                          <a:cs typeface="Calibri" pitchFamily="34" charset="-120"/>
                        </a:rPr>
                        <a:t>Net</a:t>
                      </a: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Q1 (Apr-Jun) actual</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0.60</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1.16</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B3261E"/>
                          </a:solidFill>
                          <a:latin typeface="Calibri" pitchFamily="34" charset="0"/>
                          <a:ea typeface="Calibri" pitchFamily="34" charset="-122"/>
                          <a:cs typeface="Calibri" pitchFamily="34" charset="-120"/>
                        </a:rPr>
                        <a:t>-0.56</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Q2 (Jul-Sep)</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1.32</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B3261E"/>
                          </a:solidFill>
                          <a:latin typeface="Calibri" pitchFamily="34" charset="0"/>
                          <a:ea typeface="Calibri" pitchFamily="34" charset="-122"/>
                          <a:cs typeface="Calibri" pitchFamily="34" charset="-120"/>
                        </a:rPr>
                        <a:t>-0.63</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Q3 (Oct-Dec)</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2.13</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1.38</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F766E"/>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Q4 (Jan-Mar)</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2.13</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1.38</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F766E"/>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b="1" dirty="0">
                          <a:solidFill>
                            <a:srgbClr val="2B3F52"/>
                          </a:solidFill>
                          <a:latin typeface="Calibri" pitchFamily="34" charset="0"/>
                          <a:ea typeface="Calibri" pitchFamily="34" charset="-122"/>
                          <a:cs typeface="Calibri" pitchFamily="34" charset="-120"/>
                        </a:rPr>
                        <a:t>FY27 total</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EF4F3"/>
                    </a:solidFill>
                  </a:tcPr>
                </a:tc>
                <a:tc>
                  <a:txBody>
                    <a:bodyPr/>
                    <a:lstStyle/>
                    <a:p>
                      <a:pPr algn="r" indent="0" marL="0">
                        <a:buNone/>
                      </a:pPr>
                      <a:r>
                        <a:rPr lang="en-US" sz="1150" b="1" dirty="0">
                          <a:solidFill>
                            <a:srgbClr val="2B3F52"/>
                          </a:solidFill>
                          <a:latin typeface="Calibri" pitchFamily="34" charset="0"/>
                          <a:ea typeface="Calibri" pitchFamily="34" charset="-122"/>
                          <a:cs typeface="Calibri" pitchFamily="34" charset="-120"/>
                        </a:rPr>
                        <a:t>5.55</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EF4F3"/>
                    </a:solidFill>
                  </a:tcPr>
                </a:tc>
                <a:tc>
                  <a:txBody>
                    <a:bodyPr/>
                    <a:lstStyle/>
                    <a:p>
                      <a:pPr algn="r" indent="0" marL="0">
                        <a:buNone/>
                      </a:pPr>
                      <a:r>
                        <a:rPr lang="en-US" sz="1150" b="1" dirty="0">
                          <a:solidFill>
                            <a:srgbClr val="2B3F52"/>
                          </a:solidFill>
                          <a:latin typeface="Calibri" pitchFamily="34" charset="0"/>
                          <a:ea typeface="Calibri" pitchFamily="34" charset="-122"/>
                          <a:cs typeface="Calibri" pitchFamily="34" charset="-120"/>
                        </a:rPr>
                        <a:t>5.24</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EF4F3"/>
                    </a:solidFill>
                  </a:tcPr>
                </a:tc>
                <a:tc>
                  <a:txBody>
                    <a:bodyPr/>
                    <a:lstStyle/>
                    <a:p>
                      <a:pPr algn="r" indent="0" marL="0">
                        <a:buNone/>
                      </a:pPr>
                      <a:r>
                        <a:rPr lang="en-US" sz="1150" b="1" dirty="0">
                          <a:solidFill>
                            <a:srgbClr val="0F766E"/>
                          </a:solidFill>
                          <a:latin typeface="Calibri" pitchFamily="34" charset="0"/>
                          <a:ea typeface="Calibri" pitchFamily="34" charset="-122"/>
                          <a:cs typeface="Calibri" pitchFamily="34" charset="-120"/>
                        </a:rPr>
                        <a:t>+0.31</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EF4F3"/>
                    </a:solidFill>
                  </a:tcPr>
                </a:tc>
              </a:tr>
            </a:tbl>
          </a:graphicData>
        </a:graphic>
      </p:graphicFrame>
      <p:sp>
        <p:nvSpPr>
          <p:cNvPr id="6" name="Text 3"/>
          <p:cNvSpPr/>
          <p:nvPr/>
        </p:nvSpPr>
        <p:spPr>
          <a:xfrm>
            <a:off x="6492240" y="1463040"/>
            <a:ext cx="521208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Cost composition, share of spend to date (%)</a:t>
            </a:r>
            <a:endParaRPr lang="en-US" sz="1200" dirty="0"/>
          </a:p>
        </p:txBody>
      </p:sp>
      <p:graphicFrame>
        <p:nvGraphicFramePr>
          <p:cNvPr id="7" name="Chart 0" descr=""/>
          <p:cNvGraphicFramePr/>
          <p:nvPr/>
        </p:nvGraphicFramePr>
        <p:xfrm>
          <a:off x="6400800" y="1783080"/>
          <a:ext cx="5394960" cy="338328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640080" y="5440680"/>
            <a:ext cx="10911535" cy="731520"/>
          </a:xfrm>
          <a:prstGeom prst="rect">
            <a:avLst/>
          </a:prstGeom>
          <a:solidFill>
            <a:srgbClr val="EEF4F3"/>
          </a:solidFill>
          <a:ln/>
        </p:spPr>
      </p:sp>
      <p:sp>
        <p:nvSpPr>
          <p:cNvPr id="9" name="Shape 5"/>
          <p:cNvSpPr/>
          <p:nvPr/>
        </p:nvSpPr>
        <p:spPr>
          <a:xfrm>
            <a:off x="640080" y="5440680"/>
            <a:ext cx="82296" cy="731520"/>
          </a:xfrm>
          <a:prstGeom prst="rect">
            <a:avLst/>
          </a:prstGeom>
          <a:solidFill>
            <a:srgbClr val="0F766E"/>
          </a:solidFill>
          <a:ln/>
        </p:spPr>
      </p:sp>
      <p:sp>
        <p:nvSpPr>
          <p:cNvPr id="10" name="Text 6"/>
          <p:cNvSpPr/>
          <p:nvPr/>
        </p:nvSpPr>
        <p:spPr>
          <a:xfrm>
            <a:off x="896112" y="544068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Cost is fixed at Rs 5.24 Cr and mostly salary; the year turns on revenue timing, not on trimming cost.</a:t>
            </a:r>
            <a:endParaRPr lang="en-US" sz="1000" dirty="0"/>
          </a:p>
        </p:txBody>
      </p:sp>
      <p:sp>
        <p:nvSpPr>
          <p:cNvPr id="11" name="Shape 7"/>
          <p:cNvSpPr/>
          <p:nvPr/>
        </p:nvSpPr>
        <p:spPr>
          <a:xfrm>
            <a:off x="640080" y="6437376"/>
            <a:ext cx="10911535" cy="0"/>
          </a:xfrm>
          <a:prstGeom prst="line">
            <a:avLst/>
          </a:prstGeom>
          <a:noFill/>
          <a:ln w="12700">
            <a:solidFill>
              <a:srgbClr val="E6E9EE"/>
            </a:solidFill>
            <a:prstDash val="solid"/>
          </a:ln>
        </p:spPr>
      </p:sp>
      <p:sp>
        <p:nvSpPr>
          <p:cNvPr id="12" name="Text 8"/>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cost heads Internal actuals to 21 Jul [1]; quarterly build, Internal run rate [1] and assumptions [2].</a:t>
            </a:r>
            <a:endParaRPr lang="en-US" sz="850" dirty="0"/>
          </a:p>
        </p:txBody>
      </p:sp>
      <p:sp>
        <p:nvSpPr>
          <p:cNvPr id="13" name="Text 9"/>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FUNDING AND RUNWAY</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A loss year is never a solvency risk</a:t>
            </a:r>
            <a:endParaRPr lang="en-US" sz="2600" dirty="0"/>
          </a:p>
        </p:txBody>
      </p:sp>
      <p:sp>
        <p:nvSpPr>
          <p:cNvPr id="4" name="Shape 2"/>
          <p:cNvSpPr/>
          <p:nvPr/>
        </p:nvSpPr>
        <p:spPr>
          <a:xfrm>
            <a:off x="640080" y="1691640"/>
            <a:ext cx="2578608" cy="1371600"/>
          </a:xfrm>
          <a:prstGeom prst="rect">
            <a:avLst/>
          </a:prstGeom>
          <a:solidFill>
            <a:srgbClr val="F6F8FA"/>
          </a:solidFill>
          <a:ln w="12700">
            <a:solidFill>
              <a:srgbClr val="E6E9EE"/>
            </a:solidFill>
            <a:prstDash val="solid"/>
          </a:ln>
        </p:spPr>
      </p:sp>
      <p:sp>
        <p:nvSpPr>
          <p:cNvPr id="5" name="Text 3"/>
          <p:cNvSpPr/>
          <p:nvPr/>
        </p:nvSpPr>
        <p:spPr>
          <a:xfrm>
            <a:off x="8046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Total FD corpus</a:t>
            </a:r>
            <a:endParaRPr lang="en-US" sz="1050" dirty="0"/>
          </a:p>
        </p:txBody>
      </p:sp>
      <p:sp>
        <p:nvSpPr>
          <p:cNvPr id="6" name="Text 4"/>
          <p:cNvSpPr/>
          <p:nvPr/>
        </p:nvSpPr>
        <p:spPr>
          <a:xfrm>
            <a:off x="8046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26.1 Cr</a:t>
            </a:r>
            <a:endParaRPr lang="en-US" sz="2200" dirty="0"/>
          </a:p>
        </p:txBody>
      </p:sp>
      <p:sp>
        <p:nvSpPr>
          <p:cNvPr id="7" name="Shape 5"/>
          <p:cNvSpPr/>
          <p:nvPr/>
        </p:nvSpPr>
        <p:spPr>
          <a:xfrm>
            <a:off x="3383280" y="1691640"/>
            <a:ext cx="2578608" cy="1371600"/>
          </a:xfrm>
          <a:prstGeom prst="rect">
            <a:avLst/>
          </a:prstGeom>
          <a:solidFill>
            <a:srgbClr val="F6F8FA"/>
          </a:solidFill>
          <a:ln w="12700">
            <a:solidFill>
              <a:srgbClr val="E6E9EE"/>
            </a:solidFill>
            <a:prstDash val="solid"/>
          </a:ln>
        </p:spPr>
      </p:sp>
      <p:sp>
        <p:nvSpPr>
          <p:cNvPr id="8" name="Text 6"/>
          <p:cNvSpPr/>
          <p:nvPr/>
        </p:nvSpPr>
        <p:spPr>
          <a:xfrm>
            <a:off x="35478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Locked, SEBI net worth</a:t>
            </a:r>
            <a:endParaRPr lang="en-US" sz="1050" dirty="0"/>
          </a:p>
        </p:txBody>
      </p:sp>
      <p:sp>
        <p:nvSpPr>
          <p:cNvPr id="9" name="Text 7"/>
          <p:cNvSpPr/>
          <p:nvPr/>
        </p:nvSpPr>
        <p:spPr>
          <a:xfrm>
            <a:off x="3547872" y="2075688"/>
            <a:ext cx="2249424" cy="457200"/>
          </a:xfrm>
          <a:prstGeom prst="rect">
            <a:avLst/>
          </a:prstGeom>
          <a:noFill/>
          <a:ln/>
        </p:spPr>
        <p:txBody>
          <a:bodyPr wrap="square" rtlCol="0" anchor="ctr"/>
          <a:lstStyle/>
          <a:p>
            <a:pPr indent="0" marL="0">
              <a:buNone/>
            </a:pPr>
            <a:r>
              <a:rPr lang="en-US" sz="2200" b="1" dirty="0">
                <a:solidFill>
                  <a:srgbClr val="B3261E"/>
                </a:solidFill>
                <a:latin typeface="Cambria" pitchFamily="34" charset="0"/>
                <a:ea typeface="Cambria" pitchFamily="34" charset="-122"/>
                <a:cs typeface="Cambria" pitchFamily="34" charset="-120"/>
              </a:rPr>
              <a:t>Rs 25.0 Cr</a:t>
            </a:r>
            <a:endParaRPr lang="en-US" sz="2200" dirty="0"/>
          </a:p>
        </p:txBody>
      </p:sp>
      <p:sp>
        <p:nvSpPr>
          <p:cNvPr id="10" name="Text 8"/>
          <p:cNvSpPr/>
          <p:nvPr/>
        </p:nvSpPr>
        <p:spPr>
          <a:xfrm>
            <a:off x="35478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held at all times</a:t>
            </a:r>
            <a:endParaRPr lang="en-US" sz="900" dirty="0"/>
          </a:p>
        </p:txBody>
      </p:sp>
      <p:sp>
        <p:nvSpPr>
          <p:cNvPr id="11" name="Shape 9"/>
          <p:cNvSpPr/>
          <p:nvPr/>
        </p:nvSpPr>
        <p:spPr>
          <a:xfrm>
            <a:off x="6126480" y="1691640"/>
            <a:ext cx="2578608" cy="1371600"/>
          </a:xfrm>
          <a:prstGeom prst="rect">
            <a:avLst/>
          </a:prstGeom>
          <a:solidFill>
            <a:srgbClr val="F6F8FA"/>
          </a:solidFill>
          <a:ln w="12700">
            <a:solidFill>
              <a:srgbClr val="E6E9EE"/>
            </a:solidFill>
            <a:prstDash val="solid"/>
          </a:ln>
        </p:spPr>
      </p:sp>
      <p:sp>
        <p:nvSpPr>
          <p:cNvPr id="12" name="Text 10"/>
          <p:cNvSpPr/>
          <p:nvPr/>
        </p:nvSpPr>
        <p:spPr>
          <a:xfrm>
            <a:off x="62910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Accessible funds</a:t>
            </a:r>
            <a:endParaRPr lang="en-US" sz="1050" dirty="0"/>
          </a:p>
        </p:txBody>
      </p:sp>
      <p:sp>
        <p:nvSpPr>
          <p:cNvPr id="13" name="Text 11"/>
          <p:cNvSpPr/>
          <p:nvPr/>
        </p:nvSpPr>
        <p:spPr>
          <a:xfrm>
            <a:off x="6291072" y="2075688"/>
            <a:ext cx="2249424"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about Rs 3.0 Cr</a:t>
            </a:r>
            <a:endParaRPr lang="en-US" sz="2200" dirty="0"/>
          </a:p>
        </p:txBody>
      </p:sp>
      <p:sp>
        <p:nvSpPr>
          <p:cNvPr id="14" name="Text 12"/>
          <p:cNvSpPr/>
          <p:nvPr/>
        </p:nvSpPr>
        <p:spPr>
          <a:xfrm>
            <a:off x="62910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non locked FD plus bank</a:t>
            </a:r>
            <a:endParaRPr lang="en-US" sz="900" dirty="0"/>
          </a:p>
        </p:txBody>
      </p:sp>
      <p:sp>
        <p:nvSpPr>
          <p:cNvPr id="15" name="Shape 13"/>
          <p:cNvSpPr/>
          <p:nvPr/>
        </p:nvSpPr>
        <p:spPr>
          <a:xfrm>
            <a:off x="8869680" y="1691640"/>
            <a:ext cx="2578608" cy="1371600"/>
          </a:xfrm>
          <a:prstGeom prst="rect">
            <a:avLst/>
          </a:prstGeom>
          <a:solidFill>
            <a:srgbClr val="F6F8FA"/>
          </a:solidFill>
          <a:ln w="12700">
            <a:solidFill>
              <a:srgbClr val="E6E9EE"/>
            </a:solidFill>
            <a:prstDash val="solid"/>
          </a:ln>
        </p:spPr>
      </p:sp>
      <p:sp>
        <p:nvSpPr>
          <p:cNvPr id="16" name="Text 14"/>
          <p:cNvSpPr/>
          <p:nvPr/>
        </p:nvSpPr>
        <p:spPr>
          <a:xfrm>
            <a:off x="90342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Annual FD interest</a:t>
            </a:r>
            <a:endParaRPr lang="en-US" sz="1050" dirty="0"/>
          </a:p>
        </p:txBody>
      </p:sp>
      <p:sp>
        <p:nvSpPr>
          <p:cNvPr id="17" name="Text 15"/>
          <p:cNvSpPr/>
          <p:nvPr/>
        </p:nvSpPr>
        <p:spPr>
          <a:xfrm>
            <a:off x="9034272" y="2075688"/>
            <a:ext cx="2249424"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about Rs 1.8 Cr</a:t>
            </a:r>
            <a:endParaRPr lang="en-US" sz="2200" dirty="0"/>
          </a:p>
        </p:txBody>
      </p:sp>
      <p:sp>
        <p:nvSpPr>
          <p:cNvPr id="18" name="Text 16"/>
          <p:cNvSpPr/>
          <p:nvPr/>
        </p:nvSpPr>
        <p:spPr>
          <a:xfrm>
            <a:off x="90342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recurring cash income</a:t>
            </a:r>
            <a:endParaRPr lang="en-US" sz="900" dirty="0"/>
          </a:p>
        </p:txBody>
      </p:sp>
      <p:sp>
        <p:nvSpPr>
          <p:cNvPr id="19" name="Text 17"/>
          <p:cNvSpPr/>
          <p:nvPr/>
        </p:nvSpPr>
        <p:spPr>
          <a:xfrm>
            <a:off x="640080" y="3337560"/>
            <a:ext cx="10972800" cy="1737360"/>
          </a:xfrm>
          <a:prstGeom prst="rect">
            <a:avLst/>
          </a:prstGeom>
          <a:noFill/>
          <a:ln/>
        </p:spPr>
        <p:txBody>
          <a:bodyPr wrap="square" rtlCol="0" anchor="t"/>
          <a:lstStyle/>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Base case S1 breaks even, so no drawdown is needed.</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Even the worst case S3, a Rs 2.6 Cr loss, is about Rs 2.5 Cr of cash burn, inside the roughly Rs 3.0 Cr accessible plus Rs 1.8 Cr of annual interest.</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Rs 25 Cr net worth stays intact in every scenario, so the SEBI registration is never at risk.</a:t>
            </a:r>
            <a:endParaRPr lang="en-US" sz="1400" dirty="0"/>
          </a:p>
        </p:txBody>
      </p:sp>
      <p:sp>
        <p:nvSpPr>
          <p:cNvPr id="20" name="Shape 18"/>
          <p:cNvSpPr/>
          <p:nvPr/>
        </p:nvSpPr>
        <p:spPr>
          <a:xfrm>
            <a:off x="640080" y="5394960"/>
            <a:ext cx="10911535" cy="731520"/>
          </a:xfrm>
          <a:prstGeom prst="rect">
            <a:avLst/>
          </a:prstGeom>
          <a:solidFill>
            <a:srgbClr val="EEF4F3"/>
          </a:solidFill>
          <a:ln/>
        </p:spPr>
      </p:sp>
      <p:sp>
        <p:nvSpPr>
          <p:cNvPr id="21" name="Shape 19"/>
          <p:cNvSpPr/>
          <p:nvPr/>
        </p:nvSpPr>
        <p:spPr>
          <a:xfrm>
            <a:off x="640080" y="5394960"/>
            <a:ext cx="82296" cy="731520"/>
          </a:xfrm>
          <a:prstGeom prst="rect">
            <a:avLst/>
          </a:prstGeom>
          <a:solidFill>
            <a:srgbClr val="0F766E"/>
          </a:solidFill>
          <a:ln/>
        </p:spPr>
      </p:sp>
      <p:sp>
        <p:nvSpPr>
          <p:cNvPr id="22" name="Text 20"/>
          <p:cNvSpPr/>
          <p:nvPr/>
        </p:nvSpPr>
        <p:spPr>
          <a:xfrm>
            <a:off x="896112" y="539496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The question for the Board is operational self sufficiency, not survival. The corpus is never touched.</a:t>
            </a:r>
            <a:endParaRPr lang="en-US" sz="1000" dirty="0"/>
          </a:p>
        </p:txBody>
      </p:sp>
      <p:sp>
        <p:nvSpPr>
          <p:cNvPr id="23" name="Shape 21"/>
          <p:cNvSpPr/>
          <p:nvPr/>
        </p:nvSpPr>
        <p:spPr>
          <a:xfrm>
            <a:off x="640080" y="6437376"/>
            <a:ext cx="10911535" cy="0"/>
          </a:xfrm>
          <a:prstGeom prst="line">
            <a:avLst/>
          </a:prstGeom>
          <a:noFill/>
          <a:ln w="12700">
            <a:solidFill>
              <a:srgbClr val="E6E9EE"/>
            </a:solidFill>
            <a:prstDash val="solid"/>
          </a:ln>
        </p:spPr>
      </p:sp>
      <p:sp>
        <p:nvSpPr>
          <p:cNvPr id="24" name="Text 22"/>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Internal [1]. SEBI net worth basis [10].</a:t>
            </a:r>
            <a:endParaRPr lang="en-US" sz="850" dirty="0"/>
          </a:p>
        </p:txBody>
      </p:sp>
      <p:sp>
        <p:nvSpPr>
          <p:cNvPr id="25" name="Text 23"/>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CLIMB</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Initial fees fund the turn, surveillance compounds the climb</a:t>
            </a:r>
            <a:endParaRPr lang="en-US" sz="2600" dirty="0"/>
          </a:p>
        </p:txBody>
      </p:sp>
      <p:sp>
        <p:nvSpPr>
          <p:cNvPr id="4" name="Text 2"/>
          <p:cNvSpPr/>
          <p:nvPr/>
        </p:nvSpPr>
        <p:spPr>
          <a:xfrm>
            <a:off x="640080" y="146304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Operating revenue build, base case (Rs Cr)</a:t>
            </a:r>
            <a:endParaRPr lang="en-US" sz="1200" dirty="0"/>
          </a:p>
        </p:txBody>
      </p:sp>
      <p:graphicFrame>
        <p:nvGraphicFramePr>
          <p:cNvPr id="5" name="Chart 0" descr=""/>
          <p:cNvGraphicFramePr/>
          <p:nvPr/>
        </p:nvGraphicFramePr>
        <p:xfrm>
          <a:off x="640080" y="1783080"/>
          <a:ext cx="5577840" cy="38404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492240" y="146304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Income mix, FD versus ratings</a:t>
            </a:r>
            <a:endParaRPr lang="en-US" sz="1200" dirty="0"/>
          </a:p>
        </p:txBody>
      </p:sp>
      <p:graphicFrame>
        <p:nvGraphicFramePr>
          <p:cNvPr id="7" name="Chart 1" descr=""/>
          <p:cNvGraphicFramePr/>
          <p:nvPr/>
        </p:nvGraphicFramePr>
        <p:xfrm>
          <a:off x="6400800" y="1783080"/>
          <a:ext cx="5394960" cy="384048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640080" y="6437376"/>
            <a:ext cx="10911535" cy="0"/>
          </a:xfrm>
          <a:prstGeom prst="line">
            <a:avLst/>
          </a:prstGeom>
          <a:noFill/>
          <a:ln w="12700">
            <a:solidFill>
              <a:srgbClr val="E6E9EE"/>
            </a:solidFill>
            <a:prstDash val="solid"/>
          </a:ln>
        </p:spPr>
      </p:sp>
      <p:sp>
        <p:nvSpPr>
          <p:cNvPr id="9" name="Text 5"/>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FY26 actual, Internal [1]. FY27 to FY29 modelled [1][2].</a:t>
            </a:r>
            <a:endParaRPr lang="en-US" sz="850" dirty="0"/>
          </a:p>
        </p:txBody>
      </p:sp>
      <p:sp>
        <p:nvSpPr>
          <p:cNvPr id="10" name="Text 6"/>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10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A"/>
        </a:solidFill>
      </p:bgPr>
    </p:bg>
    <p:spTree>
      <p:nvGrpSpPr>
        <p:cNvPr id="1" name=""/>
        <p:cNvGrpSpPr/>
        <p:nvPr/>
      </p:nvGrpSpPr>
      <p:grpSpPr>
        <a:xfrm>
          <a:off x="0" y="0"/>
          <a:ext cx="0" cy="0"/>
          <a:chOff x="0" y="0"/>
          <a:chExt cx="0" cy="0"/>
        </a:xfrm>
      </p:grpSpPr>
      <p:sp>
        <p:nvSpPr>
          <p:cNvPr id="2" name="Text 0"/>
          <p:cNvSpPr/>
          <p:nvPr/>
        </p:nvSpPr>
        <p:spPr>
          <a:xfrm>
            <a:off x="7315200" y="365760"/>
            <a:ext cx="4572000" cy="6126480"/>
          </a:xfrm>
          <a:prstGeom prst="rect">
            <a:avLst/>
          </a:prstGeom>
          <a:noFill/>
          <a:ln/>
        </p:spPr>
        <p:txBody>
          <a:bodyPr wrap="square" rtlCol="0" anchor="ctr"/>
          <a:lstStyle/>
          <a:p>
            <a:pPr algn="r" indent="0" marL="0">
              <a:buNone/>
            </a:pPr>
            <a:r>
              <a:rPr lang="en-US" sz="30000" b="1" dirty="0">
                <a:solidFill>
                  <a:srgbClr val="DCE4EC"/>
                </a:solidFill>
                <a:latin typeface="Cambria" pitchFamily="34" charset="0"/>
                <a:ea typeface="Cambria" pitchFamily="34" charset="-122"/>
                <a:cs typeface="Cambria" pitchFamily="34" charset="-120"/>
              </a:rPr>
              <a:t>III</a:t>
            </a:r>
            <a:endParaRPr lang="en-US" sz="30000" dirty="0"/>
          </a:p>
        </p:txBody>
      </p:sp>
      <p:sp>
        <p:nvSpPr>
          <p:cNvPr id="3" name="Shape 1"/>
          <p:cNvSpPr/>
          <p:nvPr/>
        </p:nvSpPr>
        <p:spPr>
          <a:xfrm>
            <a:off x="640080" y="2743200"/>
            <a:ext cx="822960" cy="91440"/>
          </a:xfrm>
          <a:prstGeom prst="rect">
            <a:avLst/>
          </a:prstGeom>
          <a:solidFill>
            <a:srgbClr val="0F766E"/>
          </a:solidFill>
          <a:ln/>
        </p:spPr>
      </p:sp>
      <p:sp>
        <p:nvSpPr>
          <p:cNvPr id="4" name="Text 2"/>
          <p:cNvSpPr/>
          <p:nvPr/>
        </p:nvSpPr>
        <p:spPr>
          <a:xfrm>
            <a:off x="640080" y="3017520"/>
            <a:ext cx="7315200" cy="274320"/>
          </a:xfrm>
          <a:prstGeom prst="rect">
            <a:avLst/>
          </a:prstGeom>
          <a:noFill/>
          <a:ln/>
        </p:spPr>
        <p:txBody>
          <a:bodyPr wrap="square" rtlCol="0" anchor="ctr"/>
          <a:lstStyle/>
          <a:p>
            <a:pPr indent="0" marL="0">
              <a:buNone/>
            </a:pPr>
            <a:r>
              <a:rPr lang="en-US" sz="1200" b="1" spc="250" kern="0" dirty="0">
                <a:solidFill>
                  <a:srgbClr val="0F766E"/>
                </a:solidFill>
                <a:latin typeface="Calibri" pitchFamily="34" charset="0"/>
                <a:ea typeface="Calibri" pitchFamily="34" charset="-122"/>
                <a:cs typeface="Calibri" pitchFamily="34" charset="-120"/>
              </a:rPr>
              <a:t>SECTION THREE</a:t>
            </a:r>
            <a:endParaRPr lang="en-US" sz="1200" dirty="0"/>
          </a:p>
        </p:txBody>
      </p:sp>
      <p:sp>
        <p:nvSpPr>
          <p:cNvPr id="5" name="Text 3"/>
          <p:cNvSpPr/>
          <p:nvPr/>
        </p:nvSpPr>
        <p:spPr>
          <a:xfrm>
            <a:off x="640080" y="3337560"/>
            <a:ext cx="7680960" cy="1463040"/>
          </a:xfrm>
          <a:prstGeom prst="rect">
            <a:avLst/>
          </a:prstGeom>
          <a:noFill/>
          <a:ln/>
        </p:spPr>
        <p:txBody>
          <a:bodyPr wrap="square" rtlCol="0" anchor="ctr"/>
          <a:lstStyle/>
          <a:p>
            <a:pPr indent="0" marL="0">
              <a:lnSpc>
                <a:spcPct val="105000"/>
              </a:lnSpc>
              <a:buNone/>
            </a:pPr>
            <a:r>
              <a:rPr lang="en-US" sz="3400" b="1" dirty="0">
                <a:solidFill>
                  <a:srgbClr val="0A1F33"/>
                </a:solidFill>
                <a:latin typeface="Cambria" pitchFamily="34" charset="0"/>
                <a:ea typeface="Cambria" pitchFamily="34" charset="-122"/>
                <a:cs typeface="Cambria" pitchFamily="34" charset="-120"/>
              </a:rPr>
              <a:t>The market and the recommendation</a:t>
            </a:r>
            <a:endParaRPr lang="en-US" sz="3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INDUSTRY MAP</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What the CRAs earn, yearly and quarterly, versus ACER</a:t>
            </a:r>
            <a:endParaRPr lang="en-US" sz="2600" dirty="0"/>
          </a:p>
        </p:txBody>
      </p:sp>
      <p:sp>
        <p:nvSpPr>
          <p:cNvPr id="4" name="Text 2"/>
          <p:cNvSpPr/>
          <p:nvPr/>
        </p:nvSpPr>
        <p:spPr>
          <a:xfrm>
            <a:off x="640080" y="141732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Yearly rating revenue, latest year (Rs Cr)</a:t>
            </a:r>
            <a:endParaRPr lang="en-US" sz="1200" dirty="0"/>
          </a:p>
        </p:txBody>
      </p:sp>
      <p:graphicFrame>
        <p:nvGraphicFramePr>
          <p:cNvPr id="5" name="Chart 0" descr=""/>
          <p:cNvGraphicFramePr/>
          <p:nvPr/>
        </p:nvGraphicFramePr>
        <p:xfrm>
          <a:off x="640080" y="1737360"/>
          <a:ext cx="557784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400800" y="141732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Quarterly rating revenue, latest quarter (Rs Cr)</a:t>
            </a:r>
            <a:endParaRPr lang="en-US" sz="1200" dirty="0"/>
          </a:p>
        </p:txBody>
      </p:sp>
      <p:graphicFrame>
        <p:nvGraphicFramePr>
          <p:cNvPr id="7" name="Chart 1" descr=""/>
          <p:cNvGraphicFramePr/>
          <p:nvPr/>
        </p:nvGraphicFramePr>
        <p:xfrm>
          <a:off x="6400800" y="1737360"/>
          <a:ext cx="5394960" cy="274320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6400800" y="4709160"/>
            <a:ext cx="5394960" cy="914400"/>
          </a:xfrm>
          <a:prstGeom prst="rect">
            <a:avLst/>
          </a:prstGeom>
          <a:noFill/>
          <a:ln/>
        </p:spPr>
        <p:txBody>
          <a:bodyPr wrap="square" rtlCol="0" anchor="t"/>
          <a:lstStyle/>
          <a:p>
            <a:pPr indent="0" marL="0">
              <a:buNone/>
            </a:pPr>
            <a:r>
              <a:rPr lang="en-US" sz="1200" dirty="0">
                <a:solidFill>
                  <a:srgbClr val="2B3F52"/>
                </a:solidFill>
                <a:latin typeface="Calibri" pitchFamily="34" charset="0"/>
                <a:ea typeface="Calibri" pitchFamily="34" charset="-122"/>
                <a:cs typeface="Calibri" pitchFamily="34" charset="-120"/>
              </a:rPr>
              <a:t>Leaders book Rs 100 to 254 Cr a quarter; ACER about Rs 0.15 Cr. The scale gap is the opportunity, not a red flag.</a:t>
            </a:r>
            <a:endParaRPr lang="en-US" sz="1200" dirty="0"/>
          </a:p>
        </p:txBody>
      </p:sp>
      <p:sp>
        <p:nvSpPr>
          <p:cNvPr id="9" name="Shape 5"/>
          <p:cNvSpPr/>
          <p:nvPr/>
        </p:nvSpPr>
        <p:spPr>
          <a:xfrm>
            <a:off x="640080" y="6437376"/>
            <a:ext cx="10911535" cy="0"/>
          </a:xfrm>
          <a:prstGeom prst="line">
            <a:avLst/>
          </a:prstGeom>
          <a:noFill/>
          <a:ln w="12700">
            <a:solidFill>
              <a:srgbClr val="E6E9EE"/>
            </a:solidFill>
            <a:prstDash val="solid"/>
          </a:ln>
        </p:spPr>
      </p:sp>
      <p:sp>
        <p:nvSpPr>
          <p:cNvPr id="10" name="Text 6"/>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official filings, CRISIL [3], ICRA [4], CARE [5], India Ratings [6], Infomerics [7], Acuite [8], Brickwork [9]. ACER [1][2]. ICRA yearly is total revenue.</a:t>
            </a:r>
            <a:endParaRPr lang="en-US" sz="850" dirty="0"/>
          </a:p>
        </p:txBody>
      </p:sp>
      <p:sp>
        <p:nvSpPr>
          <p:cNvPr id="11" name="Text 7"/>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DOABILITY</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Rating Rs 1,600 Cr a month is a small slice of a vast market</a:t>
            </a:r>
            <a:endParaRPr lang="en-US" sz="2600" dirty="0"/>
          </a:p>
        </p:txBody>
      </p:sp>
      <p:sp>
        <p:nvSpPr>
          <p:cNvPr id="4" name="Text 2"/>
          <p:cNvSpPr/>
          <p:nvPr/>
        </p:nvSpPr>
        <p:spPr>
          <a:xfrm>
            <a:off x="640080" y="1417320"/>
            <a:ext cx="10972800" cy="457200"/>
          </a:xfrm>
          <a:prstGeom prst="rect">
            <a:avLst/>
          </a:prstGeom>
          <a:noFill/>
          <a:ln/>
        </p:spPr>
        <p:txBody>
          <a:bodyPr wrap="square" rtlCol="0" anchor="ctr"/>
          <a:lstStyle/>
          <a:p>
            <a:pPr indent="0" marL="0">
              <a:buNone/>
            </a:pPr>
            <a:r>
              <a:rPr lang="en-US" sz="1300" dirty="0">
                <a:solidFill>
                  <a:srgbClr val="5B6B7B"/>
                </a:solidFill>
                <a:latin typeface="Calibri" pitchFamily="34" charset="0"/>
                <a:ea typeface="Calibri" pitchFamily="34" charset="-122"/>
                <a:cs typeface="Calibri" pitchFamily="34" charset="-120"/>
              </a:rPr>
              <a:t>ACER target: Rs 1,600 Cr rated per month, Rs 19,200 Cr per year, about 192 mandates. Set against the market and peer scale, it is a small, credible slice.</a:t>
            </a:r>
            <a:endParaRPr lang="en-US" sz="1300" dirty="0"/>
          </a:p>
        </p:txBody>
      </p:sp>
      <p:sp>
        <p:nvSpPr>
          <p:cNvPr id="5" name="Shape 3"/>
          <p:cNvSpPr/>
          <p:nvPr/>
        </p:nvSpPr>
        <p:spPr>
          <a:xfrm>
            <a:off x="640080" y="1965960"/>
            <a:ext cx="2606040" cy="1371600"/>
          </a:xfrm>
          <a:prstGeom prst="rect">
            <a:avLst/>
          </a:prstGeom>
          <a:solidFill>
            <a:srgbClr val="F6F8FA"/>
          </a:solidFill>
          <a:ln w="12700">
            <a:solidFill>
              <a:srgbClr val="E6E9EE"/>
            </a:solidFill>
            <a:prstDash val="solid"/>
          </a:ln>
        </p:spPr>
      </p:sp>
      <p:sp>
        <p:nvSpPr>
          <p:cNvPr id="6" name="Text 4"/>
          <p:cNvSpPr/>
          <p:nvPr/>
        </p:nvSpPr>
        <p:spPr>
          <a:xfrm>
            <a:off x="804672" y="2103120"/>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of India bank credit</a:t>
            </a:r>
            <a:endParaRPr lang="en-US" sz="1050" dirty="0"/>
          </a:p>
        </p:txBody>
      </p:sp>
      <p:sp>
        <p:nvSpPr>
          <p:cNvPr id="7" name="Text 5"/>
          <p:cNvSpPr/>
          <p:nvPr/>
        </p:nvSpPr>
        <p:spPr>
          <a:xfrm>
            <a:off x="804672" y="2350008"/>
            <a:ext cx="2276856"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~0.27%</a:t>
            </a:r>
            <a:endParaRPr lang="en-US" sz="2200" dirty="0"/>
          </a:p>
        </p:txBody>
      </p:sp>
      <p:sp>
        <p:nvSpPr>
          <p:cNvPr id="8" name="Text 6"/>
          <p:cNvSpPr/>
          <p:nvPr/>
        </p:nvSpPr>
        <p:spPr>
          <a:xfrm>
            <a:off x="804672" y="2825496"/>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~Rs 70 lakh cr outstanding</a:t>
            </a:r>
            <a:endParaRPr lang="en-US" sz="900" dirty="0"/>
          </a:p>
        </p:txBody>
      </p:sp>
      <p:sp>
        <p:nvSpPr>
          <p:cNvPr id="9" name="Shape 7"/>
          <p:cNvSpPr/>
          <p:nvPr/>
        </p:nvSpPr>
        <p:spPr>
          <a:xfrm>
            <a:off x="3383280" y="1965960"/>
            <a:ext cx="2606040" cy="1371600"/>
          </a:xfrm>
          <a:prstGeom prst="rect">
            <a:avLst/>
          </a:prstGeom>
          <a:solidFill>
            <a:srgbClr val="F6F8FA"/>
          </a:solidFill>
          <a:ln w="12700">
            <a:solidFill>
              <a:srgbClr val="E6E9EE"/>
            </a:solidFill>
            <a:prstDash val="solid"/>
          </a:ln>
        </p:spPr>
      </p:sp>
      <p:sp>
        <p:nvSpPr>
          <p:cNvPr id="10" name="Text 8"/>
          <p:cNvSpPr/>
          <p:nvPr/>
        </p:nvSpPr>
        <p:spPr>
          <a:xfrm>
            <a:off x="3547872" y="2103120"/>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of annual bond issuance</a:t>
            </a:r>
            <a:endParaRPr lang="en-US" sz="1050" dirty="0"/>
          </a:p>
        </p:txBody>
      </p:sp>
      <p:sp>
        <p:nvSpPr>
          <p:cNvPr id="11" name="Text 9"/>
          <p:cNvSpPr/>
          <p:nvPr/>
        </p:nvSpPr>
        <p:spPr>
          <a:xfrm>
            <a:off x="3547872" y="2350008"/>
            <a:ext cx="2276856"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~1.9%</a:t>
            </a:r>
            <a:endParaRPr lang="en-US" sz="2200" dirty="0"/>
          </a:p>
        </p:txBody>
      </p:sp>
      <p:sp>
        <p:nvSpPr>
          <p:cNvPr id="12" name="Text 10"/>
          <p:cNvSpPr/>
          <p:nvPr/>
        </p:nvSpPr>
        <p:spPr>
          <a:xfrm>
            <a:off x="3547872" y="2825496"/>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~Rs 10 lakh cr in FY25</a:t>
            </a:r>
            <a:endParaRPr lang="en-US" sz="900" dirty="0"/>
          </a:p>
        </p:txBody>
      </p:sp>
      <p:sp>
        <p:nvSpPr>
          <p:cNvPr id="13" name="Shape 11"/>
          <p:cNvSpPr/>
          <p:nvPr/>
        </p:nvSpPr>
        <p:spPr>
          <a:xfrm>
            <a:off x="6126480" y="1965960"/>
            <a:ext cx="2606040" cy="1371600"/>
          </a:xfrm>
          <a:prstGeom prst="rect">
            <a:avLst/>
          </a:prstGeom>
          <a:solidFill>
            <a:srgbClr val="F6F8FA"/>
          </a:solidFill>
          <a:ln w="12700">
            <a:solidFill>
              <a:srgbClr val="E6E9EE"/>
            </a:solidFill>
            <a:prstDash val="solid"/>
          </a:ln>
        </p:spPr>
      </p:sp>
      <p:sp>
        <p:nvSpPr>
          <p:cNvPr id="14" name="Text 12"/>
          <p:cNvSpPr/>
          <p:nvPr/>
        </p:nvSpPr>
        <p:spPr>
          <a:xfrm>
            <a:off x="6291072" y="2103120"/>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of Brickwork lifetime rated</a:t>
            </a:r>
            <a:endParaRPr lang="en-US" sz="1050" dirty="0"/>
          </a:p>
        </p:txBody>
      </p:sp>
      <p:sp>
        <p:nvSpPr>
          <p:cNvPr id="15" name="Text 13"/>
          <p:cNvSpPr/>
          <p:nvPr/>
        </p:nvSpPr>
        <p:spPr>
          <a:xfrm>
            <a:off x="6291072" y="2350008"/>
            <a:ext cx="2276856"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~1%</a:t>
            </a:r>
            <a:endParaRPr lang="en-US" sz="2200" dirty="0"/>
          </a:p>
        </p:txBody>
      </p:sp>
      <p:sp>
        <p:nvSpPr>
          <p:cNvPr id="16" name="Text 14"/>
          <p:cNvSpPr/>
          <p:nvPr/>
        </p:nvSpPr>
        <p:spPr>
          <a:xfrm>
            <a:off x="6291072" y="2825496"/>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Rs 19.18 lakh cr, 11,560+ entities</a:t>
            </a:r>
            <a:endParaRPr lang="en-US" sz="900" dirty="0"/>
          </a:p>
        </p:txBody>
      </p:sp>
      <p:sp>
        <p:nvSpPr>
          <p:cNvPr id="17" name="Shape 15"/>
          <p:cNvSpPr/>
          <p:nvPr/>
        </p:nvSpPr>
        <p:spPr>
          <a:xfrm>
            <a:off x="8869680" y="1965960"/>
            <a:ext cx="2606040" cy="1371600"/>
          </a:xfrm>
          <a:prstGeom prst="rect">
            <a:avLst/>
          </a:prstGeom>
          <a:solidFill>
            <a:srgbClr val="F6F8FA"/>
          </a:solidFill>
          <a:ln w="12700">
            <a:solidFill>
              <a:srgbClr val="E6E9EE"/>
            </a:solidFill>
            <a:prstDash val="solid"/>
          </a:ln>
        </p:spPr>
      </p:sp>
      <p:sp>
        <p:nvSpPr>
          <p:cNvPr id="18" name="Text 16"/>
          <p:cNvSpPr/>
          <p:nvPr/>
        </p:nvSpPr>
        <p:spPr>
          <a:xfrm>
            <a:off x="9034272" y="2103120"/>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mandates a year</a:t>
            </a:r>
            <a:endParaRPr lang="en-US" sz="1050" dirty="0"/>
          </a:p>
        </p:txBody>
      </p:sp>
      <p:sp>
        <p:nvSpPr>
          <p:cNvPr id="19" name="Text 17"/>
          <p:cNvSpPr/>
          <p:nvPr/>
        </p:nvSpPr>
        <p:spPr>
          <a:xfrm>
            <a:off x="9034272" y="2350008"/>
            <a:ext cx="2276856"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192</a:t>
            </a:r>
            <a:endParaRPr lang="en-US" sz="2200" dirty="0"/>
          </a:p>
        </p:txBody>
      </p:sp>
      <p:sp>
        <p:nvSpPr>
          <p:cNvPr id="20" name="Text 18"/>
          <p:cNvSpPr/>
          <p:nvPr/>
        </p:nvSpPr>
        <p:spPr>
          <a:xfrm>
            <a:off x="9034272" y="2825496"/>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vs CRISIL ~19,500 rated issuers</a:t>
            </a:r>
            <a:endParaRPr lang="en-US" sz="900" dirty="0"/>
          </a:p>
        </p:txBody>
      </p:sp>
      <p:sp>
        <p:nvSpPr>
          <p:cNvPr id="21" name="Shape 19"/>
          <p:cNvSpPr/>
          <p:nvPr/>
        </p:nvSpPr>
        <p:spPr>
          <a:xfrm>
            <a:off x="640080" y="3749040"/>
            <a:ext cx="10972800" cy="502920"/>
          </a:xfrm>
          <a:prstGeom prst="rect">
            <a:avLst/>
          </a:prstGeom>
          <a:solidFill>
            <a:srgbClr val="F6F8FA"/>
          </a:solidFill>
          <a:ln w="12700">
            <a:solidFill>
              <a:srgbClr val="E6E9EE"/>
            </a:solidFill>
            <a:prstDash val="solid"/>
          </a:ln>
        </p:spPr>
      </p:sp>
      <p:sp>
        <p:nvSpPr>
          <p:cNvPr id="22" name="Shape 20"/>
          <p:cNvSpPr/>
          <p:nvPr/>
        </p:nvSpPr>
        <p:spPr>
          <a:xfrm>
            <a:off x="640080" y="3749040"/>
            <a:ext cx="91440" cy="502920"/>
          </a:xfrm>
          <a:prstGeom prst="rect">
            <a:avLst/>
          </a:prstGeom>
          <a:solidFill>
            <a:srgbClr val="0F766E"/>
          </a:solidFill>
          <a:ln/>
        </p:spPr>
      </p:sp>
      <p:sp>
        <p:nvSpPr>
          <p:cNvPr id="23" name="Text 21"/>
          <p:cNvSpPr/>
          <p:nvPr/>
        </p:nvSpPr>
        <p:spPr>
          <a:xfrm>
            <a:off x="914400" y="3749040"/>
            <a:ext cx="8229600" cy="5029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Rest of India's ~Rs 70 lakh crore of outstanding bank credit</a:t>
            </a:r>
            <a:endParaRPr lang="en-US" sz="1150" dirty="0"/>
          </a:p>
        </p:txBody>
      </p:sp>
      <p:sp>
        <p:nvSpPr>
          <p:cNvPr id="24" name="Text 22"/>
          <p:cNvSpPr/>
          <p:nvPr/>
        </p:nvSpPr>
        <p:spPr>
          <a:xfrm>
            <a:off x="640080" y="4315968"/>
            <a:ext cx="10972800" cy="320040"/>
          </a:xfrm>
          <a:prstGeom prst="rect">
            <a:avLst/>
          </a:prstGeom>
          <a:noFill/>
          <a:ln/>
        </p:spPr>
        <p:txBody>
          <a:bodyPr wrap="square" rtlCol="0" anchor="ctr"/>
          <a:lstStyle/>
          <a:p>
            <a:pPr indent="0" marL="0">
              <a:buNone/>
            </a:pPr>
            <a:r>
              <a:rPr lang="en-US" sz="1150" b="1" dirty="0">
                <a:solidFill>
                  <a:srgbClr val="0F766E"/>
                </a:solidFill>
                <a:latin typeface="Calibri" pitchFamily="34" charset="0"/>
                <a:ea typeface="Calibri" pitchFamily="34" charset="-122"/>
                <a:cs typeface="Calibri" pitchFamily="34" charset="-120"/>
              </a:rPr>
              <a:t>The teal sliver is ACER's entire Rs 19,200 Cr yearly target, about 0.27% of outstanding bank credit.</a:t>
            </a:r>
            <a:endParaRPr lang="en-US" sz="1150" dirty="0"/>
          </a:p>
        </p:txBody>
      </p:sp>
      <p:sp>
        <p:nvSpPr>
          <p:cNvPr id="25" name="Shape 23"/>
          <p:cNvSpPr/>
          <p:nvPr/>
        </p:nvSpPr>
        <p:spPr>
          <a:xfrm>
            <a:off x="640080" y="4937760"/>
            <a:ext cx="10911535" cy="731520"/>
          </a:xfrm>
          <a:prstGeom prst="rect">
            <a:avLst/>
          </a:prstGeom>
          <a:solidFill>
            <a:srgbClr val="EEF4F3"/>
          </a:solidFill>
          <a:ln/>
        </p:spPr>
      </p:sp>
      <p:sp>
        <p:nvSpPr>
          <p:cNvPr id="26" name="Shape 24"/>
          <p:cNvSpPr/>
          <p:nvPr/>
        </p:nvSpPr>
        <p:spPr>
          <a:xfrm>
            <a:off x="640080" y="4937760"/>
            <a:ext cx="82296" cy="731520"/>
          </a:xfrm>
          <a:prstGeom prst="rect">
            <a:avLst/>
          </a:prstGeom>
          <a:solidFill>
            <a:srgbClr val="0F766E"/>
          </a:solidFill>
          <a:ln/>
        </p:spPr>
      </p:sp>
      <p:sp>
        <p:nvSpPr>
          <p:cNvPr id="27" name="Text 25"/>
          <p:cNvSpPr/>
          <p:nvPr/>
        </p:nvSpPr>
        <p:spPr>
          <a:xfrm>
            <a:off x="896112" y="493776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Capacity is not the constraint. One small peer has rated debt a hundred times ACER's yearly target over its life; the binding constraint is winning mandates, so execution and the licence decide the pace, not demand.</a:t>
            </a:r>
            <a:endParaRPr lang="en-US" sz="1000" dirty="0"/>
          </a:p>
        </p:txBody>
      </p:sp>
      <p:sp>
        <p:nvSpPr>
          <p:cNvPr id="28" name="Shape 26"/>
          <p:cNvSpPr/>
          <p:nvPr/>
        </p:nvSpPr>
        <p:spPr>
          <a:xfrm>
            <a:off x="640080" y="6437376"/>
            <a:ext cx="10911535" cy="0"/>
          </a:xfrm>
          <a:prstGeom prst="line">
            <a:avLst/>
          </a:prstGeom>
          <a:noFill/>
          <a:ln w="12700">
            <a:solidFill>
              <a:srgbClr val="E6E9EE"/>
            </a:solidFill>
            <a:prstDash val="solid"/>
          </a:ln>
        </p:spPr>
      </p:sp>
      <p:sp>
        <p:nvSpPr>
          <p:cNvPr id="29" name="Text 27"/>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India bank credit ~Rs 70 lakh cr, RBI via Business Standard [11]; bond issuance ~Rs 10 lakh cr [13]; Brickwork lifetime rated debt, brickworkratings.com [9]; CRISIL ~19,500 issuers [12]. Peer figures cumulative, used for scale.</a:t>
            </a:r>
            <a:endParaRPr lang="en-US" sz="850" dirty="0"/>
          </a:p>
        </p:txBody>
      </p:sp>
      <p:sp>
        <p:nvSpPr>
          <p:cNvPr id="30" name="Text 28"/>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EXECUTION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A clear path, tracked on hard KPIs, with risks owned</a:t>
            </a:r>
            <a:endParaRPr lang="en-US" sz="2600" dirty="0"/>
          </a:p>
        </p:txBody>
      </p:sp>
      <p:sp>
        <p:nvSpPr>
          <p:cNvPr id="4" name="Text 2"/>
          <p:cNvSpPr/>
          <p:nvPr/>
        </p:nvSpPr>
        <p:spPr>
          <a:xfrm>
            <a:off x="640080" y="1463040"/>
            <a:ext cx="5486400" cy="274320"/>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Milestones (base case)</a:t>
            </a:r>
            <a:endParaRPr lang="en-US" sz="1300" dirty="0"/>
          </a:p>
        </p:txBody>
      </p:sp>
      <p:sp>
        <p:nvSpPr>
          <p:cNvPr id="5" name="Text 3"/>
          <p:cNvSpPr/>
          <p:nvPr/>
        </p:nvSpPr>
        <p:spPr>
          <a:xfrm>
            <a:off x="640080" y="1783080"/>
            <a:ext cx="5394960" cy="2194560"/>
          </a:xfrm>
          <a:prstGeom prst="rect">
            <a:avLst/>
          </a:prstGeom>
          <a:noFill/>
          <a:ln/>
        </p:spPr>
        <p:txBody>
          <a:bodyPr wrap="square" rtlCol="0" anchor="t"/>
          <a:lstStyle/>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Now: SEBI registered, four BDs onboarded, team in place.</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Q2: pursue RBI ECAI accreditation, build the BD pipeline.</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1 Oct: BLR live, first mandates.</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Q3 to Q4: ramp to 16 per month, reach break even.</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FY28: full year of BLR, surveillance annuity, profitability.</a:t>
            </a:r>
            <a:endParaRPr lang="en-US" sz="1250" dirty="0"/>
          </a:p>
        </p:txBody>
      </p:sp>
      <p:sp>
        <p:nvSpPr>
          <p:cNvPr id="6" name="Text 4"/>
          <p:cNvSpPr/>
          <p:nvPr/>
        </p:nvSpPr>
        <p:spPr>
          <a:xfrm>
            <a:off x="640080" y="4160520"/>
            <a:ext cx="5486400" cy="274320"/>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KPIs the Board will see</a:t>
            </a:r>
            <a:endParaRPr lang="en-US" sz="1300" dirty="0"/>
          </a:p>
        </p:txBody>
      </p:sp>
      <p:sp>
        <p:nvSpPr>
          <p:cNvPr id="7" name="Text 5"/>
          <p:cNvSpPr/>
          <p:nvPr/>
        </p:nvSpPr>
        <p:spPr>
          <a:xfrm>
            <a:off x="640080" y="4480560"/>
            <a:ext cx="5394960" cy="1554480"/>
          </a:xfrm>
          <a:prstGeom prst="rect">
            <a:avLst/>
          </a:prstGeom>
          <a:noFill/>
          <a:ln/>
        </p:spPr>
        <p:txBody>
          <a:bodyPr wrap="square" rtlCol="0" anchor="t"/>
          <a:lstStyle/>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Mandates per month and cumulative rated debt.</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Ratings share of income, revenue versus plan.</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Cash position and net worth headroom.</a:t>
            </a:r>
            <a:endParaRPr lang="en-US" sz="1250" dirty="0"/>
          </a:p>
        </p:txBody>
      </p:sp>
      <p:sp>
        <p:nvSpPr>
          <p:cNvPr id="8" name="Text 6"/>
          <p:cNvSpPr/>
          <p:nvPr/>
        </p:nvSpPr>
        <p:spPr>
          <a:xfrm>
            <a:off x="6355080" y="1463040"/>
            <a:ext cx="5486400" cy="274320"/>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Key risks and mitigations</a:t>
            </a:r>
            <a:endParaRPr lang="en-US" sz="1300" dirty="0"/>
          </a:p>
        </p:txBody>
      </p:sp>
      <p:sp>
        <p:nvSpPr>
          <p:cNvPr id="9" name="Text 7"/>
          <p:cNvSpPr/>
          <p:nvPr/>
        </p:nvSpPr>
        <p:spPr>
          <a:xfrm>
            <a:off x="6355080" y="1783080"/>
            <a:ext cx="5257800" cy="4389120"/>
          </a:xfrm>
          <a:prstGeom prst="rect">
            <a:avLst/>
          </a:prstGeom>
          <a:noFill/>
          <a:ln/>
        </p:spPr>
        <p:txBody>
          <a:bodyPr wrap="square" rtlCol="0" anchor="t"/>
          <a:lstStyle/>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BLR licence delay: cost trigger, tighten discretionary spend if it slips past January.</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BD ramp shortfall: disciplined pipeline, phased monthly targets.</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Competition from incumbents: price, service and second rating niche.</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Rating quality or compliance failure: independent rating committee and strong process. Brickwork lost its licence and most of its revenue to lapses.</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Client concentration: keep no single issuer above 10% of revenue.</a:t>
            </a:r>
            <a:endParaRPr lang="en-US" sz="1250" dirty="0"/>
          </a:p>
        </p:txBody>
      </p:sp>
      <p:sp>
        <p:nvSpPr>
          <p:cNvPr id="10" name="Shape 8"/>
          <p:cNvSpPr/>
          <p:nvPr/>
        </p:nvSpPr>
        <p:spPr>
          <a:xfrm>
            <a:off x="640080" y="6437376"/>
            <a:ext cx="10911535" cy="0"/>
          </a:xfrm>
          <a:prstGeom prst="line">
            <a:avLst/>
          </a:prstGeom>
          <a:noFill/>
          <a:ln w="12700">
            <a:solidFill>
              <a:srgbClr val="E6E9EE"/>
            </a:solidFill>
            <a:prstDash val="solid"/>
          </a:ln>
        </p:spPr>
      </p:sp>
      <p:sp>
        <p:nvSpPr>
          <p:cNvPr id="11" name="Text 9"/>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Internal [1]. Brickwork history, brickworkratings.com [9].</a:t>
            </a:r>
            <a:endParaRPr lang="en-US" sz="850" dirty="0"/>
          </a:p>
        </p:txBody>
      </p:sp>
      <p:sp>
        <p:nvSpPr>
          <p:cNvPr id="12" name="Text 10"/>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RECOMMENDATION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Approve an investment year, with a clear trigger</a:t>
            </a:r>
            <a:endParaRPr lang="en-US" sz="2600" dirty="0"/>
          </a:p>
        </p:txBody>
      </p:sp>
      <p:sp>
        <p:nvSpPr>
          <p:cNvPr id="4" name="Text 2"/>
          <p:cNvSpPr/>
          <p:nvPr/>
        </p:nvSpPr>
        <p:spPr>
          <a:xfrm>
            <a:off x="640080" y="1691640"/>
            <a:ext cx="10972800" cy="2011680"/>
          </a:xfrm>
          <a:prstGeom prst="rect">
            <a:avLst/>
          </a:prstGeom>
          <a:noFill/>
          <a:ln/>
        </p:spPr>
        <p:txBody>
          <a:bodyPr wrap="square" rtlCol="0" anchor="t"/>
          <a:lstStyle/>
          <a:p>
            <a:pPr marL="177800" indent="-177800">
              <a:spcAft>
                <a:spcPts val="800"/>
              </a:spcAft>
              <a:buSzPct val="100000"/>
              <a:buChar char="•"/>
            </a:pPr>
            <a:r>
              <a:rPr lang="en-US" sz="1500" dirty="0">
                <a:solidFill>
                  <a:srgbClr val="2B3F52"/>
                </a:solidFill>
                <a:latin typeface="Calibri" pitchFamily="34" charset="0"/>
                <a:ea typeface="Calibri" pitchFamily="34" charset="-122"/>
                <a:cs typeface="Calibri" pitchFamily="34" charset="-120"/>
              </a:rPr>
              <a:t>Approve the FY27 operating budget of Rs 5.24 Cr.</a:t>
            </a:r>
            <a:endParaRPr lang="en-US" sz="1500" dirty="0"/>
          </a:p>
          <a:p>
            <a:pPr marL="177800" indent="-177800">
              <a:spcAft>
                <a:spcPts val="800"/>
              </a:spcAft>
              <a:buSzPct val="100000"/>
              <a:buChar char="•"/>
            </a:pPr>
            <a:r>
              <a:rPr lang="en-US" sz="1500" dirty="0">
                <a:solidFill>
                  <a:srgbClr val="2B3F52"/>
                </a:solidFill>
                <a:latin typeface="Calibri" pitchFamily="34" charset="0"/>
                <a:ea typeface="Calibri" pitchFamily="34" charset="-122"/>
                <a:cs typeface="Calibri" pitchFamily="34" charset="-120"/>
              </a:rPr>
              <a:t>Endorse the base case, BLR live by 1 October at 16 cases per month, serviced by the four BDs already onboarded.</a:t>
            </a:r>
            <a:endParaRPr lang="en-US" sz="1500" dirty="0"/>
          </a:p>
          <a:p>
            <a:pPr marL="177800" indent="-177800">
              <a:spcAft>
                <a:spcPts val="800"/>
              </a:spcAft>
              <a:buSzPct val="100000"/>
              <a:buChar char="•"/>
            </a:pPr>
            <a:r>
              <a:rPr lang="en-US" sz="1500" dirty="0">
                <a:solidFill>
                  <a:srgbClr val="2B3F52"/>
                </a:solidFill>
                <a:latin typeface="Calibri" pitchFamily="34" charset="0"/>
                <a:ea typeface="Calibri" pitchFamily="34" charset="-122"/>
                <a:cs typeface="Calibri" pitchFamily="34" charset="-120"/>
              </a:rPr>
              <a:t>Note that the plan is fully funded without touching the Rs 25 Cr net worth, with a cost trigger if BLR slips past January.</a:t>
            </a:r>
            <a:endParaRPr lang="en-US" sz="1500" dirty="0"/>
          </a:p>
        </p:txBody>
      </p:sp>
      <p:sp>
        <p:nvSpPr>
          <p:cNvPr id="5" name="Shape 3"/>
          <p:cNvSpPr/>
          <p:nvPr/>
        </p:nvSpPr>
        <p:spPr>
          <a:xfrm>
            <a:off x="640080" y="4023360"/>
            <a:ext cx="10911535" cy="1371600"/>
          </a:xfrm>
          <a:prstGeom prst="rect">
            <a:avLst/>
          </a:prstGeom>
          <a:solidFill>
            <a:srgbClr val="EEF4F3"/>
          </a:solidFill>
          <a:ln/>
        </p:spPr>
      </p:sp>
      <p:sp>
        <p:nvSpPr>
          <p:cNvPr id="6" name="Shape 4"/>
          <p:cNvSpPr/>
          <p:nvPr/>
        </p:nvSpPr>
        <p:spPr>
          <a:xfrm>
            <a:off x="640080" y="4023360"/>
            <a:ext cx="100584" cy="1371600"/>
          </a:xfrm>
          <a:prstGeom prst="rect">
            <a:avLst/>
          </a:prstGeom>
          <a:solidFill>
            <a:srgbClr val="0F766E"/>
          </a:solidFill>
          <a:ln/>
        </p:spPr>
      </p:sp>
      <p:sp>
        <p:nvSpPr>
          <p:cNvPr id="7" name="Text 5"/>
          <p:cNvSpPr/>
          <p:nvPr/>
        </p:nvSpPr>
        <p:spPr>
          <a:xfrm>
            <a:off x="960120" y="4206240"/>
            <a:ext cx="10058400" cy="274320"/>
          </a:xfrm>
          <a:prstGeom prst="rect">
            <a:avLst/>
          </a:prstGeom>
          <a:noFill/>
          <a:ln/>
        </p:spPr>
        <p:txBody>
          <a:bodyPr wrap="square" rtlCol="0" anchor="ctr"/>
          <a:lstStyle/>
          <a:p>
            <a:pPr indent="0" marL="0">
              <a:buNone/>
            </a:pPr>
            <a:r>
              <a:rPr lang="en-US" sz="1050" b="1" spc="200" kern="0" dirty="0">
                <a:solidFill>
                  <a:srgbClr val="0F766E"/>
                </a:solidFill>
                <a:latin typeface="Calibri" pitchFamily="34" charset="0"/>
                <a:ea typeface="Calibri" pitchFamily="34" charset="-122"/>
                <a:cs typeface="Calibri" pitchFamily="34" charset="-120"/>
              </a:rPr>
              <a:t>THE ONE VARIABLE</a:t>
            </a:r>
            <a:endParaRPr lang="en-US" sz="1050" dirty="0"/>
          </a:p>
        </p:txBody>
      </p:sp>
      <p:sp>
        <p:nvSpPr>
          <p:cNvPr id="8" name="Text 6"/>
          <p:cNvSpPr/>
          <p:nvPr/>
        </p:nvSpPr>
        <p:spPr>
          <a:xfrm>
            <a:off x="960120" y="4480560"/>
            <a:ext cx="10424160" cy="822960"/>
          </a:xfrm>
          <a:prstGeom prst="rect">
            <a:avLst/>
          </a:prstGeom>
          <a:noFill/>
          <a:ln/>
        </p:spPr>
        <p:txBody>
          <a:bodyPr wrap="square" rtlCol="0" anchor="t"/>
          <a:lstStyle/>
          <a:p>
            <a:pPr indent="0" marL="0">
              <a:buNone/>
            </a:pPr>
            <a:r>
              <a:rPr lang="en-US" sz="1800" b="1" dirty="0">
                <a:solidFill>
                  <a:srgbClr val="0A1F33"/>
                </a:solidFill>
                <a:latin typeface="Cambria" pitchFamily="34" charset="0"/>
                <a:ea typeface="Cambria" pitchFamily="34" charset="-122"/>
                <a:cs typeface="Cambria" pitchFamily="34" charset="-120"/>
              </a:rPr>
              <a:t>Solvency is secure. Operational self sufficiency by FY28 is the goal, and the BLR licence is the one variable that decides the pace.</a:t>
            </a:r>
            <a:endParaRPr lang="en-US" sz="1800" dirty="0"/>
          </a:p>
        </p:txBody>
      </p:sp>
      <p:sp>
        <p:nvSpPr>
          <p:cNvPr id="9" name="Shape 7"/>
          <p:cNvSpPr/>
          <p:nvPr/>
        </p:nvSpPr>
        <p:spPr>
          <a:xfrm>
            <a:off x="640080" y="6437376"/>
            <a:ext cx="10911535" cy="0"/>
          </a:xfrm>
          <a:prstGeom prst="line">
            <a:avLst/>
          </a:prstGeom>
          <a:noFill/>
          <a:ln w="12700">
            <a:solidFill>
              <a:srgbClr val="E6E9EE"/>
            </a:solidFill>
            <a:prstDash val="solid"/>
          </a:ln>
        </p:spPr>
      </p:sp>
      <p:sp>
        <p:nvSpPr>
          <p:cNvPr id="10" name="Text 8"/>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Sources: [1] Internal. [2] Management assumption. [3] crisil.com. [4] icra.in. [5] careratings.com. [6] indiaratings.co.in. [7] infomerics.com. [8] acuite.in. [9] brickworkratings.com. [10] SEBI.</a:t>
            </a:r>
            <a:endParaRPr lang="en-US" sz="850" dirty="0"/>
          </a:p>
        </p:txBody>
      </p:sp>
      <p:sp>
        <p:nvSpPr>
          <p:cNvPr id="11" name="Text 9"/>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2026-07-24T13:35:41Z</dcterms:created>
  <dcterms:modified xsi:type="dcterms:W3CDTF">2026-07-24T13:35:41Z</dcterms:modified>
</cp:coreProperties>
</file>
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Calibri"/>
              </a:rPr>
              <a:t>Cumulative debt rated, base case (Rs Cr)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rated debt (Rs Cr)</c:v>
                </c:pt>
              </c:strCache>
            </c:strRef>
          </c:tx>
          <c:spPr>
            <a:solidFill>
              <a:srgbClr val="2B5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1600</c:v>
                </c:pt>
                <c:pt idx="1">
                  <c:v>3200</c:v>
                </c:pt>
                <c:pt idx="2">
                  <c:v>4800</c:v>
                </c:pt>
                <c:pt idx="3">
                  <c:v>6400</c:v>
                </c:pt>
                <c:pt idx="4">
                  <c:v>8000</c:v>
                </c:pt>
                <c:pt idx="5">
                  <c:v>9600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bubble3D val="0"/>
            <c:spPr>
              <a:solidFill>
                <a:srgbClr val="2B5CC4"/>
              </a:solidFill>
              <a:effectLst/>
            </c:spPr>
          </c:dPt>
          <c:dPt>
            <c:idx val="2"/>
            <c:bubble3D val="0"/>
            <c:spPr>
              <a:solidFill>
                <a:srgbClr val="64748B"/>
              </a:solidFill>
              <a:effectLst/>
            </c:spPr>
          </c:dPt>
          <c:dPt>
            <c:idx val="3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bubble3D val="0"/>
            <c:spPr>
              <a:solidFill>
                <a:srgbClr val="C7D2E4"/>
              </a:solidFill>
              <a:effectLst/>
            </c:spPr>
          </c:dPt>
          <c:dPt>
            <c:idx val="5"/>
            <c:bubble3D val="0"/>
            <c:spPr>
              <a:solidFill>
                <a:srgbClr val="CBD5E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People (incl. 2 hires)</c:v>
                </c:pt>
                <c:pt idx="1">
                  <c:v>Facilities</c:v>
                </c:pt>
                <c:pt idx="2">
                  <c:v>Professional and board</c:v>
                </c:pt>
                <c:pt idx="3">
                  <c:v>Technology and data</c:v>
                </c:pt>
                <c:pt idx="4">
                  <c:v>Travel and admin</c:v>
                </c:pt>
                <c:pt idx="5">
                  <c:v>Regulatory and depr.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3.64</c:v>
                </c:pt>
                <c:pt idx="1">
                  <c:v>0.62</c:v>
                </c:pt>
                <c:pt idx="2">
                  <c:v>0.34</c:v>
                </c:pt>
                <c:pt idx="3">
                  <c:v>0.34</c:v>
                </c:pt>
                <c:pt idx="4">
                  <c:v>0.16</c:v>
                </c:pt>
                <c:pt idx="5">
                  <c:v>0.14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plus FD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1.56</c:v>
                </c:pt>
                <c:pt idx="1">
                  <c:v>2.67</c:v>
                </c:pt>
                <c:pt idx="2">
                  <c:v>2.9</c:v>
                </c:pt>
                <c:pt idx="3">
                  <c:v>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BLR initial fees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2.88</c:v>
                </c:pt>
                <c:pt idx="2">
                  <c:v>5.76</c:v>
                </c:pt>
                <c:pt idx="3">
                  <c:v>5.76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Surveillance annuity</c:v>
                </c:pt>
              </c:strCache>
            </c:strRef>
          </c:tx>
          <c:spPr>
            <a:solidFill>
              <a:srgbClr val="2B5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1.44</c:v>
                </c:pt>
                <c:pt idx="3">
                  <c:v>4.32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interest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32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Ratings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68</c:v>
                </c:pt>
                <c:pt idx="2">
                  <c:v>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Rating revenue (Rs Cr)</c:v>
                </c:pt>
              </c:strCache>
            </c:strRef>
          </c:tx>
          <c:spPr>
            <a:solidFill>
              <a:srgbClr val="2B5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ACER now</c:v>
                  </c:pt>
                  <c:pt idx="1">
                    <c:v>ACER FY28</c:v>
                  </c:pt>
                  <c:pt idx="2">
                    <c:v>Acuite</c:v>
                  </c:pt>
                  <c:pt idx="3">
                    <c:v>Infomerics</c:v>
                  </c:pt>
                  <c:pt idx="4">
                    <c:v>India Ratings</c:v>
                  </c:pt>
                  <c:pt idx="5">
                    <c:v>CARE</c:v>
                  </c:pt>
                  <c:pt idx="6">
                    <c:v>CRISIL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</c:v>
                </c:pt>
                <c:pt idx="1">
                  <c:v>8</c:v>
                </c:pt>
                <c:pt idx="2">
                  <c:v>57</c:v>
                </c:pt>
                <c:pt idx="3">
                  <c:v>95</c:v>
                </c:pt>
                <c:pt idx="4">
                  <c:v>251</c:v>
                </c:pt>
                <c:pt idx="5">
                  <c:v>423</c:v>
                </c:pt>
                <c:pt idx="6">
                  <c:v>909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828800"/>
            <a:ext cx="914400" cy="82296"/>
          </a:xfrm>
          <a:prstGeom prst="rect">
            <a:avLst/>
          </a:prstGeom>
          <a:solidFill>
            <a:srgbClr val="2B5CC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574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PRESENTATION, CONFIDENTIAL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39572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FY27 Annual Operating Plan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66928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to convert a capital rich, deposit dependent balance sheet into a self sustaining ratings franchise, built on the Bank Loan Rating licence.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5440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5715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Credit Rating Pvt. Ltd.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24528" y="5440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year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24528" y="5715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 to Mar 2027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82128" y="5440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82128" y="5715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BLR live by 1 October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stand today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solvent and capital rich, but the income still comes from reserves, not from operations.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corpus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26.1 Cr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13232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25 Cr is the SEBI net worth lock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28416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income mix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74720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 FD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474720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Rs 8 L from ratings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9904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Ratings, Q1 FY27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36208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28.5 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36208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3.5x all of FY26, inflecting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851392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97696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run rate P&amp;L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97696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-2.6 Cr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997696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BLR revenue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33832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is carried by interest on the deposit corpus, not by the rating business. That is a capital story, not yet an operating one.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Rs 25 Cr net worth barrier that stops most new entrants is already met and parked in fixed deposits.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revenue has just begun to inflect, from Rs 8 L in all of FY26 to Rs 28.5 L in the first quarter of FY27. This plan is about converting that spark into a franchise.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[1]. SEBI net worth requirement [10].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BLR is the switch, and why a borrower picks us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regulatory milestone turns idle capital into an operating engine. The wedge against incumbents is real.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359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938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lever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28600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Loan Ratings, via RBI ECAI accreditation. Every bank borrower is a candidate, the largest addressable pool in the industry.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359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53128" y="1938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53128" y="228600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3 bps pricing, faster turnaround, and demand for a second rating on larger facilities give a new CRA a genuine opening.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359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938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capacity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56448" y="228600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senior hires and four BDs, in place ahead of the licence, so mandates can be serviced from day one.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88620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plan: invest through FY27 to be ready, win BLR mandates the moment the licence lands, and let recurring surveillance fees compound into a durable annuity.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 it works: Infomerics, a peer, grew rating revenue from Rs 64 Cr to Rs 95 Cr in three years on a BLR led model.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Infomerics [7]. Hiring and pricing, Internal [1] and management assumption [2]. Regulatory basis, SEBI and RBI ECAI framework [10].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ENGINE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economics and the scale it builds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Ticket, min debt rated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13232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100 Cr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13232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Rs 50 Cr stays with banks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28416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fee, 3 bps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74720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3.0 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time, at onboarding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9904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Surveillance, 1.5 bps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36208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1.5 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36208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year, recurring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51392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target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997696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/ mo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97696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BDs x 4 cases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31089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rated per month: 16 x Rs 100 Cr = Rs 1,600 Cr. Cumulative rated debt reaches about Rs 9,600 Cr over the six live months in the base case.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66928" y="402336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13308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rate initial fees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3232" y="437083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5.76 Cr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13232" y="480974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mandates per year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28416" y="402336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413308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annuity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474720" y="437083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2.88 Cr/yr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480974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full book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760720" y="3063240"/>
          <a:ext cx="5852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Text 28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fee rates, ticket size and volume are ACER management and Board assumptions [2].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SCENARIOS, FY27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year lands, by BLR licence timing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cost base of Rs 5.24 Cr and same FD income across all three. Only the licence date changes. S1 is the base case.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0FAF8"/>
          </a:solidFill>
          <a:ln w="22225">
            <a:solidFill>
              <a:srgbClr val="0F76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48840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D7F0EB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1488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S1. BLR by 1 Oct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2898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interest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50008" y="28986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1.80 Cr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32186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revenue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350008" y="32186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3.75 Cr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9808" y="35387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350008" y="35387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5.55 Cr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49808" y="38587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350008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49808" y="4251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+Rs 0.31 Cr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49808" y="4709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even, flips to ratings led.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0248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53128" y="2148840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E6ECFB"/>
          </a:solidFill>
          <a:ln/>
        </p:spPr>
      </p:sp>
      <p:sp>
        <p:nvSpPr>
          <p:cNvPr id="22" name="Text 20"/>
          <p:cNvSpPr/>
          <p:nvPr/>
        </p:nvSpPr>
        <p:spPr>
          <a:xfrm>
            <a:off x="4453128" y="21488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53128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S2. BLR by 1 Jan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453128" y="2898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interest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053328" y="28986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1.80 Cr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453128" y="32186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revenue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053328" y="32186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2.31 Cr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453128" y="35387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053328" y="35387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4.11 Cr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453128" y="38587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053328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453128" y="4251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-Rs 1.13 Cr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4453128" y="4709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months of BLR revenue.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973568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56448" y="2148840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FBE4E4"/>
          </a:solidFill>
          <a:ln/>
        </p:spPr>
      </p:sp>
      <p:sp>
        <p:nvSpPr>
          <p:cNvPr id="36" name="Text 34"/>
          <p:cNvSpPr/>
          <p:nvPr/>
        </p:nvSpPr>
        <p:spPr>
          <a:xfrm>
            <a:off x="8156448" y="21488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56448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S3. No BLR this FY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156448" y="2898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interest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756648" y="28986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1.80 Cr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156448" y="32186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revenue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756648" y="32186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0.87 Cr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8156448" y="35387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756648" y="35387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2.67 Cr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8156448" y="38587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9756648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156448" y="4251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-Rs 2.57 Cr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8156448" y="4709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through year on reserves.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FD interest and cost base, Internal run rate [1]. BLR revenue, management assumptions [2]. Flat 16 cases per month from launch, initial fees only in FY27.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FY27 budget, quarter by quarter and by cost head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P&amp;L, base case (Rs Cr)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(Apr to Jun)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 (Jul to Sep)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 (Oct to Dec)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(Jan to Mar)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92240" y="1417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cost base, Rs 5.24 Cr by head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169164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566928" y="51663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are 69% of cost, the single lever the Board controls. The two new hires add Rs 0.64 Cr in FY27; the rest of the base is largely fixed.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quarterly build and cost heads modelled from Internal run rate [1] and BLR assumptions [2].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AND RUNWAY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Solvency is not the question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fully funded in every scenario without touching the regulatory net worth.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FD corpus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26.1 Cr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28416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(SEBI net worth)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74720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25.0 Cr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held at all times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9904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funds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36208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Rs 3.0 Cr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36208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locked FD plus bank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51392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FD interest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997696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Rs 1.8 Cr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97696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cash income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338328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S1 breaks even, so no drawdown is needed.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worst case S3, a Rs 2.6 Cr loss, translates to about Rs 2.5 Cr of cash burn, comfortably inside the roughly Rs 3.0 Cr of accessible funds plus Rs 1.8 Cr of annual interest.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Rs 25 Cr net worth stays intact in every scenario, so the SEBI registration is never at risk. The question for the Board is operational self sufficiency, not survival.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[1]. SEBI net worth basis [10].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CLIMB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trajectory and the income mix flip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revenue build, base case (Rs Cr)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7373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mix, FD versus ratings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00800" y="173736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FY26 actual, Internal [1]. FY27 to FY29 modelled from Internal baseline [1] and BLR assumptions [2]. Values in Rs Cr and percent.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ACER on the industry map, and the path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FY28 target is a credible first step. Infomerics and Acuite show a small CRA can scale on BLR.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783080"/>
          <a:ext cx="7680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503920" y="201168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at inception is about 2% of the smallest established peer.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Infomerics grew Rs 64 Cr to Rs 95 Cr in three years.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Acuite sits at about Rs 57 Cr.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FY28 Rs 8 Cr is the first rung of that same ladder.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peer figures from each company's official disclosures, CRISIL [3], CARE [5], India Ratings [6], Infomerics [7], Acuite [8]. ACER, Internal [1] and plan [2].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Milestones, KPIs and risks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(base case)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SEBI registered, two hires and four BDs onboarding.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pursue RBI ECAI accreditation, build the BD pipeline.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Oct: BLR live, first mandates.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to Q4: ramp to 16 per month, reach break even.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FY28: full year of BLR, surveillance annuity, profitability.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the Board will see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4480560"/>
            <a:ext cx="5394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per month and cumulative rated debt.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 of income, revenue versus plan.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and net worth headroom.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09360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and mitigations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737360"/>
            <a:ext cx="54864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BLR licence delay: cost trigger, stagger the second hire, freeze discretionary spend.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ramp shortfall: disciplined pipeline, phased monthly targets.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from incumbents: price, service and second rating niche.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quality or compliance failure: independent rating committee and strong process. Brickwork lost its licence and most of its revenue to lapses, rating revenue fell from about Rs 48.5 Cr to about Rs 5 Cr.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concentration: keep no single issuer above 10% of revenue.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[1]. Brickwork history, brickworkratings.com [9].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ask, and the market behind it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is asked to approve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691640"/>
            <a:ext cx="54864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FY27 operating budget of Rs 5.24 Cr, including Rs 0.64 Cr for the two new hires.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headcount plan: two senior hires plus four BDs.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case, BLR live by 1 October at 16 cases per month.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Noting that the plan is fully funded without touching the Rs 25 Cr net worth, and the cost trigger applies if BLR slips past January.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73736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86537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TAM, Indian rating industry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0" y="1865376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Rs 2,000 Cr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0" y="257860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706624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SAM, Rs 100 Cr plus BLR segment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0" y="2706624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B5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Rs 500 Cr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341985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547872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SOM, ACER by FY28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0" y="3547872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Rs 8 Cr, 0.4%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46634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892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Solvency is secure. Operational self sufficiency by FY28 is the goal, and the BLR licence is the one variable that decides the pace.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[1] Internal. [2] Management assumption. [3] crisil.com. [5] careratings.com. [6] indiaratings.co.in. [7] infomerics.com. [8] acuite.in. [9] brickworkratings.com. [10] SEBI CRA Regulations. TAM and SAM are estimates.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2026-07-24T11:03:54Z</dcterms:created>
  <dcterms:modified xsi:type="dcterms:W3CDTF">2026-07-24T11:03:54Z</dcterms:modified>
</cp:coreProperties>
</file>
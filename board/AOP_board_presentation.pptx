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interest</c:v>
                </c:pt>
              </c:strCache>
            </c:strRef>
          </c:tx>
          <c:spPr>
            <a:solidFill>
              <a:srgbClr val="94A3B8"/>
            </a:solidFill>
            <a:effectLst/>
          </c:spPr>
          <c:invertIfNegative val="0"/>
          <c:dLbls>
            <c:numFmt formatCode="0.0" sourceLinked="0"/>
            <c:txPr>
              <a:bodyPr/>
              <a:lstStyle/>
              <a:p>
                <a:pPr>
                  <a:defRPr b="0"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FY26 (actual)</c:v>
                  </c:pt>
                  <c:pt idx="1">
                    <c:v>FY27 (S1)</c:v>
                  </c:pt>
                  <c:pt idx="2">
                    <c:v>FY28 (steady)</c:v>
                  </c:pt>
                </c:lvl>
              </c:multiLvlStrCache>
            </c:multiLvlStrRef>
          </c:cat>
          <c:val>
            <c:numRef>
              <c:f>Sheet1!$B$2:$B$4</c:f>
              <c:numCache>
                <c:formatCode>General</c:formatCode>
                <c:ptCount val="3"/>
                <c:pt idx="0">
                  <c:v>1.48</c:v>
                </c:pt>
                <c:pt idx="1">
                  <c:v>1.8</c:v>
                </c:pt>
                <c:pt idx="2">
                  <c:v>1.8</c:v>
                </c:pt>
              </c:numCache>
            </c:numRef>
          </c:val>
        </c:ser>
        <c:ser>
          <c:idx val="1"/>
          <c:order val="1"/>
          <c:tx>
            <c:strRef>
              <c:f>Sheet1!$C$1</c:f>
              <c:strCache>
                <c:ptCount val="1"/>
                <c:pt idx="0">
                  <c:v>Ratings income</c:v>
                </c:pt>
              </c:strCache>
            </c:strRef>
          </c:tx>
          <c:spPr>
            <a:solidFill>
              <a:srgbClr val="0F766E"/>
            </a:solidFill>
            <a:effectLst/>
          </c:spPr>
          <c:invertIfNegative val="0"/>
          <c:dLbls>
            <c:numFmt formatCode="0.0" sourceLinked="0"/>
            <c:txPr>
              <a:bodyPr/>
              <a:lstStyle/>
              <a:p>
                <a:pPr>
                  <a:defRPr b="0"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FY26 (actual)</c:v>
                  </c:pt>
                  <c:pt idx="1">
                    <c:v>FY27 (S1)</c:v>
                  </c:pt>
                  <c:pt idx="2">
                    <c:v>FY28 (steady)</c:v>
                  </c:pt>
                </c:lvl>
              </c:multiLvlStrCache>
            </c:multiLvlStrRef>
          </c:cat>
          <c:val>
            <c:numRef>
              <c:f>Sheet1!$C$2:$C$4</c:f>
              <c:numCache>
                <c:formatCode>General</c:formatCode>
                <c:ptCount val="3"/>
                <c:pt idx="0">
                  <c:v>0.08</c:v>
                </c:pt>
                <c:pt idx="1">
                  <c:v>3.75</c:v>
                </c:pt>
                <c:pt idx="2">
                  <c:v>8.3</c:v>
                </c:pt>
              </c:numCache>
            </c:numRef>
          </c:val>
        </c:ser>
        <c:dLbls>
          <c:numFmt formatCode="0.0" sourceLinked="0"/>
          <c:txPr>
            <a:bodyPr/>
            <a:lstStyle/>
            <a:p>
              <a:pPr>
                <a:defRPr b="0"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F172A"/>
                </a:solidFill>
                <a:latin typeface="Calibri"/>
              </a:defRPr>
            </a:pPr>
            <a:endParaRPr lang="en-US"/>
          </a:p>
        </c:txPr>
        <c:crossAx val="2094734552"/>
        <c:crosses val="autoZero"/>
        <c:auto val="1"/>
        <c:lblAlgn val="ctr"/>
        <c:noMultiLvlLbl val="1"/>
      </c:catAx>
      <c:valAx>
        <c:axId val="2094734552"/>
        <c:scaling>
          <c:orientation val="minMax"/>
          <c:max val="1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64748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Existing ratings plus FD</c:v>
                </c:pt>
              </c:strCache>
            </c:strRef>
          </c:tx>
          <c:spPr>
            <a:solidFill>
              <a:srgbClr val="94A3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 (S1)</c:v>
                  </c:pt>
                  <c:pt idx="2">
                    <c:v>FY28</c:v>
                  </c:pt>
                  <c:pt idx="3">
                    <c:v>FY29</c:v>
                  </c:pt>
                </c:lvl>
              </c:multiLvlStrCache>
            </c:multiLvlStrRef>
          </c:cat>
          <c:val>
            <c:numRef>
              <c:f>Sheet1!$B$2:$B$5</c:f>
              <c:numCache>
                <c:formatCode>General</c:formatCode>
                <c:ptCount val="4"/>
                <c:pt idx="0">
                  <c:v>1.56</c:v>
                </c:pt>
                <c:pt idx="1">
                  <c:v>2.67</c:v>
                </c:pt>
                <c:pt idx="2">
                  <c:v>2.9</c:v>
                </c:pt>
                <c:pt idx="3">
                  <c:v>3.1</c:v>
                </c:pt>
              </c:numCache>
            </c:numRef>
          </c:val>
        </c:ser>
        <c:ser>
          <c:idx val="1"/>
          <c:order val="1"/>
          <c:tx>
            <c:strRef>
              <c:f>Sheet1!$C$1</c:f>
              <c:strCache>
                <c:ptCount val="1"/>
                <c:pt idx="0">
                  <c:v>BLR initial fees</c:v>
                </c:pt>
              </c:strCache>
            </c:strRef>
          </c:tx>
          <c:spPr>
            <a:solidFill>
              <a:srgbClr val="0F766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 (S1)</c:v>
                  </c:pt>
                  <c:pt idx="2">
                    <c:v>FY28</c:v>
                  </c:pt>
                  <c:pt idx="3">
                    <c:v>FY29</c:v>
                  </c:pt>
                </c:lvl>
              </c:multiLvlStrCache>
            </c:multiLvlStrRef>
          </c:cat>
          <c:val>
            <c:numRef>
              <c:f>Sheet1!$C$2:$C$5</c:f>
              <c:numCache>
                <c:formatCode>General</c:formatCode>
                <c:ptCount val="4"/>
                <c:pt idx="0">
                  <c:v>0</c:v>
                </c:pt>
                <c:pt idx="1">
                  <c:v>2.88</c:v>
                </c:pt>
                <c:pt idx="2">
                  <c:v>5.76</c:v>
                </c:pt>
                <c:pt idx="3">
                  <c:v>5.76</c:v>
                </c:pt>
              </c:numCache>
            </c:numRef>
          </c:val>
        </c:ser>
        <c:ser>
          <c:idx val="2"/>
          <c:order val="2"/>
          <c:tx>
            <c:strRef>
              <c:f>Sheet1!$D$1</c:f>
              <c:strCache>
                <c:ptCount val="1"/>
                <c:pt idx="0">
                  <c:v>Surveillance annuity</c:v>
                </c:pt>
              </c:strCache>
            </c:strRef>
          </c:tx>
          <c:spPr>
            <a:solidFill>
              <a:srgbClr val="2B5C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FY26</c:v>
                  </c:pt>
                  <c:pt idx="1">
                    <c:v>FY27 (S1)</c:v>
                  </c:pt>
                  <c:pt idx="2">
                    <c:v>FY28</c:v>
                  </c:pt>
                  <c:pt idx="3">
                    <c:v>FY29</c:v>
                  </c:pt>
                </c:lvl>
              </c:multiLvlStrCache>
            </c:multiLvlStrRef>
          </c:cat>
          <c:val>
            <c:numRef>
              <c:f>Sheet1!$D$2:$D$5</c:f>
              <c:numCache>
                <c:formatCode>General</c:formatCode>
                <c:ptCount val="4"/>
                <c:pt idx="0">
                  <c:v>0</c:v>
                </c:pt>
                <c:pt idx="1">
                  <c:v>0</c:v>
                </c:pt>
                <c:pt idx="2">
                  <c:v>1.44</c:v>
                </c:pt>
                <c:pt idx="3">
                  <c:v>4.32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F172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4A3B8"/>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64748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1737360"/>
            <a:ext cx="914400" cy="82296"/>
          </a:xfrm>
          <a:prstGeom prst="rect">
            <a:avLst/>
          </a:prstGeom>
          <a:solidFill>
            <a:srgbClr val="2B5CC4"/>
          </a:solidFill>
          <a:ln/>
        </p:spPr>
      </p:sp>
      <p:sp>
        <p:nvSpPr>
          <p:cNvPr id="3" name="Text 1"/>
          <p:cNvSpPr/>
          <p:nvPr/>
        </p:nvSpPr>
        <p:spPr>
          <a:xfrm>
            <a:off x="566928" y="1965960"/>
            <a:ext cx="10058400" cy="274320"/>
          </a:xfrm>
          <a:prstGeom prst="rect">
            <a:avLst/>
          </a:prstGeom>
          <a:noFill/>
          <a:ln/>
        </p:spPr>
        <p:txBody>
          <a:bodyPr wrap="square" rtlCol="0" anchor="ctr"/>
          <a:lstStyle/>
          <a:p>
            <a:pPr indent="0" marL="0">
              <a:buNone/>
            </a:pPr>
            <a:r>
              <a:rPr lang="en-US" sz="1200" b="1" spc="200" kern="0" dirty="0">
                <a:solidFill>
                  <a:srgbClr val="2B5CC4"/>
                </a:solidFill>
                <a:latin typeface="Calibri" pitchFamily="34" charset="0"/>
                <a:ea typeface="Calibri" pitchFamily="34" charset="-122"/>
                <a:cs typeface="Calibri" pitchFamily="34" charset="-120"/>
              </a:rPr>
              <a:t>BOARD PRESENTATION, CONFIDENTIAL</a:t>
            </a:r>
            <a:endParaRPr lang="en-US" sz="1200" dirty="0"/>
          </a:p>
        </p:txBody>
      </p:sp>
      <p:sp>
        <p:nvSpPr>
          <p:cNvPr id="4" name="Text 2"/>
          <p:cNvSpPr/>
          <p:nvPr/>
        </p:nvSpPr>
        <p:spPr>
          <a:xfrm>
            <a:off x="566928" y="2331720"/>
            <a:ext cx="10515600" cy="914400"/>
          </a:xfrm>
          <a:prstGeom prst="rect">
            <a:avLst/>
          </a:prstGeom>
          <a:noFill/>
          <a:ln/>
        </p:spPr>
        <p:txBody>
          <a:bodyPr wrap="square" rtlCol="0" anchor="ctr"/>
          <a:lstStyle/>
          <a:p>
            <a:pPr indent="0" marL="0">
              <a:buNone/>
            </a:pPr>
            <a:r>
              <a:rPr lang="en-US" sz="4600" b="1" dirty="0">
                <a:solidFill>
                  <a:srgbClr val="0F172A"/>
                </a:solidFill>
                <a:latin typeface="Cambria" pitchFamily="34" charset="0"/>
                <a:ea typeface="Cambria" pitchFamily="34" charset="-122"/>
                <a:cs typeface="Cambria" pitchFamily="34" charset="-120"/>
              </a:rPr>
              <a:t>FY27 Annual Operating Plan</a:t>
            </a:r>
            <a:endParaRPr lang="en-US" sz="4600" dirty="0"/>
          </a:p>
        </p:txBody>
      </p:sp>
      <p:sp>
        <p:nvSpPr>
          <p:cNvPr id="5" name="Text 3"/>
          <p:cNvSpPr/>
          <p:nvPr/>
        </p:nvSpPr>
        <p:spPr>
          <a:xfrm>
            <a:off x="566928" y="3383280"/>
            <a:ext cx="8412480" cy="822960"/>
          </a:xfrm>
          <a:prstGeom prst="rect">
            <a:avLst/>
          </a:prstGeom>
          <a:noFill/>
          <a:ln/>
        </p:spPr>
        <p:txBody>
          <a:bodyPr wrap="square" rtlCol="0" anchor="ctr"/>
          <a:lstStyle/>
          <a:p>
            <a:pPr indent="0" marL="0">
              <a:buNone/>
            </a:pPr>
            <a:r>
              <a:rPr lang="en-US" sz="1600" dirty="0">
                <a:solidFill>
                  <a:srgbClr val="64748B"/>
                </a:solidFill>
                <a:latin typeface="Calibri" pitchFamily="34" charset="0"/>
                <a:ea typeface="Calibri" pitchFamily="34" charset="-122"/>
                <a:cs typeface="Calibri" pitchFamily="34" charset="-120"/>
              </a:rPr>
              <a:t>Turning a capital rich, deposit dependent balance sheet into a self sustaining ratings franchise, modelled across three BLR licence scenarios.</a:t>
            </a:r>
            <a:endParaRPr lang="en-US" sz="1600" dirty="0"/>
          </a:p>
        </p:txBody>
      </p:sp>
      <p:sp>
        <p:nvSpPr>
          <p:cNvPr id="6" name="Text 4"/>
          <p:cNvSpPr/>
          <p:nvPr/>
        </p:nvSpPr>
        <p:spPr>
          <a:xfrm>
            <a:off x="566928" y="5486400"/>
            <a:ext cx="3291840" cy="274320"/>
          </a:xfrm>
          <a:prstGeom prst="rect">
            <a:avLst/>
          </a:prstGeom>
          <a:noFill/>
          <a:ln/>
        </p:spPr>
        <p:txBody>
          <a:bodyPr wrap="square" rtlCol="0" anchor="ctr"/>
          <a:lstStyle/>
          <a:p>
            <a:pPr indent="0" marL="0">
              <a:buNone/>
            </a:pPr>
            <a:r>
              <a:rPr lang="en-US" sz="1200" dirty="0">
                <a:solidFill>
                  <a:srgbClr val="94A3B8"/>
                </a:solidFill>
                <a:latin typeface="Calibri" pitchFamily="34" charset="0"/>
                <a:ea typeface="Calibri" pitchFamily="34" charset="-122"/>
                <a:cs typeface="Calibri" pitchFamily="34" charset="-120"/>
              </a:rPr>
              <a:t>Entity</a:t>
            </a:r>
            <a:endParaRPr lang="en-US" sz="1200" dirty="0"/>
          </a:p>
        </p:txBody>
      </p:sp>
      <p:sp>
        <p:nvSpPr>
          <p:cNvPr id="7" name="Text 5"/>
          <p:cNvSpPr/>
          <p:nvPr/>
        </p:nvSpPr>
        <p:spPr>
          <a:xfrm>
            <a:off x="566928" y="5760720"/>
            <a:ext cx="3291840" cy="365760"/>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ACER Credit Rating Pvt. Ltd.</a:t>
            </a:r>
            <a:endParaRPr lang="en-US" sz="1400" dirty="0"/>
          </a:p>
        </p:txBody>
      </p:sp>
      <p:sp>
        <p:nvSpPr>
          <p:cNvPr id="8" name="Text 6"/>
          <p:cNvSpPr/>
          <p:nvPr/>
        </p:nvSpPr>
        <p:spPr>
          <a:xfrm>
            <a:off x="4133088" y="5486400"/>
            <a:ext cx="3291840" cy="274320"/>
          </a:xfrm>
          <a:prstGeom prst="rect">
            <a:avLst/>
          </a:prstGeom>
          <a:noFill/>
          <a:ln/>
        </p:spPr>
        <p:txBody>
          <a:bodyPr wrap="square" rtlCol="0" anchor="ctr"/>
          <a:lstStyle/>
          <a:p>
            <a:pPr indent="0" marL="0">
              <a:buNone/>
            </a:pPr>
            <a:r>
              <a:rPr lang="en-US" sz="1200" dirty="0">
                <a:solidFill>
                  <a:srgbClr val="94A3B8"/>
                </a:solidFill>
                <a:latin typeface="Calibri" pitchFamily="34" charset="0"/>
                <a:ea typeface="Calibri" pitchFamily="34" charset="-122"/>
                <a:cs typeface="Calibri" pitchFamily="34" charset="-120"/>
              </a:rPr>
              <a:t>Plan year</a:t>
            </a:r>
            <a:endParaRPr lang="en-US" sz="1200" dirty="0"/>
          </a:p>
        </p:txBody>
      </p:sp>
      <p:sp>
        <p:nvSpPr>
          <p:cNvPr id="9" name="Text 7"/>
          <p:cNvSpPr/>
          <p:nvPr/>
        </p:nvSpPr>
        <p:spPr>
          <a:xfrm>
            <a:off x="4133088" y="5760720"/>
            <a:ext cx="3291840" cy="365760"/>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Apr 2026 to Mar 2027</a:t>
            </a:r>
            <a:endParaRPr lang="en-US" sz="1400" dirty="0"/>
          </a:p>
        </p:txBody>
      </p:sp>
      <p:sp>
        <p:nvSpPr>
          <p:cNvPr id="10" name="Text 8"/>
          <p:cNvSpPr/>
          <p:nvPr/>
        </p:nvSpPr>
        <p:spPr>
          <a:xfrm>
            <a:off x="7699248" y="5486400"/>
            <a:ext cx="3291840" cy="274320"/>
          </a:xfrm>
          <a:prstGeom prst="rect">
            <a:avLst/>
          </a:prstGeom>
          <a:noFill/>
          <a:ln/>
        </p:spPr>
        <p:txBody>
          <a:bodyPr wrap="square" rtlCol="0" anchor="ctr"/>
          <a:lstStyle/>
          <a:p>
            <a:pPr indent="0" marL="0">
              <a:buNone/>
            </a:pPr>
            <a:r>
              <a:rPr lang="en-US" sz="1200" dirty="0">
                <a:solidFill>
                  <a:srgbClr val="94A3B8"/>
                </a:solidFill>
                <a:latin typeface="Calibri" pitchFamily="34" charset="0"/>
                <a:ea typeface="Calibri" pitchFamily="34" charset="-122"/>
                <a:cs typeface="Calibri" pitchFamily="34" charset="-120"/>
              </a:rPr>
              <a:t>Prepared for</a:t>
            </a:r>
            <a:endParaRPr lang="en-US" sz="1200" dirty="0"/>
          </a:p>
        </p:txBody>
      </p:sp>
      <p:sp>
        <p:nvSpPr>
          <p:cNvPr id="11" name="Text 9"/>
          <p:cNvSpPr/>
          <p:nvPr/>
        </p:nvSpPr>
        <p:spPr>
          <a:xfrm>
            <a:off x="7699248" y="5760720"/>
            <a:ext cx="3291840" cy="365760"/>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Board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338560" y="411480"/>
            <a:ext cx="457200" cy="274320"/>
          </a:xfrm>
          <a:prstGeom prst="rect">
            <a:avLst/>
          </a:prstGeom>
          <a:noFill/>
          <a:ln/>
        </p:spPr>
        <p:txBody>
          <a:bodyPr wrap="square" rtlCol="0" anchor="ctr"/>
          <a:lstStyle/>
          <a:p>
            <a:pPr algn="r" indent="0" marL="0">
              <a:buNone/>
            </a:pPr>
            <a:r>
              <a:rPr lang="en-US" sz="1100" b="1" dirty="0">
                <a:solidFill>
                  <a:srgbClr val="94A3B8"/>
                </a:solidFill>
                <a:latin typeface="Calibri" pitchFamily="34" charset="0"/>
                <a:ea typeface="Calibri" pitchFamily="34" charset="-122"/>
                <a:cs typeface="Calibri" pitchFamily="34" charset="-120"/>
              </a:rPr>
              <a:t>02</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2B5CC4"/>
                </a:solidFill>
                <a:latin typeface="Calibri" pitchFamily="34" charset="0"/>
                <a:ea typeface="Calibri" pitchFamily="34" charset="-122"/>
                <a:cs typeface="Calibri" pitchFamily="34" charset="-120"/>
              </a:rPr>
              <a:t>SITUATION</a:t>
            </a:r>
            <a:endParaRPr lang="en-US" sz="1100" dirty="0"/>
          </a:p>
        </p:txBody>
      </p:sp>
      <p:sp>
        <p:nvSpPr>
          <p:cNvPr id="4" name="Text 2"/>
          <p:cNvSpPr/>
          <p:nvPr/>
        </p:nvSpPr>
        <p:spPr>
          <a:xfrm>
            <a:off x="566928" y="713232"/>
            <a:ext cx="10972800" cy="640080"/>
          </a:xfrm>
          <a:prstGeom prst="rect">
            <a:avLst/>
          </a:prstGeom>
          <a:noFill/>
          <a:ln/>
        </p:spPr>
        <p:txBody>
          <a:bodyPr wrap="square"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Where we stand today</a:t>
            </a:r>
            <a:endParaRPr lang="en-US" sz="3200" dirty="0"/>
          </a:p>
        </p:txBody>
      </p:sp>
      <p:sp>
        <p:nvSpPr>
          <p:cNvPr id="5" name="Text 3"/>
          <p:cNvSpPr/>
          <p:nvPr/>
        </p:nvSpPr>
        <p:spPr>
          <a:xfrm>
            <a:off x="566928" y="1371600"/>
            <a:ext cx="11064240" cy="457200"/>
          </a:xfrm>
          <a:prstGeom prst="rect">
            <a:avLst/>
          </a:prstGeom>
          <a:noFill/>
          <a:ln/>
        </p:spPr>
        <p:txBody>
          <a:bodyPr wrap="square" rtlCol="0" anchor="ctr"/>
          <a:lstStyle/>
          <a:p>
            <a:pPr indent="0" marL="0">
              <a:buNone/>
            </a:pPr>
            <a:r>
              <a:rPr lang="en-US" sz="1500" dirty="0">
                <a:solidFill>
                  <a:srgbClr val="64748B"/>
                </a:solidFill>
                <a:latin typeface="Calibri" pitchFamily="34" charset="0"/>
                <a:ea typeface="Calibri" pitchFamily="34" charset="-122"/>
                <a:cs typeface="Calibri" pitchFamily="34" charset="-120"/>
              </a:rPr>
              <a:t>Financially solvent, but not yet self sustaining on operations.</a:t>
            </a:r>
            <a:endParaRPr lang="en-US" sz="1500" dirty="0"/>
          </a:p>
        </p:txBody>
      </p:sp>
      <p:sp>
        <p:nvSpPr>
          <p:cNvPr id="6" name="Shape 4"/>
          <p:cNvSpPr/>
          <p:nvPr/>
        </p:nvSpPr>
        <p:spPr>
          <a:xfrm>
            <a:off x="566928" y="1965960"/>
            <a:ext cx="2606040" cy="1371600"/>
          </a:xfrm>
          <a:prstGeom prst="roundRect">
            <a:avLst>
              <a:gd name="adj" fmla="val 4000"/>
            </a:avLst>
          </a:prstGeom>
          <a:solidFill>
            <a:srgbClr val="F5F8FB"/>
          </a:solidFill>
          <a:ln w="12700">
            <a:solidFill>
              <a:srgbClr val="E2E8F0"/>
            </a:solidFill>
            <a:prstDash val="solid"/>
          </a:ln>
        </p:spPr>
      </p:sp>
      <p:sp>
        <p:nvSpPr>
          <p:cNvPr id="7" name="Text 5"/>
          <p:cNvSpPr/>
          <p:nvPr/>
        </p:nvSpPr>
        <p:spPr>
          <a:xfrm>
            <a:off x="731520" y="2093976"/>
            <a:ext cx="2276856"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FD corpus</a:t>
            </a:r>
            <a:endParaRPr lang="en-US" sz="1100" dirty="0"/>
          </a:p>
        </p:txBody>
      </p:sp>
      <p:sp>
        <p:nvSpPr>
          <p:cNvPr id="8" name="Text 6"/>
          <p:cNvSpPr/>
          <p:nvPr/>
        </p:nvSpPr>
        <p:spPr>
          <a:xfrm>
            <a:off x="731520" y="2350008"/>
            <a:ext cx="2276856" cy="457200"/>
          </a:xfrm>
          <a:prstGeom prst="rect">
            <a:avLst/>
          </a:prstGeom>
          <a:noFill/>
          <a:ln/>
        </p:spPr>
        <p:txBody>
          <a:bodyPr wrap="square" rtlCol="0" anchor="ctr"/>
          <a:lstStyle/>
          <a:p>
            <a:pPr indent="0" marL="0">
              <a:buNone/>
            </a:pPr>
            <a:r>
              <a:rPr lang="en-US" sz="2200" b="1" dirty="0">
                <a:solidFill>
                  <a:srgbClr val="0F172A"/>
                </a:solidFill>
                <a:latin typeface="Cambria" pitchFamily="34" charset="0"/>
                <a:ea typeface="Cambria" pitchFamily="34" charset="-122"/>
                <a:cs typeface="Cambria" pitchFamily="34" charset="-120"/>
              </a:rPr>
              <a:t>Rs 26.1 Cr</a:t>
            </a:r>
            <a:endParaRPr lang="en-US" sz="2200" dirty="0"/>
          </a:p>
        </p:txBody>
      </p:sp>
      <p:sp>
        <p:nvSpPr>
          <p:cNvPr id="9" name="Text 7"/>
          <p:cNvSpPr/>
          <p:nvPr/>
        </p:nvSpPr>
        <p:spPr>
          <a:xfrm>
            <a:off x="731520" y="2834640"/>
            <a:ext cx="2276856" cy="36576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Rs 25 Cr is the SEBI net worth lock</a:t>
            </a:r>
            <a:endParaRPr lang="en-US" sz="950" dirty="0"/>
          </a:p>
        </p:txBody>
      </p:sp>
      <p:sp>
        <p:nvSpPr>
          <p:cNvPr id="10" name="Shape 8"/>
          <p:cNvSpPr/>
          <p:nvPr/>
        </p:nvSpPr>
        <p:spPr>
          <a:xfrm>
            <a:off x="3328416" y="1965960"/>
            <a:ext cx="2606040" cy="1371600"/>
          </a:xfrm>
          <a:prstGeom prst="roundRect">
            <a:avLst>
              <a:gd name="adj" fmla="val 4000"/>
            </a:avLst>
          </a:prstGeom>
          <a:solidFill>
            <a:srgbClr val="F5F8FB"/>
          </a:solidFill>
          <a:ln w="12700">
            <a:solidFill>
              <a:srgbClr val="E2E8F0"/>
            </a:solidFill>
            <a:prstDash val="solid"/>
          </a:ln>
        </p:spPr>
      </p:sp>
      <p:sp>
        <p:nvSpPr>
          <p:cNvPr id="11" name="Text 9"/>
          <p:cNvSpPr/>
          <p:nvPr/>
        </p:nvSpPr>
        <p:spPr>
          <a:xfrm>
            <a:off x="3493008" y="2093976"/>
            <a:ext cx="2276856"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FY26 income mix</a:t>
            </a:r>
            <a:endParaRPr lang="en-US" sz="1100" dirty="0"/>
          </a:p>
        </p:txBody>
      </p:sp>
      <p:sp>
        <p:nvSpPr>
          <p:cNvPr id="12" name="Text 10"/>
          <p:cNvSpPr/>
          <p:nvPr/>
        </p:nvSpPr>
        <p:spPr>
          <a:xfrm>
            <a:off x="3493008" y="2350008"/>
            <a:ext cx="2276856" cy="457200"/>
          </a:xfrm>
          <a:prstGeom prst="rect">
            <a:avLst/>
          </a:prstGeom>
          <a:noFill/>
          <a:ln/>
        </p:spPr>
        <p:txBody>
          <a:bodyPr wrap="square" rtlCol="0" anchor="ctr"/>
          <a:lstStyle/>
          <a:p>
            <a:pPr indent="0" marL="0">
              <a:buNone/>
            </a:pPr>
            <a:r>
              <a:rPr lang="en-US" sz="2200" b="1" dirty="0">
                <a:solidFill>
                  <a:srgbClr val="0F172A"/>
                </a:solidFill>
                <a:latin typeface="Cambria" pitchFamily="34" charset="0"/>
                <a:ea typeface="Cambria" pitchFamily="34" charset="-122"/>
                <a:cs typeface="Cambria" pitchFamily="34" charset="-120"/>
              </a:rPr>
              <a:t>95% FD</a:t>
            </a:r>
            <a:endParaRPr lang="en-US" sz="2200" dirty="0"/>
          </a:p>
        </p:txBody>
      </p:sp>
      <p:sp>
        <p:nvSpPr>
          <p:cNvPr id="13" name="Text 11"/>
          <p:cNvSpPr/>
          <p:nvPr/>
        </p:nvSpPr>
        <p:spPr>
          <a:xfrm>
            <a:off x="3493008" y="2834640"/>
            <a:ext cx="2276856" cy="36576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only Rs 8 L from ratings</a:t>
            </a:r>
            <a:endParaRPr lang="en-US" sz="950" dirty="0"/>
          </a:p>
        </p:txBody>
      </p:sp>
      <p:sp>
        <p:nvSpPr>
          <p:cNvPr id="14" name="Shape 12"/>
          <p:cNvSpPr/>
          <p:nvPr/>
        </p:nvSpPr>
        <p:spPr>
          <a:xfrm>
            <a:off x="6089904" y="1965960"/>
            <a:ext cx="2606040" cy="1371600"/>
          </a:xfrm>
          <a:prstGeom prst="roundRect">
            <a:avLst>
              <a:gd name="adj" fmla="val 4000"/>
            </a:avLst>
          </a:prstGeom>
          <a:solidFill>
            <a:srgbClr val="F5F8FB"/>
          </a:solidFill>
          <a:ln w="12700">
            <a:solidFill>
              <a:srgbClr val="E2E8F0"/>
            </a:solidFill>
            <a:prstDash val="solid"/>
          </a:ln>
        </p:spPr>
      </p:sp>
      <p:sp>
        <p:nvSpPr>
          <p:cNvPr id="15" name="Text 13"/>
          <p:cNvSpPr/>
          <p:nvPr/>
        </p:nvSpPr>
        <p:spPr>
          <a:xfrm>
            <a:off x="6254496" y="2093976"/>
            <a:ext cx="2276856"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Ratings, Q1 FY27</a:t>
            </a:r>
            <a:endParaRPr lang="en-US" sz="1100" dirty="0"/>
          </a:p>
        </p:txBody>
      </p:sp>
      <p:sp>
        <p:nvSpPr>
          <p:cNvPr id="16" name="Text 14"/>
          <p:cNvSpPr/>
          <p:nvPr/>
        </p:nvSpPr>
        <p:spPr>
          <a:xfrm>
            <a:off x="6254496" y="2350008"/>
            <a:ext cx="2276856" cy="457200"/>
          </a:xfrm>
          <a:prstGeom prst="rect">
            <a:avLst/>
          </a:prstGeom>
          <a:noFill/>
          <a:ln/>
        </p:spPr>
        <p:txBody>
          <a:bodyPr wrap="square" rtlCol="0" anchor="ctr"/>
          <a:lstStyle/>
          <a:p>
            <a:pPr indent="0" marL="0">
              <a:buNone/>
            </a:pPr>
            <a:r>
              <a:rPr lang="en-US" sz="2200" b="1" dirty="0">
                <a:solidFill>
                  <a:srgbClr val="0F172A"/>
                </a:solidFill>
                <a:latin typeface="Cambria" pitchFamily="34" charset="0"/>
                <a:ea typeface="Cambria" pitchFamily="34" charset="-122"/>
                <a:cs typeface="Cambria" pitchFamily="34" charset="-120"/>
              </a:rPr>
              <a:t>Rs 28.5 L</a:t>
            </a:r>
            <a:endParaRPr lang="en-US" sz="2200" dirty="0"/>
          </a:p>
        </p:txBody>
      </p:sp>
      <p:sp>
        <p:nvSpPr>
          <p:cNvPr id="17" name="Text 15"/>
          <p:cNvSpPr/>
          <p:nvPr/>
        </p:nvSpPr>
        <p:spPr>
          <a:xfrm>
            <a:off x="6254496" y="2834640"/>
            <a:ext cx="2276856" cy="36576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3.5x all of FY26, inflecting</a:t>
            </a:r>
            <a:endParaRPr lang="en-US" sz="950" dirty="0"/>
          </a:p>
        </p:txBody>
      </p:sp>
      <p:sp>
        <p:nvSpPr>
          <p:cNvPr id="18" name="Shape 16"/>
          <p:cNvSpPr/>
          <p:nvPr/>
        </p:nvSpPr>
        <p:spPr>
          <a:xfrm>
            <a:off x="8851392" y="1965960"/>
            <a:ext cx="2606040" cy="1371600"/>
          </a:xfrm>
          <a:prstGeom prst="roundRect">
            <a:avLst>
              <a:gd name="adj" fmla="val 4000"/>
            </a:avLst>
          </a:prstGeom>
          <a:solidFill>
            <a:srgbClr val="F5F8FB"/>
          </a:solidFill>
          <a:ln w="12700">
            <a:solidFill>
              <a:srgbClr val="E2E8F0"/>
            </a:solidFill>
            <a:prstDash val="solid"/>
          </a:ln>
        </p:spPr>
      </p:sp>
      <p:sp>
        <p:nvSpPr>
          <p:cNvPr id="19" name="Text 17"/>
          <p:cNvSpPr/>
          <p:nvPr/>
        </p:nvSpPr>
        <p:spPr>
          <a:xfrm>
            <a:off x="9015984" y="2093976"/>
            <a:ext cx="2276856"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FY27 run rate P&amp;L</a:t>
            </a:r>
            <a:endParaRPr lang="en-US" sz="1100" dirty="0"/>
          </a:p>
        </p:txBody>
      </p:sp>
      <p:sp>
        <p:nvSpPr>
          <p:cNvPr id="20" name="Text 18"/>
          <p:cNvSpPr/>
          <p:nvPr/>
        </p:nvSpPr>
        <p:spPr>
          <a:xfrm>
            <a:off x="9015984" y="2350008"/>
            <a:ext cx="2276856" cy="457200"/>
          </a:xfrm>
          <a:prstGeom prst="rect">
            <a:avLst/>
          </a:prstGeom>
          <a:noFill/>
          <a:ln/>
        </p:spPr>
        <p:txBody>
          <a:bodyPr wrap="square" rtlCol="0" anchor="ctr"/>
          <a:lstStyle/>
          <a:p>
            <a:pPr indent="0" marL="0">
              <a:buNone/>
            </a:pPr>
            <a:r>
              <a:rPr lang="en-US" sz="2200" b="1" dirty="0">
                <a:solidFill>
                  <a:srgbClr val="DC2626"/>
                </a:solidFill>
                <a:latin typeface="Cambria" pitchFamily="34" charset="0"/>
                <a:ea typeface="Cambria" pitchFamily="34" charset="-122"/>
                <a:cs typeface="Cambria" pitchFamily="34" charset="-120"/>
              </a:rPr>
              <a:t>Rs -2.6 Cr</a:t>
            </a:r>
            <a:endParaRPr lang="en-US" sz="2200" dirty="0"/>
          </a:p>
        </p:txBody>
      </p:sp>
      <p:sp>
        <p:nvSpPr>
          <p:cNvPr id="21" name="Text 19"/>
          <p:cNvSpPr/>
          <p:nvPr/>
        </p:nvSpPr>
        <p:spPr>
          <a:xfrm>
            <a:off x="9015984" y="2834640"/>
            <a:ext cx="2276856" cy="36576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investment stage loss</a:t>
            </a:r>
            <a:endParaRPr lang="en-US" sz="950" dirty="0"/>
          </a:p>
        </p:txBody>
      </p:sp>
      <p:sp>
        <p:nvSpPr>
          <p:cNvPr id="22" name="Text 20"/>
          <p:cNvSpPr/>
          <p:nvPr/>
        </p:nvSpPr>
        <p:spPr>
          <a:xfrm>
            <a:off x="566928" y="3611880"/>
            <a:ext cx="10972800" cy="2377440"/>
          </a:xfrm>
          <a:prstGeom prst="rect">
            <a:avLst/>
          </a:prstGeom>
          <a:noFill/>
          <a:ln/>
        </p:spPr>
        <p:txBody>
          <a:bodyPr wrap="square" rtlCol="0" anchor="t"/>
          <a:lstStyle/>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Our income is still carried by interest on reserves, not by the rating business. A capital story, not yet an operating one.</a:t>
            </a:r>
            <a:endParaRPr lang="en-US" sz="1400" dirty="0"/>
          </a:p>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The Rs 25 Cr net worth barrier that stops most entrants is already cleared and parked in fixed deposits.</a:t>
            </a:r>
            <a:endParaRPr lang="en-US" sz="1400" dirty="0"/>
          </a:p>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Operating revenue has just begun to inflect. The plan is about converting that spark into a franchise.</a:t>
            </a:r>
            <a:endParaRPr lang="en-US" sz="1400" dirty="0"/>
          </a:p>
        </p:txBody>
      </p:sp>
      <p:sp>
        <p:nvSpPr>
          <p:cNvPr id="23" name="Text 21"/>
          <p:cNvSpPr/>
          <p:nvPr/>
        </p:nvSpPr>
        <p:spPr>
          <a:xfrm>
            <a:off x="566928" y="6419088"/>
            <a:ext cx="11064240" cy="320040"/>
          </a:xfrm>
          <a:prstGeom prst="rect">
            <a:avLst/>
          </a:prstGeom>
          <a:noFill/>
          <a:ln/>
        </p:spPr>
        <p:txBody>
          <a:bodyPr wrap="square" rtlCol="0" anchor="ctr"/>
          <a:lstStyle/>
          <a:p>
            <a:pPr indent="0" marL="0">
              <a:buNone/>
            </a:pPr>
            <a:r>
              <a:rPr lang="en-US" sz="900" i="1" dirty="0">
                <a:solidFill>
                  <a:srgbClr val="94A3B8"/>
                </a:solidFill>
                <a:latin typeface="Calibri" pitchFamily="34" charset="0"/>
                <a:ea typeface="Calibri" pitchFamily="34" charset="-122"/>
                <a:cs typeface="Calibri" pitchFamily="34" charset="-120"/>
              </a:rPr>
              <a:t>Source: ACER financials, Zoho Books actuals to 21-Jul-2026 [1]. SEBI net worth requirement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338560" y="411480"/>
            <a:ext cx="457200" cy="274320"/>
          </a:xfrm>
          <a:prstGeom prst="rect">
            <a:avLst/>
          </a:prstGeom>
          <a:noFill/>
          <a:ln/>
        </p:spPr>
        <p:txBody>
          <a:bodyPr wrap="square" rtlCol="0" anchor="ctr"/>
          <a:lstStyle/>
          <a:p>
            <a:pPr algn="r" indent="0" marL="0">
              <a:buNone/>
            </a:pPr>
            <a:r>
              <a:rPr lang="en-US" sz="1100" b="1" dirty="0">
                <a:solidFill>
                  <a:srgbClr val="94A3B8"/>
                </a:solidFill>
                <a:latin typeface="Calibri" pitchFamily="34" charset="0"/>
                <a:ea typeface="Calibri" pitchFamily="34" charset="-122"/>
                <a:cs typeface="Calibri" pitchFamily="34" charset="-120"/>
              </a:rPr>
              <a:t>03</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2B5CC4"/>
                </a:solidFill>
                <a:latin typeface="Calibri" pitchFamily="34" charset="0"/>
                <a:ea typeface="Calibri" pitchFamily="34" charset="-122"/>
                <a:cs typeface="Calibri" pitchFamily="34" charset="-120"/>
              </a:rPr>
              <a:t>STRATEGY</a:t>
            </a:r>
            <a:endParaRPr lang="en-US" sz="1100" dirty="0"/>
          </a:p>
        </p:txBody>
      </p:sp>
      <p:sp>
        <p:nvSpPr>
          <p:cNvPr id="4" name="Text 2"/>
          <p:cNvSpPr/>
          <p:nvPr/>
        </p:nvSpPr>
        <p:spPr>
          <a:xfrm>
            <a:off x="566928" y="713232"/>
            <a:ext cx="10972800" cy="640080"/>
          </a:xfrm>
          <a:prstGeom prst="rect">
            <a:avLst/>
          </a:prstGeom>
          <a:noFill/>
          <a:ln/>
        </p:spPr>
        <p:txBody>
          <a:bodyPr wrap="square"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thesis, BLR is the switch</a:t>
            </a:r>
            <a:endParaRPr lang="en-US" sz="3200" dirty="0"/>
          </a:p>
        </p:txBody>
      </p:sp>
      <p:sp>
        <p:nvSpPr>
          <p:cNvPr id="5" name="Text 3"/>
          <p:cNvSpPr/>
          <p:nvPr/>
        </p:nvSpPr>
        <p:spPr>
          <a:xfrm>
            <a:off x="566928" y="1371600"/>
            <a:ext cx="11064240" cy="457200"/>
          </a:xfrm>
          <a:prstGeom prst="rect">
            <a:avLst/>
          </a:prstGeom>
          <a:noFill/>
          <a:ln/>
        </p:spPr>
        <p:txBody>
          <a:bodyPr wrap="square" rtlCol="0" anchor="ctr"/>
          <a:lstStyle/>
          <a:p>
            <a:pPr indent="0" marL="0">
              <a:buNone/>
            </a:pPr>
            <a:r>
              <a:rPr lang="en-US" sz="1500" dirty="0">
                <a:solidFill>
                  <a:srgbClr val="64748B"/>
                </a:solidFill>
                <a:latin typeface="Calibri" pitchFamily="34" charset="0"/>
                <a:ea typeface="Calibri" pitchFamily="34" charset="-122"/>
                <a:cs typeface="Calibri" pitchFamily="34" charset="-120"/>
              </a:rPr>
              <a:t>One regulatory milestone converts idle capital into an operating engine.</a:t>
            </a:r>
            <a:endParaRPr lang="en-US" sz="1500" dirty="0"/>
          </a:p>
        </p:txBody>
      </p:sp>
      <p:sp>
        <p:nvSpPr>
          <p:cNvPr id="6" name="Shape 4"/>
          <p:cNvSpPr/>
          <p:nvPr/>
        </p:nvSpPr>
        <p:spPr>
          <a:xfrm>
            <a:off x="566928" y="1965960"/>
            <a:ext cx="3520440" cy="1691640"/>
          </a:xfrm>
          <a:prstGeom prst="roundRect">
            <a:avLst>
              <a:gd name="adj" fmla="val 3784"/>
            </a:avLst>
          </a:prstGeom>
          <a:solidFill>
            <a:srgbClr val="F5F8FB"/>
          </a:solidFill>
          <a:ln w="12700">
            <a:solidFill>
              <a:srgbClr val="E2E8F0"/>
            </a:solidFill>
            <a:prstDash val="solid"/>
          </a:ln>
        </p:spPr>
      </p:sp>
      <p:sp>
        <p:nvSpPr>
          <p:cNvPr id="7" name="Text 5"/>
          <p:cNvSpPr/>
          <p:nvPr/>
        </p:nvSpPr>
        <p:spPr>
          <a:xfrm>
            <a:off x="768096" y="2121408"/>
            <a:ext cx="3108960" cy="320040"/>
          </a:xfrm>
          <a:prstGeom prst="rect">
            <a:avLst/>
          </a:prstGeom>
          <a:noFill/>
          <a:ln/>
        </p:spPr>
        <p:txBody>
          <a:bodyPr wrap="square" rtlCol="0" anchor="ctr"/>
          <a:lstStyle/>
          <a:p>
            <a:pPr indent="0" marL="0">
              <a:buNone/>
            </a:pPr>
            <a:r>
              <a:rPr lang="en-US" sz="1500" b="1" dirty="0">
                <a:solidFill>
                  <a:srgbClr val="0F172A"/>
                </a:solidFill>
                <a:latin typeface="Cambria" pitchFamily="34" charset="0"/>
                <a:ea typeface="Cambria" pitchFamily="34" charset="-122"/>
                <a:cs typeface="Cambria" pitchFamily="34" charset="-120"/>
              </a:rPr>
              <a:t>1. The lever</a:t>
            </a:r>
            <a:endParaRPr lang="en-US" sz="1500" dirty="0"/>
          </a:p>
        </p:txBody>
      </p:sp>
      <p:sp>
        <p:nvSpPr>
          <p:cNvPr id="8" name="Text 6"/>
          <p:cNvSpPr/>
          <p:nvPr/>
        </p:nvSpPr>
        <p:spPr>
          <a:xfrm>
            <a:off x="768096" y="2487168"/>
            <a:ext cx="3154680" cy="1051560"/>
          </a:xfrm>
          <a:prstGeom prst="rect">
            <a:avLst/>
          </a:prstGeom>
          <a:noFill/>
          <a:ln/>
        </p:spPr>
        <p:txBody>
          <a:bodyPr wrap="square" rtlCol="0" anchor="ctr"/>
          <a:lstStyle/>
          <a:p>
            <a:pPr indent="0" marL="0">
              <a:buNone/>
            </a:pPr>
            <a:r>
              <a:rPr lang="en-US" sz="1300" dirty="0">
                <a:solidFill>
                  <a:srgbClr val="334155"/>
                </a:solidFill>
                <a:latin typeface="Calibri" pitchFamily="34" charset="0"/>
                <a:ea typeface="Calibri" pitchFamily="34" charset="-122"/>
                <a:cs typeface="Calibri" pitchFamily="34" charset="-120"/>
              </a:rPr>
              <a:t>Bank Loan Ratings, via RBI ECAI accreditation. Every bank borrower is a candidate, the industry's true volume engine.</a:t>
            </a:r>
            <a:endParaRPr lang="en-US" sz="1300" dirty="0"/>
          </a:p>
        </p:txBody>
      </p:sp>
      <p:sp>
        <p:nvSpPr>
          <p:cNvPr id="9" name="Shape 7"/>
          <p:cNvSpPr/>
          <p:nvPr/>
        </p:nvSpPr>
        <p:spPr>
          <a:xfrm>
            <a:off x="4270248" y="1965960"/>
            <a:ext cx="3520440" cy="1691640"/>
          </a:xfrm>
          <a:prstGeom prst="roundRect">
            <a:avLst>
              <a:gd name="adj" fmla="val 3784"/>
            </a:avLst>
          </a:prstGeom>
          <a:solidFill>
            <a:srgbClr val="F5F8FB"/>
          </a:solidFill>
          <a:ln w="12700">
            <a:solidFill>
              <a:srgbClr val="E2E8F0"/>
            </a:solidFill>
            <a:prstDash val="solid"/>
          </a:ln>
        </p:spPr>
      </p:sp>
      <p:sp>
        <p:nvSpPr>
          <p:cNvPr id="10" name="Text 8"/>
          <p:cNvSpPr/>
          <p:nvPr/>
        </p:nvSpPr>
        <p:spPr>
          <a:xfrm>
            <a:off x="4471416" y="2121408"/>
            <a:ext cx="3108960" cy="320040"/>
          </a:xfrm>
          <a:prstGeom prst="rect">
            <a:avLst/>
          </a:prstGeom>
          <a:noFill/>
          <a:ln/>
        </p:spPr>
        <p:txBody>
          <a:bodyPr wrap="square" rtlCol="0" anchor="ctr"/>
          <a:lstStyle/>
          <a:p>
            <a:pPr indent="0" marL="0">
              <a:buNone/>
            </a:pPr>
            <a:r>
              <a:rPr lang="en-US" sz="1500" b="1" dirty="0">
                <a:solidFill>
                  <a:srgbClr val="0F172A"/>
                </a:solidFill>
                <a:latin typeface="Cambria" pitchFamily="34" charset="0"/>
                <a:ea typeface="Cambria" pitchFamily="34" charset="-122"/>
                <a:cs typeface="Cambria" pitchFamily="34" charset="-120"/>
              </a:rPr>
              <a:t>2. The proof</a:t>
            </a:r>
            <a:endParaRPr lang="en-US" sz="1500" dirty="0"/>
          </a:p>
        </p:txBody>
      </p:sp>
      <p:sp>
        <p:nvSpPr>
          <p:cNvPr id="11" name="Text 9"/>
          <p:cNvSpPr/>
          <p:nvPr/>
        </p:nvSpPr>
        <p:spPr>
          <a:xfrm>
            <a:off x="4471416" y="2487168"/>
            <a:ext cx="3154680" cy="1051560"/>
          </a:xfrm>
          <a:prstGeom prst="rect">
            <a:avLst/>
          </a:prstGeom>
          <a:noFill/>
          <a:ln/>
        </p:spPr>
        <p:txBody>
          <a:bodyPr wrap="square" rtlCol="0" anchor="ctr"/>
          <a:lstStyle/>
          <a:p>
            <a:pPr indent="0" marL="0">
              <a:buNone/>
            </a:pPr>
            <a:r>
              <a:rPr lang="en-US" sz="1300" dirty="0">
                <a:solidFill>
                  <a:srgbClr val="334155"/>
                </a:solidFill>
                <a:latin typeface="Calibri" pitchFamily="34" charset="0"/>
                <a:ea typeface="Calibri" pitchFamily="34" charset="-122"/>
                <a:cs typeface="Calibri" pitchFamily="34" charset="-120"/>
              </a:rPr>
              <a:t>Every small CRA scaled on BLR. Infomerics grew rating revenue from Rs 64 Cr to Rs 95 Cr in three years, BLR led.</a:t>
            </a:r>
            <a:endParaRPr lang="en-US" sz="1300" dirty="0"/>
          </a:p>
        </p:txBody>
      </p:sp>
      <p:sp>
        <p:nvSpPr>
          <p:cNvPr id="12" name="Shape 10"/>
          <p:cNvSpPr/>
          <p:nvPr/>
        </p:nvSpPr>
        <p:spPr>
          <a:xfrm>
            <a:off x="7973568" y="1965960"/>
            <a:ext cx="3520440" cy="1691640"/>
          </a:xfrm>
          <a:prstGeom prst="roundRect">
            <a:avLst>
              <a:gd name="adj" fmla="val 3784"/>
            </a:avLst>
          </a:prstGeom>
          <a:solidFill>
            <a:srgbClr val="F5F8FB"/>
          </a:solidFill>
          <a:ln w="12700">
            <a:solidFill>
              <a:srgbClr val="E2E8F0"/>
            </a:solidFill>
            <a:prstDash val="solid"/>
          </a:ln>
        </p:spPr>
      </p:sp>
      <p:sp>
        <p:nvSpPr>
          <p:cNvPr id="13" name="Text 11"/>
          <p:cNvSpPr/>
          <p:nvPr/>
        </p:nvSpPr>
        <p:spPr>
          <a:xfrm>
            <a:off x="8174736" y="2121408"/>
            <a:ext cx="3108960" cy="320040"/>
          </a:xfrm>
          <a:prstGeom prst="rect">
            <a:avLst/>
          </a:prstGeom>
          <a:noFill/>
          <a:ln/>
        </p:spPr>
        <p:txBody>
          <a:bodyPr wrap="square" rtlCol="0" anchor="ctr"/>
          <a:lstStyle/>
          <a:p>
            <a:pPr indent="0" marL="0">
              <a:buNone/>
            </a:pPr>
            <a:r>
              <a:rPr lang="en-US" sz="1500" b="1" dirty="0">
                <a:solidFill>
                  <a:srgbClr val="0F172A"/>
                </a:solidFill>
                <a:latin typeface="Cambria" pitchFamily="34" charset="0"/>
                <a:ea typeface="Cambria" pitchFamily="34" charset="-122"/>
                <a:cs typeface="Cambria" pitchFamily="34" charset="-120"/>
              </a:rPr>
              <a:t>3. The capacity</a:t>
            </a:r>
            <a:endParaRPr lang="en-US" sz="1500" dirty="0"/>
          </a:p>
        </p:txBody>
      </p:sp>
      <p:sp>
        <p:nvSpPr>
          <p:cNvPr id="14" name="Text 12"/>
          <p:cNvSpPr/>
          <p:nvPr/>
        </p:nvSpPr>
        <p:spPr>
          <a:xfrm>
            <a:off x="8174736" y="2487168"/>
            <a:ext cx="3154680" cy="1051560"/>
          </a:xfrm>
          <a:prstGeom prst="rect">
            <a:avLst/>
          </a:prstGeom>
          <a:noFill/>
          <a:ln/>
        </p:spPr>
        <p:txBody>
          <a:bodyPr wrap="square" rtlCol="0" anchor="ctr"/>
          <a:lstStyle/>
          <a:p>
            <a:pPr indent="0" marL="0">
              <a:buNone/>
            </a:pPr>
            <a:r>
              <a:rPr lang="en-US" sz="1300" dirty="0">
                <a:solidFill>
                  <a:srgbClr val="334155"/>
                </a:solidFill>
                <a:latin typeface="Calibri" pitchFamily="34" charset="0"/>
                <a:ea typeface="Calibri" pitchFamily="34" charset="-122"/>
                <a:cs typeface="Calibri" pitchFamily="34" charset="-120"/>
              </a:rPr>
              <a:t>Two senior hires, Rs 95 L per year, plus 4 BDs, put in place ahead of the licence to service mandates from day one.</a:t>
            </a:r>
            <a:endParaRPr lang="en-US" sz="1300" dirty="0"/>
          </a:p>
        </p:txBody>
      </p:sp>
      <p:sp>
        <p:nvSpPr>
          <p:cNvPr id="15" name="Text 13"/>
          <p:cNvSpPr/>
          <p:nvPr/>
        </p:nvSpPr>
        <p:spPr>
          <a:xfrm>
            <a:off x="566928" y="3977640"/>
            <a:ext cx="10972800" cy="1828800"/>
          </a:xfrm>
          <a:prstGeom prst="rect">
            <a:avLst/>
          </a:prstGeom>
          <a:noFill/>
          <a:ln/>
        </p:spPr>
        <p:txBody>
          <a:bodyPr wrap="square" rtlCol="0" anchor="t"/>
          <a:lstStyle/>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What we will do, invest through FY27 to be ready, win BLR mandates the moment the licence lands, and let recurring surveillance fees compound into a durable annuity.</a:t>
            </a:r>
            <a:endParaRPr lang="en-US" sz="1400" dirty="0"/>
          </a:p>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Why it is defensible, we already meet the net worth bar, we are competitively priced, and the model is proven across the peer set.</a:t>
            </a:r>
            <a:endParaRPr lang="en-US" sz="1400" dirty="0"/>
          </a:p>
        </p:txBody>
      </p:sp>
      <p:sp>
        <p:nvSpPr>
          <p:cNvPr id="16" name="Text 14"/>
          <p:cNvSpPr/>
          <p:nvPr/>
        </p:nvSpPr>
        <p:spPr>
          <a:xfrm>
            <a:off x="566928" y="6419088"/>
            <a:ext cx="11064240" cy="320040"/>
          </a:xfrm>
          <a:prstGeom prst="rect">
            <a:avLst/>
          </a:prstGeom>
          <a:noFill/>
          <a:ln/>
        </p:spPr>
        <p:txBody>
          <a:bodyPr wrap="square" rtlCol="0" anchor="ctr"/>
          <a:lstStyle/>
          <a:p>
            <a:pPr indent="0" marL="0">
              <a:buNone/>
            </a:pPr>
            <a:r>
              <a:rPr lang="en-US" sz="900" i="1" dirty="0">
                <a:solidFill>
                  <a:srgbClr val="94A3B8"/>
                </a:solidFill>
                <a:latin typeface="Calibri" pitchFamily="34" charset="0"/>
                <a:ea typeface="Calibri" pitchFamily="34" charset="-122"/>
                <a:cs typeface="Calibri" pitchFamily="34" charset="-120"/>
              </a:rPr>
              <a:t>Source: Infomerics FY24 to FY26 income disclosures, infomerics.com [7]. Hire costs, ACER payroll [1]. Regulatory basis, SEBI and RBI ECAI framework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338560" y="411480"/>
            <a:ext cx="457200" cy="274320"/>
          </a:xfrm>
          <a:prstGeom prst="rect">
            <a:avLst/>
          </a:prstGeom>
          <a:noFill/>
          <a:ln/>
        </p:spPr>
        <p:txBody>
          <a:bodyPr wrap="square" rtlCol="0" anchor="ctr"/>
          <a:lstStyle/>
          <a:p>
            <a:pPr algn="r" indent="0" marL="0">
              <a:buNone/>
            </a:pPr>
            <a:r>
              <a:rPr lang="en-US" sz="1100" b="1" dirty="0">
                <a:solidFill>
                  <a:srgbClr val="94A3B8"/>
                </a:solidFill>
                <a:latin typeface="Calibri" pitchFamily="34" charset="0"/>
                <a:ea typeface="Calibri" pitchFamily="34" charset="-122"/>
                <a:cs typeface="Calibri" pitchFamily="34" charset="-120"/>
              </a:rPr>
              <a:t>04</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2B5CC4"/>
                </a:solidFill>
                <a:latin typeface="Calibri" pitchFamily="34" charset="0"/>
                <a:ea typeface="Calibri" pitchFamily="34" charset="-122"/>
                <a:cs typeface="Calibri" pitchFamily="34" charset="-120"/>
              </a:rPr>
              <a:t>THE REVENUE ENGINE</a:t>
            </a:r>
            <a:endParaRPr lang="en-US" sz="1100" dirty="0"/>
          </a:p>
        </p:txBody>
      </p:sp>
      <p:sp>
        <p:nvSpPr>
          <p:cNvPr id="4" name="Text 2"/>
          <p:cNvSpPr/>
          <p:nvPr/>
        </p:nvSpPr>
        <p:spPr>
          <a:xfrm>
            <a:off x="566928" y="713232"/>
            <a:ext cx="10972800" cy="640080"/>
          </a:xfrm>
          <a:prstGeom prst="rect">
            <a:avLst/>
          </a:prstGeom>
          <a:noFill/>
          <a:ln/>
        </p:spPr>
        <p:txBody>
          <a:bodyPr wrap="square"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Unit economics of one BLR mandate</a:t>
            </a:r>
            <a:endParaRPr lang="en-US" sz="3200" dirty="0"/>
          </a:p>
        </p:txBody>
      </p:sp>
      <p:sp>
        <p:nvSpPr>
          <p:cNvPr id="5" name="Shape 3"/>
          <p:cNvSpPr/>
          <p:nvPr/>
        </p:nvSpPr>
        <p:spPr>
          <a:xfrm>
            <a:off x="566928" y="1737360"/>
            <a:ext cx="2606040" cy="1371600"/>
          </a:xfrm>
          <a:prstGeom prst="roundRect">
            <a:avLst>
              <a:gd name="adj" fmla="val 4000"/>
            </a:avLst>
          </a:prstGeom>
          <a:solidFill>
            <a:srgbClr val="F5F8FB"/>
          </a:solidFill>
          <a:ln w="12700">
            <a:solidFill>
              <a:srgbClr val="E2E8F0"/>
            </a:solidFill>
            <a:prstDash val="solid"/>
          </a:ln>
        </p:spPr>
      </p:sp>
      <p:sp>
        <p:nvSpPr>
          <p:cNvPr id="6" name="Text 4"/>
          <p:cNvSpPr/>
          <p:nvPr/>
        </p:nvSpPr>
        <p:spPr>
          <a:xfrm>
            <a:off x="731520" y="1865376"/>
            <a:ext cx="2276856"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Ticket, min debt rated</a:t>
            </a:r>
            <a:endParaRPr lang="en-US" sz="1100" dirty="0"/>
          </a:p>
        </p:txBody>
      </p:sp>
      <p:sp>
        <p:nvSpPr>
          <p:cNvPr id="7" name="Text 5"/>
          <p:cNvSpPr/>
          <p:nvPr/>
        </p:nvSpPr>
        <p:spPr>
          <a:xfrm>
            <a:off x="731520" y="2121408"/>
            <a:ext cx="2276856" cy="457200"/>
          </a:xfrm>
          <a:prstGeom prst="rect">
            <a:avLst/>
          </a:prstGeom>
          <a:noFill/>
          <a:ln/>
        </p:spPr>
        <p:txBody>
          <a:bodyPr wrap="square" rtlCol="0" anchor="ctr"/>
          <a:lstStyle/>
          <a:p>
            <a:pPr indent="0" marL="0">
              <a:buNone/>
            </a:pPr>
            <a:r>
              <a:rPr lang="en-US" sz="2200" b="1" dirty="0">
                <a:solidFill>
                  <a:srgbClr val="0F172A"/>
                </a:solidFill>
                <a:latin typeface="Cambria" pitchFamily="34" charset="0"/>
                <a:ea typeface="Cambria" pitchFamily="34" charset="-122"/>
                <a:cs typeface="Cambria" pitchFamily="34" charset="-120"/>
              </a:rPr>
              <a:t>Rs 100 Cr</a:t>
            </a:r>
            <a:endParaRPr lang="en-US" sz="2200" dirty="0"/>
          </a:p>
        </p:txBody>
      </p:sp>
      <p:sp>
        <p:nvSpPr>
          <p:cNvPr id="8" name="Shape 6"/>
          <p:cNvSpPr/>
          <p:nvPr/>
        </p:nvSpPr>
        <p:spPr>
          <a:xfrm>
            <a:off x="3328416" y="1737360"/>
            <a:ext cx="2606040" cy="1371600"/>
          </a:xfrm>
          <a:prstGeom prst="roundRect">
            <a:avLst>
              <a:gd name="adj" fmla="val 4000"/>
            </a:avLst>
          </a:prstGeom>
          <a:solidFill>
            <a:srgbClr val="F5F8FB"/>
          </a:solidFill>
          <a:ln w="12700">
            <a:solidFill>
              <a:srgbClr val="E2E8F0"/>
            </a:solidFill>
            <a:prstDash val="solid"/>
          </a:ln>
        </p:spPr>
      </p:sp>
      <p:sp>
        <p:nvSpPr>
          <p:cNvPr id="9" name="Text 7"/>
          <p:cNvSpPr/>
          <p:nvPr/>
        </p:nvSpPr>
        <p:spPr>
          <a:xfrm>
            <a:off x="3493008" y="1865376"/>
            <a:ext cx="2276856"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Initial fee, 3 bps</a:t>
            </a:r>
            <a:endParaRPr lang="en-US" sz="1100" dirty="0"/>
          </a:p>
        </p:txBody>
      </p:sp>
      <p:sp>
        <p:nvSpPr>
          <p:cNvPr id="10" name="Text 8"/>
          <p:cNvSpPr/>
          <p:nvPr/>
        </p:nvSpPr>
        <p:spPr>
          <a:xfrm>
            <a:off x="3493008" y="2121408"/>
            <a:ext cx="2276856" cy="457200"/>
          </a:xfrm>
          <a:prstGeom prst="rect">
            <a:avLst/>
          </a:prstGeom>
          <a:noFill/>
          <a:ln/>
        </p:spPr>
        <p:txBody>
          <a:bodyPr wrap="square" rtlCol="0" anchor="ctr"/>
          <a:lstStyle/>
          <a:p>
            <a:pPr indent="0" marL="0">
              <a:buNone/>
            </a:pPr>
            <a:r>
              <a:rPr lang="en-US" sz="2200" b="1" dirty="0">
                <a:solidFill>
                  <a:srgbClr val="0F172A"/>
                </a:solidFill>
                <a:latin typeface="Cambria" pitchFamily="34" charset="0"/>
                <a:ea typeface="Cambria" pitchFamily="34" charset="-122"/>
                <a:cs typeface="Cambria" pitchFamily="34" charset="-120"/>
              </a:rPr>
              <a:t>Rs 3.0 L</a:t>
            </a:r>
            <a:endParaRPr lang="en-US" sz="2200" dirty="0"/>
          </a:p>
        </p:txBody>
      </p:sp>
      <p:sp>
        <p:nvSpPr>
          <p:cNvPr id="11" name="Text 9"/>
          <p:cNvSpPr/>
          <p:nvPr/>
        </p:nvSpPr>
        <p:spPr>
          <a:xfrm>
            <a:off x="3493008" y="2606040"/>
            <a:ext cx="2276856" cy="36576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one time, at onboarding</a:t>
            </a:r>
            <a:endParaRPr lang="en-US" sz="950" dirty="0"/>
          </a:p>
        </p:txBody>
      </p:sp>
      <p:sp>
        <p:nvSpPr>
          <p:cNvPr id="12" name="Shape 10"/>
          <p:cNvSpPr/>
          <p:nvPr/>
        </p:nvSpPr>
        <p:spPr>
          <a:xfrm>
            <a:off x="6089904" y="1737360"/>
            <a:ext cx="2606040" cy="1371600"/>
          </a:xfrm>
          <a:prstGeom prst="roundRect">
            <a:avLst>
              <a:gd name="adj" fmla="val 4000"/>
            </a:avLst>
          </a:prstGeom>
          <a:solidFill>
            <a:srgbClr val="F5F8FB"/>
          </a:solidFill>
          <a:ln w="12700">
            <a:solidFill>
              <a:srgbClr val="E2E8F0"/>
            </a:solidFill>
            <a:prstDash val="solid"/>
          </a:ln>
        </p:spPr>
      </p:sp>
      <p:sp>
        <p:nvSpPr>
          <p:cNvPr id="13" name="Text 11"/>
          <p:cNvSpPr/>
          <p:nvPr/>
        </p:nvSpPr>
        <p:spPr>
          <a:xfrm>
            <a:off x="6254496" y="1865376"/>
            <a:ext cx="2276856"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Surveillance, 1.5 bps</a:t>
            </a:r>
            <a:endParaRPr lang="en-US" sz="1100" dirty="0"/>
          </a:p>
        </p:txBody>
      </p:sp>
      <p:sp>
        <p:nvSpPr>
          <p:cNvPr id="14" name="Text 12"/>
          <p:cNvSpPr/>
          <p:nvPr/>
        </p:nvSpPr>
        <p:spPr>
          <a:xfrm>
            <a:off x="6254496" y="2121408"/>
            <a:ext cx="2276856" cy="457200"/>
          </a:xfrm>
          <a:prstGeom prst="rect">
            <a:avLst/>
          </a:prstGeom>
          <a:noFill/>
          <a:ln/>
        </p:spPr>
        <p:txBody>
          <a:bodyPr wrap="square" rtlCol="0" anchor="ctr"/>
          <a:lstStyle/>
          <a:p>
            <a:pPr indent="0" marL="0">
              <a:buNone/>
            </a:pPr>
            <a:r>
              <a:rPr lang="en-US" sz="2200" b="1" dirty="0">
                <a:solidFill>
                  <a:srgbClr val="0F172A"/>
                </a:solidFill>
                <a:latin typeface="Cambria" pitchFamily="34" charset="0"/>
                <a:ea typeface="Cambria" pitchFamily="34" charset="-122"/>
                <a:cs typeface="Cambria" pitchFamily="34" charset="-120"/>
              </a:rPr>
              <a:t>Rs 1.5 L</a:t>
            </a:r>
            <a:endParaRPr lang="en-US" sz="2200" dirty="0"/>
          </a:p>
        </p:txBody>
      </p:sp>
      <p:sp>
        <p:nvSpPr>
          <p:cNvPr id="15" name="Text 13"/>
          <p:cNvSpPr/>
          <p:nvPr/>
        </p:nvSpPr>
        <p:spPr>
          <a:xfrm>
            <a:off x="6254496" y="2606040"/>
            <a:ext cx="2276856" cy="36576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every year, recurring</a:t>
            </a:r>
            <a:endParaRPr lang="en-US" sz="950" dirty="0"/>
          </a:p>
        </p:txBody>
      </p:sp>
      <p:sp>
        <p:nvSpPr>
          <p:cNvPr id="16" name="Shape 14"/>
          <p:cNvSpPr/>
          <p:nvPr/>
        </p:nvSpPr>
        <p:spPr>
          <a:xfrm>
            <a:off x="8851392" y="1737360"/>
            <a:ext cx="2606040" cy="1371600"/>
          </a:xfrm>
          <a:prstGeom prst="roundRect">
            <a:avLst>
              <a:gd name="adj" fmla="val 4000"/>
            </a:avLst>
          </a:prstGeom>
          <a:solidFill>
            <a:srgbClr val="F5F8FB"/>
          </a:solidFill>
          <a:ln w="12700">
            <a:solidFill>
              <a:srgbClr val="E2E8F0"/>
            </a:solidFill>
            <a:prstDash val="solid"/>
          </a:ln>
        </p:spPr>
      </p:sp>
      <p:sp>
        <p:nvSpPr>
          <p:cNvPr id="17" name="Text 15"/>
          <p:cNvSpPr/>
          <p:nvPr/>
        </p:nvSpPr>
        <p:spPr>
          <a:xfrm>
            <a:off x="9015984" y="1865376"/>
            <a:ext cx="2276856" cy="27432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Target volume</a:t>
            </a:r>
            <a:endParaRPr lang="en-US" sz="1100" dirty="0"/>
          </a:p>
        </p:txBody>
      </p:sp>
      <p:sp>
        <p:nvSpPr>
          <p:cNvPr id="18" name="Text 16"/>
          <p:cNvSpPr/>
          <p:nvPr/>
        </p:nvSpPr>
        <p:spPr>
          <a:xfrm>
            <a:off x="9015984" y="2121408"/>
            <a:ext cx="2276856" cy="457200"/>
          </a:xfrm>
          <a:prstGeom prst="rect">
            <a:avLst/>
          </a:prstGeom>
          <a:noFill/>
          <a:ln/>
        </p:spPr>
        <p:txBody>
          <a:bodyPr wrap="square" rtlCol="0" anchor="ctr"/>
          <a:lstStyle/>
          <a:p>
            <a:pPr indent="0" marL="0">
              <a:buNone/>
            </a:pPr>
            <a:r>
              <a:rPr lang="en-US" sz="2200" b="1" dirty="0">
                <a:solidFill>
                  <a:srgbClr val="0F172A"/>
                </a:solidFill>
                <a:latin typeface="Cambria" pitchFamily="34" charset="0"/>
                <a:ea typeface="Cambria" pitchFamily="34" charset="-122"/>
                <a:cs typeface="Cambria" pitchFamily="34" charset="-120"/>
              </a:rPr>
              <a:t>16 / mo</a:t>
            </a:r>
            <a:endParaRPr lang="en-US" sz="2200" dirty="0"/>
          </a:p>
        </p:txBody>
      </p:sp>
      <p:sp>
        <p:nvSpPr>
          <p:cNvPr id="19" name="Text 17"/>
          <p:cNvSpPr/>
          <p:nvPr/>
        </p:nvSpPr>
        <p:spPr>
          <a:xfrm>
            <a:off x="9015984" y="2606040"/>
            <a:ext cx="2276856" cy="365760"/>
          </a:xfrm>
          <a:prstGeom prst="rect">
            <a:avLst/>
          </a:prstGeom>
          <a:noFill/>
          <a:ln/>
        </p:spPr>
        <p:txBody>
          <a:bodyPr wrap="square" rtlCol="0" anchor="ctr"/>
          <a:lstStyle/>
          <a:p>
            <a:pPr indent="0" marL="0">
              <a:buNone/>
            </a:pPr>
            <a:r>
              <a:rPr lang="en-US" sz="950" dirty="0">
                <a:solidFill>
                  <a:srgbClr val="94A3B8"/>
                </a:solidFill>
                <a:latin typeface="Calibri" pitchFamily="34" charset="0"/>
                <a:ea typeface="Calibri" pitchFamily="34" charset="-122"/>
                <a:cs typeface="Calibri" pitchFamily="34" charset="-120"/>
              </a:rPr>
              <a:t>4 BDs x 4 cases</a:t>
            </a:r>
            <a:endParaRPr lang="en-US" sz="950" dirty="0"/>
          </a:p>
        </p:txBody>
      </p:sp>
      <p:sp>
        <p:nvSpPr>
          <p:cNvPr id="20" name="Shape 18"/>
          <p:cNvSpPr/>
          <p:nvPr/>
        </p:nvSpPr>
        <p:spPr>
          <a:xfrm>
            <a:off x="566928" y="3291840"/>
            <a:ext cx="5440680" cy="1097280"/>
          </a:xfrm>
          <a:prstGeom prst="roundRect">
            <a:avLst>
              <a:gd name="adj" fmla="val 5000"/>
            </a:avLst>
          </a:prstGeom>
          <a:solidFill>
            <a:srgbClr val="EEF2FC"/>
          </a:solidFill>
          <a:ln w="12700">
            <a:solidFill>
              <a:srgbClr val="E2E8F0"/>
            </a:solidFill>
            <a:prstDash val="solid"/>
          </a:ln>
        </p:spPr>
      </p:sp>
      <p:sp>
        <p:nvSpPr>
          <p:cNvPr id="21" name="Text 19"/>
          <p:cNvSpPr/>
          <p:nvPr/>
        </p:nvSpPr>
        <p:spPr>
          <a:xfrm>
            <a:off x="749808" y="3456432"/>
            <a:ext cx="5029200" cy="27432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Initial fees at full run rate, 192 per year</a:t>
            </a:r>
            <a:endParaRPr lang="en-US" sz="1200" dirty="0"/>
          </a:p>
        </p:txBody>
      </p:sp>
      <p:sp>
        <p:nvSpPr>
          <p:cNvPr id="22" name="Text 20"/>
          <p:cNvSpPr/>
          <p:nvPr/>
        </p:nvSpPr>
        <p:spPr>
          <a:xfrm>
            <a:off x="749808" y="3749040"/>
            <a:ext cx="5029200" cy="457200"/>
          </a:xfrm>
          <a:prstGeom prst="rect">
            <a:avLst/>
          </a:prstGeom>
          <a:noFill/>
          <a:ln/>
        </p:spPr>
        <p:txBody>
          <a:bodyPr wrap="square" rtlCol="0" anchor="ctr"/>
          <a:lstStyle/>
          <a:p>
            <a:pPr indent="0" marL="0">
              <a:buNone/>
            </a:pPr>
            <a:r>
              <a:rPr lang="en-US" sz="2400" b="1" dirty="0">
                <a:solidFill>
                  <a:srgbClr val="2B5CC4"/>
                </a:solidFill>
                <a:latin typeface="Cambria" pitchFamily="34" charset="0"/>
                <a:ea typeface="Cambria" pitchFamily="34" charset="-122"/>
                <a:cs typeface="Cambria" pitchFamily="34" charset="-120"/>
              </a:rPr>
              <a:t>Rs 5.76 Cr</a:t>
            </a:r>
            <a:endParaRPr lang="en-US" sz="2400" dirty="0"/>
          </a:p>
        </p:txBody>
      </p:sp>
      <p:sp>
        <p:nvSpPr>
          <p:cNvPr id="23" name="Shape 21"/>
          <p:cNvSpPr/>
          <p:nvPr/>
        </p:nvSpPr>
        <p:spPr>
          <a:xfrm>
            <a:off x="6190488" y="3291840"/>
            <a:ext cx="5440680" cy="1097280"/>
          </a:xfrm>
          <a:prstGeom prst="roundRect">
            <a:avLst>
              <a:gd name="adj" fmla="val 5000"/>
            </a:avLst>
          </a:prstGeom>
          <a:solidFill>
            <a:srgbClr val="EBF7F4"/>
          </a:solidFill>
          <a:ln w="12700">
            <a:solidFill>
              <a:srgbClr val="E2E8F0"/>
            </a:solidFill>
            <a:prstDash val="solid"/>
          </a:ln>
        </p:spPr>
      </p:sp>
      <p:sp>
        <p:nvSpPr>
          <p:cNvPr id="24" name="Text 22"/>
          <p:cNvSpPr/>
          <p:nvPr/>
        </p:nvSpPr>
        <p:spPr>
          <a:xfrm>
            <a:off x="6373368" y="3456432"/>
            <a:ext cx="5029200" cy="27432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Surveillance annuity on a full book</a:t>
            </a:r>
            <a:endParaRPr lang="en-US" sz="1200" dirty="0"/>
          </a:p>
        </p:txBody>
      </p:sp>
      <p:sp>
        <p:nvSpPr>
          <p:cNvPr id="25" name="Text 23"/>
          <p:cNvSpPr/>
          <p:nvPr/>
        </p:nvSpPr>
        <p:spPr>
          <a:xfrm>
            <a:off x="6373368" y="3749040"/>
            <a:ext cx="5029200" cy="457200"/>
          </a:xfrm>
          <a:prstGeom prst="rect">
            <a:avLst/>
          </a:prstGeom>
          <a:noFill/>
          <a:ln/>
        </p:spPr>
        <p:txBody>
          <a:bodyPr wrap="square" rtlCol="0" anchor="ctr"/>
          <a:lstStyle/>
          <a:p>
            <a:pPr indent="0" marL="0">
              <a:buNone/>
            </a:pPr>
            <a:r>
              <a:rPr lang="en-US" sz="2400" b="1" dirty="0">
                <a:solidFill>
                  <a:srgbClr val="0F766E"/>
                </a:solidFill>
                <a:latin typeface="Cambria" pitchFamily="34" charset="0"/>
                <a:ea typeface="Cambria" pitchFamily="34" charset="-122"/>
                <a:cs typeface="Cambria" pitchFamily="34" charset="-120"/>
              </a:rPr>
              <a:t>Rs 2.88 Cr / yr</a:t>
            </a:r>
            <a:endParaRPr lang="en-US" sz="2400" dirty="0"/>
          </a:p>
        </p:txBody>
      </p:sp>
      <p:sp>
        <p:nvSpPr>
          <p:cNvPr id="26" name="Text 24"/>
          <p:cNvSpPr/>
          <p:nvPr/>
        </p:nvSpPr>
        <p:spPr>
          <a:xfrm>
            <a:off x="566928" y="4572000"/>
            <a:ext cx="10972800" cy="1280160"/>
          </a:xfrm>
          <a:prstGeom prst="rect">
            <a:avLst/>
          </a:prstGeom>
          <a:noFill/>
          <a:ln/>
        </p:spPr>
        <p:txBody>
          <a:bodyPr wrap="square" rtlCol="0" anchor="t"/>
          <a:lstStyle/>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The initial fee funds the year. The surveillance fee builds the franchise, each cohort adds about Rs 2.9 Cr of recurring revenue that stacks on the next year's new business.</a:t>
            </a:r>
            <a:endParaRPr lang="en-US" sz="1400" dirty="0"/>
          </a:p>
        </p:txBody>
      </p:sp>
      <p:sp>
        <p:nvSpPr>
          <p:cNvPr id="27" name="Text 25"/>
          <p:cNvSpPr/>
          <p:nvPr/>
        </p:nvSpPr>
        <p:spPr>
          <a:xfrm>
            <a:off x="566928" y="6419088"/>
            <a:ext cx="11064240" cy="320040"/>
          </a:xfrm>
          <a:prstGeom prst="rect">
            <a:avLst/>
          </a:prstGeom>
          <a:noFill/>
          <a:ln/>
        </p:spPr>
        <p:txBody>
          <a:bodyPr wrap="square" rtlCol="0" anchor="ctr"/>
          <a:lstStyle/>
          <a:p>
            <a:pPr indent="0" marL="0">
              <a:buNone/>
            </a:pPr>
            <a:r>
              <a:rPr lang="en-US" sz="900" i="1" dirty="0">
                <a:solidFill>
                  <a:srgbClr val="94A3B8"/>
                </a:solidFill>
                <a:latin typeface="Calibri" pitchFamily="34" charset="0"/>
                <a:ea typeface="Calibri" pitchFamily="34" charset="-122"/>
                <a:cs typeface="Calibri" pitchFamily="34" charset="-120"/>
              </a:rPr>
              <a:t>Source: fee rates, ticket size and volume are ACER management and Board assumptions [2]. Annual figures computed from those inputs.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338560" y="411480"/>
            <a:ext cx="457200" cy="274320"/>
          </a:xfrm>
          <a:prstGeom prst="rect">
            <a:avLst/>
          </a:prstGeom>
          <a:noFill/>
          <a:ln/>
        </p:spPr>
        <p:txBody>
          <a:bodyPr wrap="square" rtlCol="0" anchor="ctr"/>
          <a:lstStyle/>
          <a:p>
            <a:pPr algn="r" indent="0" marL="0">
              <a:buNone/>
            </a:pPr>
            <a:r>
              <a:rPr lang="en-US" sz="1100" b="1" dirty="0">
                <a:solidFill>
                  <a:srgbClr val="94A3B8"/>
                </a:solidFill>
                <a:latin typeface="Calibri" pitchFamily="34" charset="0"/>
                <a:ea typeface="Calibri" pitchFamily="34" charset="-122"/>
                <a:cs typeface="Calibri" pitchFamily="34" charset="-120"/>
              </a:rPr>
              <a:t>05</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2B5CC4"/>
                </a:solidFill>
                <a:latin typeface="Calibri" pitchFamily="34" charset="0"/>
                <a:ea typeface="Calibri" pitchFamily="34" charset="-122"/>
                <a:cs typeface="Calibri" pitchFamily="34" charset="-120"/>
              </a:rPr>
              <a:t>THREE SCENARIOS, FY27</a:t>
            </a:r>
            <a:endParaRPr lang="en-US" sz="1100" dirty="0"/>
          </a:p>
        </p:txBody>
      </p:sp>
      <p:sp>
        <p:nvSpPr>
          <p:cNvPr id="4" name="Text 2"/>
          <p:cNvSpPr/>
          <p:nvPr/>
        </p:nvSpPr>
        <p:spPr>
          <a:xfrm>
            <a:off x="566928" y="713232"/>
            <a:ext cx="10972800" cy="640080"/>
          </a:xfrm>
          <a:prstGeom prst="rect">
            <a:avLst/>
          </a:prstGeom>
          <a:noFill/>
          <a:ln/>
        </p:spPr>
        <p:txBody>
          <a:bodyPr wrap="square"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How the year lands, by BLR timing</a:t>
            </a:r>
            <a:endParaRPr lang="en-US" sz="3200" dirty="0"/>
          </a:p>
        </p:txBody>
      </p:sp>
      <p:sp>
        <p:nvSpPr>
          <p:cNvPr id="5" name="Text 3"/>
          <p:cNvSpPr/>
          <p:nvPr/>
        </p:nvSpPr>
        <p:spPr>
          <a:xfrm>
            <a:off x="566928" y="1371600"/>
            <a:ext cx="11064240" cy="457200"/>
          </a:xfrm>
          <a:prstGeom prst="rect">
            <a:avLst/>
          </a:prstGeom>
          <a:noFill/>
          <a:ln/>
        </p:spPr>
        <p:txBody>
          <a:bodyPr wrap="square" rtlCol="0" anchor="ctr"/>
          <a:lstStyle/>
          <a:p>
            <a:pPr indent="0" marL="0">
              <a:buNone/>
            </a:pPr>
            <a:r>
              <a:rPr lang="en-US" sz="1500" dirty="0">
                <a:solidFill>
                  <a:srgbClr val="64748B"/>
                </a:solidFill>
                <a:latin typeface="Calibri" pitchFamily="34" charset="0"/>
                <a:ea typeface="Calibri" pitchFamily="34" charset="-122"/>
                <a:cs typeface="Calibri" pitchFamily="34" charset="-120"/>
              </a:rPr>
              <a:t>Same cost base, Rs 5.24 Cr, and same FD income. Only the licence date changes.</a:t>
            </a:r>
            <a:endParaRPr lang="en-US" sz="1500" dirty="0"/>
          </a:p>
        </p:txBody>
      </p:sp>
      <p:sp>
        <p:nvSpPr>
          <p:cNvPr id="6" name="Shape 4"/>
          <p:cNvSpPr/>
          <p:nvPr/>
        </p:nvSpPr>
        <p:spPr>
          <a:xfrm>
            <a:off x="566928" y="1965960"/>
            <a:ext cx="3520440" cy="3429000"/>
          </a:xfrm>
          <a:prstGeom prst="roundRect">
            <a:avLst>
              <a:gd name="adj" fmla="val 2133"/>
            </a:avLst>
          </a:prstGeom>
          <a:solidFill>
            <a:srgbClr val="F0FAF8"/>
          </a:solidFill>
          <a:ln w="22225">
            <a:solidFill>
              <a:srgbClr val="0F766E"/>
            </a:solidFill>
            <a:prstDash val="solid"/>
          </a:ln>
        </p:spPr>
      </p:sp>
      <p:sp>
        <p:nvSpPr>
          <p:cNvPr id="7" name="Shape 5"/>
          <p:cNvSpPr/>
          <p:nvPr/>
        </p:nvSpPr>
        <p:spPr>
          <a:xfrm>
            <a:off x="768096" y="2148840"/>
            <a:ext cx="1371600" cy="274320"/>
          </a:xfrm>
          <a:prstGeom prst="roundRect">
            <a:avLst>
              <a:gd name="adj" fmla="val 33333"/>
            </a:avLst>
          </a:prstGeom>
          <a:solidFill>
            <a:srgbClr val="D7F0EB"/>
          </a:solidFill>
          <a:ln/>
        </p:spPr>
      </p:sp>
      <p:sp>
        <p:nvSpPr>
          <p:cNvPr id="8" name="Text 6"/>
          <p:cNvSpPr/>
          <p:nvPr/>
        </p:nvSpPr>
        <p:spPr>
          <a:xfrm>
            <a:off x="768096" y="2148840"/>
            <a:ext cx="1371600" cy="274320"/>
          </a:xfrm>
          <a:prstGeom prst="rect">
            <a:avLst/>
          </a:prstGeom>
          <a:noFill/>
          <a:ln/>
        </p:spPr>
        <p:txBody>
          <a:bodyPr wrap="square" rtlCol="0" anchor="ctr"/>
          <a:lstStyle/>
          <a:p>
            <a:pPr algn="ctr" indent="0" marL="0">
              <a:buNone/>
            </a:pPr>
            <a:r>
              <a:rPr lang="en-US" sz="1000" b="1" dirty="0">
                <a:solidFill>
                  <a:srgbClr val="0F766E"/>
                </a:solidFill>
                <a:latin typeface="Calibri" pitchFamily="34" charset="0"/>
                <a:ea typeface="Calibri" pitchFamily="34" charset="-122"/>
                <a:cs typeface="Calibri" pitchFamily="34" charset="-120"/>
              </a:rPr>
              <a:t>Best case</a:t>
            </a:r>
            <a:endParaRPr lang="en-US" sz="1000" dirty="0"/>
          </a:p>
        </p:txBody>
      </p:sp>
      <p:sp>
        <p:nvSpPr>
          <p:cNvPr id="9" name="Text 7"/>
          <p:cNvSpPr/>
          <p:nvPr/>
        </p:nvSpPr>
        <p:spPr>
          <a:xfrm>
            <a:off x="768096" y="2496312"/>
            <a:ext cx="3108960" cy="320040"/>
          </a:xfrm>
          <a:prstGeom prst="rect">
            <a:avLst/>
          </a:prstGeom>
          <a:noFill/>
          <a:ln/>
        </p:spPr>
        <p:txBody>
          <a:bodyPr wrap="square"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S1. BLR live by 1 Oct</a:t>
            </a:r>
            <a:endParaRPr lang="en-US" sz="1450" dirty="0"/>
          </a:p>
        </p:txBody>
      </p:sp>
      <p:sp>
        <p:nvSpPr>
          <p:cNvPr id="10" name="Text 8"/>
          <p:cNvSpPr/>
          <p:nvPr/>
        </p:nvSpPr>
        <p:spPr>
          <a:xfrm>
            <a:off x="768096" y="2880360"/>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FD interest</a:t>
            </a:r>
            <a:endParaRPr lang="en-US" sz="1200" dirty="0"/>
          </a:p>
        </p:txBody>
      </p:sp>
      <p:sp>
        <p:nvSpPr>
          <p:cNvPr id="11" name="Text 9"/>
          <p:cNvSpPr/>
          <p:nvPr/>
        </p:nvSpPr>
        <p:spPr>
          <a:xfrm>
            <a:off x="2395728" y="2880360"/>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Rs 1.80 Cr</a:t>
            </a:r>
            <a:endParaRPr lang="en-US" sz="1200" dirty="0"/>
          </a:p>
        </p:txBody>
      </p:sp>
      <p:sp>
        <p:nvSpPr>
          <p:cNvPr id="12" name="Shape 10"/>
          <p:cNvSpPr/>
          <p:nvPr/>
        </p:nvSpPr>
        <p:spPr>
          <a:xfrm>
            <a:off x="768096" y="3182112"/>
            <a:ext cx="3108960" cy="0"/>
          </a:xfrm>
          <a:prstGeom prst="line">
            <a:avLst/>
          </a:prstGeom>
          <a:noFill/>
          <a:ln w="9525">
            <a:solidFill>
              <a:srgbClr val="E2E8F0"/>
            </a:solidFill>
            <a:prstDash val="solid"/>
          </a:ln>
        </p:spPr>
      </p:sp>
      <p:sp>
        <p:nvSpPr>
          <p:cNvPr id="13" name="Text 11"/>
          <p:cNvSpPr/>
          <p:nvPr/>
        </p:nvSpPr>
        <p:spPr>
          <a:xfrm>
            <a:off x="768096" y="3209544"/>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Ratings revenue</a:t>
            </a:r>
            <a:endParaRPr lang="en-US" sz="1200" dirty="0"/>
          </a:p>
        </p:txBody>
      </p:sp>
      <p:sp>
        <p:nvSpPr>
          <p:cNvPr id="14" name="Text 12"/>
          <p:cNvSpPr/>
          <p:nvPr/>
        </p:nvSpPr>
        <p:spPr>
          <a:xfrm>
            <a:off x="2395728" y="3209544"/>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Rs 3.75 Cr</a:t>
            </a:r>
            <a:endParaRPr lang="en-US" sz="1200" dirty="0"/>
          </a:p>
        </p:txBody>
      </p:sp>
      <p:sp>
        <p:nvSpPr>
          <p:cNvPr id="15" name="Shape 13"/>
          <p:cNvSpPr/>
          <p:nvPr/>
        </p:nvSpPr>
        <p:spPr>
          <a:xfrm>
            <a:off x="768096" y="3511296"/>
            <a:ext cx="3108960" cy="0"/>
          </a:xfrm>
          <a:prstGeom prst="line">
            <a:avLst/>
          </a:prstGeom>
          <a:noFill/>
          <a:ln w="9525">
            <a:solidFill>
              <a:srgbClr val="E2E8F0"/>
            </a:solidFill>
            <a:prstDash val="solid"/>
          </a:ln>
        </p:spPr>
      </p:sp>
      <p:sp>
        <p:nvSpPr>
          <p:cNvPr id="16" name="Text 14"/>
          <p:cNvSpPr/>
          <p:nvPr/>
        </p:nvSpPr>
        <p:spPr>
          <a:xfrm>
            <a:off x="768096" y="3538728"/>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Total income</a:t>
            </a:r>
            <a:endParaRPr lang="en-US" sz="1200" dirty="0"/>
          </a:p>
        </p:txBody>
      </p:sp>
      <p:sp>
        <p:nvSpPr>
          <p:cNvPr id="17" name="Text 15"/>
          <p:cNvSpPr/>
          <p:nvPr/>
        </p:nvSpPr>
        <p:spPr>
          <a:xfrm>
            <a:off x="2395728" y="3538728"/>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Rs 5.55 Cr</a:t>
            </a:r>
            <a:endParaRPr lang="en-US" sz="1200" dirty="0"/>
          </a:p>
        </p:txBody>
      </p:sp>
      <p:sp>
        <p:nvSpPr>
          <p:cNvPr id="18" name="Shape 16"/>
          <p:cNvSpPr/>
          <p:nvPr/>
        </p:nvSpPr>
        <p:spPr>
          <a:xfrm>
            <a:off x="768096" y="3840480"/>
            <a:ext cx="3108960" cy="0"/>
          </a:xfrm>
          <a:prstGeom prst="line">
            <a:avLst/>
          </a:prstGeom>
          <a:noFill/>
          <a:ln w="9525">
            <a:solidFill>
              <a:srgbClr val="E2E8F0"/>
            </a:solidFill>
            <a:prstDash val="solid"/>
          </a:ln>
        </p:spPr>
      </p:sp>
      <p:sp>
        <p:nvSpPr>
          <p:cNvPr id="19" name="Text 17"/>
          <p:cNvSpPr/>
          <p:nvPr/>
        </p:nvSpPr>
        <p:spPr>
          <a:xfrm>
            <a:off x="768096" y="3867912"/>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Ratings share</a:t>
            </a:r>
            <a:endParaRPr lang="en-US" sz="1200" dirty="0"/>
          </a:p>
        </p:txBody>
      </p:sp>
      <p:sp>
        <p:nvSpPr>
          <p:cNvPr id="20" name="Text 18"/>
          <p:cNvSpPr/>
          <p:nvPr/>
        </p:nvSpPr>
        <p:spPr>
          <a:xfrm>
            <a:off x="2395728" y="3867912"/>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68%</a:t>
            </a:r>
            <a:endParaRPr lang="en-US" sz="1200" dirty="0"/>
          </a:p>
        </p:txBody>
      </p:sp>
      <p:sp>
        <p:nvSpPr>
          <p:cNvPr id="21" name="Text 19"/>
          <p:cNvSpPr/>
          <p:nvPr/>
        </p:nvSpPr>
        <p:spPr>
          <a:xfrm>
            <a:off x="768096" y="4297680"/>
            <a:ext cx="3108960" cy="411480"/>
          </a:xfrm>
          <a:prstGeom prst="rect">
            <a:avLst/>
          </a:prstGeom>
          <a:noFill/>
          <a:ln/>
        </p:spPr>
        <p:txBody>
          <a:bodyPr wrap="square" rtlCol="0" anchor="ctr"/>
          <a:lstStyle/>
          <a:p>
            <a:pPr indent="0" marL="0">
              <a:buNone/>
            </a:pPr>
            <a:r>
              <a:rPr lang="en-US" sz="2000" b="1" dirty="0">
                <a:solidFill>
                  <a:srgbClr val="0F766E"/>
                </a:solidFill>
                <a:latin typeface="Cambria" pitchFamily="34" charset="0"/>
                <a:ea typeface="Cambria" pitchFamily="34" charset="-122"/>
                <a:cs typeface="Cambria" pitchFamily="34" charset="-120"/>
              </a:rPr>
              <a:t>Net +Rs 0.31 Cr</a:t>
            </a:r>
            <a:endParaRPr lang="en-US" sz="2000" dirty="0"/>
          </a:p>
        </p:txBody>
      </p:sp>
      <p:sp>
        <p:nvSpPr>
          <p:cNvPr id="22" name="Text 20"/>
          <p:cNvSpPr/>
          <p:nvPr/>
        </p:nvSpPr>
        <p:spPr>
          <a:xfrm>
            <a:off x="768096" y="4754880"/>
            <a:ext cx="3108960" cy="45720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Breaks even, flips to ratings led.</a:t>
            </a:r>
            <a:endParaRPr lang="en-US" sz="1100" dirty="0"/>
          </a:p>
        </p:txBody>
      </p:sp>
      <p:sp>
        <p:nvSpPr>
          <p:cNvPr id="23" name="Shape 21"/>
          <p:cNvSpPr/>
          <p:nvPr/>
        </p:nvSpPr>
        <p:spPr>
          <a:xfrm>
            <a:off x="4270248" y="1965960"/>
            <a:ext cx="3520440" cy="3429000"/>
          </a:xfrm>
          <a:prstGeom prst="roundRect">
            <a:avLst>
              <a:gd name="adj" fmla="val 2133"/>
            </a:avLst>
          </a:prstGeom>
          <a:solidFill>
            <a:srgbClr val="FFFFFF"/>
          </a:solidFill>
          <a:ln w="12700">
            <a:solidFill>
              <a:srgbClr val="E2E8F0"/>
            </a:solidFill>
            <a:prstDash val="solid"/>
          </a:ln>
        </p:spPr>
      </p:sp>
      <p:sp>
        <p:nvSpPr>
          <p:cNvPr id="24" name="Shape 22"/>
          <p:cNvSpPr/>
          <p:nvPr/>
        </p:nvSpPr>
        <p:spPr>
          <a:xfrm>
            <a:off x="4471416" y="2148840"/>
            <a:ext cx="1371600" cy="274320"/>
          </a:xfrm>
          <a:prstGeom prst="roundRect">
            <a:avLst>
              <a:gd name="adj" fmla="val 33333"/>
            </a:avLst>
          </a:prstGeom>
          <a:solidFill>
            <a:srgbClr val="E6ECFB"/>
          </a:solidFill>
          <a:ln/>
        </p:spPr>
      </p:sp>
      <p:sp>
        <p:nvSpPr>
          <p:cNvPr id="25" name="Text 23"/>
          <p:cNvSpPr/>
          <p:nvPr/>
        </p:nvSpPr>
        <p:spPr>
          <a:xfrm>
            <a:off x="4471416" y="2148840"/>
            <a:ext cx="1371600" cy="274320"/>
          </a:xfrm>
          <a:prstGeom prst="rect">
            <a:avLst/>
          </a:prstGeom>
          <a:noFill/>
          <a:ln/>
        </p:spPr>
        <p:txBody>
          <a:bodyPr wrap="square" rtlCol="0" anchor="ctr"/>
          <a:lstStyle/>
          <a:p>
            <a:pPr algn="ctr" indent="0" marL="0">
              <a:buNone/>
            </a:pPr>
            <a:r>
              <a:rPr lang="en-US" sz="1000" b="1" dirty="0">
                <a:solidFill>
                  <a:srgbClr val="2B5CC4"/>
                </a:solidFill>
                <a:latin typeface="Calibri" pitchFamily="34" charset="0"/>
                <a:ea typeface="Calibri" pitchFamily="34" charset="-122"/>
                <a:cs typeface="Calibri" pitchFamily="34" charset="-120"/>
              </a:rPr>
              <a:t>Mid case</a:t>
            </a:r>
            <a:endParaRPr lang="en-US" sz="1000" dirty="0"/>
          </a:p>
        </p:txBody>
      </p:sp>
      <p:sp>
        <p:nvSpPr>
          <p:cNvPr id="26" name="Text 24"/>
          <p:cNvSpPr/>
          <p:nvPr/>
        </p:nvSpPr>
        <p:spPr>
          <a:xfrm>
            <a:off x="4471416" y="2496312"/>
            <a:ext cx="3108960" cy="320040"/>
          </a:xfrm>
          <a:prstGeom prst="rect">
            <a:avLst/>
          </a:prstGeom>
          <a:noFill/>
          <a:ln/>
        </p:spPr>
        <p:txBody>
          <a:bodyPr wrap="square"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S2. BLR live by 1 Jan</a:t>
            </a:r>
            <a:endParaRPr lang="en-US" sz="1450" dirty="0"/>
          </a:p>
        </p:txBody>
      </p:sp>
      <p:sp>
        <p:nvSpPr>
          <p:cNvPr id="27" name="Text 25"/>
          <p:cNvSpPr/>
          <p:nvPr/>
        </p:nvSpPr>
        <p:spPr>
          <a:xfrm>
            <a:off x="4471416" y="2880360"/>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FD interest</a:t>
            </a:r>
            <a:endParaRPr lang="en-US" sz="1200" dirty="0"/>
          </a:p>
        </p:txBody>
      </p:sp>
      <p:sp>
        <p:nvSpPr>
          <p:cNvPr id="28" name="Text 26"/>
          <p:cNvSpPr/>
          <p:nvPr/>
        </p:nvSpPr>
        <p:spPr>
          <a:xfrm>
            <a:off x="6099048" y="2880360"/>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Rs 1.80 Cr</a:t>
            </a:r>
            <a:endParaRPr lang="en-US" sz="1200" dirty="0"/>
          </a:p>
        </p:txBody>
      </p:sp>
      <p:sp>
        <p:nvSpPr>
          <p:cNvPr id="29" name="Shape 27"/>
          <p:cNvSpPr/>
          <p:nvPr/>
        </p:nvSpPr>
        <p:spPr>
          <a:xfrm>
            <a:off x="4471416" y="3182112"/>
            <a:ext cx="3108960" cy="0"/>
          </a:xfrm>
          <a:prstGeom prst="line">
            <a:avLst/>
          </a:prstGeom>
          <a:noFill/>
          <a:ln w="9525">
            <a:solidFill>
              <a:srgbClr val="E2E8F0"/>
            </a:solidFill>
            <a:prstDash val="solid"/>
          </a:ln>
        </p:spPr>
      </p:sp>
      <p:sp>
        <p:nvSpPr>
          <p:cNvPr id="30" name="Text 28"/>
          <p:cNvSpPr/>
          <p:nvPr/>
        </p:nvSpPr>
        <p:spPr>
          <a:xfrm>
            <a:off x="4471416" y="3209544"/>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Ratings revenue</a:t>
            </a:r>
            <a:endParaRPr lang="en-US" sz="1200" dirty="0"/>
          </a:p>
        </p:txBody>
      </p:sp>
      <p:sp>
        <p:nvSpPr>
          <p:cNvPr id="31" name="Text 29"/>
          <p:cNvSpPr/>
          <p:nvPr/>
        </p:nvSpPr>
        <p:spPr>
          <a:xfrm>
            <a:off x="6099048" y="3209544"/>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Rs 2.31 Cr</a:t>
            </a:r>
            <a:endParaRPr lang="en-US" sz="1200" dirty="0"/>
          </a:p>
        </p:txBody>
      </p:sp>
      <p:sp>
        <p:nvSpPr>
          <p:cNvPr id="32" name="Shape 30"/>
          <p:cNvSpPr/>
          <p:nvPr/>
        </p:nvSpPr>
        <p:spPr>
          <a:xfrm>
            <a:off x="4471416" y="3511296"/>
            <a:ext cx="3108960" cy="0"/>
          </a:xfrm>
          <a:prstGeom prst="line">
            <a:avLst/>
          </a:prstGeom>
          <a:noFill/>
          <a:ln w="9525">
            <a:solidFill>
              <a:srgbClr val="E2E8F0"/>
            </a:solidFill>
            <a:prstDash val="solid"/>
          </a:ln>
        </p:spPr>
      </p:sp>
      <p:sp>
        <p:nvSpPr>
          <p:cNvPr id="33" name="Text 31"/>
          <p:cNvSpPr/>
          <p:nvPr/>
        </p:nvSpPr>
        <p:spPr>
          <a:xfrm>
            <a:off x="4471416" y="3538728"/>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Total income</a:t>
            </a:r>
            <a:endParaRPr lang="en-US" sz="1200" dirty="0"/>
          </a:p>
        </p:txBody>
      </p:sp>
      <p:sp>
        <p:nvSpPr>
          <p:cNvPr id="34" name="Text 32"/>
          <p:cNvSpPr/>
          <p:nvPr/>
        </p:nvSpPr>
        <p:spPr>
          <a:xfrm>
            <a:off x="6099048" y="3538728"/>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Rs 4.11 Cr</a:t>
            </a:r>
            <a:endParaRPr lang="en-US" sz="1200" dirty="0"/>
          </a:p>
        </p:txBody>
      </p:sp>
      <p:sp>
        <p:nvSpPr>
          <p:cNvPr id="35" name="Shape 33"/>
          <p:cNvSpPr/>
          <p:nvPr/>
        </p:nvSpPr>
        <p:spPr>
          <a:xfrm>
            <a:off x="4471416" y="3840480"/>
            <a:ext cx="3108960" cy="0"/>
          </a:xfrm>
          <a:prstGeom prst="line">
            <a:avLst/>
          </a:prstGeom>
          <a:noFill/>
          <a:ln w="9525">
            <a:solidFill>
              <a:srgbClr val="E2E8F0"/>
            </a:solidFill>
            <a:prstDash val="solid"/>
          </a:ln>
        </p:spPr>
      </p:sp>
      <p:sp>
        <p:nvSpPr>
          <p:cNvPr id="36" name="Text 34"/>
          <p:cNvSpPr/>
          <p:nvPr/>
        </p:nvSpPr>
        <p:spPr>
          <a:xfrm>
            <a:off x="4471416" y="3867912"/>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Ratings share</a:t>
            </a:r>
            <a:endParaRPr lang="en-US" sz="1200" dirty="0"/>
          </a:p>
        </p:txBody>
      </p:sp>
      <p:sp>
        <p:nvSpPr>
          <p:cNvPr id="37" name="Text 35"/>
          <p:cNvSpPr/>
          <p:nvPr/>
        </p:nvSpPr>
        <p:spPr>
          <a:xfrm>
            <a:off x="6099048" y="3867912"/>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56%</a:t>
            </a:r>
            <a:endParaRPr lang="en-US" sz="1200" dirty="0"/>
          </a:p>
        </p:txBody>
      </p:sp>
      <p:sp>
        <p:nvSpPr>
          <p:cNvPr id="38" name="Text 36"/>
          <p:cNvSpPr/>
          <p:nvPr/>
        </p:nvSpPr>
        <p:spPr>
          <a:xfrm>
            <a:off x="4471416" y="4297680"/>
            <a:ext cx="3108960" cy="411480"/>
          </a:xfrm>
          <a:prstGeom prst="rect">
            <a:avLst/>
          </a:prstGeom>
          <a:noFill/>
          <a:ln/>
        </p:spPr>
        <p:txBody>
          <a:bodyPr wrap="square" rtlCol="0" anchor="ctr"/>
          <a:lstStyle/>
          <a:p>
            <a:pPr indent="0" marL="0">
              <a:buNone/>
            </a:pPr>
            <a:r>
              <a:rPr lang="en-US" sz="2000" b="1" dirty="0">
                <a:solidFill>
                  <a:srgbClr val="DC2626"/>
                </a:solidFill>
                <a:latin typeface="Cambria" pitchFamily="34" charset="0"/>
                <a:ea typeface="Cambria" pitchFamily="34" charset="-122"/>
                <a:cs typeface="Cambria" pitchFamily="34" charset="-120"/>
              </a:rPr>
              <a:t>Net -Rs 1.13 Cr</a:t>
            </a:r>
            <a:endParaRPr lang="en-US" sz="2000" dirty="0"/>
          </a:p>
        </p:txBody>
      </p:sp>
      <p:sp>
        <p:nvSpPr>
          <p:cNvPr id="39" name="Text 37"/>
          <p:cNvSpPr/>
          <p:nvPr/>
        </p:nvSpPr>
        <p:spPr>
          <a:xfrm>
            <a:off x="4471416" y="4754880"/>
            <a:ext cx="3108960" cy="45720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Only 3 months of BLR revenue.</a:t>
            </a:r>
            <a:endParaRPr lang="en-US" sz="1100" dirty="0"/>
          </a:p>
        </p:txBody>
      </p:sp>
      <p:sp>
        <p:nvSpPr>
          <p:cNvPr id="40" name="Shape 38"/>
          <p:cNvSpPr/>
          <p:nvPr/>
        </p:nvSpPr>
        <p:spPr>
          <a:xfrm>
            <a:off x="7973568" y="1965960"/>
            <a:ext cx="3520440" cy="3429000"/>
          </a:xfrm>
          <a:prstGeom prst="roundRect">
            <a:avLst>
              <a:gd name="adj" fmla="val 2133"/>
            </a:avLst>
          </a:prstGeom>
          <a:solidFill>
            <a:srgbClr val="FFFFFF"/>
          </a:solidFill>
          <a:ln w="12700">
            <a:solidFill>
              <a:srgbClr val="E2E8F0"/>
            </a:solidFill>
            <a:prstDash val="solid"/>
          </a:ln>
        </p:spPr>
      </p:sp>
      <p:sp>
        <p:nvSpPr>
          <p:cNvPr id="41" name="Shape 39"/>
          <p:cNvSpPr/>
          <p:nvPr/>
        </p:nvSpPr>
        <p:spPr>
          <a:xfrm>
            <a:off x="8174736" y="2148840"/>
            <a:ext cx="1371600" cy="274320"/>
          </a:xfrm>
          <a:prstGeom prst="roundRect">
            <a:avLst>
              <a:gd name="adj" fmla="val 33333"/>
            </a:avLst>
          </a:prstGeom>
          <a:solidFill>
            <a:srgbClr val="FBE4E4"/>
          </a:solidFill>
          <a:ln/>
        </p:spPr>
      </p:sp>
      <p:sp>
        <p:nvSpPr>
          <p:cNvPr id="42" name="Text 40"/>
          <p:cNvSpPr/>
          <p:nvPr/>
        </p:nvSpPr>
        <p:spPr>
          <a:xfrm>
            <a:off x="8174736" y="2148840"/>
            <a:ext cx="1371600" cy="274320"/>
          </a:xfrm>
          <a:prstGeom prst="rect">
            <a:avLst/>
          </a:prstGeom>
          <a:noFill/>
          <a:ln/>
        </p:spPr>
        <p:txBody>
          <a:bodyPr wrap="square" rtlCol="0" anchor="ctr"/>
          <a:lstStyle/>
          <a:p>
            <a:pPr algn="ctr" indent="0" marL="0">
              <a:buNone/>
            </a:pPr>
            <a:r>
              <a:rPr lang="en-US" sz="1000" b="1" dirty="0">
                <a:solidFill>
                  <a:srgbClr val="DC2626"/>
                </a:solidFill>
                <a:latin typeface="Calibri" pitchFamily="34" charset="0"/>
                <a:ea typeface="Calibri" pitchFamily="34" charset="-122"/>
                <a:cs typeface="Calibri" pitchFamily="34" charset="-120"/>
              </a:rPr>
              <a:t>Downside</a:t>
            </a:r>
            <a:endParaRPr lang="en-US" sz="1000" dirty="0"/>
          </a:p>
        </p:txBody>
      </p:sp>
      <p:sp>
        <p:nvSpPr>
          <p:cNvPr id="43" name="Text 41"/>
          <p:cNvSpPr/>
          <p:nvPr/>
        </p:nvSpPr>
        <p:spPr>
          <a:xfrm>
            <a:off x="8174736" y="2496312"/>
            <a:ext cx="3108960" cy="320040"/>
          </a:xfrm>
          <a:prstGeom prst="rect">
            <a:avLst/>
          </a:prstGeom>
          <a:noFill/>
          <a:ln/>
        </p:spPr>
        <p:txBody>
          <a:bodyPr wrap="square"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S3. No BLR this FY</a:t>
            </a:r>
            <a:endParaRPr lang="en-US" sz="1450" dirty="0"/>
          </a:p>
        </p:txBody>
      </p:sp>
      <p:sp>
        <p:nvSpPr>
          <p:cNvPr id="44" name="Text 42"/>
          <p:cNvSpPr/>
          <p:nvPr/>
        </p:nvSpPr>
        <p:spPr>
          <a:xfrm>
            <a:off x="8174736" y="2880360"/>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FD interest</a:t>
            </a:r>
            <a:endParaRPr lang="en-US" sz="1200" dirty="0"/>
          </a:p>
        </p:txBody>
      </p:sp>
      <p:sp>
        <p:nvSpPr>
          <p:cNvPr id="45" name="Text 43"/>
          <p:cNvSpPr/>
          <p:nvPr/>
        </p:nvSpPr>
        <p:spPr>
          <a:xfrm>
            <a:off x="9802368" y="2880360"/>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Rs 1.80 Cr</a:t>
            </a:r>
            <a:endParaRPr lang="en-US" sz="1200" dirty="0"/>
          </a:p>
        </p:txBody>
      </p:sp>
      <p:sp>
        <p:nvSpPr>
          <p:cNvPr id="46" name="Shape 44"/>
          <p:cNvSpPr/>
          <p:nvPr/>
        </p:nvSpPr>
        <p:spPr>
          <a:xfrm>
            <a:off x="8174736" y="3182112"/>
            <a:ext cx="3108960" cy="0"/>
          </a:xfrm>
          <a:prstGeom prst="line">
            <a:avLst/>
          </a:prstGeom>
          <a:noFill/>
          <a:ln w="9525">
            <a:solidFill>
              <a:srgbClr val="E2E8F0"/>
            </a:solidFill>
            <a:prstDash val="solid"/>
          </a:ln>
        </p:spPr>
      </p:sp>
      <p:sp>
        <p:nvSpPr>
          <p:cNvPr id="47" name="Text 45"/>
          <p:cNvSpPr/>
          <p:nvPr/>
        </p:nvSpPr>
        <p:spPr>
          <a:xfrm>
            <a:off x="8174736" y="3209544"/>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Ratings revenue</a:t>
            </a:r>
            <a:endParaRPr lang="en-US" sz="1200" dirty="0"/>
          </a:p>
        </p:txBody>
      </p:sp>
      <p:sp>
        <p:nvSpPr>
          <p:cNvPr id="48" name="Text 46"/>
          <p:cNvSpPr/>
          <p:nvPr/>
        </p:nvSpPr>
        <p:spPr>
          <a:xfrm>
            <a:off x="9802368" y="3209544"/>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Rs 0.87 Cr</a:t>
            </a:r>
            <a:endParaRPr lang="en-US" sz="1200" dirty="0"/>
          </a:p>
        </p:txBody>
      </p:sp>
      <p:sp>
        <p:nvSpPr>
          <p:cNvPr id="49" name="Shape 47"/>
          <p:cNvSpPr/>
          <p:nvPr/>
        </p:nvSpPr>
        <p:spPr>
          <a:xfrm>
            <a:off x="8174736" y="3511296"/>
            <a:ext cx="3108960" cy="0"/>
          </a:xfrm>
          <a:prstGeom prst="line">
            <a:avLst/>
          </a:prstGeom>
          <a:noFill/>
          <a:ln w="9525">
            <a:solidFill>
              <a:srgbClr val="E2E8F0"/>
            </a:solidFill>
            <a:prstDash val="solid"/>
          </a:ln>
        </p:spPr>
      </p:sp>
      <p:sp>
        <p:nvSpPr>
          <p:cNvPr id="50" name="Text 48"/>
          <p:cNvSpPr/>
          <p:nvPr/>
        </p:nvSpPr>
        <p:spPr>
          <a:xfrm>
            <a:off x="8174736" y="3538728"/>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Total income</a:t>
            </a:r>
            <a:endParaRPr lang="en-US" sz="1200" dirty="0"/>
          </a:p>
        </p:txBody>
      </p:sp>
      <p:sp>
        <p:nvSpPr>
          <p:cNvPr id="51" name="Text 49"/>
          <p:cNvSpPr/>
          <p:nvPr/>
        </p:nvSpPr>
        <p:spPr>
          <a:xfrm>
            <a:off x="9802368" y="3538728"/>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Rs 2.67 Cr</a:t>
            </a:r>
            <a:endParaRPr lang="en-US" sz="1200" dirty="0"/>
          </a:p>
        </p:txBody>
      </p:sp>
      <p:sp>
        <p:nvSpPr>
          <p:cNvPr id="52" name="Shape 50"/>
          <p:cNvSpPr/>
          <p:nvPr/>
        </p:nvSpPr>
        <p:spPr>
          <a:xfrm>
            <a:off x="8174736" y="3840480"/>
            <a:ext cx="3108960" cy="0"/>
          </a:xfrm>
          <a:prstGeom prst="line">
            <a:avLst/>
          </a:prstGeom>
          <a:noFill/>
          <a:ln w="9525">
            <a:solidFill>
              <a:srgbClr val="E2E8F0"/>
            </a:solidFill>
            <a:prstDash val="solid"/>
          </a:ln>
        </p:spPr>
      </p:sp>
      <p:sp>
        <p:nvSpPr>
          <p:cNvPr id="53" name="Text 51"/>
          <p:cNvSpPr/>
          <p:nvPr/>
        </p:nvSpPr>
        <p:spPr>
          <a:xfrm>
            <a:off x="8174736" y="3867912"/>
            <a:ext cx="1920240" cy="292608"/>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Ratings share</a:t>
            </a:r>
            <a:endParaRPr lang="en-US" sz="1200" dirty="0"/>
          </a:p>
        </p:txBody>
      </p:sp>
      <p:sp>
        <p:nvSpPr>
          <p:cNvPr id="54" name="Text 52"/>
          <p:cNvSpPr/>
          <p:nvPr/>
        </p:nvSpPr>
        <p:spPr>
          <a:xfrm>
            <a:off x="9802368" y="3867912"/>
            <a:ext cx="1508760" cy="292608"/>
          </a:xfrm>
          <a:prstGeom prst="rect">
            <a:avLst/>
          </a:prstGeom>
          <a:noFill/>
          <a:ln/>
        </p:spPr>
        <p:txBody>
          <a:bodyPr wrap="square"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33%</a:t>
            </a:r>
            <a:endParaRPr lang="en-US" sz="1200" dirty="0"/>
          </a:p>
        </p:txBody>
      </p:sp>
      <p:sp>
        <p:nvSpPr>
          <p:cNvPr id="55" name="Text 53"/>
          <p:cNvSpPr/>
          <p:nvPr/>
        </p:nvSpPr>
        <p:spPr>
          <a:xfrm>
            <a:off x="8174736" y="4297680"/>
            <a:ext cx="3108960" cy="411480"/>
          </a:xfrm>
          <a:prstGeom prst="rect">
            <a:avLst/>
          </a:prstGeom>
          <a:noFill/>
          <a:ln/>
        </p:spPr>
        <p:txBody>
          <a:bodyPr wrap="square" rtlCol="0" anchor="ctr"/>
          <a:lstStyle/>
          <a:p>
            <a:pPr indent="0" marL="0">
              <a:buNone/>
            </a:pPr>
            <a:r>
              <a:rPr lang="en-US" sz="2000" b="1" dirty="0">
                <a:solidFill>
                  <a:srgbClr val="DC2626"/>
                </a:solidFill>
                <a:latin typeface="Cambria" pitchFamily="34" charset="0"/>
                <a:ea typeface="Cambria" pitchFamily="34" charset="-122"/>
                <a:cs typeface="Cambria" pitchFamily="34" charset="-120"/>
              </a:rPr>
              <a:t>Net -Rs 2.57 Cr</a:t>
            </a:r>
            <a:endParaRPr lang="en-US" sz="2000" dirty="0"/>
          </a:p>
        </p:txBody>
      </p:sp>
      <p:sp>
        <p:nvSpPr>
          <p:cNvPr id="56" name="Text 54"/>
          <p:cNvSpPr/>
          <p:nvPr/>
        </p:nvSpPr>
        <p:spPr>
          <a:xfrm>
            <a:off x="8174736" y="4754880"/>
            <a:ext cx="3108960" cy="457200"/>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Invest through year on reserves.</a:t>
            </a:r>
            <a:endParaRPr lang="en-US" sz="1100" dirty="0"/>
          </a:p>
        </p:txBody>
      </p:sp>
      <p:sp>
        <p:nvSpPr>
          <p:cNvPr id="57" name="Text 55"/>
          <p:cNvSpPr/>
          <p:nvPr/>
        </p:nvSpPr>
        <p:spPr>
          <a:xfrm>
            <a:off x="566928" y="6419088"/>
            <a:ext cx="11064240" cy="320040"/>
          </a:xfrm>
          <a:prstGeom prst="rect">
            <a:avLst/>
          </a:prstGeom>
          <a:noFill/>
          <a:ln/>
        </p:spPr>
        <p:txBody>
          <a:bodyPr wrap="square" rtlCol="0" anchor="ctr"/>
          <a:lstStyle/>
          <a:p>
            <a:pPr indent="0" marL="0">
              <a:buNone/>
            </a:pPr>
            <a:r>
              <a:rPr lang="en-US" sz="900" i="1" dirty="0">
                <a:solidFill>
                  <a:srgbClr val="94A3B8"/>
                </a:solidFill>
                <a:latin typeface="Calibri" pitchFamily="34" charset="0"/>
                <a:ea typeface="Calibri" pitchFamily="34" charset="-122"/>
                <a:cs typeface="Calibri" pitchFamily="34" charset="-120"/>
              </a:rPr>
              <a:t>Source: FD interest and cost base from Zoho Books run rate [1]. BLR revenue from management assumptions [2], flat 16 cases per month from launch, initial fees only in FY27.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338560" y="411480"/>
            <a:ext cx="457200" cy="274320"/>
          </a:xfrm>
          <a:prstGeom prst="rect">
            <a:avLst/>
          </a:prstGeom>
          <a:noFill/>
          <a:ln/>
        </p:spPr>
        <p:txBody>
          <a:bodyPr wrap="square" rtlCol="0" anchor="ctr"/>
          <a:lstStyle/>
          <a:p>
            <a:pPr algn="r" indent="0" marL="0">
              <a:buNone/>
            </a:pPr>
            <a:r>
              <a:rPr lang="en-US" sz="1100" b="1" dirty="0">
                <a:solidFill>
                  <a:srgbClr val="94A3B8"/>
                </a:solidFill>
                <a:latin typeface="Calibri" pitchFamily="34" charset="0"/>
                <a:ea typeface="Calibri" pitchFamily="34" charset="-122"/>
                <a:cs typeface="Calibri" pitchFamily="34" charset="-120"/>
              </a:rPr>
              <a:t>06</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2B5CC4"/>
                </a:solidFill>
                <a:latin typeface="Calibri" pitchFamily="34" charset="0"/>
                <a:ea typeface="Calibri" pitchFamily="34" charset="-122"/>
                <a:cs typeface="Calibri" pitchFamily="34" charset="-120"/>
              </a:rPr>
              <a:t>THE PIVOT</a:t>
            </a:r>
            <a:endParaRPr lang="en-US" sz="1100" dirty="0"/>
          </a:p>
        </p:txBody>
      </p:sp>
      <p:sp>
        <p:nvSpPr>
          <p:cNvPr id="4" name="Text 2"/>
          <p:cNvSpPr/>
          <p:nvPr/>
        </p:nvSpPr>
        <p:spPr>
          <a:xfrm>
            <a:off x="566928" y="713232"/>
            <a:ext cx="10972800" cy="640080"/>
          </a:xfrm>
          <a:prstGeom prst="rect">
            <a:avLst/>
          </a:prstGeom>
          <a:noFill/>
          <a:ln/>
        </p:spPr>
        <p:txBody>
          <a:bodyPr wrap="square"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Income mix flips from FD to ratings</a:t>
            </a:r>
            <a:endParaRPr lang="en-US" sz="3200" dirty="0"/>
          </a:p>
        </p:txBody>
      </p:sp>
      <p:sp>
        <p:nvSpPr>
          <p:cNvPr id="5" name="Text 3"/>
          <p:cNvSpPr/>
          <p:nvPr/>
        </p:nvSpPr>
        <p:spPr>
          <a:xfrm>
            <a:off x="566928" y="1371600"/>
            <a:ext cx="11064240" cy="457200"/>
          </a:xfrm>
          <a:prstGeom prst="rect">
            <a:avLst/>
          </a:prstGeom>
          <a:noFill/>
          <a:ln/>
        </p:spPr>
        <p:txBody>
          <a:bodyPr wrap="square" rtlCol="0" anchor="ctr"/>
          <a:lstStyle/>
          <a:p>
            <a:pPr indent="0" marL="0">
              <a:buNone/>
            </a:pPr>
            <a:r>
              <a:rPr lang="en-US" sz="1500" dirty="0">
                <a:solidFill>
                  <a:srgbClr val="64748B"/>
                </a:solidFill>
                <a:latin typeface="Calibri" pitchFamily="34" charset="0"/>
                <a:ea typeface="Calibri" pitchFamily="34" charset="-122"/>
                <a:cs typeface="Calibri" pitchFamily="34" charset="-120"/>
              </a:rPr>
              <a:t>On the BLR by October path, reserves stop being the story.</a:t>
            </a:r>
            <a:endParaRPr lang="en-US" sz="1500" dirty="0"/>
          </a:p>
        </p:txBody>
      </p:sp>
      <p:graphicFrame>
        <p:nvGraphicFramePr>
          <p:cNvPr id="6" name="Chart 0" descr=""/>
          <p:cNvGraphicFramePr/>
          <p:nvPr/>
        </p:nvGraphicFramePr>
        <p:xfrm>
          <a:off x="566928" y="1965960"/>
          <a:ext cx="1106424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66928" y="6419088"/>
            <a:ext cx="11064240" cy="320040"/>
          </a:xfrm>
          <a:prstGeom prst="rect">
            <a:avLst/>
          </a:prstGeom>
          <a:noFill/>
          <a:ln/>
        </p:spPr>
        <p:txBody>
          <a:bodyPr wrap="square" rtlCol="0" anchor="ctr"/>
          <a:lstStyle/>
          <a:p>
            <a:pPr indent="0" marL="0">
              <a:buNone/>
            </a:pPr>
            <a:r>
              <a:rPr lang="en-US" sz="900" i="1" dirty="0">
                <a:solidFill>
                  <a:srgbClr val="94A3B8"/>
                </a:solidFill>
                <a:latin typeface="Calibri" pitchFamily="34" charset="0"/>
                <a:ea typeface="Calibri" pitchFamily="34" charset="-122"/>
                <a:cs typeface="Calibri" pitchFamily="34" charset="-120"/>
              </a:rPr>
              <a:t>Source: FY26 actual from Zoho Books [1]. FY27 (S1) and FY28 steady state modelled from Zoho baseline [1] plus BLR assumptions [2]. Values in Rs Cr.</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338560" y="411480"/>
            <a:ext cx="457200" cy="274320"/>
          </a:xfrm>
          <a:prstGeom prst="rect">
            <a:avLst/>
          </a:prstGeom>
          <a:noFill/>
          <a:ln/>
        </p:spPr>
        <p:txBody>
          <a:bodyPr wrap="square" rtlCol="0" anchor="ctr"/>
          <a:lstStyle/>
          <a:p>
            <a:pPr algn="r" indent="0" marL="0">
              <a:buNone/>
            </a:pPr>
            <a:r>
              <a:rPr lang="en-US" sz="1100" b="1" dirty="0">
                <a:solidFill>
                  <a:srgbClr val="94A3B8"/>
                </a:solidFill>
                <a:latin typeface="Calibri" pitchFamily="34" charset="0"/>
                <a:ea typeface="Calibri" pitchFamily="34" charset="-122"/>
                <a:cs typeface="Calibri" pitchFamily="34" charset="-120"/>
              </a:rPr>
              <a:t>07</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2B5CC4"/>
                </a:solidFill>
                <a:latin typeface="Calibri" pitchFamily="34" charset="0"/>
                <a:ea typeface="Calibri" pitchFamily="34" charset="-122"/>
                <a:cs typeface="Calibri" pitchFamily="34" charset="-120"/>
              </a:rPr>
              <a:t>TRAJECTORY</a:t>
            </a:r>
            <a:endParaRPr lang="en-US" sz="1100" dirty="0"/>
          </a:p>
        </p:txBody>
      </p:sp>
      <p:sp>
        <p:nvSpPr>
          <p:cNvPr id="4" name="Text 2"/>
          <p:cNvSpPr/>
          <p:nvPr/>
        </p:nvSpPr>
        <p:spPr>
          <a:xfrm>
            <a:off x="566928" y="713232"/>
            <a:ext cx="10972800" cy="640080"/>
          </a:xfrm>
          <a:prstGeom prst="rect">
            <a:avLst/>
          </a:prstGeom>
          <a:noFill/>
          <a:ln/>
        </p:spPr>
        <p:txBody>
          <a:bodyPr wrap="square"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Operating revenue, where it goes</a:t>
            </a:r>
            <a:endParaRPr lang="en-US" sz="3200" dirty="0"/>
          </a:p>
        </p:txBody>
      </p:sp>
      <p:sp>
        <p:nvSpPr>
          <p:cNvPr id="5" name="Text 3"/>
          <p:cNvSpPr/>
          <p:nvPr/>
        </p:nvSpPr>
        <p:spPr>
          <a:xfrm>
            <a:off x="566928" y="1371600"/>
            <a:ext cx="11064240" cy="457200"/>
          </a:xfrm>
          <a:prstGeom prst="rect">
            <a:avLst/>
          </a:prstGeom>
          <a:noFill/>
          <a:ln/>
        </p:spPr>
        <p:txBody>
          <a:bodyPr wrap="square" rtlCol="0" anchor="ctr"/>
          <a:lstStyle/>
          <a:p>
            <a:pPr indent="0" marL="0">
              <a:buNone/>
            </a:pPr>
            <a:r>
              <a:rPr lang="en-US" sz="1500" dirty="0">
                <a:solidFill>
                  <a:srgbClr val="64748B"/>
                </a:solidFill>
                <a:latin typeface="Calibri" pitchFamily="34" charset="0"/>
                <a:ea typeface="Calibri" pitchFamily="34" charset="-122"/>
                <a:cs typeface="Calibri" pitchFamily="34" charset="-120"/>
              </a:rPr>
              <a:t>Initial fees fund the turn, the surveillance annuity drives the climb.</a:t>
            </a:r>
            <a:endParaRPr lang="en-US" sz="1500" dirty="0"/>
          </a:p>
        </p:txBody>
      </p:sp>
      <p:graphicFrame>
        <p:nvGraphicFramePr>
          <p:cNvPr id="6" name="Chart 0" descr=""/>
          <p:cNvGraphicFramePr/>
          <p:nvPr/>
        </p:nvGraphicFramePr>
        <p:xfrm>
          <a:off x="566928" y="1965960"/>
          <a:ext cx="1106424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66928" y="6419088"/>
            <a:ext cx="11064240" cy="320040"/>
          </a:xfrm>
          <a:prstGeom prst="rect">
            <a:avLst/>
          </a:prstGeom>
          <a:noFill/>
          <a:ln/>
        </p:spPr>
        <p:txBody>
          <a:bodyPr wrap="square" rtlCol="0" anchor="ctr"/>
          <a:lstStyle/>
          <a:p>
            <a:pPr indent="0" marL="0">
              <a:buNone/>
            </a:pPr>
            <a:r>
              <a:rPr lang="en-US" sz="900" i="1" dirty="0">
                <a:solidFill>
                  <a:srgbClr val="94A3B8"/>
                </a:solidFill>
                <a:latin typeface="Calibri" pitchFamily="34" charset="0"/>
                <a:ea typeface="Calibri" pitchFamily="34" charset="-122"/>
                <a:cs typeface="Calibri" pitchFamily="34" charset="-120"/>
              </a:rPr>
              <a:t>Source: modelled from Zoho Books baseline [1] and BLR assumptions [2]. FY28 and FY29 assume 192 new cases per year plus compounding surveillance. Values in Rs Cr.</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338560" y="411480"/>
            <a:ext cx="457200" cy="274320"/>
          </a:xfrm>
          <a:prstGeom prst="rect">
            <a:avLst/>
          </a:prstGeom>
          <a:noFill/>
          <a:ln/>
        </p:spPr>
        <p:txBody>
          <a:bodyPr wrap="square" rtlCol="0" anchor="ctr"/>
          <a:lstStyle/>
          <a:p>
            <a:pPr algn="r" indent="0" marL="0">
              <a:buNone/>
            </a:pPr>
            <a:r>
              <a:rPr lang="en-US" sz="1100" b="1" dirty="0">
                <a:solidFill>
                  <a:srgbClr val="94A3B8"/>
                </a:solidFill>
                <a:latin typeface="Calibri" pitchFamily="34" charset="0"/>
                <a:ea typeface="Calibri" pitchFamily="34" charset="-122"/>
                <a:cs typeface="Calibri" pitchFamily="34" charset="-120"/>
              </a:rPr>
              <a:t>08</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2B5CC4"/>
                </a:solidFill>
                <a:latin typeface="Calibri" pitchFamily="34" charset="0"/>
                <a:ea typeface="Calibri" pitchFamily="34" charset="-122"/>
                <a:cs typeface="Calibri" pitchFamily="34" charset="-120"/>
              </a:rPr>
              <a:t>MARKET OPPORTUNITY</a:t>
            </a:r>
            <a:endParaRPr lang="en-US" sz="1100" dirty="0"/>
          </a:p>
        </p:txBody>
      </p:sp>
      <p:sp>
        <p:nvSpPr>
          <p:cNvPr id="4" name="Text 2"/>
          <p:cNvSpPr/>
          <p:nvPr/>
        </p:nvSpPr>
        <p:spPr>
          <a:xfrm>
            <a:off x="566928" y="713232"/>
            <a:ext cx="10972800" cy="640080"/>
          </a:xfrm>
          <a:prstGeom prst="rect">
            <a:avLst/>
          </a:prstGeom>
          <a:noFill/>
          <a:ln/>
        </p:spPr>
        <p:txBody>
          <a:bodyPr wrap="square"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TAM, SAM, SOM</a:t>
            </a:r>
            <a:endParaRPr lang="en-US" sz="3200" dirty="0"/>
          </a:p>
        </p:txBody>
      </p:sp>
      <p:sp>
        <p:nvSpPr>
          <p:cNvPr id="5" name="Text 3"/>
          <p:cNvSpPr/>
          <p:nvPr/>
        </p:nvSpPr>
        <p:spPr>
          <a:xfrm>
            <a:off x="566928" y="1371600"/>
            <a:ext cx="11064240" cy="457200"/>
          </a:xfrm>
          <a:prstGeom prst="rect">
            <a:avLst/>
          </a:prstGeom>
          <a:noFill/>
          <a:ln/>
        </p:spPr>
        <p:txBody>
          <a:bodyPr wrap="square" rtlCol="0" anchor="ctr"/>
          <a:lstStyle/>
          <a:p>
            <a:pPr indent="0" marL="0">
              <a:buNone/>
            </a:pPr>
            <a:r>
              <a:rPr lang="en-US" sz="1500" dirty="0">
                <a:solidFill>
                  <a:srgbClr val="64748B"/>
                </a:solidFill>
                <a:latin typeface="Calibri" pitchFamily="34" charset="0"/>
                <a:ea typeface="Calibri" pitchFamily="34" charset="-122"/>
                <a:cs typeface="Calibri" pitchFamily="34" charset="-120"/>
              </a:rPr>
              <a:t>A small, credible slice of a large market, with room to grow for years.</a:t>
            </a:r>
            <a:endParaRPr lang="en-US" sz="1500" dirty="0"/>
          </a:p>
        </p:txBody>
      </p:sp>
      <p:sp>
        <p:nvSpPr>
          <p:cNvPr id="6" name="Shape 4"/>
          <p:cNvSpPr/>
          <p:nvPr/>
        </p:nvSpPr>
        <p:spPr>
          <a:xfrm>
            <a:off x="566928" y="2057400"/>
            <a:ext cx="11064240" cy="731520"/>
          </a:xfrm>
          <a:prstGeom prst="roundRect">
            <a:avLst>
              <a:gd name="adj" fmla="val 7500"/>
            </a:avLst>
          </a:prstGeom>
          <a:solidFill>
            <a:srgbClr val="0F172A"/>
          </a:solidFill>
          <a:ln/>
        </p:spPr>
      </p:sp>
      <p:sp>
        <p:nvSpPr>
          <p:cNvPr id="7" name="Text 5"/>
          <p:cNvSpPr/>
          <p:nvPr/>
        </p:nvSpPr>
        <p:spPr>
          <a:xfrm>
            <a:off x="795528" y="2148840"/>
            <a:ext cx="813816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TAM, Indian credit rating industry</a:t>
            </a:r>
            <a:endParaRPr lang="en-US" sz="1400" dirty="0"/>
          </a:p>
        </p:txBody>
      </p:sp>
      <p:sp>
        <p:nvSpPr>
          <p:cNvPr id="8" name="Text 6"/>
          <p:cNvSpPr/>
          <p:nvPr/>
        </p:nvSpPr>
        <p:spPr>
          <a:xfrm>
            <a:off x="795528" y="2441448"/>
            <a:ext cx="8138160" cy="274320"/>
          </a:xfrm>
          <a:prstGeom prst="rect">
            <a:avLst/>
          </a:prstGeom>
          <a:noFill/>
          <a:ln/>
        </p:spPr>
        <p:txBody>
          <a:bodyPr wrap="square" rtlCol="0" anchor="ctr"/>
          <a:lstStyle/>
          <a:p>
            <a:pPr indent="0" marL="0">
              <a:buNone/>
            </a:pPr>
            <a:r>
              <a:rPr lang="en-US" sz="1050" dirty="0">
                <a:solidFill>
                  <a:srgbClr val="E2E8F0"/>
                </a:solidFill>
                <a:latin typeface="Calibri" pitchFamily="34" charset="0"/>
                <a:ea typeface="Calibri" pitchFamily="34" charset="-122"/>
                <a:cs typeface="Calibri" pitchFamily="34" charset="-120"/>
              </a:rPr>
              <a:t>total pure rating revenue pool</a:t>
            </a:r>
            <a:endParaRPr lang="en-US" sz="1050" dirty="0"/>
          </a:p>
        </p:txBody>
      </p:sp>
      <p:sp>
        <p:nvSpPr>
          <p:cNvPr id="9" name="Text 7"/>
          <p:cNvSpPr/>
          <p:nvPr/>
        </p:nvSpPr>
        <p:spPr>
          <a:xfrm>
            <a:off x="8979408" y="2258568"/>
            <a:ext cx="2423160" cy="365760"/>
          </a:xfrm>
          <a:prstGeom prst="rect">
            <a:avLst/>
          </a:prstGeom>
          <a:noFill/>
          <a:ln/>
        </p:spPr>
        <p:txBody>
          <a:bodyPr wrap="square"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about Rs 2,000 Cr</a:t>
            </a:r>
            <a:endParaRPr lang="en-US" sz="1500" dirty="0"/>
          </a:p>
        </p:txBody>
      </p:sp>
      <p:sp>
        <p:nvSpPr>
          <p:cNvPr id="10" name="Shape 8"/>
          <p:cNvSpPr/>
          <p:nvPr/>
        </p:nvSpPr>
        <p:spPr>
          <a:xfrm>
            <a:off x="566928" y="2926080"/>
            <a:ext cx="8229600" cy="731520"/>
          </a:xfrm>
          <a:prstGeom prst="roundRect">
            <a:avLst>
              <a:gd name="adj" fmla="val 7500"/>
            </a:avLst>
          </a:prstGeom>
          <a:solidFill>
            <a:srgbClr val="2B5CC4"/>
          </a:solidFill>
          <a:ln/>
        </p:spPr>
      </p:sp>
      <p:sp>
        <p:nvSpPr>
          <p:cNvPr id="11" name="Text 9"/>
          <p:cNvSpPr/>
          <p:nvPr/>
        </p:nvSpPr>
        <p:spPr>
          <a:xfrm>
            <a:off x="795528" y="3017520"/>
            <a:ext cx="530352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SAM, Rs 100 Cr plus bank loan rating segment</a:t>
            </a:r>
            <a:endParaRPr lang="en-US" sz="1400" dirty="0"/>
          </a:p>
        </p:txBody>
      </p:sp>
      <p:sp>
        <p:nvSpPr>
          <p:cNvPr id="12" name="Text 10"/>
          <p:cNvSpPr/>
          <p:nvPr/>
        </p:nvSpPr>
        <p:spPr>
          <a:xfrm>
            <a:off x="795528" y="3310128"/>
            <a:ext cx="5303520" cy="274320"/>
          </a:xfrm>
          <a:prstGeom prst="rect">
            <a:avLst/>
          </a:prstGeom>
          <a:noFill/>
          <a:ln/>
        </p:spPr>
        <p:txBody>
          <a:bodyPr wrap="square" rtlCol="0" anchor="ctr"/>
          <a:lstStyle/>
          <a:p>
            <a:pPr indent="0" marL="0">
              <a:buNone/>
            </a:pPr>
            <a:r>
              <a:rPr lang="en-US" sz="1050" dirty="0">
                <a:solidFill>
                  <a:srgbClr val="E2E8F0"/>
                </a:solidFill>
                <a:latin typeface="Calibri" pitchFamily="34" charset="0"/>
                <a:ea typeface="Calibri" pitchFamily="34" charset="-122"/>
                <a:cs typeface="Calibri" pitchFamily="34" charset="-120"/>
              </a:rPr>
              <a:t>mid and large corporate BLR we can serve</a:t>
            </a:r>
            <a:endParaRPr lang="en-US" sz="1050" dirty="0"/>
          </a:p>
        </p:txBody>
      </p:sp>
      <p:sp>
        <p:nvSpPr>
          <p:cNvPr id="13" name="Text 11"/>
          <p:cNvSpPr/>
          <p:nvPr/>
        </p:nvSpPr>
        <p:spPr>
          <a:xfrm>
            <a:off x="6144768" y="3127248"/>
            <a:ext cx="2423160" cy="365760"/>
          </a:xfrm>
          <a:prstGeom prst="rect">
            <a:avLst/>
          </a:prstGeom>
          <a:noFill/>
          <a:ln/>
        </p:spPr>
        <p:txBody>
          <a:bodyPr wrap="square"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about Rs 500 Cr</a:t>
            </a:r>
            <a:endParaRPr lang="en-US" sz="1500" dirty="0"/>
          </a:p>
        </p:txBody>
      </p:sp>
      <p:sp>
        <p:nvSpPr>
          <p:cNvPr id="14" name="Shape 12"/>
          <p:cNvSpPr/>
          <p:nvPr/>
        </p:nvSpPr>
        <p:spPr>
          <a:xfrm>
            <a:off x="566928" y="3794760"/>
            <a:ext cx="3931920" cy="731520"/>
          </a:xfrm>
          <a:prstGeom prst="roundRect">
            <a:avLst>
              <a:gd name="adj" fmla="val 7500"/>
            </a:avLst>
          </a:prstGeom>
          <a:solidFill>
            <a:srgbClr val="0F766E"/>
          </a:solidFill>
          <a:ln/>
        </p:spPr>
      </p:sp>
      <p:sp>
        <p:nvSpPr>
          <p:cNvPr id="15" name="Text 13"/>
          <p:cNvSpPr/>
          <p:nvPr/>
        </p:nvSpPr>
        <p:spPr>
          <a:xfrm>
            <a:off x="795528" y="3886200"/>
            <a:ext cx="100584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SOM, ACER by FY28</a:t>
            </a:r>
            <a:endParaRPr lang="en-US" sz="1400" dirty="0"/>
          </a:p>
        </p:txBody>
      </p:sp>
      <p:sp>
        <p:nvSpPr>
          <p:cNvPr id="16" name="Text 14"/>
          <p:cNvSpPr/>
          <p:nvPr/>
        </p:nvSpPr>
        <p:spPr>
          <a:xfrm>
            <a:off x="795528" y="4178808"/>
            <a:ext cx="1005840" cy="274320"/>
          </a:xfrm>
          <a:prstGeom prst="rect">
            <a:avLst/>
          </a:prstGeom>
          <a:noFill/>
          <a:ln/>
        </p:spPr>
        <p:txBody>
          <a:bodyPr wrap="square" rtlCol="0" anchor="ctr"/>
          <a:lstStyle/>
          <a:p>
            <a:pPr indent="0" marL="0">
              <a:buNone/>
            </a:pPr>
            <a:r>
              <a:rPr lang="en-US" sz="1050" dirty="0">
                <a:solidFill>
                  <a:srgbClr val="E2E8F0"/>
                </a:solidFill>
                <a:latin typeface="Calibri" pitchFamily="34" charset="0"/>
                <a:ea typeface="Calibri" pitchFamily="34" charset="-122"/>
                <a:cs typeface="Calibri" pitchFamily="34" charset="-120"/>
              </a:rPr>
              <a:t>192 mandates per year plus surveillance</a:t>
            </a:r>
            <a:endParaRPr lang="en-US" sz="1050" dirty="0"/>
          </a:p>
        </p:txBody>
      </p:sp>
      <p:sp>
        <p:nvSpPr>
          <p:cNvPr id="17" name="Text 15"/>
          <p:cNvSpPr/>
          <p:nvPr/>
        </p:nvSpPr>
        <p:spPr>
          <a:xfrm>
            <a:off x="1847088" y="3995928"/>
            <a:ext cx="2423160" cy="365760"/>
          </a:xfrm>
          <a:prstGeom prst="rect">
            <a:avLst/>
          </a:prstGeom>
          <a:noFill/>
          <a:ln/>
        </p:spPr>
        <p:txBody>
          <a:bodyPr wrap="square" rtlCol="0" anchor="ctr"/>
          <a:lstStyle/>
          <a:p>
            <a:pPr algn="r" indent="0" marL="0">
              <a:buNone/>
            </a:pPr>
            <a:r>
              <a:rPr lang="en-US" sz="1500" b="1" dirty="0">
                <a:solidFill>
                  <a:srgbClr val="FFFFFF"/>
                </a:solidFill>
                <a:latin typeface="Cambria" pitchFamily="34" charset="0"/>
                <a:ea typeface="Cambria" pitchFamily="34" charset="-122"/>
                <a:cs typeface="Cambria" pitchFamily="34" charset="-120"/>
              </a:rPr>
              <a:t>about Rs 8 Cr</a:t>
            </a:r>
            <a:endParaRPr lang="en-US" sz="1500" dirty="0"/>
          </a:p>
        </p:txBody>
      </p:sp>
      <p:sp>
        <p:nvSpPr>
          <p:cNvPr id="18" name="Text 16"/>
          <p:cNvSpPr/>
          <p:nvPr/>
        </p:nvSpPr>
        <p:spPr>
          <a:xfrm>
            <a:off x="566928" y="4892040"/>
            <a:ext cx="10972800" cy="1005840"/>
          </a:xfrm>
          <a:prstGeom prst="rect">
            <a:avLst/>
          </a:prstGeom>
          <a:noFill/>
          <a:ln/>
        </p:spPr>
        <p:txBody>
          <a:bodyPr wrap="square" rtlCol="0" anchor="t"/>
          <a:lstStyle/>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Our FY28 ambition is about 0.4% of the industry, deliberately modest and therefore credible. The runway to Rs 15 to 20 Cr sits in later years as surveillance compounds.</a:t>
            </a:r>
            <a:endParaRPr lang="en-US" sz="1400" dirty="0"/>
          </a:p>
        </p:txBody>
      </p:sp>
      <p:sp>
        <p:nvSpPr>
          <p:cNvPr id="19" name="Text 17"/>
          <p:cNvSpPr/>
          <p:nvPr/>
        </p:nvSpPr>
        <p:spPr>
          <a:xfrm>
            <a:off x="566928" y="6419088"/>
            <a:ext cx="11064240" cy="320040"/>
          </a:xfrm>
          <a:prstGeom prst="rect">
            <a:avLst/>
          </a:prstGeom>
          <a:noFill/>
          <a:ln/>
        </p:spPr>
        <p:txBody>
          <a:bodyPr wrap="square" rtlCol="0" anchor="ctr"/>
          <a:lstStyle/>
          <a:p>
            <a:pPr indent="0" marL="0">
              <a:buNone/>
            </a:pPr>
            <a:r>
              <a:rPr lang="en-US" sz="900" i="1" dirty="0">
                <a:solidFill>
                  <a:srgbClr val="94A3B8"/>
                </a:solidFill>
                <a:latin typeface="Calibri" pitchFamily="34" charset="0"/>
                <a:ea typeface="Calibri" pitchFamily="34" charset="-122"/>
                <a:cs typeface="Calibri" pitchFamily="34" charset="-120"/>
              </a:rPr>
              <a:t>Source: TAM is an analyst estimate built from official rating segment revenues [3][4][5]. SAM is an estimate of the Rs 100 Cr plus BLR sub segment. SOM is derived from this plan's model [2].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338560" y="411480"/>
            <a:ext cx="457200" cy="274320"/>
          </a:xfrm>
          <a:prstGeom prst="rect">
            <a:avLst/>
          </a:prstGeom>
          <a:noFill/>
          <a:ln/>
        </p:spPr>
        <p:txBody>
          <a:bodyPr wrap="square" rtlCol="0" anchor="ctr"/>
          <a:lstStyle/>
          <a:p>
            <a:pPr algn="r" indent="0" marL="0">
              <a:buNone/>
            </a:pPr>
            <a:r>
              <a:rPr lang="en-US" sz="1100" b="1" dirty="0">
                <a:solidFill>
                  <a:srgbClr val="94A3B8"/>
                </a:solidFill>
                <a:latin typeface="Calibri" pitchFamily="34" charset="0"/>
                <a:ea typeface="Calibri" pitchFamily="34" charset="-122"/>
                <a:cs typeface="Calibri" pitchFamily="34" charset="-120"/>
              </a:rPr>
              <a:t>09</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2B5CC4"/>
                </a:solidFill>
                <a:latin typeface="Calibri" pitchFamily="34" charset="0"/>
                <a:ea typeface="Calibri" pitchFamily="34" charset="-122"/>
                <a:cs typeface="Calibri" pitchFamily="34" charset="-120"/>
              </a:rPr>
              <a:t>RECOMMENDATION</a:t>
            </a:r>
            <a:endParaRPr lang="en-US" sz="1100" dirty="0"/>
          </a:p>
        </p:txBody>
      </p:sp>
      <p:sp>
        <p:nvSpPr>
          <p:cNvPr id="4" name="Text 2"/>
          <p:cNvSpPr/>
          <p:nvPr/>
        </p:nvSpPr>
        <p:spPr>
          <a:xfrm>
            <a:off x="566928" y="713232"/>
            <a:ext cx="10972800" cy="640080"/>
          </a:xfrm>
          <a:prstGeom prst="rect">
            <a:avLst/>
          </a:prstGeom>
          <a:noFill/>
          <a:ln/>
        </p:spPr>
        <p:txBody>
          <a:bodyPr wrap="square"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Strategy and the ask</a:t>
            </a:r>
            <a:endParaRPr lang="en-US" sz="3200" dirty="0"/>
          </a:p>
        </p:txBody>
      </p:sp>
      <p:sp>
        <p:nvSpPr>
          <p:cNvPr id="5" name="Text 3"/>
          <p:cNvSpPr/>
          <p:nvPr/>
        </p:nvSpPr>
        <p:spPr>
          <a:xfrm>
            <a:off x="566928" y="1554480"/>
            <a:ext cx="5303520" cy="320040"/>
          </a:xfrm>
          <a:prstGeom prst="rect">
            <a:avLst/>
          </a:prstGeom>
          <a:noFill/>
          <a:ln/>
        </p:spPr>
        <p:txBody>
          <a:bodyPr wrap="square" rtlCol="0" anchor="ctr"/>
          <a:lstStyle/>
          <a:p>
            <a:pPr indent="0" marL="0">
              <a:buNone/>
            </a:pPr>
            <a:r>
              <a:rPr lang="en-US" sz="1600" b="1" dirty="0">
                <a:solidFill>
                  <a:srgbClr val="2B5CC4"/>
                </a:solidFill>
                <a:latin typeface="Cambria" pitchFamily="34" charset="0"/>
                <a:ea typeface="Cambria" pitchFamily="34" charset="-122"/>
                <a:cs typeface="Cambria" pitchFamily="34" charset="-120"/>
              </a:rPr>
              <a:t>What we will do</a:t>
            </a:r>
            <a:endParaRPr lang="en-US" sz="1600" dirty="0"/>
          </a:p>
        </p:txBody>
      </p:sp>
      <p:sp>
        <p:nvSpPr>
          <p:cNvPr id="6" name="Text 4"/>
          <p:cNvSpPr/>
          <p:nvPr/>
        </p:nvSpPr>
        <p:spPr>
          <a:xfrm>
            <a:off x="566928" y="1920240"/>
            <a:ext cx="5303520" cy="2194560"/>
          </a:xfrm>
          <a:prstGeom prst="rect">
            <a:avLst/>
          </a:prstGeom>
          <a:noFill/>
          <a:ln/>
        </p:spPr>
        <p:txBody>
          <a:bodyPr wrap="square" rtlCol="0" anchor="t"/>
          <a:lstStyle/>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Treat FY27 as the pivot year, invest ahead of BLR, funded by FD interest and reserves.</a:t>
            </a:r>
            <a:endParaRPr lang="en-US" sz="1400" dirty="0"/>
          </a:p>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Stand up 4 BDs to a 16 case per month engine, targeting Rs 100 Cr plus tickets.</a:t>
            </a:r>
            <a:endParaRPr lang="en-US" sz="1400" dirty="0"/>
          </a:p>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Bank the surveillance annuity to reach profitability in FY28.</a:t>
            </a:r>
            <a:endParaRPr lang="en-US" sz="1400" dirty="0"/>
          </a:p>
        </p:txBody>
      </p:sp>
      <p:sp>
        <p:nvSpPr>
          <p:cNvPr id="7" name="Text 5"/>
          <p:cNvSpPr/>
          <p:nvPr/>
        </p:nvSpPr>
        <p:spPr>
          <a:xfrm>
            <a:off x="6327648" y="1554480"/>
            <a:ext cx="5303520" cy="320040"/>
          </a:xfrm>
          <a:prstGeom prst="rect">
            <a:avLst/>
          </a:prstGeom>
          <a:noFill/>
          <a:ln/>
        </p:spPr>
        <p:txBody>
          <a:bodyPr wrap="square" rtlCol="0" anchor="ctr"/>
          <a:lstStyle/>
          <a:p>
            <a:pPr indent="0" marL="0">
              <a:buNone/>
            </a:pPr>
            <a:r>
              <a:rPr lang="en-US" sz="1600" b="1" dirty="0">
                <a:solidFill>
                  <a:srgbClr val="2B5CC4"/>
                </a:solidFill>
                <a:latin typeface="Cambria" pitchFamily="34" charset="0"/>
                <a:ea typeface="Cambria" pitchFamily="34" charset="-122"/>
                <a:cs typeface="Cambria" pitchFamily="34" charset="-120"/>
              </a:rPr>
              <a:t>Guardrails</a:t>
            </a:r>
            <a:endParaRPr lang="en-US" sz="1600" dirty="0"/>
          </a:p>
        </p:txBody>
      </p:sp>
      <p:sp>
        <p:nvSpPr>
          <p:cNvPr id="8" name="Text 6"/>
          <p:cNvSpPr/>
          <p:nvPr/>
        </p:nvSpPr>
        <p:spPr>
          <a:xfrm>
            <a:off x="6327648" y="1920240"/>
            <a:ext cx="5303520" cy="2194560"/>
          </a:xfrm>
          <a:prstGeom prst="rect">
            <a:avLst/>
          </a:prstGeom>
          <a:noFill/>
          <a:ln/>
        </p:spPr>
        <p:txBody>
          <a:bodyPr wrap="square" rtlCol="0" anchor="t"/>
          <a:lstStyle/>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Compliance first. Brickwork lost its licence and most of its revenue to process lapses, rating revenue fell from about Rs 48.5 Cr to about Rs 5 Cr. Rating quality is existential as we scale volume.</a:t>
            </a:r>
            <a:endParaRPr lang="en-US" sz="1400" dirty="0"/>
          </a:p>
          <a:p>
            <a:pPr marL="177800" indent="-1778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Cost trigger. If BLR slips past January, stagger the second hire and freeze discretionary spend.</a:t>
            </a:r>
            <a:endParaRPr lang="en-US" sz="1400" dirty="0"/>
          </a:p>
        </p:txBody>
      </p:sp>
      <p:sp>
        <p:nvSpPr>
          <p:cNvPr id="9" name="Shape 7"/>
          <p:cNvSpPr/>
          <p:nvPr/>
        </p:nvSpPr>
        <p:spPr>
          <a:xfrm>
            <a:off x="566928" y="4526280"/>
            <a:ext cx="11064240" cy="1371600"/>
          </a:xfrm>
          <a:prstGeom prst="roundRect">
            <a:avLst>
              <a:gd name="adj" fmla="val 5333"/>
            </a:avLst>
          </a:prstGeom>
          <a:solidFill>
            <a:srgbClr val="0F172A"/>
          </a:solidFill>
          <a:ln/>
        </p:spPr>
      </p:sp>
      <p:sp>
        <p:nvSpPr>
          <p:cNvPr id="10" name="Text 8"/>
          <p:cNvSpPr/>
          <p:nvPr/>
        </p:nvSpPr>
        <p:spPr>
          <a:xfrm>
            <a:off x="886968" y="4709160"/>
            <a:ext cx="10424160" cy="274320"/>
          </a:xfrm>
          <a:prstGeom prst="rect">
            <a:avLst/>
          </a:prstGeom>
          <a:noFill/>
          <a:ln/>
        </p:spPr>
        <p:txBody>
          <a:bodyPr wrap="square" rtlCol="0" anchor="ctr"/>
          <a:lstStyle/>
          <a:p>
            <a:pPr indent="0" marL="0">
              <a:buNone/>
            </a:pPr>
            <a:r>
              <a:rPr lang="en-US" sz="1100" b="1" spc="150" kern="0" dirty="0">
                <a:solidFill>
                  <a:srgbClr val="CBD5E1"/>
                </a:solidFill>
                <a:latin typeface="Calibri" pitchFamily="34" charset="0"/>
                <a:ea typeface="Calibri" pitchFamily="34" charset="-122"/>
                <a:cs typeface="Calibri" pitchFamily="34" charset="-120"/>
              </a:rPr>
              <a:t>THE BOARD IS ASKED TO</a:t>
            </a:r>
            <a:endParaRPr lang="en-US" sz="1100" dirty="0"/>
          </a:p>
        </p:txBody>
      </p:sp>
      <p:sp>
        <p:nvSpPr>
          <p:cNvPr id="11" name="Text 9"/>
          <p:cNvSpPr/>
          <p:nvPr/>
        </p:nvSpPr>
        <p:spPr>
          <a:xfrm>
            <a:off x="886968" y="5029200"/>
            <a:ext cx="10424160" cy="77724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Approve the FY27 cost base including the two hires, conditional on BLR timing. Endorse the 16 case per month BD plan. Note that solvency is secure, and operational self sufficiency by FY28 is the goal.</a:t>
            </a:r>
            <a:endParaRPr lang="en-US" sz="1500" dirty="0"/>
          </a:p>
        </p:txBody>
      </p:sp>
      <p:sp>
        <p:nvSpPr>
          <p:cNvPr id="12" name="Text 10"/>
          <p:cNvSpPr/>
          <p:nvPr/>
        </p:nvSpPr>
        <p:spPr>
          <a:xfrm>
            <a:off x="566928" y="6419088"/>
            <a:ext cx="11064240" cy="320040"/>
          </a:xfrm>
          <a:prstGeom prst="rect">
            <a:avLst/>
          </a:prstGeom>
          <a:noFill/>
          <a:ln/>
        </p:spPr>
        <p:txBody>
          <a:bodyPr wrap="square" rtlCol="0" anchor="ctr"/>
          <a:lstStyle/>
          <a:p>
            <a:pPr indent="0" marL="0">
              <a:buNone/>
            </a:pPr>
            <a:r>
              <a:rPr lang="en-US" sz="900" i="1" dirty="0">
                <a:solidFill>
                  <a:srgbClr val="94A3B8"/>
                </a:solidFill>
                <a:latin typeface="Calibri" pitchFamily="34" charset="0"/>
                <a:ea typeface="Calibri" pitchFamily="34" charset="-122"/>
                <a:cs typeface="Calibri" pitchFamily="34" charset="-120"/>
              </a:rPr>
              <a:t>Source: Brickwork rating revenue history, brickworkratings.com [9]. Hire and cost figures, Zoho Books [1].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338560" y="411480"/>
            <a:ext cx="457200" cy="274320"/>
          </a:xfrm>
          <a:prstGeom prst="rect">
            <a:avLst/>
          </a:prstGeom>
          <a:noFill/>
          <a:ln/>
        </p:spPr>
        <p:txBody>
          <a:bodyPr wrap="square" rtlCol="0" anchor="ctr"/>
          <a:lstStyle/>
          <a:p>
            <a:pPr algn="r" indent="0" marL="0">
              <a:buNone/>
            </a:pPr>
            <a:r>
              <a:rPr lang="en-US" sz="1100" b="1" dirty="0">
                <a:solidFill>
                  <a:srgbClr val="94A3B8"/>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566928" y="457200"/>
            <a:ext cx="10058400" cy="274320"/>
          </a:xfrm>
          <a:prstGeom prst="rect">
            <a:avLst/>
          </a:prstGeom>
          <a:noFill/>
          <a:ln/>
        </p:spPr>
        <p:txBody>
          <a:bodyPr wrap="square" rtlCol="0" anchor="ctr"/>
          <a:lstStyle/>
          <a:p>
            <a:pPr indent="0" marL="0">
              <a:buNone/>
            </a:pPr>
            <a:r>
              <a:rPr lang="en-US" sz="1100" b="1" spc="200" kern="0" dirty="0">
                <a:solidFill>
                  <a:srgbClr val="2B5CC4"/>
                </a:solidFill>
                <a:latin typeface="Calibri" pitchFamily="34" charset="0"/>
                <a:ea typeface="Calibri" pitchFamily="34" charset="-122"/>
                <a:cs typeface="Calibri" pitchFamily="34" charset="-120"/>
              </a:rPr>
              <a:t>PROVENANCE</a:t>
            </a:r>
            <a:endParaRPr lang="en-US" sz="1100" dirty="0"/>
          </a:p>
        </p:txBody>
      </p:sp>
      <p:sp>
        <p:nvSpPr>
          <p:cNvPr id="4" name="Text 2"/>
          <p:cNvSpPr/>
          <p:nvPr/>
        </p:nvSpPr>
        <p:spPr>
          <a:xfrm>
            <a:off x="566928" y="713232"/>
            <a:ext cx="10972800" cy="640080"/>
          </a:xfrm>
          <a:prstGeom prst="rect">
            <a:avLst/>
          </a:prstGeom>
          <a:noFill/>
          <a:ln/>
        </p:spPr>
        <p:txBody>
          <a:bodyPr wrap="square"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Sources and notes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64240" cy="914400"/>
        </p:xfrm>
        <a:graphic>
          <a:graphicData uri="http://schemas.openxmlformats.org/drawingml/2006/table">
            <a:tbl>
              <a:tblPr/>
              <a:tblGrid>
                <a:gridCol w="822960"/>
                <a:gridCol w="5120640"/>
                <a:gridCol w="5120640"/>
              </a:tblGrid>
              <a:tr h="329184">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Ref</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F8FB"/>
                    </a:solidFill>
                  </a:tcPr>
                </a:tc>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What</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F8FB"/>
                    </a:solidFill>
                  </a:tcPr>
                </a:tc>
                <a:tc>
                  <a:txBody>
                    <a:bodyPr/>
                    <a:lstStyle/>
                    <a:p>
                      <a:pPr indent="0" marL="0">
                        <a:buNone/>
                      </a:pPr>
                      <a:r>
                        <a:rPr lang="en-US" sz="1100" b="1" dirty="0">
                          <a:solidFill>
                            <a:srgbClr val="64748B"/>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F8FB"/>
                    </a:solidFill>
                  </a:tcPr>
                </a:tc>
              </a:tr>
              <a:tr h="329184">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ACER financials, all internal figures</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2B5CC4"/>
                          </a:solidFill>
                          <a:latin typeface="Calibri" pitchFamily="34" charset="0"/>
                          <a:ea typeface="Calibri" pitchFamily="34" charset="-122"/>
                          <a:cs typeface="Calibri" pitchFamily="34" charset="-120"/>
                        </a:rPr>
                        <a:t>Zoho Books actuals to 21-Jul-2026 (internal)</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BLR unit economics and volume</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2B5CC4"/>
                          </a:solidFill>
                          <a:latin typeface="Calibri" pitchFamily="34" charset="0"/>
                          <a:ea typeface="Calibri" pitchFamily="34" charset="-122"/>
                          <a:cs typeface="Calibri" pitchFamily="34" charset="-120"/>
                        </a:rPr>
                        <a:t>ACER management and Board assumption</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CRISIL CY2024 revenue and ratings segment</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2B5CC4"/>
                          </a:solidFill>
                          <a:latin typeface="Calibri" pitchFamily="34" charset="0"/>
                          <a:ea typeface="Calibri" pitchFamily="34" charset="-122"/>
                          <a:cs typeface="Calibri" pitchFamily="34" charset="-120"/>
                        </a:rPr>
                        <a:t>crisil.com audited results</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ICRA FY2025 revenue</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2B5CC4"/>
                          </a:solidFill>
                          <a:latin typeface="Calibri" pitchFamily="34" charset="0"/>
                          <a:ea typeface="Calibri" pitchFamily="34" charset="-122"/>
                          <a:cs typeface="Calibri" pitchFamily="34" charset="-120"/>
                        </a:rPr>
                        <a:t>icra.in Q4 FY25 press release</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CARE FY2026 revenue and ratings segment</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2B5CC4"/>
                          </a:solidFill>
                          <a:latin typeface="Calibri" pitchFamily="34" charset="0"/>
                          <a:ea typeface="Calibri" pitchFamily="34" charset="-122"/>
                          <a:cs typeface="Calibri" pitchFamily="34" charset="-120"/>
                        </a:rPr>
                        <a:t>careratings.com annual report</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India Ratings FY2026 revenue</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2B5CC4"/>
                          </a:solidFill>
                          <a:latin typeface="Calibri" pitchFamily="34" charset="0"/>
                          <a:ea typeface="Calibri" pitchFamily="34" charset="-122"/>
                          <a:cs typeface="Calibri" pitchFamily="34" charset="-120"/>
                        </a:rPr>
                        <a:t>indiaratings.co.in income disclosure</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Infomerics FY2024 to FY2026 revenue</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2B5CC4"/>
                          </a:solidFill>
                          <a:latin typeface="Calibri" pitchFamily="34" charset="0"/>
                          <a:ea typeface="Calibri" pitchFamily="34" charset="-122"/>
                          <a:cs typeface="Calibri" pitchFamily="34" charset="-120"/>
                        </a:rPr>
                        <a:t>infomerics.com regulatory disclosure</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Acuite FY2025 to FY2026 receipts</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2B5CC4"/>
                          </a:solidFill>
                          <a:latin typeface="Calibri" pitchFamily="34" charset="0"/>
                          <a:ea typeface="Calibri" pitchFamily="34" charset="-122"/>
                          <a:cs typeface="Calibri" pitchFamily="34" charset="-120"/>
                        </a:rPr>
                        <a:t>acuite.in receipts disclosure</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Brickwork revenue history and SEBI action</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2B5CC4"/>
                          </a:solidFill>
                          <a:latin typeface="Calibri" pitchFamily="34" charset="0"/>
                          <a:ea typeface="Calibri" pitchFamily="34" charset="-122"/>
                          <a:cs typeface="Calibri" pitchFamily="34" charset="-120"/>
                        </a:rPr>
                        <a:t>brickworkratings.com regulatory disclosure</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329184">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SEBI Rs 25 Cr net worth requirement</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2B5CC4"/>
                          </a:solidFill>
                          <a:latin typeface="Calibri" pitchFamily="34" charset="0"/>
                          <a:ea typeface="Calibri" pitchFamily="34" charset="-122"/>
                          <a:cs typeface="Calibri" pitchFamily="34" charset="-120"/>
                        </a:rPr>
                        <a:t>SEBI (CRA) Regulations, 2018 amendment</a:t>
                      </a:r>
                      <a:endParaRPr lang="en-US" sz="11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6" name="Text 3"/>
          <p:cNvSpPr/>
          <p:nvPr/>
        </p:nvSpPr>
        <p:spPr>
          <a:xfrm>
            <a:off x="566928" y="6419088"/>
            <a:ext cx="11064240" cy="320040"/>
          </a:xfrm>
          <a:prstGeom prst="rect">
            <a:avLst/>
          </a:prstGeom>
          <a:noFill/>
          <a:ln/>
        </p:spPr>
        <p:txBody>
          <a:bodyPr wrap="square" rtlCol="0" anchor="ctr"/>
          <a:lstStyle/>
          <a:p>
            <a:pPr indent="0" marL="0">
              <a:buNone/>
            </a:pPr>
            <a:r>
              <a:rPr lang="en-US" sz="900" i="1" dirty="0">
                <a:solidFill>
                  <a:srgbClr val="94A3B8"/>
                </a:solidFill>
                <a:latin typeface="Calibri" pitchFamily="34" charset="0"/>
                <a:ea typeface="Calibri" pitchFamily="34" charset="-122"/>
                <a:cs typeface="Calibri" pitchFamily="34" charset="-120"/>
              </a:rPr>
              <a:t>Estimates are labelled as such on the relevant slides. Periods differ by company (CRISIL Jan to Dec, others Apr to Mar). Full per figure links are in the AOP repository.</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2026-07-24T10:45:10Z</dcterms:created>
  <dcterms:modified xsi:type="dcterms:W3CDTF">2026-07-24T10:45:10Z</dcterms:modified>
</cp:coreProperties>
</file>
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4.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5.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6.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7.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Cost</c:v>
                </c:pt>
              </c:strCache>
            </c:strRef>
          </c:tx>
          <c:spPr>
            <a:solidFill>
              <a:schemeClr val="accent1"/>
            </a:solidFill>
            <a:ln w="9525" cap="flat">
              <a:solidFill>
                <a:srgbClr val="F9F9F9"/>
              </a:solidFill>
              <a:prstDash val="solid"/>
              <a:round/>
            </a:ln>
            <a:effectLst/>
          </c:spPr>
          <c:dPt>
            <c:idx val="0"/>
            <c:bubble3D val="0"/>
            <c:spPr>
              <a:solidFill>
                <a:srgbClr val="1E3A8A"/>
              </a:solidFill>
              <a:effectLst/>
            </c:spPr>
          </c:dPt>
          <c:dPt>
            <c:idx val="1"/>
            <c:bubble3D val="0"/>
            <c:spPr>
              <a:solidFill>
                <a:srgbClr val="0D9488"/>
              </a:solidFill>
              <a:effectLst/>
            </c:spPr>
          </c:dPt>
          <c:dPt>
            <c:idx val="2"/>
            <c:bubble3D val="0"/>
            <c:spPr>
              <a:solidFill>
                <a:srgbClr val="7C3AED"/>
              </a:solidFill>
              <a:effectLst/>
            </c:spPr>
          </c:dPt>
          <c:dPt>
            <c:idx val="3"/>
            <c:bubble3D val="0"/>
            <c:spPr>
              <a:solidFill>
                <a:srgbClr val="F59E0B"/>
              </a:solidFill>
              <a:effectLst/>
            </c:spPr>
          </c:dPt>
          <c:dPt>
            <c:idx val="4"/>
            <c:bubble3D val="0"/>
            <c:spPr>
              <a:solidFill>
                <a:srgbClr val="E11D48"/>
              </a:solidFill>
              <a:effectLst/>
            </c:spPr>
          </c:dPt>
          <c:dLbls>
            <c:dLbl>
              <c:idx val="0"/>
              <c:numFmt formatCode="0%" sourceLinked="0"/>
              <c:spPr/>
              <c:txPr>
                <a:bodyPr/>
                <a:lstStyle/>
                <a:p>
                  <a:pPr>
                    <a:defRPr sz="9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1"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1"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00" b="1"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9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Employee Expense</c:v>
                </c:pt>
                <c:pt idx="1">
                  <c:v>Other opex</c:v>
                </c:pt>
                <c:pt idx="2">
                  <c:v>RC fees</c:v>
                </c:pt>
                <c:pt idx="3">
                  <c:v>Secretarial</c:v>
                </c:pt>
                <c:pt idx="4">
                  <c:v>IT + branding</c:v>
                </c:pt>
              </c:strCache>
            </c:strRef>
          </c:cat>
          <c:val>
            <c:numRef>
              <c:f>Sheet1!$B$2:$B$6</c:f>
              <c:numCache>
                <c:ptCount val="5"/>
                <c:pt idx="0">
                  <c:v>64.7</c:v>
                </c:pt>
                <c:pt idx="1">
                  <c:v>22.7</c:v>
                </c:pt>
                <c:pt idx="2">
                  <c:v>6.7</c:v>
                </c:pt>
                <c:pt idx="3">
                  <c:v>3.6</c:v>
                </c:pt>
                <c:pt idx="4">
                  <c:v>2.3</c:v>
                </c:pt>
              </c:numCache>
            </c:numRef>
          </c:val>
        </c:ser>
        <c:firstSliceAng val="0"/>
        <c:holeSize val="58"/>
      </c:doughnutChart>
      <c:spPr>
        <a:noFill/>
        <a:ln>
          <a:noFill/>
        </a:ln>
        <a:effectLst/>
      </c:spPr>
    </c:plotArea>
    <c:legend>
      <c:legendPos val="r"/>
      <c:overlay val="0"/>
      <c:txPr>
        <a:bodyPr/>
        <a:lstStyle/>
        <a:p>
          <a:pPr>
            <a:defRPr sz="10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Salary</c:v>
                </c:pt>
              </c:strCache>
            </c:strRef>
          </c:tx>
          <c:spPr>
            <a:solidFill>
              <a:srgbClr val="0D9488">
                <a:alpha val="100000"/>
              </a:srgbClr>
            </a:solidFill>
            <a:effectLst/>
          </c:spPr>
          <c:invertIfNegative val="0"/>
          <c:dLbls>
            <c:numFmt formatCode="#,##0" sourceLinked="0"/>
            <c:txPr>
              <a:bodyPr/>
              <a:lstStyle/>
              <a:p>
                <a:pPr>
                  <a:defRPr b="1" i="0" strike="noStrike" sz="1200" u="none">
                    <a:solidFill>
                      <a:srgbClr val="0F172A"/>
                    </a:solidFill>
                    <a:latin typeface="Arial"/>
                  </a:defRPr>
                </a:pPr>
              </a:p>
            </c:txPr>
            <c:showLegendKey val="0"/>
            <c:showVal val="1"/>
            <c:showCatName val="0"/>
            <c:showSerName val="0"/>
            <c:showPercent val="0"/>
            <c:showBubbleSize val="0"/>
            <c:showLeaderLines val="0"/>
          </c:dLbls>
          <c:dPt>
            <c:idx val="0"/>
            <c:invertIfNegative val="0"/>
            <c:bubble3D val="0"/>
            <c:spPr>
              <a:solidFill>
                <a:srgbClr val="0D9488"/>
              </a:solidFill>
              <a:effectLst/>
            </c:spPr>
          </c:dPt>
          <c:dPt>
            <c:idx val="1"/>
            <c:invertIfNegative val="0"/>
            <c:bubble3D val="0"/>
            <c:spPr>
              <a:solidFill>
                <a:srgbClr val="10B981"/>
              </a:solidFill>
              <a:effectLst/>
            </c:spPr>
          </c:dPt>
          <c:cat>
            <c:multiLvlStrRef>
              <c:f>Sheet1!$A$2:$A$3</c:f>
              <c:multiLvlStrCache>
                <c:ptCount val="2"/>
                <c:lvl>
                  <c:pt idx="0">
                    <c:v>Salary now</c:v>
                  </c:pt>
                  <c:pt idx="1">
                    <c:v>Salary from Sep</c:v>
                  </c:pt>
                </c:lvl>
              </c:multiLvlStrCache>
            </c:multiLvlStrRef>
          </c:cat>
          <c:val>
            <c:numRef>
              <c:f>Sheet1!$B$2:$B$3</c:f>
              <c:numCache>
                <c:formatCode>General</c:formatCode>
                <c:ptCount val="2"/>
                <c:pt idx="0">
                  <c:v>25</c:v>
                </c:pt>
                <c:pt idx="1">
                  <c:v>32.9</c:v>
                </c:pt>
              </c:numCache>
            </c:numRef>
          </c:val>
        </c:ser>
        <c:dLbls>
          <c:numFmt formatCode="#,##0" sourceLinked="0"/>
          <c:txPr>
            <a:bodyPr/>
            <a:lstStyle/>
            <a:p>
              <a:pPr>
                <a:defRPr b="1" i="0" strike="noStrike" sz="1200" u="none">
                  <a:solidFill>
                    <a:srgbClr val="0F17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12700" cap="flat">
              <a:solidFill>
                <a:srgbClr val="E6EA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IPO mandates</c:v>
                </c:pt>
              </c:strCache>
            </c:strRef>
          </c:tx>
          <c:spPr>
            <a:solidFill>
              <a:srgbClr val="0284C7"/>
            </a:solidFill>
            <a:effectLst/>
          </c:spPr>
          <c:invertIfNegative val="0"/>
          <c:dLbls>
            <c:numFmt formatCode="#,##0" sourceLinked="0"/>
            <c:txPr>
              <a:bodyPr/>
              <a:lstStyle/>
              <a:p>
                <a:pPr>
                  <a:defRPr b="1"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Aug</c:v>
                  </c:pt>
                  <c:pt idx="1">
                    <c:v>Sep</c:v>
                  </c:pt>
                  <c:pt idx="2">
                    <c:v>Oct</c:v>
                  </c:pt>
                  <c:pt idx="3">
                    <c:v>Nov+</c:v>
                  </c:pt>
                </c:lvl>
              </c:multiLvlStrCache>
            </c:multiLvlStrRef>
          </c:cat>
          <c:val>
            <c:numRef>
              <c:f>Sheet1!$B$2:$B$5</c:f>
              <c:numCache>
                <c:formatCode>General</c:formatCode>
                <c:ptCount val="4"/>
                <c:pt idx="0">
                  <c:v>10</c:v>
                </c:pt>
                <c:pt idx="1">
                  <c:v>15</c:v>
                </c:pt>
                <c:pt idx="2">
                  <c:v>20</c:v>
                </c:pt>
                <c:pt idx="3">
                  <c:v>20</c:v>
                </c:pt>
              </c:numCache>
            </c:numRef>
          </c:val>
        </c:ser>
        <c:ser>
          <c:idx val="1"/>
          <c:order val="1"/>
          <c:tx>
            <c:strRef>
              <c:f>Sheet1!$C$1</c:f>
              <c:strCache>
                <c:ptCount val="1"/>
                <c:pt idx="0">
                  <c:v>BLR cases</c:v>
                </c:pt>
              </c:strCache>
            </c:strRef>
          </c:tx>
          <c:spPr>
            <a:solidFill>
              <a:srgbClr val="10B981"/>
            </a:solidFill>
            <a:effectLst/>
          </c:spPr>
          <c:invertIfNegative val="0"/>
          <c:dLbls>
            <c:numFmt formatCode="#,##0" sourceLinked="0"/>
            <c:txPr>
              <a:bodyPr/>
              <a:lstStyle/>
              <a:p>
                <a:pPr>
                  <a:defRPr b="1"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Aug</c:v>
                  </c:pt>
                  <c:pt idx="1">
                    <c:v>Sep</c:v>
                  </c:pt>
                  <c:pt idx="2">
                    <c:v>Oct</c:v>
                  </c:pt>
                  <c:pt idx="3">
                    <c:v>Nov+</c:v>
                  </c:pt>
                </c:lvl>
              </c:multiLvlStrCache>
            </c:multiLvlStrRef>
          </c:cat>
          <c:val>
            <c:numRef>
              <c:f>Sheet1!$C$2:$C$5</c:f>
              <c:numCache>
                <c:formatCode>General</c:formatCode>
                <c:ptCount val="4"/>
                <c:pt idx="0">
                  <c:v>0</c:v>
                </c:pt>
                <c:pt idx="1">
                  <c:v>0</c:v>
                </c:pt>
                <c:pt idx="2">
                  <c:v>0</c:v>
                </c:pt>
                <c:pt idx="3">
                  <c:v>16</c:v>
                </c:pt>
              </c:numCache>
            </c:numRef>
          </c:val>
        </c:ser>
        <c:dLbls>
          <c:numFmt formatCode="#,##0" sourceLinked="0"/>
          <c:txPr>
            <a:bodyPr/>
            <a:lstStyle/>
            <a:p>
              <a:pPr>
                <a:defRPr b="1" i="0" strike="noStrike" sz="100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12700" cap="flat">
              <a:solidFill>
                <a:srgbClr val="E6EA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majorUnit val="10"/>
      </c:valAx>
      <c:spPr>
        <a:noFill/>
        <a:ln>
          <a:noFill/>
        </a:ln>
        <a:effectLst/>
      </c:spPr>
    </c:plotArea>
    <c:legend>
      <c:legendPos val="b"/>
      <c:overlay val="0"/>
      <c:txPr>
        <a:bodyPr/>
        <a:lstStyle/>
        <a:p>
          <a:pPr>
            <a:defRPr sz="10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FD interest</c:v>
                </c:pt>
              </c:strCache>
            </c:strRef>
          </c:tx>
          <c:spPr>
            <a:solidFill>
              <a:srgbClr val="0D948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Aug 26</c:v>
                  </c:pt>
                  <c:pt idx="1">
                    <c:v>Sep 26</c:v>
                  </c:pt>
                  <c:pt idx="2">
                    <c:v>Oct 26</c:v>
                  </c:pt>
                  <c:pt idx="3">
                    <c:v>Nov 26</c:v>
                  </c:pt>
                  <c:pt idx="4">
                    <c:v>Dec 26</c:v>
                  </c:pt>
                  <c:pt idx="5">
                    <c:v>Jan 27</c:v>
                  </c:pt>
                  <c:pt idx="6">
                    <c:v>Feb 27</c:v>
                  </c:pt>
                  <c:pt idx="7">
                    <c:v>Mar 27</c:v>
                  </c:pt>
                  <c:pt idx="8">
                    <c:v>Apr 27</c:v>
                  </c:pt>
                </c:lvl>
              </c:multiLvlStrCache>
            </c:multiLvlStrRef>
          </c:cat>
          <c:val>
            <c:numRef>
              <c:f>Sheet1!$B$2:$B$10</c:f>
              <c:numCache>
                <c:formatCode>General</c:formatCode>
                <c:ptCount val="9"/>
                <c:pt idx="0">
                  <c:v>12.5</c:v>
                </c:pt>
                <c:pt idx="1">
                  <c:v>12.5</c:v>
                </c:pt>
                <c:pt idx="2">
                  <c:v>12.5</c:v>
                </c:pt>
                <c:pt idx="3">
                  <c:v>12.5</c:v>
                </c:pt>
                <c:pt idx="4">
                  <c:v>12.5</c:v>
                </c:pt>
                <c:pt idx="5">
                  <c:v>12.5</c:v>
                </c:pt>
                <c:pt idx="6">
                  <c:v>12.5</c:v>
                </c:pt>
                <c:pt idx="7">
                  <c:v>12.5</c:v>
                </c:pt>
                <c:pt idx="8">
                  <c:v>12.5</c:v>
                </c:pt>
              </c:numCache>
            </c:numRef>
          </c:val>
        </c:ser>
        <c:ser>
          <c:idx val="1"/>
          <c:order val="1"/>
          <c:tx>
            <c:strRef>
              <c:f>Sheet1!$C$1</c:f>
              <c:strCache>
                <c:ptCount val="1"/>
                <c:pt idx="0">
                  <c:v>IPO &amp; ratings</c:v>
                </c:pt>
              </c:strCache>
            </c:strRef>
          </c:tx>
          <c:spPr>
            <a:solidFill>
              <a:srgbClr val="0284C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Aug 26</c:v>
                  </c:pt>
                  <c:pt idx="1">
                    <c:v>Sep 26</c:v>
                  </c:pt>
                  <c:pt idx="2">
                    <c:v>Oct 26</c:v>
                  </c:pt>
                  <c:pt idx="3">
                    <c:v>Nov 26</c:v>
                  </c:pt>
                  <c:pt idx="4">
                    <c:v>Dec 26</c:v>
                  </c:pt>
                  <c:pt idx="5">
                    <c:v>Jan 27</c:v>
                  </c:pt>
                  <c:pt idx="6">
                    <c:v>Feb 27</c:v>
                  </c:pt>
                  <c:pt idx="7">
                    <c:v>Mar 27</c:v>
                  </c:pt>
                  <c:pt idx="8">
                    <c:v>Apr 27</c:v>
                  </c:pt>
                </c:lvl>
              </c:multiLvlStrCache>
            </c:multiLvlStrRef>
          </c:cat>
          <c:val>
            <c:numRef>
              <c:f>Sheet1!$C$2:$C$10</c:f>
              <c:numCache>
                <c:formatCode>General</c:formatCode>
                <c:ptCount val="9"/>
                <c:pt idx="0">
                  <c:v>8.1</c:v>
                </c:pt>
                <c:pt idx="1">
                  <c:v>10.1</c:v>
                </c:pt>
                <c:pt idx="2">
                  <c:v>12.1</c:v>
                </c:pt>
                <c:pt idx="3">
                  <c:v>12.1</c:v>
                </c:pt>
                <c:pt idx="4">
                  <c:v>12.1</c:v>
                </c:pt>
                <c:pt idx="5">
                  <c:v>12.1</c:v>
                </c:pt>
                <c:pt idx="6">
                  <c:v>12.1</c:v>
                </c:pt>
                <c:pt idx="7">
                  <c:v>12.1</c:v>
                </c:pt>
                <c:pt idx="8">
                  <c:v>12.1</c:v>
                </c:pt>
              </c:numCache>
            </c:numRef>
          </c:val>
        </c:ser>
        <c:ser>
          <c:idx val="2"/>
          <c:order val="2"/>
          <c:tx>
            <c:strRef>
              <c:f>Sheet1!$D$1</c:f>
              <c:strCache>
                <c:ptCount val="1"/>
                <c:pt idx="0">
                  <c:v>BLR</c:v>
                </c:pt>
              </c:strCache>
            </c:strRef>
          </c:tx>
          <c:spPr>
            <a:solidFill>
              <a:srgbClr val="10B98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Aug 26</c:v>
                  </c:pt>
                  <c:pt idx="1">
                    <c:v>Sep 26</c:v>
                  </c:pt>
                  <c:pt idx="2">
                    <c:v>Oct 26</c:v>
                  </c:pt>
                  <c:pt idx="3">
                    <c:v>Nov 26</c:v>
                  </c:pt>
                  <c:pt idx="4">
                    <c:v>Dec 26</c:v>
                  </c:pt>
                  <c:pt idx="5">
                    <c:v>Jan 27</c:v>
                  </c:pt>
                  <c:pt idx="6">
                    <c:v>Feb 27</c:v>
                  </c:pt>
                  <c:pt idx="7">
                    <c:v>Mar 27</c:v>
                  </c:pt>
                  <c:pt idx="8">
                    <c:v>Apr 27</c:v>
                  </c:pt>
                </c:lvl>
              </c:multiLvlStrCache>
            </c:multiLvlStrRef>
          </c:cat>
          <c:val>
            <c:numRef>
              <c:f>Sheet1!$D$2:$D$10</c:f>
              <c:numCache>
                <c:formatCode>General</c:formatCode>
                <c:ptCount val="9"/>
                <c:pt idx="0">
                  <c:v>0</c:v>
                </c:pt>
                <c:pt idx="1">
                  <c:v>0</c:v>
                </c:pt>
                <c:pt idx="2">
                  <c:v>0</c:v>
                </c:pt>
                <c:pt idx="3">
                  <c:v>42</c:v>
                </c:pt>
                <c:pt idx="4">
                  <c:v>44</c:v>
                </c:pt>
                <c:pt idx="5">
                  <c:v>46</c:v>
                </c:pt>
                <c:pt idx="6">
                  <c:v>48</c:v>
                </c:pt>
                <c:pt idx="7">
                  <c:v>50</c:v>
                </c:pt>
                <c:pt idx="8">
                  <c:v>52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lineChart>
        <c:varyColors val="0"/>
        <c:ser>
          <c:idx val="3"/>
          <c:order val="3"/>
          <c:tx>
            <c:strRef>
              <c:f>Sheet1!$E$1</c:f>
              <c:strCache>
                <c:ptCount val="1"/>
                <c:pt idx="0">
                  <c:v>Expense</c:v>
                </c:pt>
              </c:strCache>
            </c:strRef>
          </c:tx>
          <c:spPr>
            <a:solidFill>
              <a:srgbClr val="E11D48"/>
            </a:solidFill>
            <a:ln w="34925" cap="flat">
              <a:solidFill>
                <a:srgbClr val="E11D48"/>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11D48"/>
              </a:solidFill>
              <a:ln w="9525" cap="flat">
                <a:solidFill>
                  <a:srgbClr val="E11D48"/>
                </a:solidFill>
                <a:prstDash val="solid"/>
                <a:round/>
              </a:ln>
              <a:effectLst/>
            </c:spPr>
          </c:marker>
          <c:cat>
            <c:multiLvlStrRef>
              <c:f>Sheet1!$A$2:$A$10</c:f>
              <c:multiLvlStrCache>
                <c:ptCount val="9"/>
                <c:lvl>
                  <c:pt idx="0">
                    <c:v>Aug 26</c:v>
                  </c:pt>
                  <c:pt idx="1">
                    <c:v>Sep 26</c:v>
                  </c:pt>
                  <c:pt idx="2">
                    <c:v>Oct 26</c:v>
                  </c:pt>
                  <c:pt idx="3">
                    <c:v>Nov 26</c:v>
                  </c:pt>
                  <c:pt idx="4">
                    <c:v>Dec 26</c:v>
                  </c:pt>
                  <c:pt idx="5">
                    <c:v>Jan 27</c:v>
                  </c:pt>
                  <c:pt idx="6">
                    <c:v>Feb 27</c:v>
                  </c:pt>
                  <c:pt idx="7">
                    <c:v>Mar 27</c:v>
                  </c:pt>
                  <c:pt idx="8">
                    <c:v>Apr 27</c:v>
                  </c:pt>
                </c:lvl>
              </c:multiLvlStrCache>
            </c:multiLvlStrRef>
          </c:cat>
          <c:val>
            <c:numRef>
              <c:f>Sheet1!$E$2:$E$10</c:f>
              <c:numCache>
                <c:formatCode>General</c:formatCode>
                <c:ptCount val="9"/>
                <c:pt idx="0">
                  <c:v>52.2</c:v>
                </c:pt>
                <c:pt idx="1">
                  <c:v>46.7</c:v>
                </c:pt>
                <c:pt idx="2">
                  <c:v>57.2</c:v>
                </c:pt>
                <c:pt idx="3">
                  <c:v>56</c:v>
                </c:pt>
                <c:pt idx="4">
                  <c:v>50.5</c:v>
                </c:pt>
                <c:pt idx="5">
                  <c:v>50.5</c:v>
                </c:pt>
                <c:pt idx="6">
                  <c:v>56</c:v>
                </c:pt>
                <c:pt idx="7">
                  <c:v>50.5</c:v>
                </c:pt>
                <c:pt idx="8">
                  <c:v>50.5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90"/>
          <c:min val="0"/>
        </c:scaling>
        <c:delete val="0"/>
        <c:axPos val="l"/>
        <c:majorGridlines>
          <c:spPr>
            <a:ln w="12700" cap="flat">
              <a:solidFill>
                <a:srgbClr val="E6EAF0"/>
              </a:solidFill>
              <a:prstDash val="solid"/>
              <a:round/>
            </a:ln>
          </c:spPr>
        </c:majorGridlines>
        <c:title>
          <c:tx>
            <c:rich>
              <a:bodyPr/>
              <a:lstStyle/>
              <a:p>
                <a:pPr>
                  <a:defRPr sz="1000" b="0" i="0" u="none" strike="noStrike">
                    <a:solidFill>
                      <a:srgbClr val="64748B"/>
                    </a:solidFill>
                    <a:latin typeface="Arial"/>
                  </a:defRPr>
                </a:pPr>
                <a:r>
                  <a:rPr sz="1000" b="0" i="0" u="none" strike="noStrike">
                    <a:solidFill>
                      <a:srgbClr val="64748B"/>
                    </a:solidFill>
                    <a:latin typeface="Arial"/>
                  </a:rPr>
                  <a:t>Rs lakh per month</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10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FD interest</c:v>
                </c:pt>
              </c:strCache>
            </c:strRef>
          </c:tx>
          <c:spPr>
            <a:solidFill>
              <a:srgbClr val="0D948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Aug 26</c:v>
                  </c:pt>
                  <c:pt idx="1">
                    <c:v>Sep 26</c:v>
                  </c:pt>
                  <c:pt idx="2">
                    <c:v>Oct 26</c:v>
                  </c:pt>
                  <c:pt idx="3">
                    <c:v>Nov 26</c:v>
                  </c:pt>
                  <c:pt idx="4">
                    <c:v>Dec 26</c:v>
                  </c:pt>
                  <c:pt idx="5">
                    <c:v>Jan 27</c:v>
                  </c:pt>
                  <c:pt idx="6">
                    <c:v>Feb 27</c:v>
                  </c:pt>
                  <c:pt idx="7">
                    <c:v>Mar 27</c:v>
                  </c:pt>
                  <c:pt idx="8">
                    <c:v>Apr 27</c:v>
                  </c:pt>
                </c:lvl>
              </c:multiLvlStrCache>
            </c:multiLvlStrRef>
          </c:cat>
          <c:val>
            <c:numRef>
              <c:f>Sheet1!$B$2:$B$10</c:f>
              <c:numCache>
                <c:formatCode>General</c:formatCode>
                <c:ptCount val="9"/>
                <c:pt idx="0">
                  <c:v>12.5</c:v>
                </c:pt>
                <c:pt idx="1">
                  <c:v>12.5</c:v>
                </c:pt>
                <c:pt idx="2">
                  <c:v>12.5</c:v>
                </c:pt>
                <c:pt idx="3">
                  <c:v>12.5</c:v>
                </c:pt>
                <c:pt idx="4">
                  <c:v>12.5</c:v>
                </c:pt>
                <c:pt idx="5">
                  <c:v>12.5</c:v>
                </c:pt>
                <c:pt idx="6">
                  <c:v>12.5</c:v>
                </c:pt>
                <c:pt idx="7">
                  <c:v>12.5</c:v>
                </c:pt>
                <c:pt idx="8">
                  <c:v>12.5</c:v>
                </c:pt>
              </c:numCache>
            </c:numRef>
          </c:val>
        </c:ser>
        <c:ser>
          <c:idx val="1"/>
          <c:order val="1"/>
          <c:tx>
            <c:strRef>
              <c:f>Sheet1!$C$1</c:f>
              <c:strCache>
                <c:ptCount val="1"/>
                <c:pt idx="0">
                  <c:v>IPO &amp; ratings</c:v>
                </c:pt>
              </c:strCache>
            </c:strRef>
          </c:tx>
          <c:spPr>
            <a:solidFill>
              <a:srgbClr val="0284C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Aug 26</c:v>
                  </c:pt>
                  <c:pt idx="1">
                    <c:v>Sep 26</c:v>
                  </c:pt>
                  <c:pt idx="2">
                    <c:v>Oct 26</c:v>
                  </c:pt>
                  <c:pt idx="3">
                    <c:v>Nov 26</c:v>
                  </c:pt>
                  <c:pt idx="4">
                    <c:v>Dec 26</c:v>
                  </c:pt>
                  <c:pt idx="5">
                    <c:v>Jan 27</c:v>
                  </c:pt>
                  <c:pt idx="6">
                    <c:v>Feb 27</c:v>
                  </c:pt>
                  <c:pt idx="7">
                    <c:v>Mar 27</c:v>
                  </c:pt>
                  <c:pt idx="8">
                    <c:v>Apr 27</c:v>
                  </c:pt>
                </c:lvl>
              </c:multiLvlStrCache>
            </c:multiLvlStrRef>
          </c:cat>
          <c:val>
            <c:numRef>
              <c:f>Sheet1!$C$2:$C$10</c:f>
              <c:numCache>
                <c:formatCode>General</c:formatCode>
                <c:ptCount val="9"/>
                <c:pt idx="0">
                  <c:v>8.1</c:v>
                </c:pt>
                <c:pt idx="1">
                  <c:v>10.1</c:v>
                </c:pt>
                <c:pt idx="2">
                  <c:v>12.1</c:v>
                </c:pt>
                <c:pt idx="3">
                  <c:v>12.1</c:v>
                </c:pt>
                <c:pt idx="4">
                  <c:v>12.1</c:v>
                </c:pt>
                <c:pt idx="5">
                  <c:v>12.1</c:v>
                </c:pt>
                <c:pt idx="6">
                  <c:v>12.1</c:v>
                </c:pt>
                <c:pt idx="7">
                  <c:v>12.1</c:v>
                </c:pt>
                <c:pt idx="8">
                  <c:v>12.1</c:v>
                </c:pt>
              </c:numCache>
            </c:numRef>
          </c:val>
        </c:ser>
        <c:ser>
          <c:idx val="2"/>
          <c:order val="2"/>
          <c:tx>
            <c:strRef>
              <c:f>Sheet1!$D$1</c:f>
              <c:strCache>
                <c:ptCount val="1"/>
                <c:pt idx="0">
                  <c:v>BLR</c:v>
                </c:pt>
              </c:strCache>
            </c:strRef>
          </c:tx>
          <c:spPr>
            <a:solidFill>
              <a:srgbClr val="10B98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Aug 26</c:v>
                  </c:pt>
                  <c:pt idx="1">
                    <c:v>Sep 26</c:v>
                  </c:pt>
                  <c:pt idx="2">
                    <c:v>Oct 26</c:v>
                  </c:pt>
                  <c:pt idx="3">
                    <c:v>Nov 26</c:v>
                  </c:pt>
                  <c:pt idx="4">
                    <c:v>Dec 26</c:v>
                  </c:pt>
                  <c:pt idx="5">
                    <c:v>Jan 27</c:v>
                  </c:pt>
                  <c:pt idx="6">
                    <c:v>Feb 27</c:v>
                  </c:pt>
                  <c:pt idx="7">
                    <c:v>Mar 27</c:v>
                  </c:pt>
                  <c:pt idx="8">
                    <c:v>Apr 27</c:v>
                  </c:pt>
                </c:lvl>
              </c:multiLvlStrCache>
            </c:multiLvlStrRef>
          </c:cat>
          <c:val>
            <c:numRef>
              <c:f>Sheet1!$D$2:$D$10</c:f>
              <c:numCache>
                <c:formatCode>General</c:formatCode>
                <c:ptCount val="9"/>
                <c:pt idx="0">
                  <c:v>0</c:v>
                </c:pt>
                <c:pt idx="1">
                  <c:v>0</c:v>
                </c:pt>
                <c:pt idx="2">
                  <c:v>0</c:v>
                </c:pt>
                <c:pt idx="3">
                  <c:v>0</c:v>
                </c:pt>
                <c:pt idx="4">
                  <c:v>0</c:v>
                </c:pt>
                <c:pt idx="5">
                  <c:v>0</c:v>
                </c:pt>
                <c:pt idx="6">
                  <c:v>42</c:v>
                </c:pt>
                <c:pt idx="7">
                  <c:v>44</c:v>
                </c:pt>
                <c:pt idx="8">
                  <c:v>46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lineChart>
        <c:varyColors val="0"/>
        <c:ser>
          <c:idx val="3"/>
          <c:order val="3"/>
          <c:tx>
            <c:strRef>
              <c:f>Sheet1!$E$1</c:f>
              <c:strCache>
                <c:ptCount val="1"/>
                <c:pt idx="0">
                  <c:v>Expense</c:v>
                </c:pt>
              </c:strCache>
            </c:strRef>
          </c:tx>
          <c:spPr>
            <a:solidFill>
              <a:srgbClr val="E11D48"/>
            </a:solidFill>
            <a:ln w="34925" cap="flat">
              <a:solidFill>
                <a:srgbClr val="E11D48"/>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11D48"/>
              </a:solidFill>
              <a:ln w="9525" cap="flat">
                <a:solidFill>
                  <a:srgbClr val="E11D48"/>
                </a:solidFill>
                <a:prstDash val="solid"/>
                <a:round/>
              </a:ln>
              <a:effectLst/>
            </c:spPr>
          </c:marker>
          <c:cat>
            <c:multiLvlStrRef>
              <c:f>Sheet1!$A$2:$A$10</c:f>
              <c:multiLvlStrCache>
                <c:ptCount val="9"/>
                <c:lvl>
                  <c:pt idx="0">
                    <c:v>Aug 26</c:v>
                  </c:pt>
                  <c:pt idx="1">
                    <c:v>Sep 26</c:v>
                  </c:pt>
                  <c:pt idx="2">
                    <c:v>Oct 26</c:v>
                  </c:pt>
                  <c:pt idx="3">
                    <c:v>Nov 26</c:v>
                  </c:pt>
                  <c:pt idx="4">
                    <c:v>Dec 26</c:v>
                  </c:pt>
                  <c:pt idx="5">
                    <c:v>Jan 27</c:v>
                  </c:pt>
                  <c:pt idx="6">
                    <c:v>Feb 27</c:v>
                  </c:pt>
                  <c:pt idx="7">
                    <c:v>Mar 27</c:v>
                  </c:pt>
                  <c:pt idx="8">
                    <c:v>Apr 27</c:v>
                  </c:pt>
                </c:lvl>
              </c:multiLvlStrCache>
            </c:multiLvlStrRef>
          </c:cat>
          <c:val>
            <c:numRef>
              <c:f>Sheet1!$E$2:$E$10</c:f>
              <c:numCache>
                <c:formatCode>General</c:formatCode>
                <c:ptCount val="9"/>
                <c:pt idx="0">
                  <c:v>52.2</c:v>
                </c:pt>
                <c:pt idx="1">
                  <c:v>46.7</c:v>
                </c:pt>
                <c:pt idx="2">
                  <c:v>46.7</c:v>
                </c:pt>
                <c:pt idx="3">
                  <c:v>52.2</c:v>
                </c:pt>
                <c:pt idx="4">
                  <c:v>46.7</c:v>
                </c:pt>
                <c:pt idx="5">
                  <c:v>57.2</c:v>
                </c:pt>
                <c:pt idx="6">
                  <c:v>56</c:v>
                </c:pt>
                <c:pt idx="7">
                  <c:v>50.5</c:v>
                </c:pt>
                <c:pt idx="8">
                  <c:v>50.5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90"/>
          <c:min val="0"/>
        </c:scaling>
        <c:delete val="0"/>
        <c:axPos val="l"/>
        <c:majorGridlines>
          <c:spPr>
            <a:ln w="12700" cap="flat">
              <a:solidFill>
                <a:srgbClr val="E6EAF0"/>
              </a:solidFill>
              <a:prstDash val="solid"/>
              <a:round/>
            </a:ln>
          </c:spPr>
        </c:majorGridlines>
        <c:title>
          <c:tx>
            <c:rich>
              <a:bodyPr/>
              <a:lstStyle/>
              <a:p>
                <a:pPr>
                  <a:defRPr sz="1000" b="0" i="0" u="none" strike="noStrike">
                    <a:solidFill>
                      <a:srgbClr val="64748B"/>
                    </a:solidFill>
                    <a:latin typeface="Arial"/>
                  </a:defRPr>
                </a:pPr>
                <a:r>
                  <a:rPr sz="1000" b="0" i="0" u="none" strike="noStrike">
                    <a:solidFill>
                      <a:srgbClr val="64748B"/>
                    </a:solidFill>
                    <a:latin typeface="Arial"/>
                  </a:rPr>
                  <a:t>Rs lakh per month</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10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FD interest</c:v>
                </c:pt>
              </c:strCache>
            </c:strRef>
          </c:tx>
          <c:spPr>
            <a:solidFill>
              <a:srgbClr val="0D948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Aug 26</c:v>
                  </c:pt>
                  <c:pt idx="1">
                    <c:v>Sep 26</c:v>
                  </c:pt>
                  <c:pt idx="2">
                    <c:v>Oct 26</c:v>
                  </c:pt>
                  <c:pt idx="3">
                    <c:v>Nov 26</c:v>
                  </c:pt>
                  <c:pt idx="4">
                    <c:v>Dec 26</c:v>
                  </c:pt>
                  <c:pt idx="5">
                    <c:v>Jan 27</c:v>
                  </c:pt>
                  <c:pt idx="6">
                    <c:v>Feb 27</c:v>
                  </c:pt>
                  <c:pt idx="7">
                    <c:v>Mar 27</c:v>
                  </c:pt>
                  <c:pt idx="8">
                    <c:v>Apr 27</c:v>
                  </c:pt>
                </c:lvl>
              </c:multiLvlStrCache>
            </c:multiLvlStrRef>
          </c:cat>
          <c:val>
            <c:numRef>
              <c:f>Sheet1!$B$2:$B$10</c:f>
              <c:numCache>
                <c:formatCode>General</c:formatCode>
                <c:ptCount val="9"/>
                <c:pt idx="0">
                  <c:v>12.5</c:v>
                </c:pt>
                <c:pt idx="1">
                  <c:v>12.5</c:v>
                </c:pt>
                <c:pt idx="2">
                  <c:v>12.5</c:v>
                </c:pt>
                <c:pt idx="3">
                  <c:v>12.5</c:v>
                </c:pt>
                <c:pt idx="4">
                  <c:v>12.5</c:v>
                </c:pt>
                <c:pt idx="5">
                  <c:v>12.5</c:v>
                </c:pt>
                <c:pt idx="6">
                  <c:v>12.5</c:v>
                </c:pt>
                <c:pt idx="7">
                  <c:v>12.5</c:v>
                </c:pt>
                <c:pt idx="8">
                  <c:v>12.5</c:v>
                </c:pt>
              </c:numCache>
            </c:numRef>
          </c:val>
        </c:ser>
        <c:ser>
          <c:idx val="1"/>
          <c:order val="1"/>
          <c:tx>
            <c:strRef>
              <c:f>Sheet1!$C$1</c:f>
              <c:strCache>
                <c:ptCount val="1"/>
                <c:pt idx="0">
                  <c:v>IPO &amp; ratings</c:v>
                </c:pt>
              </c:strCache>
            </c:strRef>
          </c:tx>
          <c:spPr>
            <a:solidFill>
              <a:srgbClr val="0284C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Aug 26</c:v>
                  </c:pt>
                  <c:pt idx="1">
                    <c:v>Sep 26</c:v>
                  </c:pt>
                  <c:pt idx="2">
                    <c:v>Oct 26</c:v>
                  </c:pt>
                  <c:pt idx="3">
                    <c:v>Nov 26</c:v>
                  </c:pt>
                  <c:pt idx="4">
                    <c:v>Dec 26</c:v>
                  </c:pt>
                  <c:pt idx="5">
                    <c:v>Jan 27</c:v>
                  </c:pt>
                  <c:pt idx="6">
                    <c:v>Feb 27</c:v>
                  </c:pt>
                  <c:pt idx="7">
                    <c:v>Mar 27</c:v>
                  </c:pt>
                  <c:pt idx="8">
                    <c:v>Apr 27</c:v>
                  </c:pt>
                </c:lvl>
              </c:multiLvlStrCache>
            </c:multiLvlStrRef>
          </c:cat>
          <c:val>
            <c:numRef>
              <c:f>Sheet1!$C$2:$C$10</c:f>
              <c:numCache>
                <c:formatCode>General</c:formatCode>
                <c:ptCount val="9"/>
                <c:pt idx="0">
                  <c:v>8.1</c:v>
                </c:pt>
                <c:pt idx="1">
                  <c:v>10.1</c:v>
                </c:pt>
                <c:pt idx="2">
                  <c:v>12.1</c:v>
                </c:pt>
                <c:pt idx="3">
                  <c:v>12.9</c:v>
                </c:pt>
                <c:pt idx="4">
                  <c:v>13.7</c:v>
                </c:pt>
                <c:pt idx="5">
                  <c:v>14.5</c:v>
                </c:pt>
                <c:pt idx="6">
                  <c:v>15.3</c:v>
                </c:pt>
                <c:pt idx="7">
                  <c:v>16.1</c:v>
                </c:pt>
                <c:pt idx="8">
                  <c:v>16.9</c:v>
                </c:pt>
              </c:numCache>
            </c:numRef>
          </c:val>
        </c:ser>
        <c:ser>
          <c:idx val="2"/>
          <c:order val="2"/>
          <c:tx>
            <c:strRef>
              <c:f>Sheet1!$D$1</c:f>
              <c:strCache>
                <c:ptCount val="1"/>
                <c:pt idx="0">
                  <c:v>BLR</c:v>
                </c:pt>
              </c:strCache>
            </c:strRef>
          </c:tx>
          <c:spPr>
            <a:solidFill>
              <a:srgbClr val="10B98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Aug 26</c:v>
                  </c:pt>
                  <c:pt idx="1">
                    <c:v>Sep 26</c:v>
                  </c:pt>
                  <c:pt idx="2">
                    <c:v>Oct 26</c:v>
                  </c:pt>
                  <c:pt idx="3">
                    <c:v>Nov 26</c:v>
                  </c:pt>
                  <c:pt idx="4">
                    <c:v>Dec 26</c:v>
                  </c:pt>
                  <c:pt idx="5">
                    <c:v>Jan 27</c:v>
                  </c:pt>
                  <c:pt idx="6">
                    <c:v>Feb 27</c:v>
                  </c:pt>
                  <c:pt idx="7">
                    <c:v>Mar 27</c:v>
                  </c:pt>
                  <c:pt idx="8">
                    <c:v>Apr 27</c:v>
                  </c:pt>
                </c:lvl>
              </c:multiLvlStrCache>
            </c:multiLvlStrRef>
          </c:cat>
          <c:val>
            <c:numRef>
              <c:f>Sheet1!$D$2:$D$10</c:f>
              <c:numCache>
                <c:formatCode>General</c:formatCode>
                <c:ptCount val="9"/>
                <c:pt idx="0">
                  <c:v>0</c:v>
                </c:pt>
                <c:pt idx="1">
                  <c:v>0</c:v>
                </c:pt>
                <c:pt idx="2">
                  <c:v>0</c:v>
                </c:pt>
                <c:pt idx="3">
                  <c:v>0</c:v>
                </c:pt>
                <c:pt idx="4">
                  <c:v>0</c:v>
                </c:pt>
                <c:pt idx="5">
                  <c:v>0</c:v>
                </c:pt>
                <c:pt idx="6">
                  <c:v>0</c:v>
                </c:pt>
                <c:pt idx="7">
                  <c:v>0</c:v>
                </c:pt>
                <c:pt idx="8">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lineChart>
        <c:varyColors val="0"/>
        <c:ser>
          <c:idx val="3"/>
          <c:order val="3"/>
          <c:tx>
            <c:strRef>
              <c:f>Sheet1!$E$1</c:f>
              <c:strCache>
                <c:ptCount val="1"/>
                <c:pt idx="0">
                  <c:v>Expense</c:v>
                </c:pt>
              </c:strCache>
            </c:strRef>
          </c:tx>
          <c:spPr>
            <a:solidFill>
              <a:srgbClr val="E11D48"/>
            </a:solidFill>
            <a:ln w="34925" cap="flat">
              <a:solidFill>
                <a:srgbClr val="E11D48"/>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11D48"/>
              </a:solidFill>
              <a:ln w="9525" cap="flat">
                <a:solidFill>
                  <a:srgbClr val="E11D48"/>
                </a:solidFill>
                <a:prstDash val="solid"/>
                <a:round/>
              </a:ln>
              <a:effectLst/>
            </c:spPr>
          </c:marker>
          <c:cat>
            <c:multiLvlStrRef>
              <c:f>Sheet1!$A$2:$A$10</c:f>
              <c:multiLvlStrCache>
                <c:ptCount val="9"/>
                <c:lvl>
                  <c:pt idx="0">
                    <c:v>Aug 26</c:v>
                  </c:pt>
                  <c:pt idx="1">
                    <c:v>Sep 26</c:v>
                  </c:pt>
                  <c:pt idx="2">
                    <c:v>Oct 26</c:v>
                  </c:pt>
                  <c:pt idx="3">
                    <c:v>Nov 26</c:v>
                  </c:pt>
                  <c:pt idx="4">
                    <c:v>Dec 26</c:v>
                  </c:pt>
                  <c:pt idx="5">
                    <c:v>Jan 27</c:v>
                  </c:pt>
                  <c:pt idx="6">
                    <c:v>Feb 27</c:v>
                  </c:pt>
                  <c:pt idx="7">
                    <c:v>Mar 27</c:v>
                  </c:pt>
                  <c:pt idx="8">
                    <c:v>Apr 27</c:v>
                  </c:pt>
                </c:lvl>
              </c:multiLvlStrCache>
            </c:multiLvlStrRef>
          </c:cat>
          <c:val>
            <c:numRef>
              <c:f>Sheet1!$E$2:$E$10</c:f>
              <c:numCache>
                <c:formatCode>General</c:formatCode>
                <c:ptCount val="9"/>
                <c:pt idx="0">
                  <c:v>52.2</c:v>
                </c:pt>
                <c:pt idx="1">
                  <c:v>57.2</c:v>
                </c:pt>
                <c:pt idx="2">
                  <c:v>46.7</c:v>
                </c:pt>
                <c:pt idx="3">
                  <c:v>52.2</c:v>
                </c:pt>
                <c:pt idx="4">
                  <c:v>46.7</c:v>
                </c:pt>
                <c:pt idx="5">
                  <c:v>46.7</c:v>
                </c:pt>
                <c:pt idx="6">
                  <c:v>52.2</c:v>
                </c:pt>
                <c:pt idx="7">
                  <c:v>46.7</c:v>
                </c:pt>
                <c:pt idx="8">
                  <c:v>46.7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90"/>
          <c:min val="0"/>
        </c:scaling>
        <c:delete val="0"/>
        <c:axPos val="l"/>
        <c:majorGridlines>
          <c:spPr>
            <a:ln w="12700" cap="flat">
              <a:solidFill>
                <a:srgbClr val="E6EAF0"/>
              </a:solidFill>
              <a:prstDash val="solid"/>
              <a:round/>
            </a:ln>
          </c:spPr>
        </c:majorGridlines>
        <c:title>
          <c:tx>
            <c:rich>
              <a:bodyPr/>
              <a:lstStyle/>
              <a:p>
                <a:pPr>
                  <a:defRPr sz="1000" b="0" i="0" u="none" strike="noStrike">
                    <a:solidFill>
                      <a:srgbClr val="64748B"/>
                    </a:solidFill>
                    <a:latin typeface="Arial"/>
                  </a:defRPr>
                </a:pPr>
                <a:r>
                  <a:rPr sz="1000" b="0" i="0" u="none" strike="noStrike">
                    <a:solidFill>
                      <a:srgbClr val="64748B"/>
                    </a:solidFill>
                    <a:latin typeface="Arial"/>
                  </a:rPr>
                  <a:t>Rs lakh per month</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10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Revenue</c:v>
                </c:pt>
              </c:strCache>
            </c:strRef>
          </c:tx>
          <c:spPr>
            <a:solidFill>
              <a:schemeClr val="accent1"/>
            </a:solidFill>
            <a:ln w="9525" cap="flat">
              <a:solidFill>
                <a:srgbClr val="F9F9F9"/>
              </a:solidFill>
              <a:prstDash val="solid"/>
              <a:round/>
            </a:ln>
            <a:effectLst/>
          </c:spPr>
          <c:dPt>
            <c:idx val="0"/>
            <c:bubble3D val="0"/>
            <c:spPr>
              <a:solidFill>
                <a:srgbClr val="10B981"/>
              </a:solidFill>
              <a:effectLst/>
            </c:spPr>
          </c:dPt>
          <c:dPt>
            <c:idx val="1"/>
            <c:bubble3D val="0"/>
            <c:spPr>
              <a:solidFill>
                <a:srgbClr val="0284C7"/>
              </a:solidFill>
              <a:effectLst/>
            </c:spPr>
          </c:dPt>
          <c:dPt>
            <c:idx val="2"/>
            <c:bubble3D val="0"/>
            <c:spPr>
              <a:solidFill>
                <a:srgbClr val="0D9488"/>
              </a:solidFill>
              <a:effectLst/>
            </c:spPr>
          </c:dPt>
          <c:dLbls>
            <c:dLbl>
              <c:idx val="0"/>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BLR</c:v>
                </c:pt>
                <c:pt idx="1">
                  <c:v>IPO &amp; ratings</c:v>
                </c:pt>
                <c:pt idx="2">
                  <c:v>FD interest</c:v>
                </c:pt>
              </c:strCache>
            </c:strRef>
          </c:cat>
          <c:val>
            <c:numRef>
              <c:f>Sheet1!$B$2:$B$4</c:f>
              <c:numCache>
                <c:ptCount val="3"/>
                <c:pt idx="0">
                  <c:v>624</c:v>
                </c:pt>
                <c:pt idx="1">
                  <c:v>145</c:v>
                </c:pt>
                <c:pt idx="2">
                  <c:v>150</c:v>
                </c:pt>
              </c:numCache>
            </c:numRef>
          </c:val>
        </c:ser>
        <c:firstSliceAng val="0"/>
        <c:holeSize val="56"/>
      </c:doughnutChart>
      <c:spPr>
        <a:noFill/>
        <a:ln>
          <a:noFill/>
        </a:ln>
        <a:effectLst/>
      </c:spPr>
    </c:plotArea>
    <c:legend>
      <c:legendPos val="b"/>
      <c:overlay val="0"/>
      <c:txPr>
        <a:bodyPr/>
        <a:lstStyle/>
        <a:p>
          <a:pPr>
            <a:defRPr sz="1100">
              <a:solidFill>
                <a:srgbClr val="64748B"/>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roundRect">
            <a:avLst>
              <a:gd name="adj" fmla="val 19355"/>
            </a:avLst>
          </a:prstGeom>
          <a:solidFill>
            <a:srgbClr val="0D9488"/>
          </a:solidFill>
          <a:ln/>
        </p:spPr>
      </p:sp>
      <p:sp>
        <p:nvSpPr>
          <p:cNvPr id="3" name="Text 1"/>
          <p:cNvSpPr/>
          <p:nvPr/>
        </p:nvSpPr>
        <p:spPr>
          <a:xfrm>
            <a:off x="548640" y="502920"/>
            <a:ext cx="566928" cy="566928"/>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a:t>
            </a:r>
            <a:endParaRPr lang="en-US" sz="3000" dirty="0"/>
          </a:p>
        </p:txBody>
      </p:sp>
      <p:sp>
        <p:nvSpPr>
          <p:cNvPr id="4" name="Text 2"/>
          <p:cNvSpPr/>
          <p:nvPr/>
        </p:nvSpPr>
        <p:spPr>
          <a:xfrm>
            <a:off x="1225296" y="548640"/>
            <a:ext cx="7315200" cy="457200"/>
          </a:xfrm>
          <a:prstGeom prst="rect">
            <a:avLst/>
          </a:prstGeom>
          <a:noFill/>
          <a:ln/>
        </p:spPr>
        <p:txBody>
          <a:bodyPr wrap="square" rtlCol="0" anchor="ctr"/>
          <a:lstStyle/>
          <a:p>
            <a:pPr indent="0" marL="0">
              <a:buNone/>
            </a:pPr>
            <a:r>
              <a:rPr lang="en-US" sz="1500" b="1" spc="300" kern="0" dirty="0">
                <a:solidFill>
                  <a:srgbClr val="CADCFC"/>
                </a:solidFill>
                <a:latin typeface="Calibri" pitchFamily="34" charset="0"/>
                <a:ea typeface="Calibri" pitchFamily="34" charset="-122"/>
                <a:cs typeface="Calibri" pitchFamily="34" charset="-120"/>
              </a:rPr>
              <a:t>ACER CREDIT RATING</a:t>
            </a:r>
            <a:endParaRPr lang="en-US" sz="1500" dirty="0"/>
          </a:p>
        </p:txBody>
      </p:sp>
      <p:sp>
        <p:nvSpPr>
          <p:cNvPr id="5" name="Text 3"/>
          <p:cNvSpPr/>
          <p:nvPr/>
        </p:nvSpPr>
        <p:spPr>
          <a:xfrm>
            <a:off x="548640" y="2103120"/>
            <a:ext cx="10972800" cy="457200"/>
          </a:xfrm>
          <a:prstGeom prst="rect">
            <a:avLst/>
          </a:prstGeom>
          <a:noFill/>
          <a:ln/>
        </p:spPr>
        <p:txBody>
          <a:bodyPr wrap="square" rtlCol="0" anchor="ctr"/>
          <a:lstStyle/>
          <a:p>
            <a:pPr indent="0" marL="0">
              <a:buNone/>
            </a:pPr>
            <a:r>
              <a:rPr lang="en-US" sz="1800" b="1" dirty="0">
                <a:solidFill>
                  <a:srgbClr val="0D9488"/>
                </a:solidFill>
                <a:latin typeface="Calibri" pitchFamily="34" charset="0"/>
                <a:ea typeface="Calibri" pitchFamily="34" charset="-122"/>
                <a:cs typeface="Calibri" pitchFamily="34" charset="-120"/>
              </a:rPr>
              <a:t>FY27 Annual Operating Plan</a:t>
            </a:r>
            <a:endParaRPr lang="en-US" sz="1800" dirty="0"/>
          </a:p>
        </p:txBody>
      </p:sp>
      <p:sp>
        <p:nvSpPr>
          <p:cNvPr id="6" name="Text 4"/>
          <p:cNvSpPr/>
          <p:nvPr/>
        </p:nvSpPr>
        <p:spPr>
          <a:xfrm>
            <a:off x="502920" y="2514600"/>
            <a:ext cx="11155680" cy="1737360"/>
          </a:xfrm>
          <a:prstGeom prst="rect">
            <a:avLst/>
          </a:prstGeom>
          <a:noFill/>
          <a:ln/>
        </p:spPr>
        <p:txBody>
          <a:bodyPr wrap="square" rtlCol="0" anchor="ctr"/>
          <a:lstStyle/>
          <a:p>
            <a:pPr indent="0" marL="0">
              <a:lnSpc>
                <a:spcPct val="98000"/>
              </a:lnSpc>
              <a:buNone/>
            </a:pPr>
            <a:r>
              <a:rPr lang="en-US" sz="5200" b="1" dirty="0">
                <a:solidFill>
                  <a:srgbClr val="FFFFFF"/>
                </a:solidFill>
                <a:latin typeface="Calibri" pitchFamily="34" charset="0"/>
                <a:ea typeface="Calibri" pitchFamily="34" charset="-122"/>
                <a:cs typeface="Calibri" pitchFamily="34" charset="-120"/>
              </a:rPr>
              <a:t>Two revenue engines,</a:t>
            </a:r>
            <a:endParaRPr lang="en-US" sz="5200" dirty="0"/>
          </a:p>
          <a:p>
            <a:pPr indent="0" marL="0">
              <a:lnSpc>
                <a:spcPct val="98000"/>
              </a:lnSpc>
              <a:buNone/>
            </a:pPr>
            <a:r>
              <a:rPr lang="en-US" sz="5200" b="1" dirty="0">
                <a:solidFill>
                  <a:srgbClr val="FFFFFF"/>
                </a:solidFill>
                <a:latin typeface="Calibri" pitchFamily="34" charset="0"/>
                <a:ea typeface="Calibri" pitchFamily="34" charset="-122"/>
                <a:cs typeface="Calibri" pitchFamily="34" charset="-120"/>
              </a:rPr>
              <a:t>one five person team.</a:t>
            </a:r>
            <a:endParaRPr lang="en-US" sz="5200" dirty="0"/>
          </a:p>
        </p:txBody>
      </p:sp>
      <p:sp>
        <p:nvSpPr>
          <p:cNvPr id="7" name="Text 5"/>
          <p:cNvSpPr/>
          <p:nvPr/>
        </p:nvSpPr>
        <p:spPr>
          <a:xfrm>
            <a:off x="548640" y="4389120"/>
            <a:ext cx="8595360" cy="914400"/>
          </a:xfrm>
          <a:prstGeom prst="rect">
            <a:avLst/>
          </a:prstGeom>
          <a:noFill/>
          <a:ln/>
        </p:spPr>
        <p:txBody>
          <a:bodyPr wrap="square" rtlCol="0" anchor="ctr"/>
          <a:lstStyle/>
          <a:p>
            <a:pPr indent="0" marL="0">
              <a:lnSpc>
                <a:spcPct val="110000"/>
              </a:lnSpc>
              <a:buNone/>
            </a:pPr>
            <a:r>
              <a:rPr lang="en-US" sz="1500" dirty="0">
                <a:solidFill>
                  <a:srgbClr val="CADCFC"/>
                </a:solidFill>
                <a:latin typeface="Calibri" pitchFamily="34" charset="0"/>
                <a:ea typeface="Calibri" pitchFamily="34" charset="-122"/>
                <a:cs typeface="Calibri" pitchFamily="34" charset="-120"/>
              </a:rPr>
              <a:t>When the bank loan rating licence lands decides when ACER breaks even. This plan shows how the IPO and BLR books share one team, month by month, so the licence turns into revenue instead of a bottleneck.</a:t>
            </a:r>
            <a:endParaRPr lang="en-US" sz="1500" dirty="0"/>
          </a:p>
        </p:txBody>
      </p:sp>
      <p:sp>
        <p:nvSpPr>
          <p:cNvPr id="8" name="Shape 6"/>
          <p:cNvSpPr/>
          <p:nvPr/>
        </p:nvSpPr>
        <p:spPr>
          <a:xfrm>
            <a:off x="548640" y="5486400"/>
            <a:ext cx="2560320" cy="566928"/>
          </a:xfrm>
          <a:prstGeom prst="roundRect">
            <a:avLst>
              <a:gd name="adj" fmla="val 12903"/>
            </a:avLst>
          </a:prstGeom>
          <a:solidFill>
            <a:srgbClr val="1E293B"/>
          </a:solidFill>
          <a:ln/>
        </p:spPr>
      </p:sp>
      <p:sp>
        <p:nvSpPr>
          <p:cNvPr id="9" name="Text 7"/>
          <p:cNvSpPr/>
          <p:nvPr/>
        </p:nvSpPr>
        <p:spPr>
          <a:xfrm>
            <a:off x="676656" y="5541264"/>
            <a:ext cx="2377440"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₹26.1 Cr</a:t>
            </a:r>
            <a:endParaRPr lang="en-US" sz="1600" dirty="0"/>
          </a:p>
        </p:txBody>
      </p:sp>
      <p:sp>
        <p:nvSpPr>
          <p:cNvPr id="10" name="Text 8"/>
          <p:cNvSpPr/>
          <p:nvPr/>
        </p:nvSpPr>
        <p:spPr>
          <a:xfrm>
            <a:off x="676656" y="5824728"/>
            <a:ext cx="2377440" cy="20116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FD corpus</a:t>
            </a:r>
            <a:endParaRPr lang="en-US" sz="950" dirty="0"/>
          </a:p>
        </p:txBody>
      </p:sp>
      <p:sp>
        <p:nvSpPr>
          <p:cNvPr id="11" name="Shape 9"/>
          <p:cNvSpPr/>
          <p:nvPr/>
        </p:nvSpPr>
        <p:spPr>
          <a:xfrm>
            <a:off x="3310128" y="5486400"/>
            <a:ext cx="2560320" cy="566928"/>
          </a:xfrm>
          <a:prstGeom prst="roundRect">
            <a:avLst>
              <a:gd name="adj" fmla="val 12903"/>
            </a:avLst>
          </a:prstGeom>
          <a:solidFill>
            <a:srgbClr val="1E293B"/>
          </a:solidFill>
          <a:ln/>
        </p:spPr>
      </p:sp>
      <p:sp>
        <p:nvSpPr>
          <p:cNvPr id="12" name="Text 10"/>
          <p:cNvSpPr/>
          <p:nvPr/>
        </p:nvSpPr>
        <p:spPr>
          <a:xfrm>
            <a:off x="3438144" y="5541264"/>
            <a:ext cx="2377440"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₹5.34 Cr</a:t>
            </a:r>
            <a:endParaRPr lang="en-US" sz="1600" dirty="0"/>
          </a:p>
        </p:txBody>
      </p:sp>
      <p:sp>
        <p:nvSpPr>
          <p:cNvPr id="13" name="Text 11"/>
          <p:cNvSpPr/>
          <p:nvPr/>
        </p:nvSpPr>
        <p:spPr>
          <a:xfrm>
            <a:off x="3438144" y="5824728"/>
            <a:ext cx="2377440" cy="20116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FY27 cost base</a:t>
            </a:r>
            <a:endParaRPr lang="en-US" sz="950" dirty="0"/>
          </a:p>
        </p:txBody>
      </p:sp>
      <p:sp>
        <p:nvSpPr>
          <p:cNvPr id="14" name="Shape 12"/>
          <p:cNvSpPr/>
          <p:nvPr/>
        </p:nvSpPr>
        <p:spPr>
          <a:xfrm>
            <a:off x="6071616" y="5486400"/>
            <a:ext cx="2560320" cy="566928"/>
          </a:xfrm>
          <a:prstGeom prst="roundRect">
            <a:avLst>
              <a:gd name="adj" fmla="val 12903"/>
            </a:avLst>
          </a:prstGeom>
          <a:solidFill>
            <a:srgbClr val="1E293B"/>
          </a:solidFill>
          <a:ln/>
        </p:spPr>
      </p:sp>
      <p:sp>
        <p:nvSpPr>
          <p:cNvPr id="15" name="Text 13"/>
          <p:cNvSpPr/>
          <p:nvPr/>
        </p:nvSpPr>
        <p:spPr>
          <a:xfrm>
            <a:off x="6199632" y="5541264"/>
            <a:ext cx="2377440"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2.5 bps</a:t>
            </a:r>
            <a:endParaRPr lang="en-US" sz="1600" dirty="0"/>
          </a:p>
        </p:txBody>
      </p:sp>
      <p:sp>
        <p:nvSpPr>
          <p:cNvPr id="16" name="Text 14"/>
          <p:cNvSpPr/>
          <p:nvPr/>
        </p:nvSpPr>
        <p:spPr>
          <a:xfrm>
            <a:off x="6199632" y="5824728"/>
            <a:ext cx="2377440" cy="20116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BLR initial fee</a:t>
            </a:r>
            <a:endParaRPr lang="en-US" sz="950" dirty="0"/>
          </a:p>
        </p:txBody>
      </p:sp>
      <p:sp>
        <p:nvSpPr>
          <p:cNvPr id="17" name="Shape 15"/>
          <p:cNvSpPr/>
          <p:nvPr/>
        </p:nvSpPr>
        <p:spPr>
          <a:xfrm>
            <a:off x="8833104" y="5486400"/>
            <a:ext cx="2560320" cy="566928"/>
          </a:xfrm>
          <a:prstGeom prst="roundRect">
            <a:avLst>
              <a:gd name="adj" fmla="val 12903"/>
            </a:avLst>
          </a:prstGeom>
          <a:solidFill>
            <a:srgbClr val="1E293B"/>
          </a:solidFill>
          <a:ln/>
        </p:spPr>
      </p:sp>
      <p:sp>
        <p:nvSpPr>
          <p:cNvPr id="18" name="Text 16"/>
          <p:cNvSpPr/>
          <p:nvPr/>
        </p:nvSpPr>
        <p:spPr>
          <a:xfrm>
            <a:off x="8961120" y="5541264"/>
            <a:ext cx="2377440"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~20 / mo</a:t>
            </a:r>
            <a:endParaRPr lang="en-US" sz="1600" dirty="0"/>
          </a:p>
        </p:txBody>
      </p:sp>
      <p:sp>
        <p:nvSpPr>
          <p:cNvPr id="19" name="Text 17"/>
          <p:cNvSpPr/>
          <p:nvPr/>
        </p:nvSpPr>
        <p:spPr>
          <a:xfrm>
            <a:off x="8961120" y="5824728"/>
            <a:ext cx="2377440" cy="20116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case capacity</a:t>
            </a:r>
            <a:endParaRPr lang="en-US" sz="950" dirty="0"/>
          </a:p>
        </p:txBody>
      </p:sp>
      <p:sp>
        <p:nvSpPr>
          <p:cNvPr id="20" name="Text 18"/>
          <p:cNvSpPr/>
          <p:nvPr/>
        </p:nvSpPr>
        <p:spPr>
          <a:xfrm>
            <a:off x="548640" y="6172200"/>
            <a:ext cx="10058400" cy="27432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Prepared for the Board  |  FY = April 2026 to March 2027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11247120" cy="274320"/>
          </a:xfrm>
          <a:prstGeom prst="rect">
            <a:avLst/>
          </a:prstGeom>
          <a:noFill/>
          <a:ln/>
        </p:spPr>
        <p:txBody>
          <a:bodyPr wrap="square" rtlCol="0" anchor="ctr"/>
          <a:lstStyle/>
          <a:p>
            <a:pPr indent="0" marL="0">
              <a:buNone/>
            </a:pPr>
            <a:r>
              <a:rPr lang="en-US" sz="1200" b="1" spc="200" kern="0" dirty="0">
                <a:solidFill>
                  <a:srgbClr val="0D9488"/>
                </a:solidFill>
                <a:latin typeface="Calibri" pitchFamily="34" charset="0"/>
                <a:ea typeface="Calibri" pitchFamily="34" charset="-122"/>
                <a:cs typeface="Calibri" pitchFamily="34" charset="-120"/>
              </a:rPr>
              <a:t>WHERE ACER STANDS TODAY, ACTUALS</a:t>
            </a:r>
            <a:endParaRPr lang="en-US" sz="1200" dirty="0"/>
          </a:p>
        </p:txBody>
      </p:sp>
      <p:sp>
        <p:nvSpPr>
          <p:cNvPr id="3" name="Text 1"/>
          <p:cNvSpPr/>
          <p:nvPr/>
        </p:nvSpPr>
        <p:spPr>
          <a:xfrm>
            <a:off x="457200" y="658368"/>
            <a:ext cx="11247120" cy="658368"/>
          </a:xfrm>
          <a:prstGeom prst="rect">
            <a:avLst/>
          </a:prstGeom>
          <a:noFill/>
          <a:ln/>
        </p:spPr>
        <p:txBody>
          <a:bodyPr wrap="square" rtlCol="0" anchor="ctr"/>
          <a:lstStyle/>
          <a:p>
            <a:pPr indent="0" marL="0">
              <a:buNone/>
            </a:pPr>
            <a:r>
              <a:rPr lang="en-US" sz="3100" b="1" dirty="0">
                <a:solidFill>
                  <a:srgbClr val="0F172A"/>
                </a:solidFill>
                <a:latin typeface="Calibri" pitchFamily="34" charset="0"/>
                <a:ea typeface="Calibri" pitchFamily="34" charset="-122"/>
                <a:cs typeface="Calibri" pitchFamily="34" charset="-120"/>
              </a:rPr>
              <a:t>A people led cost base, cushioned by FD interest</a:t>
            </a:r>
            <a:endParaRPr lang="en-US" sz="3100" dirty="0"/>
          </a:p>
        </p:txBody>
      </p:sp>
      <p:sp>
        <p:nvSpPr>
          <p:cNvPr id="4" name="Shape 2"/>
          <p:cNvSpPr/>
          <p:nvPr/>
        </p:nvSpPr>
        <p:spPr>
          <a:xfrm>
            <a:off x="457200" y="1554480"/>
            <a:ext cx="2606040" cy="1143000"/>
          </a:xfrm>
          <a:prstGeom prst="roundRect">
            <a:avLst>
              <a:gd name="adj" fmla="val 7200"/>
            </a:avLst>
          </a:prstGeom>
          <a:solidFill>
            <a:srgbClr val="F1F5F9"/>
          </a:solidFill>
          <a:ln/>
        </p:spPr>
      </p:sp>
      <p:sp>
        <p:nvSpPr>
          <p:cNvPr id="5" name="Text 3"/>
          <p:cNvSpPr/>
          <p:nvPr/>
        </p:nvSpPr>
        <p:spPr>
          <a:xfrm>
            <a:off x="475488" y="1664208"/>
            <a:ext cx="2569464" cy="594360"/>
          </a:xfrm>
          <a:prstGeom prst="rect">
            <a:avLst/>
          </a:prstGeom>
          <a:noFill/>
          <a:ln/>
        </p:spPr>
        <p:txBody>
          <a:bodyPr wrap="square" lIns="0" tIns="0" rIns="0" bIns="0" rtlCol="0" anchor="ctr"/>
          <a:lstStyle/>
          <a:p>
            <a:pPr algn="ctr" indent="0" marL="0">
              <a:buNone/>
            </a:pPr>
            <a:r>
              <a:rPr lang="en-US" sz="2100" b="1" dirty="0">
                <a:solidFill>
                  <a:srgbClr val="0F172A"/>
                </a:solidFill>
                <a:latin typeface="Calibri" pitchFamily="34" charset="0"/>
                <a:ea typeface="Calibri" pitchFamily="34" charset="-122"/>
                <a:cs typeface="Calibri" pitchFamily="34" charset="-120"/>
              </a:rPr>
              <a:t>₹26.1 Cr</a:t>
            </a:r>
            <a:endParaRPr lang="en-US" sz="2100" dirty="0"/>
          </a:p>
        </p:txBody>
      </p:sp>
      <p:sp>
        <p:nvSpPr>
          <p:cNvPr id="6" name="Text 4"/>
          <p:cNvSpPr/>
          <p:nvPr/>
        </p:nvSpPr>
        <p:spPr>
          <a:xfrm>
            <a:off x="512064" y="2240280"/>
            <a:ext cx="2496312" cy="388620"/>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FD corpus (booked)</a:t>
            </a:r>
            <a:endParaRPr lang="en-US" sz="1050" dirty="0"/>
          </a:p>
        </p:txBody>
      </p:sp>
      <p:sp>
        <p:nvSpPr>
          <p:cNvPr id="7" name="Shape 5"/>
          <p:cNvSpPr/>
          <p:nvPr/>
        </p:nvSpPr>
        <p:spPr>
          <a:xfrm>
            <a:off x="3200400" y="1554480"/>
            <a:ext cx="2606040" cy="1143000"/>
          </a:xfrm>
          <a:prstGeom prst="roundRect">
            <a:avLst>
              <a:gd name="adj" fmla="val 7200"/>
            </a:avLst>
          </a:prstGeom>
          <a:solidFill>
            <a:srgbClr val="F1F5F9"/>
          </a:solidFill>
          <a:ln/>
        </p:spPr>
      </p:sp>
      <p:sp>
        <p:nvSpPr>
          <p:cNvPr id="8" name="Text 6"/>
          <p:cNvSpPr/>
          <p:nvPr/>
        </p:nvSpPr>
        <p:spPr>
          <a:xfrm>
            <a:off x="3218688" y="1664208"/>
            <a:ext cx="2569464" cy="594360"/>
          </a:xfrm>
          <a:prstGeom prst="rect">
            <a:avLst/>
          </a:prstGeom>
          <a:noFill/>
          <a:ln/>
        </p:spPr>
        <p:txBody>
          <a:bodyPr wrap="square" lIns="0" tIns="0" rIns="0" bIns="0" rtlCol="0" anchor="ctr"/>
          <a:lstStyle/>
          <a:p>
            <a:pPr algn="ctr" indent="0" marL="0">
              <a:buNone/>
            </a:pPr>
            <a:r>
              <a:rPr lang="en-US" sz="2100" b="1" dirty="0">
                <a:solidFill>
                  <a:srgbClr val="0D9488"/>
                </a:solidFill>
                <a:latin typeface="Calibri" pitchFamily="34" charset="0"/>
                <a:ea typeface="Calibri" pitchFamily="34" charset="-122"/>
                <a:cs typeface="Calibri" pitchFamily="34" charset="-120"/>
              </a:rPr>
              <a:t>95%</a:t>
            </a:r>
            <a:endParaRPr lang="en-US" sz="2100" dirty="0"/>
          </a:p>
        </p:txBody>
      </p:sp>
      <p:sp>
        <p:nvSpPr>
          <p:cNvPr id="9" name="Text 7"/>
          <p:cNvSpPr/>
          <p:nvPr/>
        </p:nvSpPr>
        <p:spPr>
          <a:xfrm>
            <a:off x="3255264" y="2240280"/>
            <a:ext cx="2496312" cy="388620"/>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FY26 income from FD interest</a:t>
            </a:r>
            <a:endParaRPr lang="en-US" sz="1050" dirty="0"/>
          </a:p>
        </p:txBody>
      </p:sp>
      <p:sp>
        <p:nvSpPr>
          <p:cNvPr id="10" name="Shape 8"/>
          <p:cNvSpPr/>
          <p:nvPr/>
        </p:nvSpPr>
        <p:spPr>
          <a:xfrm>
            <a:off x="5943600" y="1554480"/>
            <a:ext cx="2606040" cy="1143000"/>
          </a:xfrm>
          <a:prstGeom prst="roundRect">
            <a:avLst>
              <a:gd name="adj" fmla="val 7200"/>
            </a:avLst>
          </a:prstGeom>
          <a:solidFill>
            <a:srgbClr val="F1F5F9"/>
          </a:solidFill>
          <a:ln/>
        </p:spPr>
      </p:sp>
      <p:sp>
        <p:nvSpPr>
          <p:cNvPr id="11" name="Text 9"/>
          <p:cNvSpPr/>
          <p:nvPr/>
        </p:nvSpPr>
        <p:spPr>
          <a:xfrm>
            <a:off x="5961888" y="1664208"/>
            <a:ext cx="2569464" cy="594360"/>
          </a:xfrm>
          <a:prstGeom prst="rect">
            <a:avLst/>
          </a:prstGeom>
          <a:noFill/>
          <a:ln/>
        </p:spPr>
        <p:txBody>
          <a:bodyPr wrap="square" lIns="0" tIns="0" rIns="0" bIns="0" rtlCol="0" anchor="ctr"/>
          <a:lstStyle/>
          <a:p>
            <a:pPr algn="ctr" indent="0" marL="0">
              <a:buNone/>
            </a:pPr>
            <a:r>
              <a:rPr lang="en-US" sz="2100" b="1" dirty="0">
                <a:solidFill>
                  <a:srgbClr val="E11D48"/>
                </a:solidFill>
                <a:latin typeface="Calibri" pitchFamily="34" charset="0"/>
                <a:ea typeface="Calibri" pitchFamily="34" charset="-122"/>
                <a:cs typeface="Calibri" pitchFamily="34" charset="-120"/>
              </a:rPr>
              <a:t>₹23.9 L</a:t>
            </a:r>
            <a:endParaRPr lang="en-US" sz="2100" dirty="0"/>
          </a:p>
        </p:txBody>
      </p:sp>
      <p:sp>
        <p:nvSpPr>
          <p:cNvPr id="12" name="Text 10"/>
          <p:cNvSpPr/>
          <p:nvPr/>
        </p:nvSpPr>
        <p:spPr>
          <a:xfrm>
            <a:off x="5998464" y="2240280"/>
            <a:ext cx="2496312" cy="388620"/>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net cash burn a month</a:t>
            </a:r>
            <a:endParaRPr lang="en-US" sz="1050" dirty="0"/>
          </a:p>
        </p:txBody>
      </p:sp>
      <p:sp>
        <p:nvSpPr>
          <p:cNvPr id="13" name="Shape 11"/>
          <p:cNvSpPr/>
          <p:nvPr/>
        </p:nvSpPr>
        <p:spPr>
          <a:xfrm>
            <a:off x="8686800" y="1554480"/>
            <a:ext cx="2606040" cy="1143000"/>
          </a:xfrm>
          <a:prstGeom prst="roundRect">
            <a:avLst>
              <a:gd name="adj" fmla="val 7200"/>
            </a:avLst>
          </a:prstGeom>
          <a:solidFill>
            <a:srgbClr val="F1F5F9"/>
          </a:solidFill>
          <a:ln/>
        </p:spPr>
      </p:sp>
      <p:sp>
        <p:nvSpPr>
          <p:cNvPr id="14" name="Text 12"/>
          <p:cNvSpPr/>
          <p:nvPr/>
        </p:nvSpPr>
        <p:spPr>
          <a:xfrm>
            <a:off x="8705088" y="1664208"/>
            <a:ext cx="2569464" cy="594360"/>
          </a:xfrm>
          <a:prstGeom prst="rect">
            <a:avLst/>
          </a:prstGeom>
          <a:noFill/>
          <a:ln/>
        </p:spPr>
        <p:txBody>
          <a:bodyPr wrap="square" lIns="0" tIns="0" rIns="0" bIns="0" rtlCol="0" anchor="ctr"/>
          <a:lstStyle/>
          <a:p>
            <a:pPr algn="ctr" indent="0" marL="0">
              <a:buNone/>
            </a:pPr>
            <a:r>
              <a:rPr lang="en-US" sz="2100" b="1" dirty="0">
                <a:solidFill>
                  <a:srgbClr val="16A34A"/>
                </a:solidFill>
                <a:latin typeface="Calibri" pitchFamily="34" charset="0"/>
                <a:ea typeface="Calibri" pitchFamily="34" charset="-122"/>
                <a:cs typeface="Calibri" pitchFamily="34" charset="-120"/>
              </a:rPr>
              <a:t>₹28.5 L</a:t>
            </a:r>
            <a:endParaRPr lang="en-US" sz="2100" dirty="0"/>
          </a:p>
        </p:txBody>
      </p:sp>
      <p:sp>
        <p:nvSpPr>
          <p:cNvPr id="15" name="Text 13"/>
          <p:cNvSpPr/>
          <p:nvPr/>
        </p:nvSpPr>
        <p:spPr>
          <a:xfrm>
            <a:off x="8741664" y="2240280"/>
            <a:ext cx="2496312" cy="388620"/>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Q1 FY27 sales, 3.5x FY26</a:t>
            </a:r>
            <a:endParaRPr lang="en-US" sz="1050" dirty="0"/>
          </a:p>
        </p:txBody>
      </p:sp>
      <p:sp>
        <p:nvSpPr>
          <p:cNvPr id="16" name="Text 14"/>
          <p:cNvSpPr/>
          <p:nvPr/>
        </p:nvSpPr>
        <p:spPr>
          <a:xfrm>
            <a:off x="457200" y="2971800"/>
            <a:ext cx="5486400" cy="365760"/>
          </a:xfrm>
          <a:prstGeom prst="rect">
            <a:avLst/>
          </a:prstGeom>
          <a:noFill/>
          <a:ln/>
        </p:spPr>
        <p:txBody>
          <a:bodyPr wrap="square"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Where the ₹5.34 Cr cost base goes</a:t>
            </a:r>
            <a:endParaRPr lang="en-US" sz="1700" dirty="0"/>
          </a:p>
        </p:txBody>
      </p:sp>
      <p:graphicFrame>
        <p:nvGraphicFramePr>
          <p:cNvPr id="17" name="Chart 0" descr=""/>
          <p:cNvGraphicFramePr/>
          <p:nvPr/>
        </p:nvGraphicFramePr>
        <p:xfrm>
          <a:off x="365760" y="3291840"/>
          <a:ext cx="5120640" cy="2743200"/>
        </p:xfrm>
        <a:graphic xmlns:a="http://schemas.openxmlformats.org/drawingml/2006/main">
          <a:graphicData uri="http://schemas.openxmlformats.org/drawingml/2006/chart">
            <c:chart xmlns:c="http://schemas.openxmlformats.org/drawingml/2006/chart" r:id="rId1"/>
          </a:graphicData>
        </a:graphic>
      </p:graphicFrame>
      <p:sp>
        <p:nvSpPr>
          <p:cNvPr id="18" name="Shape 15"/>
          <p:cNvSpPr/>
          <p:nvPr/>
        </p:nvSpPr>
        <p:spPr>
          <a:xfrm>
            <a:off x="5852160" y="3291840"/>
            <a:ext cx="5879592" cy="2743200"/>
          </a:xfrm>
          <a:prstGeom prst="roundRect">
            <a:avLst>
              <a:gd name="adj" fmla="val 3333"/>
            </a:avLst>
          </a:prstGeom>
          <a:solidFill>
            <a:srgbClr val="F1F5F9"/>
          </a:solidFill>
          <a:ln/>
        </p:spPr>
      </p:sp>
      <p:sp>
        <p:nvSpPr>
          <p:cNvPr id="19" name="Text 16"/>
          <p:cNvSpPr/>
          <p:nvPr/>
        </p:nvSpPr>
        <p:spPr>
          <a:xfrm>
            <a:off x="6126480" y="3474720"/>
            <a:ext cx="5394960" cy="320040"/>
          </a:xfrm>
          <a:prstGeom prst="rect">
            <a:avLst/>
          </a:prstGeom>
          <a:noFill/>
          <a:ln/>
        </p:spPr>
        <p:txBody>
          <a:bodyPr wrap="square" rtlCol="0" anchor="ctr"/>
          <a:lstStyle/>
          <a:p>
            <a:pPr indent="0" marL="0">
              <a:buNone/>
            </a:pPr>
            <a:r>
              <a:rPr lang="en-US" sz="1500" b="1" dirty="0">
                <a:solidFill>
                  <a:srgbClr val="0D9488"/>
                </a:solidFill>
                <a:latin typeface="Calibri" pitchFamily="34" charset="0"/>
                <a:ea typeface="Calibri" pitchFamily="34" charset="-122"/>
                <a:cs typeface="Calibri" pitchFamily="34" charset="-120"/>
              </a:rPr>
              <a:t>The core message</a:t>
            </a:r>
            <a:endParaRPr lang="en-US" sz="1500" dirty="0"/>
          </a:p>
        </p:txBody>
      </p:sp>
      <p:sp>
        <p:nvSpPr>
          <p:cNvPr id="20" name="Text 17"/>
          <p:cNvSpPr/>
          <p:nvPr/>
        </p:nvSpPr>
        <p:spPr>
          <a:xfrm>
            <a:off x="6144768" y="3840480"/>
            <a:ext cx="5349240" cy="2103120"/>
          </a:xfrm>
          <a:prstGeom prst="rect">
            <a:avLst/>
          </a:prstGeom>
          <a:noFill/>
          <a:ln/>
        </p:spPr>
        <p:txBody>
          <a:bodyPr wrap="square" rtlCol="0" anchor="t"/>
          <a:lstStyle/>
          <a:p>
            <a:pPr marL="342900" indent="-342900">
              <a:lnSpc>
                <a:spcPct val="105000"/>
              </a:lnSpc>
              <a:spcAft>
                <a:spcPts val="900"/>
              </a:spcAft>
              <a:buSzPct val="100000"/>
              <a:buChar char="•"/>
            </a:pPr>
            <a:r>
              <a:rPr lang="en-US" sz="1300" dirty="0">
                <a:solidFill>
                  <a:srgbClr val="0F172A"/>
                </a:solidFill>
                <a:latin typeface="Calibri" pitchFamily="34" charset="0"/>
                <a:ea typeface="Calibri" pitchFamily="34" charset="-122"/>
                <a:cs typeface="Calibri" pitchFamily="34" charset="-120"/>
              </a:rPr>
              <a:t>Employee expense is about 61% of spend.</a:t>
            </a:r>
            <a:endParaRPr lang="en-US" sz="1300" dirty="0"/>
          </a:p>
          <a:p>
            <a:pPr marL="342900" indent="-342900">
              <a:lnSpc>
                <a:spcPct val="105000"/>
              </a:lnSpc>
              <a:spcAft>
                <a:spcPts val="900"/>
              </a:spcAft>
              <a:buSzPct val="100000"/>
              <a:buChar char="•"/>
            </a:pPr>
            <a:r>
              <a:rPr lang="en-US" sz="1300" dirty="0">
                <a:solidFill>
                  <a:srgbClr val="0F172A"/>
                </a:solidFill>
                <a:latin typeface="Calibri" pitchFamily="34" charset="0"/>
                <a:ea typeface="Calibri" pitchFamily="34" charset="-122"/>
                <a:cs typeface="Calibri" pitchFamily="34" charset="-120"/>
              </a:rPr>
              <a:t>Cost base rebuilt bottom up to ₹5.34 Cr, adding RC meeting fees, three secretarial (board) meetings and one time IT and branding.</a:t>
            </a:r>
            <a:endParaRPr lang="en-US" sz="1300" dirty="0"/>
          </a:p>
          <a:p>
            <a:pPr marL="342900" indent="-342900">
              <a:lnSpc>
                <a:spcPct val="105000"/>
              </a:lnSpc>
              <a:spcAft>
                <a:spcPts val="900"/>
              </a:spcAft>
              <a:buSzPct val="100000"/>
              <a:buChar char="•"/>
            </a:pPr>
            <a:r>
              <a:rPr lang="en-US" sz="1300" dirty="0">
                <a:solidFill>
                  <a:srgbClr val="0F172A"/>
                </a:solidFill>
                <a:latin typeface="Calibri" pitchFamily="34" charset="0"/>
                <a:ea typeface="Calibri" pitchFamily="34" charset="-122"/>
                <a:cs typeface="Calibri" pitchFamily="34" charset="-120"/>
              </a:rPr>
              <a:t>FD interest pays the bills today. Rating revenue has to take over. The BLR licence is the switch, capacity is the constraint.</a:t>
            </a:r>
            <a:endParaRPr lang="en-US" sz="1300" dirty="0"/>
          </a:p>
        </p:txBody>
      </p:sp>
      <p:sp>
        <p:nvSpPr>
          <p:cNvPr id="21" name="Text 18"/>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ACER Credit Rating Pvt. Ltd.  |  FY27 Annual Operating Plan</a:t>
            </a:r>
            <a:endParaRPr lang="en-US" sz="900" dirty="0"/>
          </a:p>
        </p:txBody>
      </p:sp>
      <p:sp>
        <p:nvSpPr>
          <p:cNvPr id="22" name="Text 19"/>
          <p:cNvSpPr/>
          <p:nvPr/>
        </p:nvSpPr>
        <p:spPr>
          <a:xfrm>
            <a:off x="5943600" y="6473952"/>
            <a:ext cx="5788152"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Actuals from internal management accounts. Forward figures are labelled capacity projections.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11247120" cy="274320"/>
          </a:xfrm>
          <a:prstGeom prst="rect">
            <a:avLst/>
          </a:prstGeom>
          <a:noFill/>
          <a:ln/>
        </p:spPr>
        <p:txBody>
          <a:bodyPr wrap="square" rtlCol="0" anchor="ctr"/>
          <a:lstStyle/>
          <a:p>
            <a:pPr indent="0" marL="0">
              <a:buNone/>
            </a:pPr>
            <a:r>
              <a:rPr lang="en-US" sz="1200" b="1" spc="200" kern="0" dirty="0">
                <a:solidFill>
                  <a:srgbClr val="0D9488"/>
                </a:solidFill>
                <a:latin typeface="Calibri" pitchFamily="34" charset="0"/>
                <a:ea typeface="Calibri" pitchFamily="34" charset="-122"/>
                <a:cs typeface="Calibri" pitchFamily="34" charset="-120"/>
              </a:rPr>
              <a:t>THE REVENUE ENGINE, SAME IN EVERY SCENARIO</a:t>
            </a:r>
            <a:endParaRPr lang="en-US" sz="1200" dirty="0"/>
          </a:p>
        </p:txBody>
      </p:sp>
      <p:sp>
        <p:nvSpPr>
          <p:cNvPr id="3" name="Text 1"/>
          <p:cNvSpPr/>
          <p:nvPr/>
        </p:nvSpPr>
        <p:spPr>
          <a:xfrm>
            <a:off x="457200" y="658368"/>
            <a:ext cx="11247120" cy="658368"/>
          </a:xfrm>
          <a:prstGeom prst="rect">
            <a:avLst/>
          </a:prstGeom>
          <a:noFill/>
          <a:ln/>
        </p:spPr>
        <p:txBody>
          <a:bodyPr wrap="square" rtlCol="0" anchor="ctr"/>
          <a:lstStyle/>
          <a:p>
            <a:pPr indent="0" marL="0">
              <a:buNone/>
            </a:pPr>
            <a:r>
              <a:rPr lang="en-US" sz="3100" b="1" dirty="0">
                <a:solidFill>
                  <a:srgbClr val="0F172A"/>
                </a:solidFill>
                <a:latin typeface="Calibri" pitchFamily="34" charset="0"/>
                <a:ea typeface="Calibri" pitchFamily="34" charset="-122"/>
                <a:cs typeface="Calibri" pitchFamily="34" charset="-120"/>
              </a:rPr>
              <a:t>Two books, one team, real unit economics</a:t>
            </a:r>
            <a:endParaRPr lang="en-US" sz="3100" dirty="0"/>
          </a:p>
        </p:txBody>
      </p:sp>
      <p:sp>
        <p:nvSpPr>
          <p:cNvPr id="4" name="Text 2"/>
          <p:cNvSpPr/>
          <p:nvPr/>
        </p:nvSpPr>
        <p:spPr>
          <a:xfrm>
            <a:off x="457200" y="1463040"/>
            <a:ext cx="5486400" cy="292608"/>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Salary steps up from September (₹ L a month)</a:t>
            </a:r>
            <a:endParaRPr lang="en-US" sz="1400" dirty="0"/>
          </a:p>
        </p:txBody>
      </p:sp>
      <p:graphicFrame>
        <p:nvGraphicFramePr>
          <p:cNvPr id="5" name="Chart 0" descr=""/>
          <p:cNvGraphicFramePr/>
          <p:nvPr/>
        </p:nvGraphicFramePr>
        <p:xfrm>
          <a:off x="457200" y="1783080"/>
          <a:ext cx="5212080" cy="29260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126480" y="1463040"/>
            <a:ext cx="5486400" cy="292608"/>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How ~20 cases a month get split</a:t>
            </a:r>
            <a:endParaRPr lang="en-US" sz="1400" dirty="0"/>
          </a:p>
        </p:txBody>
      </p:sp>
      <p:graphicFrame>
        <p:nvGraphicFramePr>
          <p:cNvPr id="7" name="Chart 1" descr=""/>
          <p:cNvGraphicFramePr/>
          <p:nvPr/>
        </p:nvGraphicFramePr>
        <p:xfrm>
          <a:off x="6126480" y="1783080"/>
          <a:ext cx="5212080" cy="292608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6126480" y="4709160"/>
            <a:ext cx="5394960" cy="36576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Capacity ceiling is about 20 cases a month. By November IPO plus BLR demand (36) is well over it, which is why the launch is paced.</a:t>
            </a:r>
            <a:endParaRPr lang="en-US" sz="1000" dirty="0"/>
          </a:p>
        </p:txBody>
      </p:sp>
      <p:sp>
        <p:nvSpPr>
          <p:cNvPr id="9" name="Shape 5"/>
          <p:cNvSpPr/>
          <p:nvPr/>
        </p:nvSpPr>
        <p:spPr>
          <a:xfrm>
            <a:off x="457200" y="5120640"/>
            <a:ext cx="11274552" cy="1097280"/>
          </a:xfrm>
          <a:prstGeom prst="roundRect">
            <a:avLst>
              <a:gd name="adj" fmla="val 8333"/>
            </a:avLst>
          </a:prstGeom>
          <a:solidFill>
            <a:srgbClr val="0F172A"/>
          </a:solidFill>
          <a:ln/>
        </p:spPr>
      </p:sp>
      <p:sp>
        <p:nvSpPr>
          <p:cNvPr id="10" name="Text 6"/>
          <p:cNvSpPr/>
          <p:nvPr/>
        </p:nvSpPr>
        <p:spPr>
          <a:xfrm>
            <a:off x="658368" y="5266944"/>
            <a:ext cx="2651760" cy="411480"/>
          </a:xfrm>
          <a:prstGeom prst="rect">
            <a:avLst/>
          </a:prstGeom>
          <a:noFill/>
          <a:ln/>
        </p:spPr>
        <p:txBody>
          <a:bodyPr wrap="square" lIns="0" tIns="0" rIns="0" bIns="0" rtlCol="0" anchor="ctr"/>
          <a:lstStyle/>
          <a:p>
            <a:pPr indent="0" marL="0">
              <a:buNone/>
            </a:pPr>
            <a:r>
              <a:rPr lang="en-US" sz="2100" b="1" dirty="0">
                <a:solidFill>
                  <a:srgbClr val="0D9488"/>
                </a:solidFill>
                <a:latin typeface="Calibri" pitchFamily="34" charset="0"/>
                <a:ea typeface="Calibri" pitchFamily="34" charset="-122"/>
                <a:cs typeface="Calibri" pitchFamily="34" charset="-120"/>
              </a:rPr>
              <a:t>₹1.2 L</a:t>
            </a:r>
            <a:endParaRPr lang="en-US" sz="2100" dirty="0"/>
          </a:p>
        </p:txBody>
      </p:sp>
      <p:sp>
        <p:nvSpPr>
          <p:cNvPr id="11" name="Text 7"/>
          <p:cNvSpPr/>
          <p:nvPr/>
        </p:nvSpPr>
        <p:spPr>
          <a:xfrm>
            <a:off x="658368" y="5705856"/>
            <a:ext cx="2651760" cy="457200"/>
          </a:xfrm>
          <a:prstGeom prst="rect">
            <a:avLst/>
          </a:prstGeom>
          <a:noFill/>
          <a:ln/>
        </p:spPr>
        <p:txBody>
          <a:bodyPr wrap="square" lIns="0" tIns="0" rIns="0" bIns="0" rtlCol="0" anchor="t"/>
          <a:lstStyle/>
          <a:p>
            <a:pPr indent="0" marL="0">
              <a:buNone/>
            </a:pPr>
            <a:r>
              <a:rPr lang="en-US" sz="1100" dirty="0">
                <a:solidFill>
                  <a:srgbClr val="CADCFC"/>
                </a:solidFill>
                <a:latin typeface="Calibri" pitchFamily="34" charset="0"/>
                <a:ea typeface="Calibri" pitchFamily="34" charset="-122"/>
                <a:cs typeface="Calibri" pitchFamily="34" charset="-120"/>
              </a:rPr>
              <a:t>per IPO mandate, per quarter</a:t>
            </a:r>
            <a:endParaRPr lang="en-US" sz="1100" dirty="0"/>
          </a:p>
        </p:txBody>
      </p:sp>
      <p:sp>
        <p:nvSpPr>
          <p:cNvPr id="12" name="Text 8"/>
          <p:cNvSpPr/>
          <p:nvPr/>
        </p:nvSpPr>
        <p:spPr>
          <a:xfrm>
            <a:off x="3447288" y="5266944"/>
            <a:ext cx="2651760" cy="411480"/>
          </a:xfrm>
          <a:prstGeom prst="rect">
            <a:avLst/>
          </a:prstGeom>
          <a:noFill/>
          <a:ln/>
        </p:spPr>
        <p:txBody>
          <a:bodyPr wrap="square" lIns="0" tIns="0" rIns="0" bIns="0" rtlCol="0" anchor="ctr"/>
          <a:lstStyle/>
          <a:p>
            <a:pPr indent="0" marL="0">
              <a:buNone/>
            </a:pPr>
            <a:r>
              <a:rPr lang="en-US" sz="2100" b="1" dirty="0">
                <a:solidFill>
                  <a:srgbClr val="0D9488"/>
                </a:solidFill>
                <a:latin typeface="Calibri" pitchFamily="34" charset="0"/>
                <a:ea typeface="Calibri" pitchFamily="34" charset="-122"/>
                <a:cs typeface="Calibri" pitchFamily="34" charset="-120"/>
              </a:rPr>
              <a:t>2.5 bps</a:t>
            </a:r>
            <a:endParaRPr lang="en-US" sz="2100" dirty="0"/>
          </a:p>
        </p:txBody>
      </p:sp>
      <p:sp>
        <p:nvSpPr>
          <p:cNvPr id="13" name="Text 9"/>
          <p:cNvSpPr/>
          <p:nvPr/>
        </p:nvSpPr>
        <p:spPr>
          <a:xfrm>
            <a:off x="3447288" y="5705856"/>
            <a:ext cx="2651760" cy="457200"/>
          </a:xfrm>
          <a:prstGeom prst="rect">
            <a:avLst/>
          </a:prstGeom>
          <a:noFill/>
          <a:ln/>
        </p:spPr>
        <p:txBody>
          <a:bodyPr wrap="square" lIns="0" tIns="0" rIns="0" bIns="0" rtlCol="0" anchor="t"/>
          <a:lstStyle/>
          <a:p>
            <a:pPr indent="0" marL="0">
              <a:buNone/>
            </a:pPr>
            <a:r>
              <a:rPr lang="en-US" sz="1100" dirty="0">
                <a:solidFill>
                  <a:srgbClr val="CADCFC"/>
                </a:solidFill>
                <a:latin typeface="Calibri" pitchFamily="34" charset="0"/>
                <a:ea typeface="Calibri" pitchFamily="34" charset="-122"/>
                <a:cs typeface="Calibri" pitchFamily="34" charset="-120"/>
              </a:rPr>
              <a:t>BLR fee up front on rated debt</a:t>
            </a:r>
            <a:endParaRPr lang="en-US" sz="1100" dirty="0"/>
          </a:p>
        </p:txBody>
      </p:sp>
      <p:sp>
        <p:nvSpPr>
          <p:cNvPr id="14" name="Text 10"/>
          <p:cNvSpPr/>
          <p:nvPr/>
        </p:nvSpPr>
        <p:spPr>
          <a:xfrm>
            <a:off x="6236208" y="5266944"/>
            <a:ext cx="2651760" cy="411480"/>
          </a:xfrm>
          <a:prstGeom prst="rect">
            <a:avLst/>
          </a:prstGeom>
          <a:noFill/>
          <a:ln/>
        </p:spPr>
        <p:txBody>
          <a:bodyPr wrap="square" lIns="0" tIns="0" rIns="0" bIns="0" rtlCol="0" anchor="ctr"/>
          <a:lstStyle/>
          <a:p>
            <a:pPr indent="0" marL="0">
              <a:buNone/>
            </a:pPr>
            <a:r>
              <a:rPr lang="en-US" sz="2100" b="1" dirty="0">
                <a:solidFill>
                  <a:srgbClr val="0D9488"/>
                </a:solidFill>
                <a:latin typeface="Calibri" pitchFamily="34" charset="0"/>
                <a:ea typeface="Calibri" pitchFamily="34" charset="-122"/>
                <a:cs typeface="Calibri" pitchFamily="34" charset="-120"/>
              </a:rPr>
              <a:t>1.5 bps</a:t>
            </a:r>
            <a:endParaRPr lang="en-US" sz="2100" dirty="0"/>
          </a:p>
        </p:txBody>
      </p:sp>
      <p:sp>
        <p:nvSpPr>
          <p:cNvPr id="15" name="Text 11"/>
          <p:cNvSpPr/>
          <p:nvPr/>
        </p:nvSpPr>
        <p:spPr>
          <a:xfrm>
            <a:off x="6236208" y="5705856"/>
            <a:ext cx="2651760" cy="457200"/>
          </a:xfrm>
          <a:prstGeom prst="rect">
            <a:avLst/>
          </a:prstGeom>
          <a:noFill/>
          <a:ln/>
        </p:spPr>
        <p:txBody>
          <a:bodyPr wrap="square" lIns="0" tIns="0" rIns="0" bIns="0" rtlCol="0" anchor="t"/>
          <a:lstStyle/>
          <a:p>
            <a:pPr indent="0" marL="0">
              <a:buNone/>
            </a:pPr>
            <a:r>
              <a:rPr lang="en-US" sz="1100" dirty="0">
                <a:solidFill>
                  <a:srgbClr val="CADCFC"/>
                </a:solidFill>
                <a:latin typeface="Calibri" pitchFamily="34" charset="0"/>
                <a:ea typeface="Calibri" pitchFamily="34" charset="-122"/>
                <a:cs typeface="Calibri" pitchFamily="34" charset="-120"/>
              </a:rPr>
              <a:t>BLR surveillance a year, recurring</a:t>
            </a:r>
            <a:endParaRPr lang="en-US" sz="1100" dirty="0"/>
          </a:p>
        </p:txBody>
      </p:sp>
      <p:sp>
        <p:nvSpPr>
          <p:cNvPr id="16" name="Text 12"/>
          <p:cNvSpPr/>
          <p:nvPr/>
        </p:nvSpPr>
        <p:spPr>
          <a:xfrm>
            <a:off x="9025128" y="5266944"/>
            <a:ext cx="2651760" cy="411480"/>
          </a:xfrm>
          <a:prstGeom prst="rect">
            <a:avLst/>
          </a:prstGeom>
          <a:noFill/>
          <a:ln/>
        </p:spPr>
        <p:txBody>
          <a:bodyPr wrap="square" lIns="0" tIns="0" rIns="0" bIns="0" rtlCol="0" anchor="ctr"/>
          <a:lstStyle/>
          <a:p>
            <a:pPr indent="0" marL="0">
              <a:buNone/>
            </a:pPr>
            <a:r>
              <a:rPr lang="en-US" sz="2100" b="1" dirty="0">
                <a:solidFill>
                  <a:srgbClr val="0D9488"/>
                </a:solidFill>
                <a:latin typeface="Calibri" pitchFamily="34" charset="0"/>
                <a:ea typeface="Calibri" pitchFamily="34" charset="-122"/>
                <a:cs typeface="Calibri" pitchFamily="34" charset="-120"/>
              </a:rPr>
              <a:t>5 executors</a:t>
            </a:r>
            <a:endParaRPr lang="en-US" sz="2100" dirty="0"/>
          </a:p>
        </p:txBody>
      </p:sp>
      <p:sp>
        <p:nvSpPr>
          <p:cNvPr id="17" name="Text 13"/>
          <p:cNvSpPr/>
          <p:nvPr/>
        </p:nvSpPr>
        <p:spPr>
          <a:xfrm>
            <a:off x="9025128" y="5705856"/>
            <a:ext cx="2651760" cy="457200"/>
          </a:xfrm>
          <a:prstGeom prst="rect">
            <a:avLst/>
          </a:prstGeom>
          <a:noFill/>
          <a:ln/>
        </p:spPr>
        <p:txBody>
          <a:bodyPr wrap="square" lIns="0" tIns="0" rIns="0" bIns="0" rtlCol="0" anchor="t"/>
          <a:lstStyle/>
          <a:p>
            <a:pPr indent="0" marL="0">
              <a:buNone/>
            </a:pPr>
            <a:r>
              <a:rPr lang="en-US" sz="1100" dirty="0">
                <a:solidFill>
                  <a:srgbClr val="CADCFC"/>
                </a:solidFill>
                <a:latin typeface="Calibri" pitchFamily="34" charset="0"/>
                <a:ea typeface="Calibri" pitchFamily="34" charset="-122"/>
                <a:cs typeface="Calibri" pitchFamily="34" charset="-120"/>
              </a:rPr>
              <a:t>leaders now in review only</a:t>
            </a:r>
            <a:endParaRPr lang="en-US" sz="1100" dirty="0"/>
          </a:p>
        </p:txBody>
      </p:sp>
      <p:sp>
        <p:nvSpPr>
          <p:cNvPr id="18" name="Text 14"/>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ACER Credit Rating Pvt. Ltd.  |  FY27 Annual Operating Plan</a:t>
            </a:r>
            <a:endParaRPr lang="en-US" sz="900" dirty="0"/>
          </a:p>
        </p:txBody>
      </p:sp>
      <p:sp>
        <p:nvSpPr>
          <p:cNvPr id="19" name="Text 15"/>
          <p:cNvSpPr/>
          <p:nvPr/>
        </p:nvSpPr>
        <p:spPr>
          <a:xfrm>
            <a:off x="5943600" y="6473952"/>
            <a:ext cx="5788152"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Actuals from internal management accounts. Forward figures are labelled capacity projections.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8503920" cy="640080"/>
          </a:xfrm>
          <a:prstGeom prst="rect">
            <a:avLst/>
          </a:prstGeom>
          <a:noFill/>
          <a:ln/>
        </p:spPr>
        <p:txBody>
          <a:bodyPr wrap="square" rtlCol="0" anchor="ctr"/>
          <a:lstStyle/>
          <a:p>
            <a:pPr indent="0" marL="0">
              <a:buNone/>
            </a:pPr>
            <a:r>
              <a:rPr lang="en-US" sz="2500" b="1" dirty="0">
                <a:solidFill>
                  <a:srgbClr val="0F172A"/>
                </a:solidFill>
                <a:latin typeface="Calibri" pitchFamily="34" charset="0"/>
                <a:ea typeface="Calibri" pitchFamily="34" charset="-122"/>
                <a:cs typeface="Calibri" pitchFamily="34" charset="-120"/>
              </a:rPr>
              <a:t>Scenario 1  ·  BLR licence live by 1 Oct 2026</a:t>
            </a:r>
            <a:endParaRPr lang="en-US" sz="2500" dirty="0"/>
          </a:p>
        </p:txBody>
      </p:sp>
      <p:sp>
        <p:nvSpPr>
          <p:cNvPr id="3" name="Shape 1"/>
          <p:cNvSpPr/>
          <p:nvPr/>
        </p:nvSpPr>
        <p:spPr>
          <a:xfrm>
            <a:off x="9189720" y="457200"/>
            <a:ext cx="2542032" cy="457200"/>
          </a:xfrm>
          <a:prstGeom prst="roundRect">
            <a:avLst>
              <a:gd name="adj" fmla="val 50000"/>
            </a:avLst>
          </a:prstGeom>
          <a:solidFill>
            <a:srgbClr val="16A34A"/>
          </a:solidFill>
          <a:ln/>
        </p:spPr>
      </p:sp>
      <p:sp>
        <p:nvSpPr>
          <p:cNvPr id="4" name="Text 2"/>
          <p:cNvSpPr/>
          <p:nvPr/>
        </p:nvSpPr>
        <p:spPr>
          <a:xfrm>
            <a:off x="9189720" y="457200"/>
            <a:ext cx="254203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Launch and blitz</a:t>
            </a:r>
            <a:endParaRPr lang="en-US" sz="1300" dirty="0"/>
          </a:p>
        </p:txBody>
      </p:sp>
      <p:sp>
        <p:nvSpPr>
          <p:cNvPr id="5" name="Text 3"/>
          <p:cNvSpPr/>
          <p:nvPr/>
        </p:nvSpPr>
        <p:spPr>
          <a:xfrm>
            <a:off x="457200" y="1097280"/>
            <a:ext cx="6858000" cy="274320"/>
          </a:xfrm>
          <a:prstGeom prst="rect">
            <a:avLst/>
          </a:prstGeom>
          <a:noFill/>
          <a:ln/>
        </p:spPr>
        <p:txBody>
          <a:bodyPr wrap="square"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Monthly income build vs expense, to April 2027</a:t>
            </a:r>
            <a:endParaRPr lang="en-US" sz="1200" dirty="0"/>
          </a:p>
        </p:txBody>
      </p:sp>
      <p:graphicFrame>
        <p:nvGraphicFramePr>
          <p:cNvPr id="6" name="Chart 0" descr=""/>
          <p:cNvGraphicFramePr/>
          <p:nvPr/>
        </p:nvGraphicFramePr>
        <p:xfrm>
          <a:off x="365760" y="1371600"/>
          <a:ext cx="7040880" cy="46634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6053328"/>
            <a:ext cx="6858000" cy="365760"/>
          </a:xfrm>
          <a:prstGeom prst="rect">
            <a:avLst/>
          </a:prstGeom>
          <a:noFill/>
          <a:ln/>
        </p:spPr>
        <p:txBody>
          <a:bodyPr wrap="square" rtlCol="0" anchor="t"/>
          <a:lstStyle/>
          <a:p>
            <a:pPr indent="0" marL="0">
              <a:buNone/>
            </a:pPr>
            <a:r>
              <a:rPr lang="en-US" sz="1100" i="1" dirty="0">
                <a:solidFill>
                  <a:srgbClr val="0D9488"/>
                </a:solidFill>
                <a:latin typeface="Calibri" pitchFamily="34" charset="0"/>
                <a:ea typeface="Calibri" pitchFamily="34" charset="-122"/>
                <a:cs typeface="Calibri" pitchFamily="34" charset="-120"/>
              </a:rPr>
              <a:t>Branding: ₹5 to 10 L buffer at launch, then ₹2 L a month while BLR runs.</a:t>
            </a:r>
            <a:endParaRPr lang="en-US" sz="1100" dirty="0"/>
          </a:p>
        </p:txBody>
      </p:sp>
      <p:sp>
        <p:nvSpPr>
          <p:cNvPr id="8" name="Shape 5"/>
          <p:cNvSpPr/>
          <p:nvPr/>
        </p:nvSpPr>
        <p:spPr>
          <a:xfrm>
            <a:off x="7498080" y="1371600"/>
            <a:ext cx="2084832" cy="786384"/>
          </a:xfrm>
          <a:prstGeom prst="roundRect">
            <a:avLst>
              <a:gd name="adj" fmla="val 10465"/>
            </a:avLst>
          </a:prstGeom>
          <a:solidFill>
            <a:srgbClr val="F1F5F9"/>
          </a:solidFill>
          <a:ln/>
        </p:spPr>
      </p:sp>
      <p:sp>
        <p:nvSpPr>
          <p:cNvPr id="9" name="Text 6"/>
          <p:cNvSpPr/>
          <p:nvPr/>
        </p:nvSpPr>
        <p:spPr>
          <a:xfrm>
            <a:off x="7516368" y="1481328"/>
            <a:ext cx="2048256" cy="408920"/>
          </a:xfrm>
          <a:prstGeom prst="rect">
            <a:avLst/>
          </a:prstGeom>
          <a:noFill/>
          <a:ln/>
        </p:spPr>
        <p:txBody>
          <a:bodyPr wrap="square" lIns="0" tIns="0" rIns="0" bIns="0" rtlCol="0" anchor="ctr"/>
          <a:lstStyle/>
          <a:p>
            <a:pPr algn="ctr" indent="0" marL="0">
              <a:buNone/>
            </a:pPr>
            <a:r>
              <a:rPr lang="en-US" sz="2100" b="1" dirty="0">
                <a:solidFill>
                  <a:srgbClr val="16A34A"/>
                </a:solidFill>
                <a:latin typeface="Calibri" pitchFamily="34" charset="0"/>
                <a:ea typeface="Calibri" pitchFamily="34" charset="-122"/>
                <a:cs typeface="Calibri" pitchFamily="34" charset="-120"/>
              </a:rPr>
              <a:t>Nov 2026</a:t>
            </a:r>
            <a:endParaRPr lang="en-US" sz="2100" dirty="0"/>
          </a:p>
        </p:txBody>
      </p:sp>
      <p:sp>
        <p:nvSpPr>
          <p:cNvPr id="10" name="Text 7"/>
          <p:cNvSpPr/>
          <p:nvPr/>
        </p:nvSpPr>
        <p:spPr>
          <a:xfrm>
            <a:off x="7552944" y="1843430"/>
            <a:ext cx="1975104" cy="267371"/>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Break even</a:t>
            </a:r>
            <a:endParaRPr lang="en-US" sz="1050" dirty="0"/>
          </a:p>
        </p:txBody>
      </p:sp>
      <p:sp>
        <p:nvSpPr>
          <p:cNvPr id="11" name="Shape 8"/>
          <p:cNvSpPr/>
          <p:nvPr/>
        </p:nvSpPr>
        <p:spPr>
          <a:xfrm>
            <a:off x="9747504" y="1371600"/>
            <a:ext cx="2084832" cy="786384"/>
          </a:xfrm>
          <a:prstGeom prst="roundRect">
            <a:avLst>
              <a:gd name="adj" fmla="val 10465"/>
            </a:avLst>
          </a:prstGeom>
          <a:solidFill>
            <a:srgbClr val="F1F5F9"/>
          </a:solidFill>
          <a:ln/>
        </p:spPr>
      </p:sp>
      <p:sp>
        <p:nvSpPr>
          <p:cNvPr id="12" name="Text 9"/>
          <p:cNvSpPr/>
          <p:nvPr/>
        </p:nvSpPr>
        <p:spPr>
          <a:xfrm>
            <a:off x="9765792" y="1481328"/>
            <a:ext cx="2048256" cy="408920"/>
          </a:xfrm>
          <a:prstGeom prst="rect">
            <a:avLst/>
          </a:prstGeom>
          <a:noFill/>
          <a:ln/>
        </p:spPr>
        <p:txBody>
          <a:bodyPr wrap="square" lIns="0" tIns="0" rIns="0" bIns="0" rtlCol="0" anchor="ctr"/>
          <a:lstStyle/>
          <a:p>
            <a:pPr algn="ctr" indent="0" marL="0">
              <a:buNone/>
            </a:pPr>
            <a:r>
              <a:rPr lang="en-US" sz="2100" b="1" dirty="0">
                <a:solidFill>
                  <a:srgbClr val="16A34A"/>
                </a:solidFill>
                <a:latin typeface="Calibri" pitchFamily="34" charset="0"/>
                <a:ea typeface="Calibri" pitchFamily="34" charset="-122"/>
                <a:cs typeface="Calibri" pitchFamily="34" charset="-120"/>
              </a:rPr>
              <a:t>+₹0.27 Cr</a:t>
            </a:r>
            <a:endParaRPr lang="en-US" sz="2100" dirty="0"/>
          </a:p>
        </p:txBody>
      </p:sp>
      <p:sp>
        <p:nvSpPr>
          <p:cNvPr id="13" name="Text 10"/>
          <p:cNvSpPr/>
          <p:nvPr/>
        </p:nvSpPr>
        <p:spPr>
          <a:xfrm>
            <a:off x="9802368" y="1843430"/>
            <a:ext cx="1975104" cy="267371"/>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Aug26 to Apr27</a:t>
            </a:r>
            <a:endParaRPr lang="en-US" sz="1050" dirty="0"/>
          </a:p>
        </p:txBody>
      </p:sp>
      <p:sp>
        <p:nvSpPr>
          <p:cNvPr id="14" name="Shape 11"/>
          <p:cNvSpPr/>
          <p:nvPr/>
        </p:nvSpPr>
        <p:spPr>
          <a:xfrm>
            <a:off x="7498080" y="2304288"/>
            <a:ext cx="2084832" cy="786384"/>
          </a:xfrm>
          <a:prstGeom prst="roundRect">
            <a:avLst>
              <a:gd name="adj" fmla="val 10465"/>
            </a:avLst>
          </a:prstGeom>
          <a:solidFill>
            <a:srgbClr val="F1F5F9"/>
          </a:solidFill>
          <a:ln/>
        </p:spPr>
      </p:sp>
      <p:sp>
        <p:nvSpPr>
          <p:cNvPr id="15" name="Text 12"/>
          <p:cNvSpPr/>
          <p:nvPr/>
        </p:nvSpPr>
        <p:spPr>
          <a:xfrm>
            <a:off x="7516368" y="2414016"/>
            <a:ext cx="2048256" cy="408920"/>
          </a:xfrm>
          <a:prstGeom prst="rect">
            <a:avLst/>
          </a:prstGeom>
          <a:noFill/>
          <a:ln/>
        </p:spPr>
        <p:txBody>
          <a:bodyPr wrap="square" lIns="0" tIns="0" rIns="0" bIns="0" rtlCol="0" anchor="ctr"/>
          <a:lstStyle/>
          <a:p>
            <a:pPr algn="ctr" indent="0" marL="0">
              <a:buNone/>
            </a:pPr>
            <a:r>
              <a:rPr lang="en-US" sz="2100" b="1" dirty="0">
                <a:solidFill>
                  <a:srgbClr val="16A34A"/>
                </a:solidFill>
                <a:latin typeface="Calibri" pitchFamily="34" charset="0"/>
                <a:ea typeface="Calibri" pitchFamily="34" charset="-122"/>
                <a:cs typeface="Calibri" pitchFamily="34" charset="-120"/>
              </a:rPr>
              <a:t>+₹3.13 Cr</a:t>
            </a:r>
            <a:endParaRPr lang="en-US" sz="2100" dirty="0"/>
          </a:p>
        </p:txBody>
      </p:sp>
      <p:sp>
        <p:nvSpPr>
          <p:cNvPr id="16" name="Text 13"/>
          <p:cNvSpPr/>
          <p:nvPr/>
        </p:nvSpPr>
        <p:spPr>
          <a:xfrm>
            <a:off x="7552944" y="2776118"/>
            <a:ext cx="1975104" cy="267371"/>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Apr27 run-rate</a:t>
            </a:r>
            <a:endParaRPr lang="en-US" sz="1050" dirty="0"/>
          </a:p>
        </p:txBody>
      </p:sp>
      <p:sp>
        <p:nvSpPr>
          <p:cNvPr id="17" name="Shape 14"/>
          <p:cNvSpPr/>
          <p:nvPr/>
        </p:nvSpPr>
        <p:spPr>
          <a:xfrm>
            <a:off x="9747504" y="2304288"/>
            <a:ext cx="2084832" cy="786384"/>
          </a:xfrm>
          <a:prstGeom prst="roundRect">
            <a:avLst>
              <a:gd name="adj" fmla="val 10465"/>
            </a:avLst>
          </a:prstGeom>
          <a:solidFill>
            <a:srgbClr val="F1F5F9"/>
          </a:solidFill>
          <a:ln/>
        </p:spPr>
      </p:sp>
      <p:sp>
        <p:nvSpPr>
          <p:cNvPr id="18" name="Text 15"/>
          <p:cNvSpPr/>
          <p:nvPr/>
        </p:nvSpPr>
        <p:spPr>
          <a:xfrm>
            <a:off x="9765792" y="2414016"/>
            <a:ext cx="2048256" cy="408920"/>
          </a:xfrm>
          <a:prstGeom prst="rect">
            <a:avLst/>
          </a:prstGeom>
          <a:noFill/>
          <a:ln/>
        </p:spPr>
        <p:txBody>
          <a:bodyPr wrap="square" lIns="0" tIns="0" rIns="0" bIns="0" rtlCol="0" anchor="ctr"/>
          <a:lstStyle/>
          <a:p>
            <a:pPr algn="ctr" indent="0" marL="0">
              <a:buNone/>
            </a:pPr>
            <a:r>
              <a:rPr lang="en-US" sz="2100" b="1" dirty="0">
                <a:solidFill>
                  <a:srgbClr val="E11D48"/>
                </a:solidFill>
                <a:latin typeface="Calibri" pitchFamily="34" charset="0"/>
                <a:ea typeface="Calibri" pitchFamily="34" charset="-122"/>
                <a:cs typeface="Calibri" pitchFamily="34" charset="-120"/>
              </a:rPr>
              <a:t>−₹0.88 Cr</a:t>
            </a:r>
            <a:endParaRPr lang="en-US" sz="2100" dirty="0"/>
          </a:p>
        </p:txBody>
      </p:sp>
      <p:sp>
        <p:nvSpPr>
          <p:cNvPr id="19" name="Text 16"/>
          <p:cNvSpPr/>
          <p:nvPr/>
        </p:nvSpPr>
        <p:spPr>
          <a:xfrm>
            <a:off x="9802368" y="2776118"/>
            <a:ext cx="1975104" cy="267371"/>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Peak cash dip</a:t>
            </a:r>
            <a:endParaRPr lang="en-US" sz="1050" dirty="0"/>
          </a:p>
        </p:txBody>
      </p:sp>
      <p:sp>
        <p:nvSpPr>
          <p:cNvPr id="20" name="Text 17"/>
          <p:cNvSpPr/>
          <p:nvPr/>
        </p:nvSpPr>
        <p:spPr>
          <a:xfrm>
            <a:off x="7498080" y="3246120"/>
            <a:ext cx="4297680" cy="292608"/>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The month by month play</a:t>
            </a:r>
            <a:endParaRPr lang="en-US" sz="1400" dirty="0"/>
          </a:p>
        </p:txBody>
      </p:sp>
      <p:sp>
        <p:nvSpPr>
          <p:cNvPr id="21" name="Shape 18"/>
          <p:cNvSpPr/>
          <p:nvPr/>
        </p:nvSpPr>
        <p:spPr>
          <a:xfrm>
            <a:off x="7498080" y="3630168"/>
            <a:ext cx="960120" cy="457200"/>
          </a:xfrm>
          <a:prstGeom prst="roundRect">
            <a:avLst>
              <a:gd name="adj" fmla="val 14000"/>
            </a:avLst>
          </a:prstGeom>
          <a:solidFill>
            <a:srgbClr val="16A34A"/>
          </a:solidFill>
          <a:ln/>
        </p:spPr>
      </p:sp>
      <p:sp>
        <p:nvSpPr>
          <p:cNvPr id="22" name="Text 19"/>
          <p:cNvSpPr/>
          <p:nvPr/>
        </p:nvSpPr>
        <p:spPr>
          <a:xfrm>
            <a:off x="7498080" y="3630168"/>
            <a:ext cx="96012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OCT</a:t>
            </a:r>
            <a:endParaRPr lang="en-US" sz="800" dirty="0"/>
          </a:p>
        </p:txBody>
      </p:sp>
      <p:sp>
        <p:nvSpPr>
          <p:cNvPr id="23" name="Text 20"/>
          <p:cNvSpPr/>
          <p:nvPr/>
        </p:nvSpPr>
        <p:spPr>
          <a:xfrm>
            <a:off x="8577072" y="3593592"/>
            <a:ext cx="3200400" cy="713232"/>
          </a:xfrm>
          <a:prstGeom prst="rect">
            <a:avLst/>
          </a:prstGeom>
          <a:noFill/>
          <a:ln/>
        </p:spPr>
        <p:txBody>
          <a:bodyPr wrap="square" lIns="0" tIns="0" rIns="0" bIns="0" rtlCol="0" anchor="ctr"/>
          <a:lstStyle/>
          <a:p>
            <a:pPr indent="0" marL="0">
              <a:lnSpc>
                <a:spcPct val="95000"/>
              </a:lnSpc>
              <a:buNone/>
            </a:pPr>
            <a:r>
              <a:rPr lang="en-US" sz="950" dirty="0">
                <a:solidFill>
                  <a:srgbClr val="0F172A"/>
                </a:solidFill>
                <a:latin typeface="Calibri" pitchFamily="34" charset="0"/>
                <a:ea typeface="Calibri" pitchFamily="34" charset="-122"/>
                <a:cs typeface="Calibri" pitchFamily="34" charset="-120"/>
              </a:rPr>
              <a:t>Licence live, but IPO is at 20 and the team is full. Zero BLR this month by choice. Branding spends heavily, IT upgrade lands.</a:t>
            </a:r>
            <a:endParaRPr lang="en-US" sz="950" dirty="0"/>
          </a:p>
        </p:txBody>
      </p:sp>
      <p:sp>
        <p:nvSpPr>
          <p:cNvPr id="24" name="Shape 21"/>
          <p:cNvSpPr/>
          <p:nvPr/>
        </p:nvSpPr>
        <p:spPr>
          <a:xfrm>
            <a:off x="7498080" y="4352544"/>
            <a:ext cx="960120" cy="457200"/>
          </a:xfrm>
          <a:prstGeom prst="roundRect">
            <a:avLst>
              <a:gd name="adj" fmla="val 14000"/>
            </a:avLst>
          </a:prstGeom>
          <a:solidFill>
            <a:srgbClr val="16A34A"/>
          </a:solidFill>
          <a:ln/>
        </p:spPr>
      </p:sp>
      <p:sp>
        <p:nvSpPr>
          <p:cNvPr id="25" name="Text 22"/>
          <p:cNvSpPr/>
          <p:nvPr/>
        </p:nvSpPr>
        <p:spPr>
          <a:xfrm>
            <a:off x="7498080" y="4352544"/>
            <a:ext cx="96012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NOV</a:t>
            </a:r>
            <a:endParaRPr lang="en-US" sz="800" dirty="0"/>
          </a:p>
        </p:txBody>
      </p:sp>
      <p:sp>
        <p:nvSpPr>
          <p:cNvPr id="26" name="Text 23"/>
          <p:cNvSpPr/>
          <p:nvPr/>
        </p:nvSpPr>
        <p:spPr>
          <a:xfrm>
            <a:off x="8577072" y="4315968"/>
            <a:ext cx="3200400" cy="713232"/>
          </a:xfrm>
          <a:prstGeom prst="rect">
            <a:avLst/>
          </a:prstGeom>
          <a:noFill/>
          <a:ln/>
        </p:spPr>
        <p:txBody>
          <a:bodyPr wrap="square" lIns="0" tIns="0" rIns="0" bIns="0" rtlCol="0" anchor="ctr"/>
          <a:lstStyle/>
          <a:p>
            <a:pPr indent="0" marL="0">
              <a:lnSpc>
                <a:spcPct val="95000"/>
              </a:lnSpc>
              <a:buNone/>
            </a:pPr>
            <a:r>
              <a:rPr lang="en-US" sz="950" dirty="0">
                <a:solidFill>
                  <a:srgbClr val="0F172A"/>
                </a:solidFill>
                <a:latin typeface="Calibri" pitchFamily="34" charset="0"/>
                <a:ea typeface="Calibri" pitchFamily="34" charset="-122"/>
                <a:cs typeface="Calibri" pitchFamily="34" charset="-120"/>
              </a:rPr>
              <a:t>IPO delivery caught up. BLR steps up to 16 cases a month, full capacity.</a:t>
            </a:r>
            <a:endParaRPr lang="en-US" sz="950" dirty="0"/>
          </a:p>
        </p:txBody>
      </p:sp>
      <p:sp>
        <p:nvSpPr>
          <p:cNvPr id="27" name="Shape 24"/>
          <p:cNvSpPr/>
          <p:nvPr/>
        </p:nvSpPr>
        <p:spPr>
          <a:xfrm>
            <a:off x="7498080" y="5074920"/>
            <a:ext cx="960120" cy="457200"/>
          </a:xfrm>
          <a:prstGeom prst="roundRect">
            <a:avLst>
              <a:gd name="adj" fmla="val 14000"/>
            </a:avLst>
          </a:prstGeom>
          <a:solidFill>
            <a:srgbClr val="16A34A"/>
          </a:solidFill>
          <a:ln/>
        </p:spPr>
      </p:sp>
      <p:sp>
        <p:nvSpPr>
          <p:cNvPr id="28" name="Text 25"/>
          <p:cNvSpPr/>
          <p:nvPr/>
        </p:nvSpPr>
        <p:spPr>
          <a:xfrm>
            <a:off x="7498080" y="5074920"/>
            <a:ext cx="96012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DEC+</a:t>
            </a:r>
            <a:endParaRPr lang="en-US" sz="800" dirty="0"/>
          </a:p>
        </p:txBody>
      </p:sp>
      <p:sp>
        <p:nvSpPr>
          <p:cNvPr id="29" name="Text 26"/>
          <p:cNvSpPr/>
          <p:nvPr/>
        </p:nvSpPr>
        <p:spPr>
          <a:xfrm>
            <a:off x="8577072" y="5038344"/>
            <a:ext cx="3200400" cy="713232"/>
          </a:xfrm>
          <a:prstGeom prst="rect">
            <a:avLst/>
          </a:prstGeom>
          <a:noFill/>
          <a:ln/>
        </p:spPr>
        <p:txBody>
          <a:bodyPr wrap="square" lIns="0" tIns="0" rIns="0" bIns="0" rtlCol="0" anchor="ctr"/>
          <a:lstStyle/>
          <a:p>
            <a:pPr indent="0" marL="0">
              <a:lnSpc>
                <a:spcPct val="95000"/>
              </a:lnSpc>
              <a:buNone/>
            </a:pPr>
            <a:r>
              <a:rPr lang="en-US" sz="950" dirty="0">
                <a:solidFill>
                  <a:srgbClr val="0F172A"/>
                </a:solidFill>
                <a:latin typeface="Calibri" pitchFamily="34" charset="0"/>
                <a:ea typeface="Calibri" pitchFamily="34" charset="-122"/>
                <a:cs typeface="Calibri" pitchFamily="34" charset="-120"/>
              </a:rPr>
              <a:t>Both engines steady. IPO annuity plus BLR up front and surveillance compound.</a:t>
            </a:r>
            <a:endParaRPr lang="en-US" sz="950" dirty="0"/>
          </a:p>
        </p:txBody>
      </p:sp>
      <p:sp>
        <p:nvSpPr>
          <p:cNvPr id="30" name="Shape 27"/>
          <p:cNvSpPr/>
          <p:nvPr/>
        </p:nvSpPr>
        <p:spPr>
          <a:xfrm>
            <a:off x="7498080" y="5797296"/>
            <a:ext cx="960120" cy="457200"/>
          </a:xfrm>
          <a:prstGeom prst="roundRect">
            <a:avLst>
              <a:gd name="adj" fmla="val 14000"/>
            </a:avLst>
          </a:prstGeom>
          <a:solidFill>
            <a:srgbClr val="16A34A"/>
          </a:solidFill>
          <a:ln/>
        </p:spPr>
      </p:sp>
      <p:sp>
        <p:nvSpPr>
          <p:cNvPr id="31" name="Text 28"/>
          <p:cNvSpPr/>
          <p:nvPr/>
        </p:nvSpPr>
        <p:spPr>
          <a:xfrm>
            <a:off x="7498080" y="5797296"/>
            <a:ext cx="96012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HIRE</a:t>
            </a:r>
            <a:endParaRPr lang="en-US" sz="800" dirty="0"/>
          </a:p>
        </p:txBody>
      </p:sp>
      <p:sp>
        <p:nvSpPr>
          <p:cNvPr id="32" name="Text 29"/>
          <p:cNvSpPr/>
          <p:nvPr/>
        </p:nvSpPr>
        <p:spPr>
          <a:xfrm>
            <a:off x="8577072" y="5760720"/>
            <a:ext cx="3200400" cy="713232"/>
          </a:xfrm>
          <a:prstGeom prst="rect">
            <a:avLst/>
          </a:prstGeom>
          <a:noFill/>
          <a:ln/>
        </p:spPr>
        <p:txBody>
          <a:bodyPr wrap="square" lIns="0" tIns="0" rIns="0" bIns="0" rtlCol="0" anchor="ctr"/>
          <a:lstStyle/>
          <a:p>
            <a:pPr indent="0" marL="0">
              <a:lnSpc>
                <a:spcPct val="95000"/>
              </a:lnSpc>
              <a:buNone/>
            </a:pPr>
            <a:r>
              <a:rPr lang="en-US" sz="950" dirty="0">
                <a:solidFill>
                  <a:srgbClr val="0F172A"/>
                </a:solidFill>
                <a:latin typeface="Calibri" pitchFamily="34" charset="0"/>
                <a:ea typeface="Calibri" pitchFamily="34" charset="-122"/>
                <a:cs typeface="Calibri" pitchFamily="34" charset="-120"/>
              </a:rPr>
              <a:t>Add the sixth executor only if residual capacity is negative two months running.</a:t>
            </a:r>
            <a:endParaRPr lang="en-US" sz="950" dirty="0"/>
          </a:p>
        </p:txBody>
      </p:sp>
      <p:sp>
        <p:nvSpPr>
          <p:cNvPr id="33" name="Text 30"/>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ACER Credit Rating Pvt. Ltd.  |  FY27 Annual Operating Plan</a:t>
            </a:r>
            <a:endParaRPr lang="en-US" sz="900" dirty="0"/>
          </a:p>
        </p:txBody>
      </p:sp>
      <p:sp>
        <p:nvSpPr>
          <p:cNvPr id="34" name="Text 31"/>
          <p:cNvSpPr/>
          <p:nvPr/>
        </p:nvSpPr>
        <p:spPr>
          <a:xfrm>
            <a:off x="5943600" y="6473952"/>
            <a:ext cx="5788152"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Actuals from internal management accounts. Forward figures are labelled capacity projections.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8503920" cy="640080"/>
          </a:xfrm>
          <a:prstGeom prst="rect">
            <a:avLst/>
          </a:prstGeom>
          <a:noFill/>
          <a:ln/>
        </p:spPr>
        <p:txBody>
          <a:bodyPr wrap="square" rtlCol="0" anchor="ctr"/>
          <a:lstStyle/>
          <a:p>
            <a:pPr indent="0" marL="0">
              <a:buNone/>
            </a:pPr>
            <a:r>
              <a:rPr lang="en-US" sz="2500" b="1" dirty="0">
                <a:solidFill>
                  <a:srgbClr val="0F172A"/>
                </a:solidFill>
                <a:latin typeface="Calibri" pitchFamily="34" charset="0"/>
                <a:ea typeface="Calibri" pitchFamily="34" charset="-122"/>
                <a:cs typeface="Calibri" pitchFamily="34" charset="-120"/>
              </a:rPr>
              <a:t>Scenario 2  ·  BLR licence live by 1 Jan 2027</a:t>
            </a:r>
            <a:endParaRPr lang="en-US" sz="2500" dirty="0"/>
          </a:p>
        </p:txBody>
      </p:sp>
      <p:sp>
        <p:nvSpPr>
          <p:cNvPr id="3" name="Shape 1"/>
          <p:cNvSpPr/>
          <p:nvPr/>
        </p:nvSpPr>
        <p:spPr>
          <a:xfrm>
            <a:off x="9189720" y="457200"/>
            <a:ext cx="2542032" cy="457200"/>
          </a:xfrm>
          <a:prstGeom prst="roundRect">
            <a:avLst>
              <a:gd name="adj" fmla="val 50000"/>
            </a:avLst>
          </a:prstGeom>
          <a:solidFill>
            <a:srgbClr val="F59E0B"/>
          </a:solidFill>
          <a:ln/>
        </p:spPr>
      </p:sp>
      <p:sp>
        <p:nvSpPr>
          <p:cNvPr id="4" name="Text 2"/>
          <p:cNvSpPr/>
          <p:nvPr/>
        </p:nvSpPr>
        <p:spPr>
          <a:xfrm>
            <a:off x="9189720" y="457200"/>
            <a:ext cx="254203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Same play, later</a:t>
            </a:r>
            <a:endParaRPr lang="en-US" sz="1300" dirty="0"/>
          </a:p>
        </p:txBody>
      </p:sp>
      <p:sp>
        <p:nvSpPr>
          <p:cNvPr id="5" name="Text 3"/>
          <p:cNvSpPr/>
          <p:nvPr/>
        </p:nvSpPr>
        <p:spPr>
          <a:xfrm>
            <a:off x="457200" y="1097280"/>
            <a:ext cx="6858000" cy="274320"/>
          </a:xfrm>
          <a:prstGeom prst="rect">
            <a:avLst/>
          </a:prstGeom>
          <a:noFill/>
          <a:ln/>
        </p:spPr>
        <p:txBody>
          <a:bodyPr wrap="square"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Monthly income build vs expense, to April 2027</a:t>
            </a:r>
            <a:endParaRPr lang="en-US" sz="1200" dirty="0"/>
          </a:p>
        </p:txBody>
      </p:sp>
      <p:graphicFrame>
        <p:nvGraphicFramePr>
          <p:cNvPr id="6" name="Chart 0" descr=""/>
          <p:cNvGraphicFramePr/>
          <p:nvPr/>
        </p:nvGraphicFramePr>
        <p:xfrm>
          <a:off x="365760" y="1371600"/>
          <a:ext cx="7040880" cy="46634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6053328"/>
            <a:ext cx="6858000" cy="365760"/>
          </a:xfrm>
          <a:prstGeom prst="rect">
            <a:avLst/>
          </a:prstGeom>
          <a:noFill/>
          <a:ln/>
        </p:spPr>
        <p:txBody>
          <a:bodyPr wrap="square" rtlCol="0" anchor="t"/>
          <a:lstStyle/>
          <a:p>
            <a:pPr indent="0" marL="0">
              <a:buNone/>
            </a:pPr>
            <a:r>
              <a:rPr lang="en-US" sz="1100" i="1" dirty="0">
                <a:solidFill>
                  <a:srgbClr val="0D9488"/>
                </a:solidFill>
                <a:latin typeface="Calibri" pitchFamily="34" charset="0"/>
                <a:ea typeface="Calibri" pitchFamily="34" charset="-122"/>
                <a:cs typeface="Calibri" pitchFamily="34" charset="-120"/>
              </a:rPr>
              <a:t>Branding: ₹5 to 10 L buffer at the January launch, then ₹2 L a month with BLR.</a:t>
            </a:r>
            <a:endParaRPr lang="en-US" sz="1100" dirty="0"/>
          </a:p>
        </p:txBody>
      </p:sp>
      <p:sp>
        <p:nvSpPr>
          <p:cNvPr id="8" name="Shape 5"/>
          <p:cNvSpPr/>
          <p:nvPr/>
        </p:nvSpPr>
        <p:spPr>
          <a:xfrm>
            <a:off x="7498080" y="1371600"/>
            <a:ext cx="2084832" cy="786384"/>
          </a:xfrm>
          <a:prstGeom prst="roundRect">
            <a:avLst>
              <a:gd name="adj" fmla="val 10465"/>
            </a:avLst>
          </a:prstGeom>
          <a:solidFill>
            <a:srgbClr val="F1F5F9"/>
          </a:solidFill>
          <a:ln/>
        </p:spPr>
      </p:sp>
      <p:sp>
        <p:nvSpPr>
          <p:cNvPr id="9" name="Text 6"/>
          <p:cNvSpPr/>
          <p:nvPr/>
        </p:nvSpPr>
        <p:spPr>
          <a:xfrm>
            <a:off x="7516368" y="1481328"/>
            <a:ext cx="2048256" cy="408920"/>
          </a:xfrm>
          <a:prstGeom prst="rect">
            <a:avLst/>
          </a:prstGeom>
          <a:noFill/>
          <a:ln/>
        </p:spPr>
        <p:txBody>
          <a:bodyPr wrap="square" lIns="0" tIns="0" rIns="0" bIns="0" rtlCol="0" anchor="ctr"/>
          <a:lstStyle/>
          <a:p>
            <a:pPr algn="ctr" indent="0" marL="0">
              <a:buNone/>
            </a:pPr>
            <a:r>
              <a:rPr lang="en-US" sz="2100" b="1" dirty="0">
                <a:solidFill>
                  <a:srgbClr val="16A34A"/>
                </a:solidFill>
                <a:latin typeface="Calibri" pitchFamily="34" charset="0"/>
                <a:ea typeface="Calibri" pitchFamily="34" charset="-122"/>
                <a:cs typeface="Calibri" pitchFamily="34" charset="-120"/>
              </a:rPr>
              <a:t>Feb 2027</a:t>
            </a:r>
            <a:endParaRPr lang="en-US" sz="2100" dirty="0"/>
          </a:p>
        </p:txBody>
      </p:sp>
      <p:sp>
        <p:nvSpPr>
          <p:cNvPr id="10" name="Text 7"/>
          <p:cNvSpPr/>
          <p:nvPr/>
        </p:nvSpPr>
        <p:spPr>
          <a:xfrm>
            <a:off x="7552944" y="1843430"/>
            <a:ext cx="1975104" cy="267371"/>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Break even</a:t>
            </a:r>
            <a:endParaRPr lang="en-US" sz="1050" dirty="0"/>
          </a:p>
        </p:txBody>
      </p:sp>
      <p:sp>
        <p:nvSpPr>
          <p:cNvPr id="11" name="Shape 8"/>
          <p:cNvSpPr/>
          <p:nvPr/>
        </p:nvSpPr>
        <p:spPr>
          <a:xfrm>
            <a:off x="9747504" y="1371600"/>
            <a:ext cx="2084832" cy="786384"/>
          </a:xfrm>
          <a:prstGeom prst="roundRect">
            <a:avLst>
              <a:gd name="adj" fmla="val 10465"/>
            </a:avLst>
          </a:prstGeom>
          <a:solidFill>
            <a:srgbClr val="F1F5F9"/>
          </a:solidFill>
          <a:ln/>
        </p:spPr>
      </p:sp>
      <p:sp>
        <p:nvSpPr>
          <p:cNvPr id="12" name="Text 9"/>
          <p:cNvSpPr/>
          <p:nvPr/>
        </p:nvSpPr>
        <p:spPr>
          <a:xfrm>
            <a:off x="9765792" y="1481328"/>
            <a:ext cx="2048256" cy="408920"/>
          </a:xfrm>
          <a:prstGeom prst="rect">
            <a:avLst/>
          </a:prstGeom>
          <a:noFill/>
          <a:ln/>
        </p:spPr>
        <p:txBody>
          <a:bodyPr wrap="square" lIns="0" tIns="0" rIns="0" bIns="0" rtlCol="0" anchor="ctr"/>
          <a:lstStyle/>
          <a:p>
            <a:pPr algn="ctr" indent="0" marL="0">
              <a:buNone/>
            </a:pPr>
            <a:r>
              <a:rPr lang="en-US" sz="2100" b="1" dirty="0">
                <a:solidFill>
                  <a:srgbClr val="E11D48"/>
                </a:solidFill>
                <a:latin typeface="Calibri" pitchFamily="34" charset="0"/>
                <a:ea typeface="Calibri" pitchFamily="34" charset="-122"/>
                <a:cs typeface="Calibri" pitchFamily="34" charset="-120"/>
              </a:rPr>
              <a:t>−₹1.11 Cr</a:t>
            </a:r>
            <a:endParaRPr lang="en-US" sz="2100" dirty="0"/>
          </a:p>
        </p:txBody>
      </p:sp>
      <p:sp>
        <p:nvSpPr>
          <p:cNvPr id="13" name="Text 10"/>
          <p:cNvSpPr/>
          <p:nvPr/>
        </p:nvSpPr>
        <p:spPr>
          <a:xfrm>
            <a:off x="9802368" y="1843430"/>
            <a:ext cx="1975104" cy="267371"/>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Aug26 to Apr27</a:t>
            </a:r>
            <a:endParaRPr lang="en-US" sz="1050" dirty="0"/>
          </a:p>
        </p:txBody>
      </p:sp>
      <p:sp>
        <p:nvSpPr>
          <p:cNvPr id="14" name="Shape 11"/>
          <p:cNvSpPr/>
          <p:nvPr/>
        </p:nvSpPr>
        <p:spPr>
          <a:xfrm>
            <a:off x="7498080" y="2304288"/>
            <a:ext cx="2084832" cy="786384"/>
          </a:xfrm>
          <a:prstGeom prst="roundRect">
            <a:avLst>
              <a:gd name="adj" fmla="val 10465"/>
            </a:avLst>
          </a:prstGeom>
          <a:solidFill>
            <a:srgbClr val="F1F5F9"/>
          </a:solidFill>
          <a:ln/>
        </p:spPr>
      </p:sp>
      <p:sp>
        <p:nvSpPr>
          <p:cNvPr id="15" name="Text 12"/>
          <p:cNvSpPr/>
          <p:nvPr/>
        </p:nvSpPr>
        <p:spPr>
          <a:xfrm>
            <a:off x="7516368" y="2414016"/>
            <a:ext cx="2048256" cy="408920"/>
          </a:xfrm>
          <a:prstGeom prst="rect">
            <a:avLst/>
          </a:prstGeom>
          <a:noFill/>
          <a:ln/>
        </p:spPr>
        <p:txBody>
          <a:bodyPr wrap="square" lIns="0" tIns="0" rIns="0" bIns="0" rtlCol="0" anchor="ctr"/>
          <a:lstStyle/>
          <a:p>
            <a:pPr algn="ctr" indent="0" marL="0">
              <a:buNone/>
            </a:pPr>
            <a:r>
              <a:rPr lang="en-US" sz="2100" b="1" dirty="0">
                <a:solidFill>
                  <a:srgbClr val="16A34A"/>
                </a:solidFill>
                <a:latin typeface="Calibri" pitchFamily="34" charset="0"/>
                <a:ea typeface="Calibri" pitchFamily="34" charset="-122"/>
                <a:cs typeface="Calibri" pitchFamily="34" charset="-120"/>
              </a:rPr>
              <a:t>+₹2.41 Cr</a:t>
            </a:r>
            <a:endParaRPr lang="en-US" sz="2100" dirty="0"/>
          </a:p>
        </p:txBody>
      </p:sp>
      <p:sp>
        <p:nvSpPr>
          <p:cNvPr id="16" name="Text 13"/>
          <p:cNvSpPr/>
          <p:nvPr/>
        </p:nvSpPr>
        <p:spPr>
          <a:xfrm>
            <a:off x="7552944" y="2776118"/>
            <a:ext cx="1975104" cy="267371"/>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Apr27 run-rate</a:t>
            </a:r>
            <a:endParaRPr lang="en-US" sz="1050" dirty="0"/>
          </a:p>
        </p:txBody>
      </p:sp>
      <p:sp>
        <p:nvSpPr>
          <p:cNvPr id="17" name="Shape 14"/>
          <p:cNvSpPr/>
          <p:nvPr/>
        </p:nvSpPr>
        <p:spPr>
          <a:xfrm>
            <a:off x="9747504" y="2304288"/>
            <a:ext cx="2084832" cy="786384"/>
          </a:xfrm>
          <a:prstGeom prst="roundRect">
            <a:avLst>
              <a:gd name="adj" fmla="val 10465"/>
            </a:avLst>
          </a:prstGeom>
          <a:solidFill>
            <a:srgbClr val="F1F5F9"/>
          </a:solidFill>
          <a:ln/>
        </p:spPr>
      </p:sp>
      <p:sp>
        <p:nvSpPr>
          <p:cNvPr id="18" name="Text 15"/>
          <p:cNvSpPr/>
          <p:nvPr/>
        </p:nvSpPr>
        <p:spPr>
          <a:xfrm>
            <a:off x="9765792" y="2414016"/>
            <a:ext cx="2048256" cy="408920"/>
          </a:xfrm>
          <a:prstGeom prst="rect">
            <a:avLst/>
          </a:prstGeom>
          <a:noFill/>
          <a:ln/>
        </p:spPr>
        <p:txBody>
          <a:bodyPr wrap="square" lIns="0" tIns="0" rIns="0" bIns="0" rtlCol="0" anchor="ctr"/>
          <a:lstStyle/>
          <a:p>
            <a:pPr algn="ctr" indent="0" marL="0">
              <a:buNone/>
            </a:pPr>
            <a:r>
              <a:rPr lang="en-US" sz="2100" b="1" dirty="0">
                <a:solidFill>
                  <a:srgbClr val="E11D48"/>
                </a:solidFill>
                <a:latin typeface="Calibri" pitchFamily="34" charset="0"/>
                <a:ea typeface="Calibri" pitchFamily="34" charset="-122"/>
                <a:cs typeface="Calibri" pitchFamily="34" charset="-120"/>
              </a:rPr>
              <a:t>−₹1.60 Cr</a:t>
            </a:r>
            <a:endParaRPr lang="en-US" sz="2100" dirty="0"/>
          </a:p>
        </p:txBody>
      </p:sp>
      <p:sp>
        <p:nvSpPr>
          <p:cNvPr id="19" name="Text 16"/>
          <p:cNvSpPr/>
          <p:nvPr/>
        </p:nvSpPr>
        <p:spPr>
          <a:xfrm>
            <a:off x="9802368" y="2776118"/>
            <a:ext cx="1975104" cy="267371"/>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Peak cash dip</a:t>
            </a:r>
            <a:endParaRPr lang="en-US" sz="1050" dirty="0"/>
          </a:p>
        </p:txBody>
      </p:sp>
      <p:sp>
        <p:nvSpPr>
          <p:cNvPr id="20" name="Text 17"/>
          <p:cNvSpPr/>
          <p:nvPr/>
        </p:nvSpPr>
        <p:spPr>
          <a:xfrm>
            <a:off x="7498080" y="3246120"/>
            <a:ext cx="4297680" cy="292608"/>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The month by month play</a:t>
            </a:r>
            <a:endParaRPr lang="en-US" sz="1400" dirty="0"/>
          </a:p>
        </p:txBody>
      </p:sp>
      <p:sp>
        <p:nvSpPr>
          <p:cNvPr id="21" name="Shape 18"/>
          <p:cNvSpPr/>
          <p:nvPr/>
        </p:nvSpPr>
        <p:spPr>
          <a:xfrm>
            <a:off x="7498080" y="3630168"/>
            <a:ext cx="960120" cy="457200"/>
          </a:xfrm>
          <a:prstGeom prst="roundRect">
            <a:avLst>
              <a:gd name="adj" fmla="val 14000"/>
            </a:avLst>
          </a:prstGeom>
          <a:solidFill>
            <a:srgbClr val="F59E0B"/>
          </a:solidFill>
          <a:ln/>
        </p:spPr>
      </p:sp>
      <p:sp>
        <p:nvSpPr>
          <p:cNvPr id="22" name="Text 19"/>
          <p:cNvSpPr/>
          <p:nvPr/>
        </p:nvSpPr>
        <p:spPr>
          <a:xfrm>
            <a:off x="7498080" y="3630168"/>
            <a:ext cx="96012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AUG-DEC</a:t>
            </a:r>
            <a:endParaRPr lang="en-US" sz="800" dirty="0"/>
          </a:p>
        </p:txBody>
      </p:sp>
      <p:sp>
        <p:nvSpPr>
          <p:cNvPr id="23" name="Text 20"/>
          <p:cNvSpPr/>
          <p:nvPr/>
        </p:nvSpPr>
        <p:spPr>
          <a:xfrm>
            <a:off x="8577072" y="3593592"/>
            <a:ext cx="3200400" cy="713232"/>
          </a:xfrm>
          <a:prstGeom prst="rect">
            <a:avLst/>
          </a:prstGeom>
          <a:noFill/>
          <a:ln/>
        </p:spPr>
        <p:txBody>
          <a:bodyPr wrap="square" lIns="0" tIns="0" rIns="0" bIns="0" rtlCol="0" anchor="ctr"/>
          <a:lstStyle/>
          <a:p>
            <a:pPr indent="0" marL="0">
              <a:lnSpc>
                <a:spcPct val="95000"/>
              </a:lnSpc>
              <a:buNone/>
            </a:pPr>
            <a:r>
              <a:rPr lang="en-US" sz="950" dirty="0">
                <a:solidFill>
                  <a:srgbClr val="0F172A"/>
                </a:solidFill>
                <a:latin typeface="Calibri" pitchFamily="34" charset="0"/>
                <a:ea typeface="Calibri" pitchFamily="34" charset="-122"/>
                <a:cs typeface="Calibri" pitchFamily="34" charset="-120"/>
              </a:rPr>
              <a:t>No licence yet. Grow IPO to 20 and work that book, push rating sales, keep the burn tight.</a:t>
            </a:r>
            <a:endParaRPr lang="en-US" sz="950" dirty="0"/>
          </a:p>
        </p:txBody>
      </p:sp>
      <p:sp>
        <p:nvSpPr>
          <p:cNvPr id="24" name="Shape 21"/>
          <p:cNvSpPr/>
          <p:nvPr/>
        </p:nvSpPr>
        <p:spPr>
          <a:xfrm>
            <a:off x="7498080" y="4352544"/>
            <a:ext cx="960120" cy="457200"/>
          </a:xfrm>
          <a:prstGeom prst="roundRect">
            <a:avLst>
              <a:gd name="adj" fmla="val 14000"/>
            </a:avLst>
          </a:prstGeom>
          <a:solidFill>
            <a:srgbClr val="F59E0B"/>
          </a:solidFill>
          <a:ln/>
        </p:spPr>
      </p:sp>
      <p:sp>
        <p:nvSpPr>
          <p:cNvPr id="25" name="Text 22"/>
          <p:cNvSpPr/>
          <p:nvPr/>
        </p:nvSpPr>
        <p:spPr>
          <a:xfrm>
            <a:off x="7498080" y="4352544"/>
            <a:ext cx="96012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JAN</a:t>
            </a:r>
            <a:endParaRPr lang="en-US" sz="800" dirty="0"/>
          </a:p>
        </p:txBody>
      </p:sp>
      <p:sp>
        <p:nvSpPr>
          <p:cNvPr id="26" name="Text 23"/>
          <p:cNvSpPr/>
          <p:nvPr/>
        </p:nvSpPr>
        <p:spPr>
          <a:xfrm>
            <a:off x="8577072" y="4315968"/>
            <a:ext cx="3200400" cy="713232"/>
          </a:xfrm>
          <a:prstGeom prst="rect">
            <a:avLst/>
          </a:prstGeom>
          <a:noFill/>
          <a:ln/>
        </p:spPr>
        <p:txBody>
          <a:bodyPr wrap="square" lIns="0" tIns="0" rIns="0" bIns="0" rtlCol="0" anchor="ctr"/>
          <a:lstStyle/>
          <a:p>
            <a:pPr indent="0" marL="0">
              <a:lnSpc>
                <a:spcPct val="95000"/>
              </a:lnSpc>
              <a:buNone/>
            </a:pPr>
            <a:r>
              <a:rPr lang="en-US" sz="950" dirty="0">
                <a:solidFill>
                  <a:srgbClr val="0F172A"/>
                </a:solidFill>
                <a:latin typeface="Calibri" pitchFamily="34" charset="0"/>
                <a:ea typeface="Calibri" pitchFamily="34" charset="-122"/>
                <a:cs typeface="Calibri" pitchFamily="34" charset="-120"/>
              </a:rPr>
              <a:t>Licence live, but the IPO book comes first. Zero BLR this month, branding push, delivery protected.</a:t>
            </a:r>
            <a:endParaRPr lang="en-US" sz="950" dirty="0"/>
          </a:p>
        </p:txBody>
      </p:sp>
      <p:sp>
        <p:nvSpPr>
          <p:cNvPr id="27" name="Shape 24"/>
          <p:cNvSpPr/>
          <p:nvPr/>
        </p:nvSpPr>
        <p:spPr>
          <a:xfrm>
            <a:off x="7498080" y="5074920"/>
            <a:ext cx="960120" cy="457200"/>
          </a:xfrm>
          <a:prstGeom prst="roundRect">
            <a:avLst>
              <a:gd name="adj" fmla="val 14000"/>
            </a:avLst>
          </a:prstGeom>
          <a:solidFill>
            <a:srgbClr val="F59E0B"/>
          </a:solidFill>
          <a:ln/>
        </p:spPr>
      </p:sp>
      <p:sp>
        <p:nvSpPr>
          <p:cNvPr id="28" name="Text 25"/>
          <p:cNvSpPr/>
          <p:nvPr/>
        </p:nvSpPr>
        <p:spPr>
          <a:xfrm>
            <a:off x="7498080" y="5074920"/>
            <a:ext cx="96012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FEB+</a:t>
            </a:r>
            <a:endParaRPr lang="en-US" sz="800" dirty="0"/>
          </a:p>
        </p:txBody>
      </p:sp>
      <p:sp>
        <p:nvSpPr>
          <p:cNvPr id="29" name="Text 26"/>
          <p:cNvSpPr/>
          <p:nvPr/>
        </p:nvSpPr>
        <p:spPr>
          <a:xfrm>
            <a:off x="8577072" y="5038344"/>
            <a:ext cx="3200400" cy="713232"/>
          </a:xfrm>
          <a:prstGeom prst="rect">
            <a:avLst/>
          </a:prstGeom>
          <a:noFill/>
          <a:ln/>
        </p:spPr>
        <p:txBody>
          <a:bodyPr wrap="square" lIns="0" tIns="0" rIns="0" bIns="0" rtlCol="0" anchor="ctr"/>
          <a:lstStyle/>
          <a:p>
            <a:pPr indent="0" marL="0">
              <a:lnSpc>
                <a:spcPct val="95000"/>
              </a:lnSpc>
              <a:buNone/>
            </a:pPr>
            <a:r>
              <a:rPr lang="en-US" sz="950" dirty="0">
                <a:solidFill>
                  <a:srgbClr val="0F172A"/>
                </a:solidFill>
                <a:latin typeface="Calibri" pitchFamily="34" charset="0"/>
                <a:ea typeface="Calibri" pitchFamily="34" charset="-122"/>
                <a:cs typeface="Calibri" pitchFamily="34" charset="-120"/>
              </a:rPr>
              <a:t>IPO steady, capacity frees up, BLR ramps to 16 a month. Exit run-rate into next year is strong.</a:t>
            </a:r>
            <a:endParaRPr lang="en-US" sz="950" dirty="0"/>
          </a:p>
        </p:txBody>
      </p:sp>
      <p:sp>
        <p:nvSpPr>
          <p:cNvPr id="30" name="Shape 27"/>
          <p:cNvSpPr/>
          <p:nvPr/>
        </p:nvSpPr>
        <p:spPr>
          <a:xfrm>
            <a:off x="7498080" y="5797296"/>
            <a:ext cx="960120" cy="457200"/>
          </a:xfrm>
          <a:prstGeom prst="roundRect">
            <a:avLst>
              <a:gd name="adj" fmla="val 14000"/>
            </a:avLst>
          </a:prstGeom>
          <a:solidFill>
            <a:srgbClr val="F59E0B"/>
          </a:solidFill>
          <a:ln/>
        </p:spPr>
      </p:sp>
      <p:sp>
        <p:nvSpPr>
          <p:cNvPr id="31" name="Text 28"/>
          <p:cNvSpPr/>
          <p:nvPr/>
        </p:nvSpPr>
        <p:spPr>
          <a:xfrm>
            <a:off x="7498080" y="5797296"/>
            <a:ext cx="96012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HIRE</a:t>
            </a:r>
            <a:endParaRPr lang="en-US" sz="800" dirty="0"/>
          </a:p>
        </p:txBody>
      </p:sp>
      <p:sp>
        <p:nvSpPr>
          <p:cNvPr id="32" name="Text 29"/>
          <p:cNvSpPr/>
          <p:nvPr/>
        </p:nvSpPr>
        <p:spPr>
          <a:xfrm>
            <a:off x="8577072" y="5760720"/>
            <a:ext cx="3200400" cy="713232"/>
          </a:xfrm>
          <a:prstGeom prst="rect">
            <a:avLst/>
          </a:prstGeom>
          <a:noFill/>
          <a:ln/>
        </p:spPr>
        <p:txBody>
          <a:bodyPr wrap="square" lIns="0" tIns="0" rIns="0" bIns="0" rtlCol="0" anchor="ctr"/>
          <a:lstStyle/>
          <a:p>
            <a:pPr indent="0" marL="0">
              <a:lnSpc>
                <a:spcPct val="95000"/>
              </a:lnSpc>
              <a:buNone/>
            </a:pPr>
            <a:r>
              <a:rPr lang="en-US" sz="950" dirty="0">
                <a:solidFill>
                  <a:srgbClr val="0F172A"/>
                </a:solidFill>
                <a:latin typeface="Calibri" pitchFamily="34" charset="0"/>
                <a:ea typeface="Calibri" pitchFamily="34" charset="-122"/>
                <a:cs typeface="Calibri" pitchFamily="34" charset="-120"/>
              </a:rPr>
              <a:t>Same rule, add the sixth executor only when capacity turns negative twice.</a:t>
            </a:r>
            <a:endParaRPr lang="en-US" sz="950" dirty="0"/>
          </a:p>
        </p:txBody>
      </p:sp>
      <p:sp>
        <p:nvSpPr>
          <p:cNvPr id="33" name="Text 30"/>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ACER Credit Rating Pvt. Ltd.  |  FY27 Annual Operating Plan</a:t>
            </a:r>
            <a:endParaRPr lang="en-US" sz="900" dirty="0"/>
          </a:p>
        </p:txBody>
      </p:sp>
      <p:sp>
        <p:nvSpPr>
          <p:cNvPr id="34" name="Text 31"/>
          <p:cNvSpPr/>
          <p:nvPr/>
        </p:nvSpPr>
        <p:spPr>
          <a:xfrm>
            <a:off x="5943600" y="6473952"/>
            <a:ext cx="5788152"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Actuals from internal management accounts. Forward figures are labelled capacity projections.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8503920" cy="640080"/>
          </a:xfrm>
          <a:prstGeom prst="rect">
            <a:avLst/>
          </a:prstGeom>
          <a:noFill/>
          <a:ln/>
        </p:spPr>
        <p:txBody>
          <a:bodyPr wrap="square" rtlCol="0" anchor="ctr"/>
          <a:lstStyle/>
          <a:p>
            <a:pPr indent="0" marL="0">
              <a:buNone/>
            </a:pPr>
            <a:r>
              <a:rPr lang="en-US" sz="2500" b="1" dirty="0">
                <a:solidFill>
                  <a:srgbClr val="0F172A"/>
                </a:solidFill>
                <a:latin typeface="Calibri" pitchFamily="34" charset="0"/>
                <a:ea typeface="Calibri" pitchFamily="34" charset="-122"/>
                <a:cs typeface="Calibri" pitchFamily="34" charset="-120"/>
              </a:rPr>
              <a:t>Scenario 3  ·  No BLR licence in FY27</a:t>
            </a:r>
            <a:endParaRPr lang="en-US" sz="2500" dirty="0"/>
          </a:p>
        </p:txBody>
      </p:sp>
      <p:sp>
        <p:nvSpPr>
          <p:cNvPr id="3" name="Shape 1"/>
          <p:cNvSpPr/>
          <p:nvPr/>
        </p:nvSpPr>
        <p:spPr>
          <a:xfrm>
            <a:off x="9189720" y="457200"/>
            <a:ext cx="2542032" cy="457200"/>
          </a:xfrm>
          <a:prstGeom prst="roundRect">
            <a:avLst>
              <a:gd name="adj" fmla="val 50000"/>
            </a:avLst>
          </a:prstGeom>
          <a:solidFill>
            <a:srgbClr val="E11D48"/>
          </a:solidFill>
          <a:ln/>
        </p:spPr>
      </p:sp>
      <p:sp>
        <p:nvSpPr>
          <p:cNvPr id="4" name="Text 2"/>
          <p:cNvSpPr/>
          <p:nvPr/>
        </p:nvSpPr>
        <p:spPr>
          <a:xfrm>
            <a:off x="9189720" y="457200"/>
            <a:ext cx="2542032"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IPO and operations</a:t>
            </a:r>
            <a:endParaRPr lang="en-US" sz="1300" dirty="0"/>
          </a:p>
        </p:txBody>
      </p:sp>
      <p:sp>
        <p:nvSpPr>
          <p:cNvPr id="5" name="Text 3"/>
          <p:cNvSpPr/>
          <p:nvPr/>
        </p:nvSpPr>
        <p:spPr>
          <a:xfrm>
            <a:off x="457200" y="1097280"/>
            <a:ext cx="6858000" cy="274320"/>
          </a:xfrm>
          <a:prstGeom prst="rect">
            <a:avLst/>
          </a:prstGeom>
          <a:noFill/>
          <a:ln/>
        </p:spPr>
        <p:txBody>
          <a:bodyPr wrap="square"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Monthly income build vs expense, to April 2027</a:t>
            </a:r>
            <a:endParaRPr lang="en-US" sz="1200" dirty="0"/>
          </a:p>
        </p:txBody>
      </p:sp>
      <p:graphicFrame>
        <p:nvGraphicFramePr>
          <p:cNvPr id="6" name="Chart 0" descr=""/>
          <p:cNvGraphicFramePr/>
          <p:nvPr/>
        </p:nvGraphicFramePr>
        <p:xfrm>
          <a:off x="365760" y="1371600"/>
          <a:ext cx="7040880" cy="46634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6053328"/>
            <a:ext cx="6858000" cy="365760"/>
          </a:xfrm>
          <a:prstGeom prst="rect">
            <a:avLst/>
          </a:prstGeom>
          <a:noFill/>
          <a:ln/>
        </p:spPr>
        <p:txBody>
          <a:bodyPr wrap="square" rtlCol="0" anchor="t"/>
          <a:lstStyle/>
          <a:p>
            <a:pPr indent="0" marL="0">
              <a:buNone/>
            </a:pPr>
            <a:r>
              <a:rPr lang="en-US" sz="1100" i="1" dirty="0">
                <a:solidFill>
                  <a:srgbClr val="0D9488"/>
                </a:solidFill>
                <a:latin typeface="Calibri" pitchFamily="34" charset="0"/>
                <a:ea typeface="Calibri" pitchFamily="34" charset="-122"/>
                <a:cs typeface="Calibri" pitchFamily="34" charset="-120"/>
              </a:rPr>
              <a:t>Branding: focus on IPO brand building, no BLR launch spend this year.</a:t>
            </a:r>
            <a:endParaRPr lang="en-US" sz="1100" dirty="0"/>
          </a:p>
        </p:txBody>
      </p:sp>
      <p:sp>
        <p:nvSpPr>
          <p:cNvPr id="8" name="Shape 5"/>
          <p:cNvSpPr/>
          <p:nvPr/>
        </p:nvSpPr>
        <p:spPr>
          <a:xfrm>
            <a:off x="7498080" y="1371600"/>
            <a:ext cx="2084832" cy="786384"/>
          </a:xfrm>
          <a:prstGeom prst="roundRect">
            <a:avLst>
              <a:gd name="adj" fmla="val 10465"/>
            </a:avLst>
          </a:prstGeom>
          <a:solidFill>
            <a:srgbClr val="F1F5F9"/>
          </a:solidFill>
          <a:ln/>
        </p:spPr>
      </p:sp>
      <p:sp>
        <p:nvSpPr>
          <p:cNvPr id="9" name="Text 6"/>
          <p:cNvSpPr/>
          <p:nvPr/>
        </p:nvSpPr>
        <p:spPr>
          <a:xfrm>
            <a:off x="7516368" y="1481328"/>
            <a:ext cx="2048256" cy="408920"/>
          </a:xfrm>
          <a:prstGeom prst="rect">
            <a:avLst/>
          </a:prstGeom>
          <a:noFill/>
          <a:ln/>
        </p:spPr>
        <p:txBody>
          <a:bodyPr wrap="square" lIns="0" tIns="0" rIns="0" bIns="0" rtlCol="0" anchor="ctr"/>
          <a:lstStyle/>
          <a:p>
            <a:pPr algn="ctr" indent="0" marL="0">
              <a:buNone/>
            </a:pPr>
            <a:r>
              <a:rPr lang="en-US" sz="2100" b="1" dirty="0">
                <a:solidFill>
                  <a:srgbClr val="E11D48"/>
                </a:solidFill>
                <a:latin typeface="Calibri" pitchFamily="34" charset="0"/>
                <a:ea typeface="Calibri" pitchFamily="34" charset="-122"/>
                <a:cs typeface="Calibri" pitchFamily="34" charset="-120"/>
              </a:rPr>
              <a:t>None</a:t>
            </a:r>
            <a:endParaRPr lang="en-US" sz="2100" dirty="0"/>
          </a:p>
        </p:txBody>
      </p:sp>
      <p:sp>
        <p:nvSpPr>
          <p:cNvPr id="10" name="Text 7"/>
          <p:cNvSpPr/>
          <p:nvPr/>
        </p:nvSpPr>
        <p:spPr>
          <a:xfrm>
            <a:off x="7552944" y="1843430"/>
            <a:ext cx="1975104" cy="267371"/>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Break even</a:t>
            </a:r>
            <a:endParaRPr lang="en-US" sz="1050" dirty="0"/>
          </a:p>
        </p:txBody>
      </p:sp>
      <p:sp>
        <p:nvSpPr>
          <p:cNvPr id="11" name="Shape 8"/>
          <p:cNvSpPr/>
          <p:nvPr/>
        </p:nvSpPr>
        <p:spPr>
          <a:xfrm>
            <a:off x="9747504" y="1371600"/>
            <a:ext cx="2084832" cy="786384"/>
          </a:xfrm>
          <a:prstGeom prst="roundRect">
            <a:avLst>
              <a:gd name="adj" fmla="val 10465"/>
            </a:avLst>
          </a:prstGeom>
          <a:solidFill>
            <a:srgbClr val="F1F5F9"/>
          </a:solidFill>
          <a:ln/>
        </p:spPr>
      </p:sp>
      <p:sp>
        <p:nvSpPr>
          <p:cNvPr id="12" name="Text 9"/>
          <p:cNvSpPr/>
          <p:nvPr/>
        </p:nvSpPr>
        <p:spPr>
          <a:xfrm>
            <a:off x="9765792" y="1481328"/>
            <a:ext cx="2048256" cy="408920"/>
          </a:xfrm>
          <a:prstGeom prst="rect">
            <a:avLst/>
          </a:prstGeom>
          <a:noFill/>
          <a:ln/>
        </p:spPr>
        <p:txBody>
          <a:bodyPr wrap="square" lIns="0" tIns="0" rIns="0" bIns="0" rtlCol="0" anchor="ctr"/>
          <a:lstStyle/>
          <a:p>
            <a:pPr algn="ctr" indent="0" marL="0">
              <a:buNone/>
            </a:pPr>
            <a:r>
              <a:rPr lang="en-US" sz="2100" b="1" dirty="0">
                <a:solidFill>
                  <a:srgbClr val="E11D48"/>
                </a:solidFill>
                <a:latin typeface="Calibri" pitchFamily="34" charset="0"/>
                <a:ea typeface="Calibri" pitchFamily="34" charset="-122"/>
                <a:cs typeface="Calibri" pitchFamily="34" charset="-120"/>
              </a:rPr>
              <a:t>−₹2.15 Cr</a:t>
            </a:r>
            <a:endParaRPr lang="en-US" sz="2100" dirty="0"/>
          </a:p>
        </p:txBody>
      </p:sp>
      <p:sp>
        <p:nvSpPr>
          <p:cNvPr id="13" name="Text 10"/>
          <p:cNvSpPr/>
          <p:nvPr/>
        </p:nvSpPr>
        <p:spPr>
          <a:xfrm>
            <a:off x="9802368" y="1843430"/>
            <a:ext cx="1975104" cy="267371"/>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Aug26 to Apr27</a:t>
            </a:r>
            <a:endParaRPr lang="en-US" sz="1050" dirty="0"/>
          </a:p>
        </p:txBody>
      </p:sp>
      <p:sp>
        <p:nvSpPr>
          <p:cNvPr id="14" name="Shape 11"/>
          <p:cNvSpPr/>
          <p:nvPr/>
        </p:nvSpPr>
        <p:spPr>
          <a:xfrm>
            <a:off x="7498080" y="2304288"/>
            <a:ext cx="2084832" cy="786384"/>
          </a:xfrm>
          <a:prstGeom prst="roundRect">
            <a:avLst>
              <a:gd name="adj" fmla="val 10465"/>
            </a:avLst>
          </a:prstGeom>
          <a:solidFill>
            <a:srgbClr val="F1F5F9"/>
          </a:solidFill>
          <a:ln/>
        </p:spPr>
      </p:sp>
      <p:sp>
        <p:nvSpPr>
          <p:cNvPr id="15" name="Text 12"/>
          <p:cNvSpPr/>
          <p:nvPr/>
        </p:nvSpPr>
        <p:spPr>
          <a:xfrm>
            <a:off x="7516368" y="2414016"/>
            <a:ext cx="2048256" cy="408920"/>
          </a:xfrm>
          <a:prstGeom prst="rect">
            <a:avLst/>
          </a:prstGeom>
          <a:noFill/>
          <a:ln/>
        </p:spPr>
        <p:txBody>
          <a:bodyPr wrap="square" lIns="0" tIns="0" rIns="0" bIns="0" rtlCol="0" anchor="ctr"/>
          <a:lstStyle/>
          <a:p>
            <a:pPr algn="ctr" indent="0" marL="0">
              <a:buNone/>
            </a:pPr>
            <a:r>
              <a:rPr lang="en-US" sz="2100" b="1" dirty="0">
                <a:solidFill>
                  <a:srgbClr val="E11D48"/>
                </a:solidFill>
                <a:latin typeface="Calibri" pitchFamily="34" charset="0"/>
                <a:ea typeface="Calibri" pitchFamily="34" charset="-122"/>
                <a:cs typeface="Calibri" pitchFamily="34" charset="-120"/>
              </a:rPr>
              <a:t>−₹2.08 Cr</a:t>
            </a:r>
            <a:endParaRPr lang="en-US" sz="2100" dirty="0"/>
          </a:p>
        </p:txBody>
      </p:sp>
      <p:sp>
        <p:nvSpPr>
          <p:cNvPr id="16" name="Text 13"/>
          <p:cNvSpPr/>
          <p:nvPr/>
        </p:nvSpPr>
        <p:spPr>
          <a:xfrm>
            <a:off x="7552944" y="2776118"/>
            <a:ext cx="1975104" cy="267371"/>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Apr27 run-rate</a:t>
            </a:r>
            <a:endParaRPr lang="en-US" sz="1050" dirty="0"/>
          </a:p>
        </p:txBody>
      </p:sp>
      <p:sp>
        <p:nvSpPr>
          <p:cNvPr id="17" name="Shape 14"/>
          <p:cNvSpPr/>
          <p:nvPr/>
        </p:nvSpPr>
        <p:spPr>
          <a:xfrm>
            <a:off x="9747504" y="2304288"/>
            <a:ext cx="2084832" cy="786384"/>
          </a:xfrm>
          <a:prstGeom prst="roundRect">
            <a:avLst>
              <a:gd name="adj" fmla="val 10465"/>
            </a:avLst>
          </a:prstGeom>
          <a:solidFill>
            <a:srgbClr val="F1F5F9"/>
          </a:solidFill>
          <a:ln/>
        </p:spPr>
      </p:sp>
      <p:sp>
        <p:nvSpPr>
          <p:cNvPr id="18" name="Text 15"/>
          <p:cNvSpPr/>
          <p:nvPr/>
        </p:nvSpPr>
        <p:spPr>
          <a:xfrm>
            <a:off x="9765792" y="2414016"/>
            <a:ext cx="2048256" cy="408920"/>
          </a:xfrm>
          <a:prstGeom prst="rect">
            <a:avLst/>
          </a:prstGeom>
          <a:noFill/>
          <a:ln/>
        </p:spPr>
        <p:txBody>
          <a:bodyPr wrap="square" lIns="0" tIns="0" rIns="0" bIns="0" rtlCol="0" anchor="ctr"/>
          <a:lstStyle/>
          <a:p>
            <a:pPr algn="ctr" indent="0" marL="0">
              <a:buNone/>
            </a:pPr>
            <a:r>
              <a:rPr lang="en-US" sz="2100" b="1" dirty="0">
                <a:solidFill>
                  <a:srgbClr val="E11D48"/>
                </a:solidFill>
                <a:latin typeface="Calibri" pitchFamily="34" charset="0"/>
                <a:ea typeface="Calibri" pitchFamily="34" charset="-122"/>
                <a:cs typeface="Calibri" pitchFamily="34" charset="-120"/>
              </a:rPr>
              <a:t>−₹2.15 Cr</a:t>
            </a:r>
            <a:endParaRPr lang="en-US" sz="2100" dirty="0"/>
          </a:p>
        </p:txBody>
      </p:sp>
      <p:sp>
        <p:nvSpPr>
          <p:cNvPr id="19" name="Text 16"/>
          <p:cNvSpPr/>
          <p:nvPr/>
        </p:nvSpPr>
        <p:spPr>
          <a:xfrm>
            <a:off x="9802368" y="2776118"/>
            <a:ext cx="1975104" cy="267371"/>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Peak cash dip</a:t>
            </a:r>
            <a:endParaRPr lang="en-US" sz="1050" dirty="0"/>
          </a:p>
        </p:txBody>
      </p:sp>
      <p:sp>
        <p:nvSpPr>
          <p:cNvPr id="20" name="Text 17"/>
          <p:cNvSpPr/>
          <p:nvPr/>
        </p:nvSpPr>
        <p:spPr>
          <a:xfrm>
            <a:off x="7498080" y="3246120"/>
            <a:ext cx="4297680" cy="292608"/>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The month by month play</a:t>
            </a:r>
            <a:endParaRPr lang="en-US" sz="1400" dirty="0"/>
          </a:p>
        </p:txBody>
      </p:sp>
      <p:sp>
        <p:nvSpPr>
          <p:cNvPr id="21" name="Shape 18"/>
          <p:cNvSpPr/>
          <p:nvPr/>
        </p:nvSpPr>
        <p:spPr>
          <a:xfrm>
            <a:off x="7498080" y="3630168"/>
            <a:ext cx="960120" cy="457200"/>
          </a:xfrm>
          <a:prstGeom prst="roundRect">
            <a:avLst>
              <a:gd name="adj" fmla="val 14000"/>
            </a:avLst>
          </a:prstGeom>
          <a:solidFill>
            <a:srgbClr val="E11D48"/>
          </a:solidFill>
          <a:ln/>
        </p:spPr>
      </p:sp>
      <p:sp>
        <p:nvSpPr>
          <p:cNvPr id="22" name="Text 19"/>
          <p:cNvSpPr/>
          <p:nvPr/>
        </p:nvSpPr>
        <p:spPr>
          <a:xfrm>
            <a:off x="7498080" y="3630168"/>
            <a:ext cx="96012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ALL YEAR</a:t>
            </a:r>
            <a:endParaRPr lang="en-US" sz="800" dirty="0"/>
          </a:p>
        </p:txBody>
      </p:sp>
      <p:sp>
        <p:nvSpPr>
          <p:cNvPr id="23" name="Text 20"/>
          <p:cNvSpPr/>
          <p:nvPr/>
        </p:nvSpPr>
        <p:spPr>
          <a:xfrm>
            <a:off x="8577072" y="3593592"/>
            <a:ext cx="3200400" cy="713232"/>
          </a:xfrm>
          <a:prstGeom prst="rect">
            <a:avLst/>
          </a:prstGeom>
          <a:noFill/>
          <a:ln/>
        </p:spPr>
        <p:txBody>
          <a:bodyPr wrap="square" lIns="0" tIns="0" rIns="0" bIns="0" rtlCol="0" anchor="ctr"/>
          <a:lstStyle/>
          <a:p>
            <a:pPr indent="0" marL="0">
              <a:lnSpc>
                <a:spcPct val="95000"/>
              </a:lnSpc>
              <a:buNone/>
            </a:pPr>
            <a:r>
              <a:rPr lang="en-US" sz="950" dirty="0">
                <a:solidFill>
                  <a:srgbClr val="0F172A"/>
                </a:solidFill>
                <a:latin typeface="Calibri" pitchFamily="34" charset="0"/>
                <a:ea typeface="Calibri" pitchFamily="34" charset="-122"/>
                <a:cs typeface="Calibri" pitchFamily="34" charset="-120"/>
              </a:rPr>
              <a:t>No BLR. Pour the whole team into IPO and rating cases.</a:t>
            </a:r>
            <a:endParaRPr lang="en-US" sz="950" dirty="0"/>
          </a:p>
        </p:txBody>
      </p:sp>
      <p:sp>
        <p:nvSpPr>
          <p:cNvPr id="24" name="Shape 21"/>
          <p:cNvSpPr/>
          <p:nvPr/>
        </p:nvSpPr>
        <p:spPr>
          <a:xfrm>
            <a:off x="7498080" y="4352544"/>
            <a:ext cx="960120" cy="457200"/>
          </a:xfrm>
          <a:prstGeom prst="roundRect">
            <a:avLst>
              <a:gd name="adj" fmla="val 14000"/>
            </a:avLst>
          </a:prstGeom>
          <a:solidFill>
            <a:srgbClr val="E11D48"/>
          </a:solidFill>
          <a:ln/>
        </p:spPr>
      </p:sp>
      <p:sp>
        <p:nvSpPr>
          <p:cNvPr id="25" name="Text 22"/>
          <p:cNvSpPr/>
          <p:nvPr/>
        </p:nvSpPr>
        <p:spPr>
          <a:xfrm>
            <a:off x="7498080" y="4352544"/>
            <a:ext cx="96012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GROW</a:t>
            </a:r>
            <a:endParaRPr lang="en-US" sz="800" dirty="0"/>
          </a:p>
        </p:txBody>
      </p:sp>
      <p:sp>
        <p:nvSpPr>
          <p:cNvPr id="26" name="Text 23"/>
          <p:cNvSpPr/>
          <p:nvPr/>
        </p:nvSpPr>
        <p:spPr>
          <a:xfrm>
            <a:off x="8577072" y="4315968"/>
            <a:ext cx="3200400" cy="713232"/>
          </a:xfrm>
          <a:prstGeom prst="rect">
            <a:avLst/>
          </a:prstGeom>
          <a:noFill/>
          <a:ln/>
        </p:spPr>
        <p:txBody>
          <a:bodyPr wrap="square" lIns="0" tIns="0" rIns="0" bIns="0" rtlCol="0" anchor="ctr"/>
          <a:lstStyle/>
          <a:p>
            <a:pPr indent="0" marL="0">
              <a:lnSpc>
                <a:spcPct val="95000"/>
              </a:lnSpc>
              <a:buNone/>
            </a:pPr>
            <a:r>
              <a:rPr lang="en-US" sz="950" dirty="0">
                <a:solidFill>
                  <a:srgbClr val="0F172A"/>
                </a:solidFill>
                <a:latin typeface="Calibri" pitchFamily="34" charset="0"/>
                <a:ea typeface="Calibri" pitchFamily="34" charset="-122"/>
                <a:cs typeface="Calibri" pitchFamily="34" charset="-120"/>
              </a:rPr>
              <a:t>Keep winning 10 to 12 cases a month so the IPO and ratings book compounds and income keeps rising.</a:t>
            </a:r>
            <a:endParaRPr lang="en-US" sz="950" dirty="0"/>
          </a:p>
        </p:txBody>
      </p:sp>
      <p:sp>
        <p:nvSpPr>
          <p:cNvPr id="27" name="Shape 24"/>
          <p:cNvSpPr/>
          <p:nvPr/>
        </p:nvSpPr>
        <p:spPr>
          <a:xfrm>
            <a:off x="7498080" y="5074920"/>
            <a:ext cx="960120" cy="457200"/>
          </a:xfrm>
          <a:prstGeom prst="roundRect">
            <a:avLst>
              <a:gd name="adj" fmla="val 14000"/>
            </a:avLst>
          </a:prstGeom>
          <a:solidFill>
            <a:srgbClr val="E11D48"/>
          </a:solidFill>
          <a:ln/>
        </p:spPr>
      </p:sp>
      <p:sp>
        <p:nvSpPr>
          <p:cNvPr id="28" name="Text 25"/>
          <p:cNvSpPr/>
          <p:nvPr/>
        </p:nvSpPr>
        <p:spPr>
          <a:xfrm>
            <a:off x="7498080" y="5074920"/>
            <a:ext cx="96012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COST</a:t>
            </a:r>
            <a:endParaRPr lang="en-US" sz="800" dirty="0"/>
          </a:p>
        </p:txBody>
      </p:sp>
      <p:sp>
        <p:nvSpPr>
          <p:cNvPr id="29" name="Text 26"/>
          <p:cNvSpPr/>
          <p:nvPr/>
        </p:nvSpPr>
        <p:spPr>
          <a:xfrm>
            <a:off x="8577072" y="5038344"/>
            <a:ext cx="3200400" cy="713232"/>
          </a:xfrm>
          <a:prstGeom prst="rect">
            <a:avLst/>
          </a:prstGeom>
          <a:noFill/>
          <a:ln/>
        </p:spPr>
        <p:txBody>
          <a:bodyPr wrap="square" lIns="0" tIns="0" rIns="0" bIns="0" rtlCol="0" anchor="ctr"/>
          <a:lstStyle/>
          <a:p>
            <a:pPr indent="0" marL="0">
              <a:lnSpc>
                <a:spcPct val="95000"/>
              </a:lnSpc>
              <a:buNone/>
            </a:pPr>
            <a:r>
              <a:rPr lang="en-US" sz="950" dirty="0">
                <a:solidFill>
                  <a:srgbClr val="0F172A"/>
                </a:solidFill>
                <a:latin typeface="Calibri" pitchFamily="34" charset="0"/>
                <a:ea typeface="Calibri" pitchFamily="34" charset="-122"/>
                <a:cs typeface="Calibri" pitchFamily="34" charset="-120"/>
              </a:rPr>
              <a:t>Hold discretionary spend. Do not add the sixth executor this year.</a:t>
            </a:r>
            <a:endParaRPr lang="en-US" sz="950" dirty="0"/>
          </a:p>
        </p:txBody>
      </p:sp>
      <p:sp>
        <p:nvSpPr>
          <p:cNvPr id="30" name="Shape 27"/>
          <p:cNvSpPr/>
          <p:nvPr/>
        </p:nvSpPr>
        <p:spPr>
          <a:xfrm>
            <a:off x="7498080" y="5797296"/>
            <a:ext cx="960120" cy="457200"/>
          </a:xfrm>
          <a:prstGeom prst="roundRect">
            <a:avLst>
              <a:gd name="adj" fmla="val 14000"/>
            </a:avLst>
          </a:prstGeom>
          <a:solidFill>
            <a:srgbClr val="E11D48"/>
          </a:solidFill>
          <a:ln/>
        </p:spPr>
      </p:sp>
      <p:sp>
        <p:nvSpPr>
          <p:cNvPr id="31" name="Text 28"/>
          <p:cNvSpPr/>
          <p:nvPr/>
        </p:nvSpPr>
        <p:spPr>
          <a:xfrm>
            <a:off x="7498080" y="5797296"/>
            <a:ext cx="96012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READY</a:t>
            </a:r>
            <a:endParaRPr lang="en-US" sz="800" dirty="0"/>
          </a:p>
        </p:txBody>
      </p:sp>
      <p:sp>
        <p:nvSpPr>
          <p:cNvPr id="32" name="Text 29"/>
          <p:cNvSpPr/>
          <p:nvPr/>
        </p:nvSpPr>
        <p:spPr>
          <a:xfrm>
            <a:off x="8577072" y="5760720"/>
            <a:ext cx="3200400" cy="713232"/>
          </a:xfrm>
          <a:prstGeom prst="rect">
            <a:avLst/>
          </a:prstGeom>
          <a:noFill/>
          <a:ln/>
        </p:spPr>
        <p:txBody>
          <a:bodyPr wrap="square" lIns="0" tIns="0" rIns="0" bIns="0" rtlCol="0" anchor="ctr"/>
          <a:lstStyle/>
          <a:p>
            <a:pPr indent="0" marL="0">
              <a:lnSpc>
                <a:spcPct val="95000"/>
              </a:lnSpc>
              <a:buNone/>
            </a:pPr>
            <a:r>
              <a:rPr lang="en-US" sz="950" dirty="0">
                <a:solidFill>
                  <a:srgbClr val="0F172A"/>
                </a:solidFill>
                <a:latin typeface="Calibri" pitchFamily="34" charset="0"/>
                <a:ea typeface="Calibri" pitchFamily="34" charset="-122"/>
                <a:cs typeface="Calibri" pitchFamily="34" charset="-120"/>
              </a:rPr>
              <a:t>Keep the team primed so BLR can launch fast the moment it clears.</a:t>
            </a:r>
            <a:endParaRPr lang="en-US" sz="950" dirty="0"/>
          </a:p>
        </p:txBody>
      </p:sp>
      <p:sp>
        <p:nvSpPr>
          <p:cNvPr id="33" name="Text 30"/>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ACER Credit Rating Pvt. Ltd.  |  FY27 Annual Operating Plan</a:t>
            </a:r>
            <a:endParaRPr lang="en-US" sz="900" dirty="0"/>
          </a:p>
        </p:txBody>
      </p:sp>
      <p:sp>
        <p:nvSpPr>
          <p:cNvPr id="34" name="Text 31"/>
          <p:cNvSpPr/>
          <p:nvPr/>
        </p:nvSpPr>
        <p:spPr>
          <a:xfrm>
            <a:off x="5943600" y="6473952"/>
            <a:ext cx="5788152"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Actuals from internal management accounts. Forward figures are labelled capacity projections.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11247120" cy="274320"/>
          </a:xfrm>
          <a:prstGeom prst="rect">
            <a:avLst/>
          </a:prstGeom>
          <a:noFill/>
          <a:ln/>
        </p:spPr>
        <p:txBody>
          <a:bodyPr wrap="square" rtlCol="0" anchor="ctr"/>
          <a:lstStyle/>
          <a:p>
            <a:pPr indent="0" marL="0">
              <a:buNone/>
            </a:pPr>
            <a:r>
              <a:rPr lang="en-US" sz="1200" b="1" spc="200" kern="0" dirty="0">
                <a:solidFill>
                  <a:srgbClr val="0D9488"/>
                </a:solidFill>
                <a:latin typeface="Calibri" pitchFamily="34" charset="0"/>
                <a:ea typeface="Calibri" pitchFamily="34" charset="-122"/>
                <a:cs typeface="Calibri" pitchFamily="34" charset="-120"/>
              </a:rPr>
              <a:t>SCENARIO COMPARISON</a:t>
            </a:r>
            <a:endParaRPr lang="en-US" sz="1200" dirty="0"/>
          </a:p>
        </p:txBody>
      </p:sp>
      <p:sp>
        <p:nvSpPr>
          <p:cNvPr id="3" name="Text 1"/>
          <p:cNvSpPr/>
          <p:nvPr/>
        </p:nvSpPr>
        <p:spPr>
          <a:xfrm>
            <a:off x="457200" y="658368"/>
            <a:ext cx="11247120" cy="658368"/>
          </a:xfrm>
          <a:prstGeom prst="rect">
            <a:avLst/>
          </a:prstGeom>
          <a:noFill/>
          <a:ln/>
        </p:spPr>
        <p:txBody>
          <a:bodyPr wrap="square" rtlCol="0" anchor="ctr"/>
          <a:lstStyle/>
          <a:p>
            <a:pPr indent="0" marL="0">
              <a:buNone/>
            </a:pPr>
            <a:r>
              <a:rPr lang="en-US" sz="3100" b="1" dirty="0">
                <a:solidFill>
                  <a:srgbClr val="0F172A"/>
                </a:solidFill>
                <a:latin typeface="Calibri" pitchFamily="34" charset="0"/>
                <a:ea typeface="Calibri" pitchFamily="34" charset="-122"/>
                <a:cs typeface="Calibri" pitchFamily="34" charset="-120"/>
              </a:rPr>
              <a:t>Same team and cost base, only the licence date moves</a:t>
            </a:r>
            <a:endParaRPr lang="en-US" sz="3100" dirty="0"/>
          </a:p>
        </p:txBody>
      </p:sp>
      <p:sp>
        <p:nvSpPr>
          <p:cNvPr id="4" name="Shape 2"/>
          <p:cNvSpPr/>
          <p:nvPr/>
        </p:nvSpPr>
        <p:spPr>
          <a:xfrm>
            <a:off x="3108960" y="1600200"/>
            <a:ext cx="1389888" cy="493776"/>
          </a:xfrm>
          <a:prstGeom prst="roundRect">
            <a:avLst>
              <a:gd name="adj" fmla="val 11111"/>
            </a:avLst>
          </a:prstGeom>
          <a:solidFill>
            <a:srgbClr val="16A34A"/>
          </a:solidFill>
          <a:ln/>
        </p:spPr>
      </p:sp>
      <p:sp>
        <p:nvSpPr>
          <p:cNvPr id="5" name="Text 3"/>
          <p:cNvSpPr/>
          <p:nvPr/>
        </p:nvSpPr>
        <p:spPr>
          <a:xfrm>
            <a:off x="3108960" y="1600200"/>
            <a:ext cx="1389888" cy="49377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S1: by Oct</a:t>
            </a:r>
            <a:endParaRPr lang="en-US" sz="1150" dirty="0"/>
          </a:p>
        </p:txBody>
      </p:sp>
      <p:sp>
        <p:nvSpPr>
          <p:cNvPr id="6" name="Shape 4"/>
          <p:cNvSpPr/>
          <p:nvPr/>
        </p:nvSpPr>
        <p:spPr>
          <a:xfrm>
            <a:off x="4572000" y="1600200"/>
            <a:ext cx="1389888" cy="493776"/>
          </a:xfrm>
          <a:prstGeom prst="roundRect">
            <a:avLst>
              <a:gd name="adj" fmla="val 11111"/>
            </a:avLst>
          </a:prstGeom>
          <a:solidFill>
            <a:srgbClr val="F59E0B"/>
          </a:solidFill>
          <a:ln/>
        </p:spPr>
      </p:sp>
      <p:sp>
        <p:nvSpPr>
          <p:cNvPr id="7" name="Text 5"/>
          <p:cNvSpPr/>
          <p:nvPr/>
        </p:nvSpPr>
        <p:spPr>
          <a:xfrm>
            <a:off x="4572000" y="1600200"/>
            <a:ext cx="1389888" cy="49377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S2: by Jan</a:t>
            </a:r>
            <a:endParaRPr lang="en-US" sz="1150" dirty="0"/>
          </a:p>
        </p:txBody>
      </p:sp>
      <p:sp>
        <p:nvSpPr>
          <p:cNvPr id="8" name="Shape 6"/>
          <p:cNvSpPr/>
          <p:nvPr/>
        </p:nvSpPr>
        <p:spPr>
          <a:xfrm>
            <a:off x="6035040" y="1600200"/>
            <a:ext cx="1389888" cy="493776"/>
          </a:xfrm>
          <a:prstGeom prst="roundRect">
            <a:avLst>
              <a:gd name="adj" fmla="val 11111"/>
            </a:avLst>
          </a:prstGeom>
          <a:solidFill>
            <a:srgbClr val="E11D48"/>
          </a:solidFill>
          <a:ln/>
        </p:spPr>
      </p:sp>
      <p:sp>
        <p:nvSpPr>
          <p:cNvPr id="9" name="Text 7"/>
          <p:cNvSpPr/>
          <p:nvPr/>
        </p:nvSpPr>
        <p:spPr>
          <a:xfrm>
            <a:off x="6035040" y="1600200"/>
            <a:ext cx="1389888" cy="49377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S3: no BLR</a:t>
            </a:r>
            <a:endParaRPr lang="en-US" sz="1150" dirty="0"/>
          </a:p>
        </p:txBody>
      </p:sp>
      <p:sp>
        <p:nvSpPr>
          <p:cNvPr id="10" name="Text 8"/>
          <p:cNvSpPr/>
          <p:nvPr/>
        </p:nvSpPr>
        <p:spPr>
          <a:xfrm>
            <a:off x="493776" y="2203704"/>
            <a:ext cx="2578608" cy="603504"/>
          </a:xfrm>
          <a:prstGeom prst="rect">
            <a:avLst/>
          </a:prstGeom>
          <a:noFill/>
          <a:ln/>
        </p:spPr>
        <p:txBody>
          <a:bodyPr wrap="square" lIns="0" tIns="0" rIns="0" bIns="0" rtlCol="0" anchor="ctr"/>
          <a:lstStyle/>
          <a:p>
            <a:pPr algn="l" indent="0" marL="0">
              <a:buNone/>
            </a:pPr>
            <a:r>
              <a:rPr lang="en-US" sz="1150" b="1" dirty="0">
                <a:solidFill>
                  <a:srgbClr val="0F172A"/>
                </a:solidFill>
                <a:latin typeface="Calibri" pitchFamily="34" charset="0"/>
                <a:ea typeface="Calibri" pitchFamily="34" charset="-122"/>
                <a:cs typeface="Calibri" pitchFamily="34" charset="-120"/>
              </a:rPr>
              <a:t>Break even</a:t>
            </a:r>
            <a:endParaRPr lang="en-US" sz="1150" dirty="0"/>
          </a:p>
        </p:txBody>
      </p:sp>
      <p:sp>
        <p:nvSpPr>
          <p:cNvPr id="11" name="Text 9"/>
          <p:cNvSpPr/>
          <p:nvPr/>
        </p:nvSpPr>
        <p:spPr>
          <a:xfrm>
            <a:off x="3145536" y="2203704"/>
            <a:ext cx="1389888" cy="603504"/>
          </a:xfrm>
          <a:prstGeom prst="rect">
            <a:avLst/>
          </a:prstGeom>
          <a:noFill/>
          <a:ln/>
        </p:spPr>
        <p:txBody>
          <a:bodyPr wrap="square" lIns="0" tIns="0" rIns="0" bIns="0" rtlCol="0" anchor="ctr"/>
          <a:lstStyle/>
          <a:p>
            <a:pPr algn="ctr" indent="0" marL="0">
              <a:buNone/>
            </a:pPr>
            <a:r>
              <a:rPr lang="en-US" sz="1150" dirty="0">
                <a:solidFill>
                  <a:srgbClr val="0F172A"/>
                </a:solidFill>
                <a:latin typeface="Calibri" pitchFamily="34" charset="0"/>
                <a:ea typeface="Calibri" pitchFamily="34" charset="-122"/>
                <a:cs typeface="Calibri" pitchFamily="34" charset="-120"/>
              </a:rPr>
              <a:t>Nov 2026</a:t>
            </a:r>
            <a:endParaRPr lang="en-US" sz="1150" dirty="0"/>
          </a:p>
        </p:txBody>
      </p:sp>
      <p:sp>
        <p:nvSpPr>
          <p:cNvPr id="12" name="Text 10"/>
          <p:cNvSpPr/>
          <p:nvPr/>
        </p:nvSpPr>
        <p:spPr>
          <a:xfrm>
            <a:off x="4608576" y="2203704"/>
            <a:ext cx="1389888" cy="603504"/>
          </a:xfrm>
          <a:prstGeom prst="rect">
            <a:avLst/>
          </a:prstGeom>
          <a:noFill/>
          <a:ln/>
        </p:spPr>
        <p:txBody>
          <a:bodyPr wrap="square" lIns="0" tIns="0" rIns="0" bIns="0" rtlCol="0" anchor="ctr"/>
          <a:lstStyle/>
          <a:p>
            <a:pPr algn="ctr" indent="0" marL="0">
              <a:buNone/>
            </a:pPr>
            <a:r>
              <a:rPr lang="en-US" sz="1150" dirty="0">
                <a:solidFill>
                  <a:srgbClr val="0F172A"/>
                </a:solidFill>
                <a:latin typeface="Calibri" pitchFamily="34" charset="0"/>
                <a:ea typeface="Calibri" pitchFamily="34" charset="-122"/>
                <a:cs typeface="Calibri" pitchFamily="34" charset="-120"/>
              </a:rPr>
              <a:t>Feb 2027</a:t>
            </a:r>
            <a:endParaRPr lang="en-US" sz="1150" dirty="0"/>
          </a:p>
        </p:txBody>
      </p:sp>
      <p:sp>
        <p:nvSpPr>
          <p:cNvPr id="13" name="Text 11"/>
          <p:cNvSpPr/>
          <p:nvPr/>
        </p:nvSpPr>
        <p:spPr>
          <a:xfrm>
            <a:off x="6071616" y="2203704"/>
            <a:ext cx="1389888" cy="603504"/>
          </a:xfrm>
          <a:prstGeom prst="rect">
            <a:avLst/>
          </a:prstGeom>
          <a:noFill/>
          <a:ln/>
        </p:spPr>
        <p:txBody>
          <a:bodyPr wrap="square" lIns="0" tIns="0" rIns="0" bIns="0" rtlCol="0" anchor="ctr"/>
          <a:lstStyle/>
          <a:p>
            <a:pPr algn="ctr" indent="0" marL="0">
              <a:buNone/>
            </a:pPr>
            <a:r>
              <a:rPr lang="en-US" sz="1150" dirty="0">
                <a:solidFill>
                  <a:srgbClr val="0F172A"/>
                </a:solidFill>
                <a:latin typeface="Calibri" pitchFamily="34" charset="0"/>
                <a:ea typeface="Calibri" pitchFamily="34" charset="-122"/>
                <a:cs typeface="Calibri" pitchFamily="34" charset="-120"/>
              </a:rPr>
              <a:t>None</a:t>
            </a:r>
            <a:endParaRPr lang="en-US" sz="1150" dirty="0"/>
          </a:p>
        </p:txBody>
      </p:sp>
      <p:sp>
        <p:nvSpPr>
          <p:cNvPr id="14" name="Shape 12"/>
          <p:cNvSpPr/>
          <p:nvPr/>
        </p:nvSpPr>
        <p:spPr>
          <a:xfrm>
            <a:off x="457200" y="2807208"/>
            <a:ext cx="7040880" cy="603504"/>
          </a:xfrm>
          <a:prstGeom prst="rect">
            <a:avLst/>
          </a:prstGeom>
          <a:solidFill>
            <a:srgbClr val="F1F5F9"/>
          </a:solidFill>
          <a:ln/>
        </p:spPr>
      </p:sp>
      <p:sp>
        <p:nvSpPr>
          <p:cNvPr id="15" name="Text 13"/>
          <p:cNvSpPr/>
          <p:nvPr/>
        </p:nvSpPr>
        <p:spPr>
          <a:xfrm>
            <a:off x="493776" y="2807208"/>
            <a:ext cx="2578608" cy="603504"/>
          </a:xfrm>
          <a:prstGeom prst="rect">
            <a:avLst/>
          </a:prstGeom>
          <a:noFill/>
          <a:ln/>
        </p:spPr>
        <p:txBody>
          <a:bodyPr wrap="square" lIns="0" tIns="0" rIns="0" bIns="0" rtlCol="0" anchor="ctr"/>
          <a:lstStyle/>
          <a:p>
            <a:pPr algn="l" indent="0" marL="0">
              <a:buNone/>
            </a:pPr>
            <a:r>
              <a:rPr lang="en-US" sz="1150" b="1" dirty="0">
                <a:solidFill>
                  <a:srgbClr val="0F172A"/>
                </a:solidFill>
                <a:latin typeface="Calibri" pitchFamily="34" charset="0"/>
                <a:ea typeface="Calibri" pitchFamily="34" charset="-122"/>
                <a:cs typeface="Calibri" pitchFamily="34" charset="-120"/>
              </a:rPr>
              <a:t>Aug26 to Apr27 net</a:t>
            </a:r>
            <a:endParaRPr lang="en-US" sz="1150" dirty="0"/>
          </a:p>
        </p:txBody>
      </p:sp>
      <p:sp>
        <p:nvSpPr>
          <p:cNvPr id="16" name="Text 14"/>
          <p:cNvSpPr/>
          <p:nvPr/>
        </p:nvSpPr>
        <p:spPr>
          <a:xfrm>
            <a:off x="3145536" y="2807208"/>
            <a:ext cx="1389888" cy="603504"/>
          </a:xfrm>
          <a:prstGeom prst="rect">
            <a:avLst/>
          </a:prstGeom>
          <a:noFill/>
          <a:ln/>
        </p:spPr>
        <p:txBody>
          <a:bodyPr wrap="square" lIns="0" tIns="0" rIns="0" bIns="0" rtlCol="0" anchor="ctr"/>
          <a:lstStyle/>
          <a:p>
            <a:pPr algn="ctr" indent="0" marL="0">
              <a:buNone/>
            </a:pPr>
            <a:r>
              <a:rPr lang="en-US" sz="1150" dirty="0">
                <a:solidFill>
                  <a:srgbClr val="16A34A"/>
                </a:solidFill>
                <a:latin typeface="Calibri" pitchFamily="34" charset="0"/>
                <a:ea typeface="Calibri" pitchFamily="34" charset="-122"/>
                <a:cs typeface="Calibri" pitchFamily="34" charset="-120"/>
              </a:rPr>
              <a:t>+₹0.27 Cr</a:t>
            </a:r>
            <a:endParaRPr lang="en-US" sz="1150" dirty="0"/>
          </a:p>
        </p:txBody>
      </p:sp>
      <p:sp>
        <p:nvSpPr>
          <p:cNvPr id="17" name="Text 15"/>
          <p:cNvSpPr/>
          <p:nvPr/>
        </p:nvSpPr>
        <p:spPr>
          <a:xfrm>
            <a:off x="4608576" y="2807208"/>
            <a:ext cx="1389888" cy="603504"/>
          </a:xfrm>
          <a:prstGeom prst="rect">
            <a:avLst/>
          </a:prstGeom>
          <a:noFill/>
          <a:ln/>
        </p:spPr>
        <p:txBody>
          <a:bodyPr wrap="square" lIns="0" tIns="0" rIns="0" bIns="0" rtlCol="0" anchor="ctr"/>
          <a:lstStyle/>
          <a:p>
            <a:pPr algn="ctr" indent="0" marL="0">
              <a:buNone/>
            </a:pPr>
            <a:r>
              <a:rPr lang="en-US" sz="1150" dirty="0">
                <a:solidFill>
                  <a:srgbClr val="E11D48"/>
                </a:solidFill>
                <a:latin typeface="Calibri" pitchFamily="34" charset="0"/>
                <a:ea typeface="Calibri" pitchFamily="34" charset="-122"/>
                <a:cs typeface="Calibri" pitchFamily="34" charset="-120"/>
              </a:rPr>
              <a:t>−₹1.11 Cr</a:t>
            </a:r>
            <a:endParaRPr lang="en-US" sz="1150" dirty="0"/>
          </a:p>
        </p:txBody>
      </p:sp>
      <p:sp>
        <p:nvSpPr>
          <p:cNvPr id="18" name="Text 16"/>
          <p:cNvSpPr/>
          <p:nvPr/>
        </p:nvSpPr>
        <p:spPr>
          <a:xfrm>
            <a:off x="6071616" y="2807208"/>
            <a:ext cx="1389888" cy="603504"/>
          </a:xfrm>
          <a:prstGeom prst="rect">
            <a:avLst/>
          </a:prstGeom>
          <a:noFill/>
          <a:ln/>
        </p:spPr>
        <p:txBody>
          <a:bodyPr wrap="square" lIns="0" tIns="0" rIns="0" bIns="0" rtlCol="0" anchor="ctr"/>
          <a:lstStyle/>
          <a:p>
            <a:pPr algn="ctr" indent="0" marL="0">
              <a:buNone/>
            </a:pPr>
            <a:r>
              <a:rPr lang="en-US" sz="1150" dirty="0">
                <a:solidFill>
                  <a:srgbClr val="E11D48"/>
                </a:solidFill>
                <a:latin typeface="Calibri" pitchFamily="34" charset="0"/>
                <a:ea typeface="Calibri" pitchFamily="34" charset="-122"/>
                <a:cs typeface="Calibri" pitchFamily="34" charset="-120"/>
              </a:rPr>
              <a:t>−₹2.15 Cr</a:t>
            </a:r>
            <a:endParaRPr lang="en-US" sz="1150" dirty="0"/>
          </a:p>
        </p:txBody>
      </p:sp>
      <p:sp>
        <p:nvSpPr>
          <p:cNvPr id="19" name="Text 17"/>
          <p:cNvSpPr/>
          <p:nvPr/>
        </p:nvSpPr>
        <p:spPr>
          <a:xfrm>
            <a:off x="493776" y="3410712"/>
            <a:ext cx="2578608" cy="603504"/>
          </a:xfrm>
          <a:prstGeom prst="rect">
            <a:avLst/>
          </a:prstGeom>
          <a:noFill/>
          <a:ln/>
        </p:spPr>
        <p:txBody>
          <a:bodyPr wrap="square" lIns="0" tIns="0" rIns="0" bIns="0" rtlCol="0" anchor="ctr"/>
          <a:lstStyle/>
          <a:p>
            <a:pPr algn="l" indent="0" marL="0">
              <a:buNone/>
            </a:pPr>
            <a:r>
              <a:rPr lang="en-US" sz="1150" b="1" dirty="0">
                <a:solidFill>
                  <a:srgbClr val="0F172A"/>
                </a:solidFill>
                <a:latin typeface="Calibri" pitchFamily="34" charset="0"/>
                <a:ea typeface="Calibri" pitchFamily="34" charset="-122"/>
                <a:cs typeface="Calibri" pitchFamily="34" charset="-120"/>
              </a:rPr>
              <a:t>Apr27 run-rate, ann.</a:t>
            </a:r>
            <a:endParaRPr lang="en-US" sz="1150" dirty="0"/>
          </a:p>
        </p:txBody>
      </p:sp>
      <p:sp>
        <p:nvSpPr>
          <p:cNvPr id="20" name="Text 18"/>
          <p:cNvSpPr/>
          <p:nvPr/>
        </p:nvSpPr>
        <p:spPr>
          <a:xfrm>
            <a:off x="3145536" y="3410712"/>
            <a:ext cx="1389888" cy="603504"/>
          </a:xfrm>
          <a:prstGeom prst="rect">
            <a:avLst/>
          </a:prstGeom>
          <a:noFill/>
          <a:ln/>
        </p:spPr>
        <p:txBody>
          <a:bodyPr wrap="square" lIns="0" tIns="0" rIns="0" bIns="0" rtlCol="0" anchor="ctr"/>
          <a:lstStyle/>
          <a:p>
            <a:pPr algn="ctr" indent="0" marL="0">
              <a:buNone/>
            </a:pPr>
            <a:r>
              <a:rPr lang="en-US" sz="1150" dirty="0">
                <a:solidFill>
                  <a:srgbClr val="16A34A"/>
                </a:solidFill>
                <a:latin typeface="Calibri" pitchFamily="34" charset="0"/>
                <a:ea typeface="Calibri" pitchFamily="34" charset="-122"/>
                <a:cs typeface="Calibri" pitchFamily="34" charset="-120"/>
              </a:rPr>
              <a:t>+₹3.13 Cr</a:t>
            </a:r>
            <a:endParaRPr lang="en-US" sz="1150" dirty="0"/>
          </a:p>
        </p:txBody>
      </p:sp>
      <p:sp>
        <p:nvSpPr>
          <p:cNvPr id="21" name="Text 19"/>
          <p:cNvSpPr/>
          <p:nvPr/>
        </p:nvSpPr>
        <p:spPr>
          <a:xfrm>
            <a:off x="4608576" y="3410712"/>
            <a:ext cx="1389888" cy="603504"/>
          </a:xfrm>
          <a:prstGeom prst="rect">
            <a:avLst/>
          </a:prstGeom>
          <a:noFill/>
          <a:ln/>
        </p:spPr>
        <p:txBody>
          <a:bodyPr wrap="square" lIns="0" tIns="0" rIns="0" bIns="0" rtlCol="0" anchor="ctr"/>
          <a:lstStyle/>
          <a:p>
            <a:pPr algn="ctr" indent="0" marL="0">
              <a:buNone/>
            </a:pPr>
            <a:r>
              <a:rPr lang="en-US" sz="1150" dirty="0">
                <a:solidFill>
                  <a:srgbClr val="16A34A"/>
                </a:solidFill>
                <a:latin typeface="Calibri" pitchFamily="34" charset="0"/>
                <a:ea typeface="Calibri" pitchFamily="34" charset="-122"/>
                <a:cs typeface="Calibri" pitchFamily="34" charset="-120"/>
              </a:rPr>
              <a:t>+₹2.41 Cr</a:t>
            </a:r>
            <a:endParaRPr lang="en-US" sz="1150" dirty="0"/>
          </a:p>
        </p:txBody>
      </p:sp>
      <p:sp>
        <p:nvSpPr>
          <p:cNvPr id="22" name="Text 20"/>
          <p:cNvSpPr/>
          <p:nvPr/>
        </p:nvSpPr>
        <p:spPr>
          <a:xfrm>
            <a:off x="6071616" y="3410712"/>
            <a:ext cx="1389888" cy="603504"/>
          </a:xfrm>
          <a:prstGeom prst="rect">
            <a:avLst/>
          </a:prstGeom>
          <a:noFill/>
          <a:ln/>
        </p:spPr>
        <p:txBody>
          <a:bodyPr wrap="square" lIns="0" tIns="0" rIns="0" bIns="0" rtlCol="0" anchor="ctr"/>
          <a:lstStyle/>
          <a:p>
            <a:pPr algn="ctr" indent="0" marL="0">
              <a:buNone/>
            </a:pPr>
            <a:r>
              <a:rPr lang="en-US" sz="1150" dirty="0">
                <a:solidFill>
                  <a:srgbClr val="E11D48"/>
                </a:solidFill>
                <a:latin typeface="Calibri" pitchFamily="34" charset="0"/>
                <a:ea typeface="Calibri" pitchFamily="34" charset="-122"/>
                <a:cs typeface="Calibri" pitchFamily="34" charset="-120"/>
              </a:rPr>
              <a:t>−₹2.08 Cr</a:t>
            </a:r>
            <a:endParaRPr lang="en-US" sz="1150" dirty="0"/>
          </a:p>
        </p:txBody>
      </p:sp>
      <p:sp>
        <p:nvSpPr>
          <p:cNvPr id="23" name="Shape 21"/>
          <p:cNvSpPr/>
          <p:nvPr/>
        </p:nvSpPr>
        <p:spPr>
          <a:xfrm>
            <a:off x="457200" y="4014216"/>
            <a:ext cx="7040880" cy="603504"/>
          </a:xfrm>
          <a:prstGeom prst="rect">
            <a:avLst/>
          </a:prstGeom>
          <a:solidFill>
            <a:srgbClr val="F1F5F9"/>
          </a:solidFill>
          <a:ln/>
        </p:spPr>
      </p:sp>
      <p:sp>
        <p:nvSpPr>
          <p:cNvPr id="24" name="Text 22"/>
          <p:cNvSpPr/>
          <p:nvPr/>
        </p:nvSpPr>
        <p:spPr>
          <a:xfrm>
            <a:off x="493776" y="4014216"/>
            <a:ext cx="2578608" cy="603504"/>
          </a:xfrm>
          <a:prstGeom prst="rect">
            <a:avLst/>
          </a:prstGeom>
          <a:noFill/>
          <a:ln/>
        </p:spPr>
        <p:txBody>
          <a:bodyPr wrap="square" lIns="0" tIns="0" rIns="0" bIns="0" rtlCol="0" anchor="ctr"/>
          <a:lstStyle/>
          <a:p>
            <a:pPr algn="l" indent="0" marL="0">
              <a:buNone/>
            </a:pPr>
            <a:r>
              <a:rPr lang="en-US" sz="1150" b="1" dirty="0">
                <a:solidFill>
                  <a:srgbClr val="0F172A"/>
                </a:solidFill>
                <a:latin typeface="Calibri" pitchFamily="34" charset="0"/>
                <a:ea typeface="Calibri" pitchFamily="34" charset="-122"/>
                <a:cs typeface="Calibri" pitchFamily="34" charset="-120"/>
              </a:rPr>
              <a:t>Peak cash dip</a:t>
            </a:r>
            <a:endParaRPr lang="en-US" sz="1150" dirty="0"/>
          </a:p>
        </p:txBody>
      </p:sp>
      <p:sp>
        <p:nvSpPr>
          <p:cNvPr id="25" name="Text 23"/>
          <p:cNvSpPr/>
          <p:nvPr/>
        </p:nvSpPr>
        <p:spPr>
          <a:xfrm>
            <a:off x="3145536" y="4014216"/>
            <a:ext cx="1389888" cy="603504"/>
          </a:xfrm>
          <a:prstGeom prst="rect">
            <a:avLst/>
          </a:prstGeom>
          <a:noFill/>
          <a:ln/>
        </p:spPr>
        <p:txBody>
          <a:bodyPr wrap="square" lIns="0" tIns="0" rIns="0" bIns="0" rtlCol="0" anchor="ctr"/>
          <a:lstStyle/>
          <a:p>
            <a:pPr algn="ctr" indent="0" marL="0">
              <a:buNone/>
            </a:pPr>
            <a:r>
              <a:rPr lang="en-US" sz="1150" dirty="0">
                <a:solidFill>
                  <a:srgbClr val="E11D48"/>
                </a:solidFill>
                <a:latin typeface="Calibri" pitchFamily="34" charset="0"/>
                <a:ea typeface="Calibri" pitchFamily="34" charset="-122"/>
                <a:cs typeface="Calibri" pitchFamily="34" charset="-120"/>
              </a:rPr>
              <a:t>−₹0.88 Cr</a:t>
            </a:r>
            <a:endParaRPr lang="en-US" sz="1150" dirty="0"/>
          </a:p>
        </p:txBody>
      </p:sp>
      <p:sp>
        <p:nvSpPr>
          <p:cNvPr id="26" name="Text 24"/>
          <p:cNvSpPr/>
          <p:nvPr/>
        </p:nvSpPr>
        <p:spPr>
          <a:xfrm>
            <a:off x="4608576" y="4014216"/>
            <a:ext cx="1389888" cy="603504"/>
          </a:xfrm>
          <a:prstGeom prst="rect">
            <a:avLst/>
          </a:prstGeom>
          <a:noFill/>
          <a:ln/>
        </p:spPr>
        <p:txBody>
          <a:bodyPr wrap="square" lIns="0" tIns="0" rIns="0" bIns="0" rtlCol="0" anchor="ctr"/>
          <a:lstStyle/>
          <a:p>
            <a:pPr algn="ctr" indent="0" marL="0">
              <a:buNone/>
            </a:pPr>
            <a:r>
              <a:rPr lang="en-US" sz="1150" dirty="0">
                <a:solidFill>
                  <a:srgbClr val="E11D48"/>
                </a:solidFill>
                <a:latin typeface="Calibri" pitchFamily="34" charset="0"/>
                <a:ea typeface="Calibri" pitchFamily="34" charset="-122"/>
                <a:cs typeface="Calibri" pitchFamily="34" charset="-120"/>
              </a:rPr>
              <a:t>−₹1.60 Cr</a:t>
            </a:r>
            <a:endParaRPr lang="en-US" sz="1150" dirty="0"/>
          </a:p>
        </p:txBody>
      </p:sp>
      <p:sp>
        <p:nvSpPr>
          <p:cNvPr id="27" name="Text 25"/>
          <p:cNvSpPr/>
          <p:nvPr/>
        </p:nvSpPr>
        <p:spPr>
          <a:xfrm>
            <a:off x="6071616" y="4014216"/>
            <a:ext cx="1389888" cy="603504"/>
          </a:xfrm>
          <a:prstGeom prst="rect">
            <a:avLst/>
          </a:prstGeom>
          <a:noFill/>
          <a:ln/>
        </p:spPr>
        <p:txBody>
          <a:bodyPr wrap="square" lIns="0" tIns="0" rIns="0" bIns="0" rtlCol="0" anchor="ctr"/>
          <a:lstStyle/>
          <a:p>
            <a:pPr algn="ctr" indent="0" marL="0">
              <a:buNone/>
            </a:pPr>
            <a:r>
              <a:rPr lang="en-US" sz="1150" dirty="0">
                <a:solidFill>
                  <a:srgbClr val="E11D48"/>
                </a:solidFill>
                <a:latin typeface="Calibri" pitchFamily="34" charset="0"/>
                <a:ea typeface="Calibri" pitchFamily="34" charset="-122"/>
                <a:cs typeface="Calibri" pitchFamily="34" charset="-120"/>
              </a:rPr>
              <a:t>−₹2.15 Cr</a:t>
            </a:r>
            <a:endParaRPr lang="en-US" sz="1150" dirty="0"/>
          </a:p>
        </p:txBody>
      </p:sp>
      <p:sp>
        <p:nvSpPr>
          <p:cNvPr id="28" name="Text 26"/>
          <p:cNvSpPr/>
          <p:nvPr/>
        </p:nvSpPr>
        <p:spPr>
          <a:xfrm>
            <a:off x="493776" y="4617720"/>
            <a:ext cx="2578608" cy="603504"/>
          </a:xfrm>
          <a:prstGeom prst="rect">
            <a:avLst/>
          </a:prstGeom>
          <a:noFill/>
          <a:ln/>
        </p:spPr>
        <p:txBody>
          <a:bodyPr wrap="square" lIns="0" tIns="0" rIns="0" bIns="0" rtlCol="0" anchor="ctr"/>
          <a:lstStyle/>
          <a:p>
            <a:pPr algn="l" indent="0" marL="0">
              <a:buNone/>
            </a:pPr>
            <a:r>
              <a:rPr lang="en-US" sz="1150" b="1" dirty="0">
                <a:solidFill>
                  <a:srgbClr val="0F172A"/>
                </a:solidFill>
                <a:latin typeface="Calibri" pitchFamily="34" charset="0"/>
                <a:ea typeface="Calibri" pitchFamily="34" charset="-122"/>
                <a:cs typeface="Calibri" pitchFamily="34" charset="-120"/>
              </a:rPr>
              <a:t>Posture</a:t>
            </a:r>
            <a:endParaRPr lang="en-US" sz="1150" dirty="0"/>
          </a:p>
        </p:txBody>
      </p:sp>
      <p:sp>
        <p:nvSpPr>
          <p:cNvPr id="29" name="Text 27"/>
          <p:cNvSpPr/>
          <p:nvPr/>
        </p:nvSpPr>
        <p:spPr>
          <a:xfrm>
            <a:off x="3145536" y="4617720"/>
            <a:ext cx="1389888" cy="603504"/>
          </a:xfrm>
          <a:prstGeom prst="rect">
            <a:avLst/>
          </a:prstGeom>
          <a:noFill/>
          <a:ln/>
        </p:spPr>
        <p:txBody>
          <a:bodyPr wrap="square" lIns="0" tIns="0" rIns="0" bIns="0" rtlCol="0" anchor="ctr"/>
          <a:lstStyle/>
          <a:p>
            <a:pPr algn="ctr" indent="0" marL="0">
              <a:buNone/>
            </a:pPr>
            <a:r>
              <a:rPr lang="en-US" sz="1150" dirty="0">
                <a:solidFill>
                  <a:srgbClr val="0F172A"/>
                </a:solidFill>
                <a:latin typeface="Calibri" pitchFamily="34" charset="0"/>
                <a:ea typeface="Calibri" pitchFamily="34" charset="-122"/>
                <a:cs typeface="Calibri" pitchFamily="34" charset="-120"/>
              </a:rPr>
              <a:t>Launch + blitz</a:t>
            </a:r>
            <a:endParaRPr lang="en-US" sz="1150" dirty="0"/>
          </a:p>
        </p:txBody>
      </p:sp>
      <p:sp>
        <p:nvSpPr>
          <p:cNvPr id="30" name="Text 28"/>
          <p:cNvSpPr/>
          <p:nvPr/>
        </p:nvSpPr>
        <p:spPr>
          <a:xfrm>
            <a:off x="4608576" y="4617720"/>
            <a:ext cx="1389888" cy="603504"/>
          </a:xfrm>
          <a:prstGeom prst="rect">
            <a:avLst/>
          </a:prstGeom>
          <a:noFill/>
          <a:ln/>
        </p:spPr>
        <p:txBody>
          <a:bodyPr wrap="square" lIns="0" tIns="0" rIns="0" bIns="0" rtlCol="0" anchor="ctr"/>
          <a:lstStyle/>
          <a:p>
            <a:pPr algn="ctr" indent="0" marL="0">
              <a:buNone/>
            </a:pPr>
            <a:r>
              <a:rPr lang="en-US" sz="1150" dirty="0">
                <a:solidFill>
                  <a:srgbClr val="0F172A"/>
                </a:solidFill>
                <a:latin typeface="Calibri" pitchFamily="34" charset="0"/>
                <a:ea typeface="Calibri" pitchFamily="34" charset="-122"/>
                <a:cs typeface="Calibri" pitchFamily="34" charset="-120"/>
              </a:rPr>
              <a:t>Same, later</a:t>
            </a:r>
            <a:endParaRPr lang="en-US" sz="1150" dirty="0"/>
          </a:p>
        </p:txBody>
      </p:sp>
      <p:sp>
        <p:nvSpPr>
          <p:cNvPr id="31" name="Text 29"/>
          <p:cNvSpPr/>
          <p:nvPr/>
        </p:nvSpPr>
        <p:spPr>
          <a:xfrm>
            <a:off x="6071616" y="4617720"/>
            <a:ext cx="1389888" cy="603504"/>
          </a:xfrm>
          <a:prstGeom prst="rect">
            <a:avLst/>
          </a:prstGeom>
          <a:noFill/>
          <a:ln/>
        </p:spPr>
        <p:txBody>
          <a:bodyPr wrap="square" lIns="0" tIns="0" rIns="0" bIns="0" rtlCol="0" anchor="ctr"/>
          <a:lstStyle/>
          <a:p>
            <a:pPr algn="ctr" indent="0" marL="0">
              <a:buNone/>
            </a:pPr>
            <a:r>
              <a:rPr lang="en-US" sz="1150" dirty="0">
                <a:solidFill>
                  <a:srgbClr val="0F172A"/>
                </a:solidFill>
                <a:latin typeface="Calibri" pitchFamily="34" charset="0"/>
                <a:ea typeface="Calibri" pitchFamily="34" charset="-122"/>
                <a:cs typeface="Calibri" pitchFamily="34" charset="-120"/>
              </a:rPr>
              <a:t>IPO + ops</a:t>
            </a:r>
            <a:endParaRPr lang="en-US" sz="1150" dirty="0"/>
          </a:p>
        </p:txBody>
      </p:sp>
      <p:sp>
        <p:nvSpPr>
          <p:cNvPr id="32" name="Text 30"/>
          <p:cNvSpPr/>
          <p:nvPr/>
        </p:nvSpPr>
        <p:spPr>
          <a:xfrm>
            <a:off x="457200" y="5349240"/>
            <a:ext cx="7040880" cy="822960"/>
          </a:xfrm>
          <a:prstGeom prst="rect">
            <a:avLst/>
          </a:prstGeom>
          <a:noFill/>
          <a:ln/>
        </p:spPr>
        <p:txBody>
          <a:bodyPr wrap="square"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Break even is the first month income covers the full expense line. The launch month runs zero BLR on purpose, so the team clears its existing IPO book first, then BLR ramps to 16 cases the next month.</a:t>
            </a:r>
            <a:endParaRPr lang="en-US" sz="1100" dirty="0"/>
          </a:p>
        </p:txBody>
      </p:sp>
      <p:sp>
        <p:nvSpPr>
          <p:cNvPr id="33" name="Text 31"/>
          <p:cNvSpPr/>
          <p:nvPr/>
        </p:nvSpPr>
        <p:spPr>
          <a:xfrm>
            <a:off x="7772400" y="1463040"/>
            <a:ext cx="4023360" cy="320040"/>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Revenue mix at the Apr 2027 run-rate</a:t>
            </a:r>
            <a:endParaRPr lang="en-US" sz="1400" dirty="0"/>
          </a:p>
        </p:txBody>
      </p:sp>
      <p:graphicFrame>
        <p:nvGraphicFramePr>
          <p:cNvPr id="34" name="Chart 0" descr=""/>
          <p:cNvGraphicFramePr/>
          <p:nvPr/>
        </p:nvGraphicFramePr>
        <p:xfrm>
          <a:off x="7635240" y="1828800"/>
          <a:ext cx="4114800" cy="3291840"/>
        </p:xfrm>
        <a:graphic xmlns:a="http://schemas.openxmlformats.org/drawingml/2006/main">
          <a:graphicData uri="http://schemas.openxmlformats.org/drawingml/2006/chart">
            <c:chart xmlns:c="http://schemas.openxmlformats.org/drawingml/2006/chart" r:id="rId1"/>
          </a:graphicData>
        </a:graphic>
      </p:graphicFrame>
      <p:sp>
        <p:nvSpPr>
          <p:cNvPr id="35" name="Text 32"/>
          <p:cNvSpPr/>
          <p:nvPr/>
        </p:nvSpPr>
        <p:spPr>
          <a:xfrm>
            <a:off x="7772400" y="5120640"/>
            <a:ext cx="4023360" cy="457200"/>
          </a:xfrm>
          <a:prstGeom prst="rect">
            <a:avLst/>
          </a:prstGeom>
          <a:noFill/>
          <a:ln/>
        </p:spPr>
        <p:txBody>
          <a:bodyPr wrap="square"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Scenario 1, annualising the April exit month. About ₹9.2 Cr a year, BLR led.</a:t>
            </a:r>
            <a:endParaRPr lang="en-US" sz="1050" dirty="0"/>
          </a:p>
        </p:txBody>
      </p:sp>
      <p:sp>
        <p:nvSpPr>
          <p:cNvPr id="36" name="Text 33"/>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ACER Credit Rating Pvt. Ltd.  |  FY27 Annual Operating Plan</a:t>
            </a:r>
            <a:endParaRPr lang="en-US" sz="900" dirty="0"/>
          </a:p>
        </p:txBody>
      </p:sp>
      <p:sp>
        <p:nvSpPr>
          <p:cNvPr id="37" name="Text 34"/>
          <p:cNvSpPr/>
          <p:nvPr/>
        </p:nvSpPr>
        <p:spPr>
          <a:xfrm>
            <a:off x="5943600" y="6473952"/>
            <a:ext cx="5788152"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Actuals from internal management accounts. Forward figures are labelled capacity projections.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11247120" cy="274320"/>
          </a:xfrm>
          <a:prstGeom prst="rect">
            <a:avLst/>
          </a:prstGeom>
          <a:noFill/>
          <a:ln/>
        </p:spPr>
        <p:txBody>
          <a:bodyPr wrap="square" rtlCol="0" anchor="ctr"/>
          <a:lstStyle/>
          <a:p>
            <a:pPr indent="0" marL="0">
              <a:buNone/>
            </a:pPr>
            <a:r>
              <a:rPr lang="en-US" sz="1200" b="1" spc="200" kern="0" dirty="0">
                <a:solidFill>
                  <a:srgbClr val="0D9488"/>
                </a:solidFill>
                <a:latin typeface="Calibri" pitchFamily="34" charset="0"/>
                <a:ea typeface="Calibri" pitchFamily="34" charset="-122"/>
                <a:cs typeface="Calibri" pitchFamily="34" charset="-120"/>
              </a:rPr>
              <a:t>DISCIPLINE ON COMMITTED COST</a:t>
            </a:r>
            <a:endParaRPr lang="en-US" sz="1200" dirty="0"/>
          </a:p>
        </p:txBody>
      </p:sp>
      <p:sp>
        <p:nvSpPr>
          <p:cNvPr id="3" name="Text 1"/>
          <p:cNvSpPr/>
          <p:nvPr/>
        </p:nvSpPr>
        <p:spPr>
          <a:xfrm>
            <a:off x="457200" y="658368"/>
            <a:ext cx="11247120" cy="658368"/>
          </a:xfrm>
          <a:prstGeom prst="rect">
            <a:avLst/>
          </a:prstGeom>
          <a:noFill/>
          <a:ln/>
        </p:spPr>
        <p:txBody>
          <a:bodyPr wrap="square" rtlCol="0" anchor="ctr"/>
          <a:lstStyle/>
          <a:p>
            <a:pPr indent="0" marL="0">
              <a:buNone/>
            </a:pPr>
            <a:r>
              <a:rPr lang="en-US" sz="3100" b="1" dirty="0">
                <a:solidFill>
                  <a:srgbClr val="0F172A"/>
                </a:solidFill>
                <a:latin typeface="Calibri" pitchFamily="34" charset="0"/>
                <a:ea typeface="Calibri" pitchFamily="34" charset="-122"/>
                <a:cs typeface="Calibri" pitchFamily="34" charset="-120"/>
              </a:rPr>
              <a:t>Good to have, kept out of the base plan</a:t>
            </a:r>
            <a:endParaRPr lang="en-US" sz="3100" dirty="0"/>
          </a:p>
        </p:txBody>
      </p:sp>
      <p:sp>
        <p:nvSpPr>
          <p:cNvPr id="4" name="Text 2"/>
          <p:cNvSpPr/>
          <p:nvPr/>
        </p:nvSpPr>
        <p:spPr>
          <a:xfrm>
            <a:off x="457200" y="1417320"/>
            <a:ext cx="11247120" cy="548640"/>
          </a:xfrm>
          <a:prstGeom prst="rect">
            <a:avLst/>
          </a:prstGeom>
          <a:noFill/>
          <a:ln/>
        </p:spPr>
        <p:txBody>
          <a:bodyPr wrap="square" rtlCol="0" anchor="ctr"/>
          <a:lstStyle/>
          <a:p>
            <a:pPr indent="0" marL="0">
              <a:buNone/>
            </a:pPr>
            <a:r>
              <a:rPr lang="en-US" sz="1500" dirty="0">
                <a:solidFill>
                  <a:srgbClr val="64748B"/>
                </a:solidFill>
                <a:latin typeface="Calibri" pitchFamily="34" charset="0"/>
                <a:ea typeface="Calibri" pitchFamily="34" charset="-122"/>
                <a:cs typeface="Calibri" pitchFamily="34" charset="-120"/>
              </a:rPr>
              <a:t>Deliberately excluded from every number in this plan so the projections stay honest on committed spend. Fund these as profitability allows, once BLR revenue is real.</a:t>
            </a:r>
            <a:endParaRPr lang="en-US" sz="1500" dirty="0"/>
          </a:p>
        </p:txBody>
      </p:sp>
      <p:sp>
        <p:nvSpPr>
          <p:cNvPr id="5" name="Shape 3"/>
          <p:cNvSpPr/>
          <p:nvPr/>
        </p:nvSpPr>
        <p:spPr>
          <a:xfrm>
            <a:off x="457200" y="2286000"/>
            <a:ext cx="3566160" cy="3063240"/>
          </a:xfrm>
          <a:prstGeom prst="roundRect">
            <a:avLst>
              <a:gd name="adj" fmla="val 3582"/>
            </a:avLst>
          </a:prstGeom>
          <a:solidFill>
            <a:srgbClr val="F1F5F9"/>
          </a:solidFill>
          <a:ln/>
        </p:spPr>
      </p:sp>
      <p:sp>
        <p:nvSpPr>
          <p:cNvPr id="6" name="Shape 4"/>
          <p:cNvSpPr/>
          <p:nvPr/>
        </p:nvSpPr>
        <p:spPr>
          <a:xfrm>
            <a:off x="777240" y="2651760"/>
            <a:ext cx="640080" cy="640080"/>
          </a:xfrm>
          <a:prstGeom prst="roundRect">
            <a:avLst>
              <a:gd name="adj" fmla="val 50000"/>
            </a:avLst>
          </a:prstGeom>
          <a:solidFill>
            <a:srgbClr val="0D9488"/>
          </a:solidFill>
          <a:ln/>
        </p:spPr>
      </p:sp>
      <p:sp>
        <p:nvSpPr>
          <p:cNvPr id="7" name="Text 5"/>
          <p:cNvSpPr/>
          <p:nvPr/>
        </p:nvSpPr>
        <p:spPr>
          <a:xfrm>
            <a:off x="777240" y="26517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8" name="Text 6"/>
          <p:cNvSpPr/>
          <p:nvPr/>
        </p:nvSpPr>
        <p:spPr>
          <a:xfrm>
            <a:off x="777240" y="3474720"/>
            <a:ext cx="2926080" cy="640080"/>
          </a:xfrm>
          <a:prstGeom prst="rect">
            <a:avLst/>
          </a:prstGeom>
          <a:noFill/>
          <a:ln/>
        </p:spPr>
        <p:txBody>
          <a:bodyPr wrap="square"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Insurance</a:t>
            </a:r>
            <a:endParaRPr lang="en-US" sz="1700" dirty="0"/>
          </a:p>
        </p:txBody>
      </p:sp>
      <p:sp>
        <p:nvSpPr>
          <p:cNvPr id="9" name="Text 7"/>
          <p:cNvSpPr/>
          <p:nvPr/>
        </p:nvSpPr>
        <p:spPr>
          <a:xfrm>
            <a:off x="777240" y="4114800"/>
            <a:ext cx="2971800" cy="1143000"/>
          </a:xfrm>
          <a:prstGeom prst="rect">
            <a:avLst/>
          </a:prstGeom>
          <a:noFill/>
          <a:ln/>
        </p:spPr>
        <p:txBody>
          <a:bodyPr wrap="square" rtlCol="0" anchor="t"/>
          <a:lstStyle/>
          <a:p>
            <a:pPr indent="0" marL="0">
              <a:lnSpc>
                <a:spcPct val="110000"/>
              </a:lnSpc>
              <a:buNone/>
            </a:pPr>
            <a:r>
              <a:rPr lang="en-US" sz="1300" dirty="0">
                <a:solidFill>
                  <a:srgbClr val="64748B"/>
                </a:solidFill>
                <a:latin typeface="Calibri" pitchFamily="34" charset="0"/>
                <a:ea typeface="Calibri" pitchFamily="34" charset="-122"/>
                <a:cs typeface="Calibri" pitchFamily="34" charset="-120"/>
              </a:rPr>
              <a:t>Group health and office cover, dropped from the base case earlier. Add back once the loss narrows.</a:t>
            </a:r>
            <a:endParaRPr lang="en-US" sz="1300" dirty="0"/>
          </a:p>
        </p:txBody>
      </p:sp>
      <p:sp>
        <p:nvSpPr>
          <p:cNvPr id="10" name="Shape 8"/>
          <p:cNvSpPr/>
          <p:nvPr/>
        </p:nvSpPr>
        <p:spPr>
          <a:xfrm>
            <a:off x="4261104" y="2286000"/>
            <a:ext cx="3566160" cy="3063240"/>
          </a:xfrm>
          <a:prstGeom prst="roundRect">
            <a:avLst>
              <a:gd name="adj" fmla="val 3582"/>
            </a:avLst>
          </a:prstGeom>
          <a:solidFill>
            <a:srgbClr val="F1F5F9"/>
          </a:solidFill>
          <a:ln/>
        </p:spPr>
      </p:sp>
      <p:sp>
        <p:nvSpPr>
          <p:cNvPr id="11" name="Shape 9"/>
          <p:cNvSpPr/>
          <p:nvPr/>
        </p:nvSpPr>
        <p:spPr>
          <a:xfrm>
            <a:off x="4581144" y="2651760"/>
            <a:ext cx="640080" cy="640080"/>
          </a:xfrm>
          <a:prstGeom prst="roundRect">
            <a:avLst>
              <a:gd name="adj" fmla="val 50000"/>
            </a:avLst>
          </a:prstGeom>
          <a:solidFill>
            <a:srgbClr val="F59E0B"/>
          </a:solidFill>
          <a:ln/>
        </p:spPr>
      </p:sp>
      <p:sp>
        <p:nvSpPr>
          <p:cNvPr id="12" name="Text 10"/>
          <p:cNvSpPr/>
          <p:nvPr/>
        </p:nvSpPr>
        <p:spPr>
          <a:xfrm>
            <a:off x="4581144" y="26517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3" name="Text 11"/>
          <p:cNvSpPr/>
          <p:nvPr/>
        </p:nvSpPr>
        <p:spPr>
          <a:xfrm>
            <a:off x="4581144" y="3474720"/>
            <a:ext cx="2926080" cy="640080"/>
          </a:xfrm>
          <a:prstGeom prst="rect">
            <a:avLst/>
          </a:prstGeom>
          <a:noFill/>
          <a:ln/>
        </p:spPr>
        <p:txBody>
          <a:bodyPr wrap="square"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Festival celebration and gifts</a:t>
            </a:r>
            <a:endParaRPr lang="en-US" sz="1700" dirty="0"/>
          </a:p>
        </p:txBody>
      </p:sp>
      <p:sp>
        <p:nvSpPr>
          <p:cNvPr id="14" name="Text 12"/>
          <p:cNvSpPr/>
          <p:nvPr/>
        </p:nvSpPr>
        <p:spPr>
          <a:xfrm>
            <a:off x="4581144" y="4114800"/>
            <a:ext cx="2971800" cy="1143000"/>
          </a:xfrm>
          <a:prstGeom prst="rect">
            <a:avLst/>
          </a:prstGeom>
          <a:noFill/>
          <a:ln/>
        </p:spPr>
        <p:txBody>
          <a:bodyPr wrap="square" rtlCol="0" anchor="t"/>
          <a:lstStyle/>
          <a:p>
            <a:pPr indent="0" marL="0">
              <a:lnSpc>
                <a:spcPct val="110000"/>
              </a:lnSpc>
              <a:buNone/>
            </a:pPr>
            <a:r>
              <a:rPr lang="en-US" sz="1300" dirty="0">
                <a:solidFill>
                  <a:srgbClr val="64748B"/>
                </a:solidFill>
                <a:latin typeface="Calibri" pitchFamily="34" charset="0"/>
                <a:ea typeface="Calibri" pitchFamily="34" charset="-122"/>
                <a:cs typeface="Calibri" pitchFamily="34" charset="-120"/>
              </a:rPr>
              <a:t>Team festival spend and client gifting. Small, morale and relationship building, but discretionary.</a:t>
            </a:r>
            <a:endParaRPr lang="en-US" sz="1300" dirty="0"/>
          </a:p>
        </p:txBody>
      </p:sp>
      <p:sp>
        <p:nvSpPr>
          <p:cNvPr id="15" name="Shape 13"/>
          <p:cNvSpPr/>
          <p:nvPr/>
        </p:nvSpPr>
        <p:spPr>
          <a:xfrm>
            <a:off x="8065008" y="2286000"/>
            <a:ext cx="3566160" cy="3063240"/>
          </a:xfrm>
          <a:prstGeom prst="roundRect">
            <a:avLst>
              <a:gd name="adj" fmla="val 3582"/>
            </a:avLst>
          </a:prstGeom>
          <a:solidFill>
            <a:srgbClr val="F1F5F9"/>
          </a:solidFill>
          <a:ln/>
        </p:spPr>
      </p:sp>
      <p:sp>
        <p:nvSpPr>
          <p:cNvPr id="16" name="Shape 14"/>
          <p:cNvSpPr/>
          <p:nvPr/>
        </p:nvSpPr>
        <p:spPr>
          <a:xfrm>
            <a:off x="8385048" y="2651760"/>
            <a:ext cx="640080" cy="640080"/>
          </a:xfrm>
          <a:prstGeom prst="roundRect">
            <a:avLst>
              <a:gd name="adj" fmla="val 50000"/>
            </a:avLst>
          </a:prstGeom>
          <a:solidFill>
            <a:srgbClr val="0284C7"/>
          </a:solidFill>
          <a:ln/>
        </p:spPr>
      </p:sp>
      <p:sp>
        <p:nvSpPr>
          <p:cNvPr id="17" name="Text 15"/>
          <p:cNvSpPr/>
          <p:nvPr/>
        </p:nvSpPr>
        <p:spPr>
          <a:xfrm>
            <a:off x="8385048" y="26517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8" name="Text 16"/>
          <p:cNvSpPr/>
          <p:nvPr/>
        </p:nvSpPr>
        <p:spPr>
          <a:xfrm>
            <a:off x="8385048" y="3474720"/>
            <a:ext cx="2926080" cy="640080"/>
          </a:xfrm>
          <a:prstGeom prst="rect">
            <a:avLst/>
          </a:prstGeom>
          <a:noFill/>
          <a:ln/>
        </p:spPr>
        <p:txBody>
          <a:bodyPr wrap="square" rtlCol="0" anchor="t"/>
          <a:lstStyle/>
          <a:p>
            <a:pPr indent="0" marL="0">
              <a:buNone/>
            </a:pPr>
            <a:r>
              <a:rPr lang="en-US" sz="1700" b="1" dirty="0">
                <a:solidFill>
                  <a:srgbClr val="0F172A"/>
                </a:solidFill>
                <a:latin typeface="Calibri" pitchFamily="34" charset="0"/>
                <a:ea typeface="Calibri" pitchFamily="34" charset="-122"/>
                <a:cs typeface="Calibri" pitchFamily="34" charset="-120"/>
              </a:rPr>
              <a:t>Employee appraisal</a:t>
            </a:r>
            <a:endParaRPr lang="en-US" sz="1700" dirty="0"/>
          </a:p>
        </p:txBody>
      </p:sp>
      <p:sp>
        <p:nvSpPr>
          <p:cNvPr id="19" name="Text 17"/>
          <p:cNvSpPr/>
          <p:nvPr/>
        </p:nvSpPr>
        <p:spPr>
          <a:xfrm>
            <a:off x="8385048" y="4114800"/>
            <a:ext cx="2971800" cy="1143000"/>
          </a:xfrm>
          <a:prstGeom prst="rect">
            <a:avLst/>
          </a:prstGeom>
          <a:noFill/>
          <a:ln/>
        </p:spPr>
        <p:txBody>
          <a:bodyPr wrap="square" rtlCol="0" anchor="t"/>
          <a:lstStyle/>
          <a:p>
            <a:pPr indent="0" marL="0">
              <a:lnSpc>
                <a:spcPct val="110000"/>
              </a:lnSpc>
              <a:buNone/>
            </a:pPr>
            <a:r>
              <a:rPr lang="en-US" sz="1300" dirty="0">
                <a:solidFill>
                  <a:srgbClr val="64748B"/>
                </a:solidFill>
                <a:latin typeface="Calibri" pitchFamily="34" charset="0"/>
                <a:ea typeface="Calibri" pitchFamily="34" charset="-122"/>
                <a:cs typeface="Calibri" pitchFamily="34" charset="-120"/>
              </a:rPr>
              <a:t>Annual increments and performance rewards. Not in the flat salary run-rate, budget once revenue supports it.</a:t>
            </a:r>
            <a:endParaRPr lang="en-US" sz="1300" dirty="0"/>
          </a:p>
        </p:txBody>
      </p:sp>
      <p:sp>
        <p:nvSpPr>
          <p:cNvPr id="20" name="Text 18"/>
          <p:cNvSpPr/>
          <p:nvPr/>
        </p:nvSpPr>
        <p:spPr>
          <a:xfrm>
            <a:off x="457200" y="6473952"/>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ACER Credit Rating Pvt. Ltd.  |  FY27 Annual Operating Plan</a:t>
            </a:r>
            <a:endParaRPr lang="en-US" sz="900" dirty="0"/>
          </a:p>
        </p:txBody>
      </p:sp>
      <p:sp>
        <p:nvSpPr>
          <p:cNvPr id="21" name="Text 19"/>
          <p:cNvSpPr/>
          <p:nvPr/>
        </p:nvSpPr>
        <p:spPr>
          <a:xfrm>
            <a:off x="5943600" y="6473952"/>
            <a:ext cx="5788152"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Actuals from internal management accounts. Forward figures are labelled capacity projections.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640080"/>
            <a:ext cx="10058400" cy="320040"/>
          </a:xfrm>
          <a:prstGeom prst="rect">
            <a:avLst/>
          </a:prstGeom>
          <a:noFill/>
          <a:ln/>
        </p:spPr>
        <p:txBody>
          <a:bodyPr wrap="square" rtlCol="0" anchor="ctr"/>
          <a:lstStyle/>
          <a:p>
            <a:pPr indent="0" marL="0">
              <a:buNone/>
            </a:pPr>
            <a:r>
              <a:rPr lang="en-US" sz="1300" b="1" spc="300" kern="0" dirty="0">
                <a:solidFill>
                  <a:srgbClr val="0D9488"/>
                </a:solidFill>
                <a:latin typeface="Calibri" pitchFamily="34" charset="0"/>
                <a:ea typeface="Calibri" pitchFamily="34" charset="-122"/>
                <a:cs typeface="Calibri" pitchFamily="34" charset="-120"/>
              </a:rPr>
              <a:t>WHAT THIS PLAN NEEDS</a:t>
            </a:r>
            <a:endParaRPr lang="en-US" sz="1300" dirty="0"/>
          </a:p>
        </p:txBody>
      </p:sp>
      <p:sp>
        <p:nvSpPr>
          <p:cNvPr id="3" name="Text 1"/>
          <p:cNvSpPr/>
          <p:nvPr/>
        </p:nvSpPr>
        <p:spPr>
          <a:xfrm>
            <a:off x="548640" y="960120"/>
            <a:ext cx="10972800" cy="68580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Three decisions carry the year</a:t>
            </a:r>
            <a:endParaRPr lang="en-US" sz="3400" dirty="0"/>
          </a:p>
        </p:txBody>
      </p:sp>
      <p:sp>
        <p:nvSpPr>
          <p:cNvPr id="4" name="Shape 2"/>
          <p:cNvSpPr/>
          <p:nvPr/>
        </p:nvSpPr>
        <p:spPr>
          <a:xfrm>
            <a:off x="548640" y="1965960"/>
            <a:ext cx="731520" cy="731520"/>
          </a:xfrm>
          <a:prstGeom prst="roundRect">
            <a:avLst>
              <a:gd name="adj" fmla="val 50000"/>
            </a:avLst>
          </a:prstGeom>
          <a:solidFill>
            <a:srgbClr val="0D9488"/>
          </a:solidFill>
          <a:ln/>
        </p:spPr>
      </p:sp>
      <p:sp>
        <p:nvSpPr>
          <p:cNvPr id="5" name="Text 3"/>
          <p:cNvSpPr/>
          <p:nvPr/>
        </p:nvSpPr>
        <p:spPr>
          <a:xfrm>
            <a:off x="548640" y="196596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a:t>
            </a:r>
            <a:endParaRPr lang="en-US" sz="2800" dirty="0"/>
          </a:p>
        </p:txBody>
      </p:sp>
      <p:sp>
        <p:nvSpPr>
          <p:cNvPr id="6" name="Text 4"/>
          <p:cNvSpPr/>
          <p:nvPr/>
        </p:nvSpPr>
        <p:spPr>
          <a:xfrm>
            <a:off x="1508760" y="1947672"/>
            <a:ext cx="10058400" cy="45720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Phase IPO delivery now</a:t>
            </a:r>
            <a:endParaRPr lang="en-US" sz="2000" dirty="0"/>
          </a:p>
        </p:txBody>
      </p:sp>
      <p:sp>
        <p:nvSpPr>
          <p:cNvPr id="7" name="Text 5"/>
          <p:cNvSpPr/>
          <p:nvPr/>
        </p:nvSpPr>
        <p:spPr>
          <a:xfrm>
            <a:off x="1508760" y="2368296"/>
            <a:ext cx="9966960" cy="868680"/>
          </a:xfrm>
          <a:prstGeom prst="rect">
            <a:avLst/>
          </a:prstGeom>
          <a:noFill/>
          <a:ln/>
        </p:spPr>
        <p:txBody>
          <a:bodyPr wrap="square" rtlCol="0" anchor="t"/>
          <a:lstStyle/>
          <a:p>
            <a:pPr indent="0" marL="0">
              <a:lnSpc>
                <a:spcPct val="108000"/>
              </a:lnSpc>
              <a:buNone/>
            </a:pPr>
            <a:r>
              <a:rPr lang="en-US" sz="1350" dirty="0">
                <a:solidFill>
                  <a:srgbClr val="CADCFC"/>
                </a:solidFill>
                <a:latin typeface="Calibri" pitchFamily="34" charset="0"/>
                <a:ea typeface="Calibri" pitchFamily="34" charset="-122"/>
                <a:cs typeface="Calibri" pitchFamily="34" charset="-120"/>
              </a:rPr>
              <a:t>Commit an October, November, December delivery calendar with clients before the licence lands, so BLR has a lane the day it goes live. Highest leverage move in the plan.</a:t>
            </a:r>
            <a:endParaRPr lang="en-US" sz="1350" dirty="0"/>
          </a:p>
        </p:txBody>
      </p:sp>
      <p:sp>
        <p:nvSpPr>
          <p:cNvPr id="8" name="Shape 6"/>
          <p:cNvSpPr/>
          <p:nvPr/>
        </p:nvSpPr>
        <p:spPr>
          <a:xfrm>
            <a:off x="548640" y="3383280"/>
            <a:ext cx="731520" cy="731520"/>
          </a:xfrm>
          <a:prstGeom prst="roundRect">
            <a:avLst>
              <a:gd name="adj" fmla="val 50000"/>
            </a:avLst>
          </a:prstGeom>
          <a:solidFill>
            <a:srgbClr val="0D9488"/>
          </a:solidFill>
          <a:ln/>
        </p:spPr>
      </p:sp>
      <p:sp>
        <p:nvSpPr>
          <p:cNvPr id="9" name="Text 7"/>
          <p:cNvSpPr/>
          <p:nvPr/>
        </p:nvSpPr>
        <p:spPr>
          <a:xfrm>
            <a:off x="548640" y="338328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a:t>
            </a:r>
            <a:endParaRPr lang="en-US" sz="2800" dirty="0"/>
          </a:p>
        </p:txBody>
      </p:sp>
      <p:sp>
        <p:nvSpPr>
          <p:cNvPr id="10" name="Text 8"/>
          <p:cNvSpPr/>
          <p:nvPr/>
        </p:nvSpPr>
        <p:spPr>
          <a:xfrm>
            <a:off x="1508760" y="3364992"/>
            <a:ext cx="10058400" cy="45720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Make the analyst hire a rule</a:t>
            </a:r>
            <a:endParaRPr lang="en-US" sz="2000" dirty="0"/>
          </a:p>
        </p:txBody>
      </p:sp>
      <p:sp>
        <p:nvSpPr>
          <p:cNvPr id="11" name="Text 9"/>
          <p:cNvSpPr/>
          <p:nvPr/>
        </p:nvSpPr>
        <p:spPr>
          <a:xfrm>
            <a:off x="1508760" y="3785616"/>
            <a:ext cx="9966960" cy="868680"/>
          </a:xfrm>
          <a:prstGeom prst="rect">
            <a:avLst/>
          </a:prstGeom>
          <a:noFill/>
          <a:ln/>
        </p:spPr>
        <p:txBody>
          <a:bodyPr wrap="square" rtlCol="0" anchor="t"/>
          <a:lstStyle/>
          <a:p>
            <a:pPr indent="0" marL="0">
              <a:lnSpc>
                <a:spcPct val="108000"/>
              </a:lnSpc>
              <a:buNone/>
            </a:pPr>
            <a:r>
              <a:rPr lang="en-US" sz="1350" dirty="0">
                <a:solidFill>
                  <a:srgbClr val="CADCFC"/>
                </a:solidFill>
                <a:latin typeface="Calibri" pitchFamily="34" charset="0"/>
                <a:ea typeface="Calibri" pitchFamily="34" charset="-122"/>
                <a:cs typeface="Calibri" pitchFamily="34" charset="-120"/>
              </a:rPr>
              <a:t>Add the sixth executor the first time residual capacity turns negative two months running, and only in the BLR live scenarios. Not on a hunch.</a:t>
            </a:r>
            <a:endParaRPr lang="en-US" sz="1350" dirty="0"/>
          </a:p>
        </p:txBody>
      </p:sp>
      <p:sp>
        <p:nvSpPr>
          <p:cNvPr id="12" name="Shape 10"/>
          <p:cNvSpPr/>
          <p:nvPr/>
        </p:nvSpPr>
        <p:spPr>
          <a:xfrm>
            <a:off x="548640" y="4800600"/>
            <a:ext cx="731520" cy="731520"/>
          </a:xfrm>
          <a:prstGeom prst="roundRect">
            <a:avLst>
              <a:gd name="adj" fmla="val 50000"/>
            </a:avLst>
          </a:prstGeom>
          <a:solidFill>
            <a:srgbClr val="0D9488"/>
          </a:solidFill>
          <a:ln/>
        </p:spPr>
      </p:sp>
      <p:sp>
        <p:nvSpPr>
          <p:cNvPr id="13" name="Text 11"/>
          <p:cNvSpPr/>
          <p:nvPr/>
        </p:nvSpPr>
        <p:spPr>
          <a:xfrm>
            <a:off x="548640" y="480060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a:t>
            </a:r>
            <a:endParaRPr lang="en-US" sz="2800" dirty="0"/>
          </a:p>
        </p:txBody>
      </p:sp>
      <p:sp>
        <p:nvSpPr>
          <p:cNvPr id="14" name="Text 12"/>
          <p:cNvSpPr/>
          <p:nvPr/>
        </p:nvSpPr>
        <p:spPr>
          <a:xfrm>
            <a:off x="1508760" y="4782312"/>
            <a:ext cx="10058400" cy="45720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Execution is the multiplier</a:t>
            </a:r>
            <a:endParaRPr lang="en-US" sz="2000" dirty="0"/>
          </a:p>
        </p:txBody>
      </p:sp>
      <p:sp>
        <p:nvSpPr>
          <p:cNvPr id="15" name="Text 13"/>
          <p:cNvSpPr/>
          <p:nvPr/>
        </p:nvSpPr>
        <p:spPr>
          <a:xfrm>
            <a:off x="1508760" y="5202936"/>
            <a:ext cx="9966960" cy="868680"/>
          </a:xfrm>
          <a:prstGeom prst="rect">
            <a:avLst/>
          </a:prstGeom>
          <a:noFill/>
          <a:ln/>
        </p:spPr>
        <p:txBody>
          <a:bodyPr wrap="square" rtlCol="0" anchor="t"/>
          <a:lstStyle/>
          <a:p>
            <a:pPr indent="0" marL="0">
              <a:lnSpc>
                <a:spcPct val="108000"/>
              </a:lnSpc>
              <a:buNone/>
            </a:pPr>
            <a:r>
              <a:rPr lang="en-US" sz="1350" dirty="0">
                <a:solidFill>
                  <a:srgbClr val="CADCFC"/>
                </a:solidFill>
                <a:latin typeface="Calibri" pitchFamily="34" charset="0"/>
                <a:ea typeface="Calibri" pitchFamily="34" charset="-122"/>
                <a:cs typeface="Calibri" pitchFamily="34" charset="-120"/>
              </a:rPr>
              <a:t>Every number assumes IPO and rating cases are delivered on time and to quality. Done well the team compounds into these figures. Slip, and even the BLR scenarios stop reaching break even.</a:t>
            </a:r>
            <a:endParaRPr lang="en-US" sz="1350" dirty="0"/>
          </a:p>
        </p:txBody>
      </p:sp>
      <p:sp>
        <p:nvSpPr>
          <p:cNvPr id="16" name="Text 14"/>
          <p:cNvSpPr/>
          <p:nvPr/>
        </p:nvSpPr>
        <p:spPr>
          <a:xfrm>
            <a:off x="548640" y="6400800"/>
            <a:ext cx="10972800" cy="32004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ACER Credit Rating Pvt. Ltd.   |   FY27 Annual Operating Plan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ACER FY27 Annual Operating Plan</dc:title>
  <dc:subject>PptxGenJS Presentation</dc:subject>
  <dc:creator>ACER Credit Rating Pvt. Ltd.</dc:creator>
  <cp:lastModifiedBy>ACER Credit Rating Pvt. Ltd.</cp:lastModifiedBy>
  <cp:revision>1</cp:revision>
  <dcterms:created xsi:type="dcterms:W3CDTF">2026-07-27T12:50:45Z</dcterms:created>
  <dcterms:modified xsi:type="dcterms:W3CDTF">2026-07-27T12:50:45Z</dcterms:modified>
</cp:coreProperties>
</file>
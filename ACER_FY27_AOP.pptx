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72A"/>
          </a:solidFill>
          <a:ln/>
        </p:spPr>
      </p:sp>
      <p:sp>
        <p:nvSpPr>
          <p:cNvPr id="3" name="Shape 1"/>
          <p:cNvSpPr/>
          <p:nvPr/>
        </p:nvSpPr>
        <p:spPr>
          <a:xfrm>
            <a:off x="548640" y="502920"/>
            <a:ext cx="566928" cy="566928"/>
          </a:xfrm>
          <a:prstGeom prst="roundRect">
            <a:avLst>
              <a:gd name="adj" fmla="val 19355"/>
            </a:avLst>
          </a:prstGeom>
          <a:solidFill>
            <a:srgbClr val="0D9488"/>
          </a:solidFill>
          <a:ln/>
        </p:spPr>
      </p:sp>
      <p:sp>
        <p:nvSpPr>
          <p:cNvPr id="4" name="Text 2"/>
          <p:cNvSpPr/>
          <p:nvPr/>
        </p:nvSpPr>
        <p:spPr>
          <a:xfrm>
            <a:off x="548640" y="502920"/>
            <a:ext cx="566928"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A</a:t>
            </a:r>
            <a:endParaRPr lang="en-US" sz="3000" dirty="0"/>
          </a:p>
        </p:txBody>
      </p:sp>
      <p:sp>
        <p:nvSpPr>
          <p:cNvPr id="5" name="Text 3"/>
          <p:cNvSpPr/>
          <p:nvPr/>
        </p:nvSpPr>
        <p:spPr>
          <a:xfrm>
            <a:off x="1225296" y="548640"/>
            <a:ext cx="7315200" cy="457200"/>
          </a:xfrm>
          <a:prstGeom prst="rect">
            <a:avLst/>
          </a:prstGeom>
          <a:noFill/>
          <a:ln/>
        </p:spPr>
        <p:txBody>
          <a:bodyPr wrap="square" rtlCol="0" anchor="ctr"/>
          <a:lstStyle/>
          <a:p>
            <a:pPr indent="0" marL="0">
              <a:buNone/>
            </a:pPr>
            <a:r>
              <a:rPr lang="en-US" sz="1500" b="1" spc="300" kern="0" dirty="0">
                <a:solidFill>
                  <a:srgbClr val="CADCFC"/>
                </a:solidFill>
                <a:latin typeface="Calibri" pitchFamily="34" charset="0"/>
                <a:ea typeface="Calibri" pitchFamily="34" charset="-122"/>
                <a:cs typeface="Calibri" pitchFamily="34" charset="-120"/>
              </a:rPr>
              <a:t>ACER CREDIT RATING</a:t>
            </a:r>
            <a:endParaRPr lang="en-US" sz="1500" dirty="0"/>
          </a:p>
        </p:txBody>
      </p:sp>
      <p:sp>
        <p:nvSpPr>
          <p:cNvPr id="6" name="Text 4"/>
          <p:cNvSpPr/>
          <p:nvPr/>
        </p:nvSpPr>
        <p:spPr>
          <a:xfrm>
            <a:off x="548640" y="2148840"/>
            <a:ext cx="10972800" cy="457200"/>
          </a:xfrm>
          <a:prstGeom prst="rect">
            <a:avLst/>
          </a:prstGeom>
          <a:noFill/>
          <a:ln/>
        </p:spPr>
        <p:txBody>
          <a:bodyPr wrap="square" rtlCol="0" anchor="ctr"/>
          <a:lstStyle/>
          <a:p>
            <a:pPr indent="0" marL="0">
              <a:buNone/>
            </a:pPr>
            <a:r>
              <a:rPr lang="en-US" sz="1800" b="1" dirty="0">
                <a:solidFill>
                  <a:srgbClr val="0D9488"/>
                </a:solidFill>
                <a:latin typeface="Calibri" pitchFamily="34" charset="0"/>
                <a:ea typeface="Calibri" pitchFamily="34" charset="-122"/>
                <a:cs typeface="Calibri" pitchFamily="34" charset="-120"/>
              </a:rPr>
              <a:t>FY27 Annual Operating Plan</a:t>
            </a:r>
            <a:endParaRPr lang="en-US" sz="1800" dirty="0"/>
          </a:p>
        </p:txBody>
      </p:sp>
      <p:sp>
        <p:nvSpPr>
          <p:cNvPr id="7" name="Text 5"/>
          <p:cNvSpPr/>
          <p:nvPr/>
        </p:nvSpPr>
        <p:spPr>
          <a:xfrm>
            <a:off x="502920" y="2560320"/>
            <a:ext cx="11155680" cy="1737360"/>
          </a:xfrm>
          <a:prstGeom prst="rect">
            <a:avLst/>
          </a:prstGeom>
          <a:noFill/>
          <a:ln/>
        </p:spPr>
        <p:txBody>
          <a:bodyPr wrap="square" rtlCol="0" anchor="ctr"/>
          <a:lstStyle/>
          <a:p>
            <a:pPr indent="0" marL="0">
              <a:lnSpc>
                <a:spcPct val="98000"/>
              </a:lnSpc>
              <a:buNone/>
            </a:pPr>
            <a:r>
              <a:rPr lang="en-US" sz="5200" b="1" dirty="0">
                <a:solidFill>
                  <a:srgbClr val="FFFFFF"/>
                </a:solidFill>
                <a:latin typeface="Calibri" pitchFamily="34" charset="0"/>
                <a:ea typeface="Calibri" pitchFamily="34" charset="-122"/>
                <a:cs typeface="Calibri" pitchFamily="34" charset="-120"/>
              </a:rPr>
              <a:t>Two revenue engines,</a:t>
            </a:r>
            <a:endParaRPr lang="en-US" sz="5200" dirty="0"/>
          </a:p>
          <a:p>
            <a:pPr indent="0" marL="0">
              <a:lnSpc>
                <a:spcPct val="98000"/>
              </a:lnSpc>
              <a:buNone/>
            </a:pPr>
            <a:r>
              <a:rPr lang="en-US" sz="5200" b="1" dirty="0">
                <a:solidFill>
                  <a:srgbClr val="FFFFFF"/>
                </a:solidFill>
                <a:latin typeface="Calibri" pitchFamily="34" charset="0"/>
                <a:ea typeface="Calibri" pitchFamily="34" charset="-122"/>
                <a:cs typeface="Calibri" pitchFamily="34" charset="-120"/>
              </a:rPr>
              <a:t>one five person team.</a:t>
            </a:r>
            <a:endParaRPr lang="en-US" sz="5200" dirty="0"/>
          </a:p>
        </p:txBody>
      </p:sp>
      <p:sp>
        <p:nvSpPr>
          <p:cNvPr id="8" name="Text 6"/>
          <p:cNvSpPr/>
          <p:nvPr/>
        </p:nvSpPr>
        <p:spPr>
          <a:xfrm>
            <a:off x="548640" y="4434840"/>
            <a:ext cx="8412480" cy="914400"/>
          </a:xfrm>
          <a:prstGeom prst="rect">
            <a:avLst/>
          </a:prstGeom>
          <a:noFill/>
          <a:ln/>
        </p:spPr>
        <p:txBody>
          <a:bodyPr wrap="square" rtlCol="0" anchor="ctr"/>
          <a:lstStyle/>
          <a:p>
            <a:pPr indent="0" marL="0">
              <a:lnSpc>
                <a:spcPct val="110000"/>
              </a:lnSpc>
              <a:buNone/>
            </a:pPr>
            <a:r>
              <a:rPr lang="en-US" sz="1500" dirty="0">
                <a:solidFill>
                  <a:srgbClr val="CADCFC"/>
                </a:solidFill>
                <a:latin typeface="Calibri" pitchFamily="34" charset="0"/>
                <a:ea typeface="Calibri" pitchFamily="34" charset="-122"/>
                <a:cs typeface="Calibri" pitchFamily="34" charset="-120"/>
              </a:rPr>
              <a:t>When the bank loan rating licence lands decides when ACER breaks even. This plan shows how the IPO and BLR books share one team, month by month, so the licence turns into revenue instead of a bottleneck.</a:t>
            </a:r>
            <a:endParaRPr lang="en-US" sz="1500" dirty="0"/>
          </a:p>
        </p:txBody>
      </p:sp>
      <p:sp>
        <p:nvSpPr>
          <p:cNvPr id="9" name="Text 7"/>
          <p:cNvSpPr/>
          <p:nvPr/>
        </p:nvSpPr>
        <p:spPr>
          <a:xfrm>
            <a:off x="548640" y="6172200"/>
            <a:ext cx="10058400" cy="274320"/>
          </a:xfrm>
          <a:prstGeom prst="rect">
            <a:avLst/>
          </a:prstGeom>
          <a:noFill/>
          <a:ln/>
        </p:spPr>
        <p:txBody>
          <a:bodyPr wrap="square"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Prepared for the Board  |  FY = April 2026 to March 2027</a:t>
            </a:r>
            <a:endParaRPr lang="en-US" sz="1100" dirty="0"/>
          </a:p>
        </p:txBody>
      </p:sp>
      <p:sp>
        <p:nvSpPr>
          <p:cNvPr id="10" name="Shape 8"/>
          <p:cNvSpPr/>
          <p:nvPr/>
        </p:nvSpPr>
        <p:spPr>
          <a:xfrm>
            <a:off x="548640" y="5486400"/>
            <a:ext cx="2560320" cy="566928"/>
          </a:xfrm>
          <a:prstGeom prst="roundRect">
            <a:avLst>
              <a:gd name="adj" fmla="val 12903"/>
            </a:avLst>
          </a:prstGeom>
          <a:solidFill>
            <a:srgbClr val="1E293B"/>
          </a:solidFill>
          <a:ln/>
        </p:spPr>
      </p:sp>
      <p:sp>
        <p:nvSpPr>
          <p:cNvPr id="11" name="Text 9"/>
          <p:cNvSpPr/>
          <p:nvPr/>
        </p:nvSpPr>
        <p:spPr>
          <a:xfrm>
            <a:off x="676656" y="5541264"/>
            <a:ext cx="237744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₹26.1 Cr</a:t>
            </a:r>
            <a:endParaRPr lang="en-US" sz="1600" dirty="0"/>
          </a:p>
        </p:txBody>
      </p:sp>
      <p:sp>
        <p:nvSpPr>
          <p:cNvPr id="12" name="Text 10"/>
          <p:cNvSpPr/>
          <p:nvPr/>
        </p:nvSpPr>
        <p:spPr>
          <a:xfrm>
            <a:off x="676656" y="5824728"/>
            <a:ext cx="237744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FD corpus</a:t>
            </a:r>
            <a:endParaRPr lang="en-US" sz="950" dirty="0"/>
          </a:p>
        </p:txBody>
      </p:sp>
      <p:sp>
        <p:nvSpPr>
          <p:cNvPr id="13" name="Shape 11"/>
          <p:cNvSpPr/>
          <p:nvPr/>
        </p:nvSpPr>
        <p:spPr>
          <a:xfrm>
            <a:off x="3310128" y="5486400"/>
            <a:ext cx="2560320" cy="566928"/>
          </a:xfrm>
          <a:prstGeom prst="roundRect">
            <a:avLst>
              <a:gd name="adj" fmla="val 12903"/>
            </a:avLst>
          </a:prstGeom>
          <a:solidFill>
            <a:srgbClr val="1E293B"/>
          </a:solidFill>
          <a:ln/>
        </p:spPr>
      </p:sp>
      <p:sp>
        <p:nvSpPr>
          <p:cNvPr id="14" name="Text 12"/>
          <p:cNvSpPr/>
          <p:nvPr/>
        </p:nvSpPr>
        <p:spPr>
          <a:xfrm>
            <a:off x="3438144" y="5541264"/>
            <a:ext cx="237744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₹5.34 Cr</a:t>
            </a:r>
            <a:endParaRPr lang="en-US" sz="1600" dirty="0"/>
          </a:p>
        </p:txBody>
      </p:sp>
      <p:sp>
        <p:nvSpPr>
          <p:cNvPr id="15" name="Text 13"/>
          <p:cNvSpPr/>
          <p:nvPr/>
        </p:nvSpPr>
        <p:spPr>
          <a:xfrm>
            <a:off x="3438144" y="5824728"/>
            <a:ext cx="237744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FY27 cost base</a:t>
            </a:r>
            <a:endParaRPr lang="en-US" sz="950" dirty="0"/>
          </a:p>
        </p:txBody>
      </p:sp>
      <p:sp>
        <p:nvSpPr>
          <p:cNvPr id="16" name="Shape 14"/>
          <p:cNvSpPr/>
          <p:nvPr/>
        </p:nvSpPr>
        <p:spPr>
          <a:xfrm>
            <a:off x="6071616" y="5486400"/>
            <a:ext cx="2560320" cy="566928"/>
          </a:xfrm>
          <a:prstGeom prst="roundRect">
            <a:avLst>
              <a:gd name="adj" fmla="val 12903"/>
            </a:avLst>
          </a:prstGeom>
          <a:solidFill>
            <a:srgbClr val="1E293B"/>
          </a:solidFill>
          <a:ln/>
        </p:spPr>
      </p:sp>
      <p:sp>
        <p:nvSpPr>
          <p:cNvPr id="17" name="Text 15"/>
          <p:cNvSpPr/>
          <p:nvPr/>
        </p:nvSpPr>
        <p:spPr>
          <a:xfrm>
            <a:off x="6199632" y="5541264"/>
            <a:ext cx="237744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2.5 bps</a:t>
            </a:r>
            <a:endParaRPr lang="en-US" sz="1600" dirty="0"/>
          </a:p>
        </p:txBody>
      </p:sp>
      <p:sp>
        <p:nvSpPr>
          <p:cNvPr id="18" name="Text 16"/>
          <p:cNvSpPr/>
          <p:nvPr/>
        </p:nvSpPr>
        <p:spPr>
          <a:xfrm>
            <a:off x="6199632" y="5824728"/>
            <a:ext cx="237744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BLR initial fee</a:t>
            </a:r>
            <a:endParaRPr lang="en-US" sz="950" dirty="0"/>
          </a:p>
        </p:txBody>
      </p:sp>
      <p:sp>
        <p:nvSpPr>
          <p:cNvPr id="19" name="Shape 17"/>
          <p:cNvSpPr/>
          <p:nvPr/>
        </p:nvSpPr>
        <p:spPr>
          <a:xfrm>
            <a:off x="8833104" y="5486400"/>
            <a:ext cx="2560320" cy="566928"/>
          </a:xfrm>
          <a:prstGeom prst="roundRect">
            <a:avLst>
              <a:gd name="adj" fmla="val 12903"/>
            </a:avLst>
          </a:prstGeom>
          <a:solidFill>
            <a:srgbClr val="1E293B"/>
          </a:solidFill>
          <a:ln/>
        </p:spPr>
      </p:sp>
      <p:sp>
        <p:nvSpPr>
          <p:cNvPr id="20" name="Text 18"/>
          <p:cNvSpPr/>
          <p:nvPr/>
        </p:nvSpPr>
        <p:spPr>
          <a:xfrm>
            <a:off x="8961120" y="5541264"/>
            <a:ext cx="237744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~20 / mo</a:t>
            </a:r>
            <a:endParaRPr lang="en-US" sz="1600" dirty="0"/>
          </a:p>
        </p:txBody>
      </p:sp>
      <p:sp>
        <p:nvSpPr>
          <p:cNvPr id="21" name="Text 19"/>
          <p:cNvSpPr/>
          <p:nvPr/>
        </p:nvSpPr>
        <p:spPr>
          <a:xfrm>
            <a:off x="8961120" y="5824728"/>
            <a:ext cx="237744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case capacity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47120" cy="274320"/>
          </a:xfrm>
          <a:prstGeom prst="rect">
            <a:avLst/>
          </a:prstGeom>
          <a:noFill/>
          <a:ln/>
        </p:spPr>
        <p:txBody>
          <a:bodyPr wrap="square"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WHERE ACER STANDS TODAY, ACTUALS</a:t>
            </a:r>
            <a:endParaRPr lang="en-US" sz="1200" dirty="0"/>
          </a:p>
        </p:txBody>
      </p:sp>
      <p:sp>
        <p:nvSpPr>
          <p:cNvPr id="3" name="Text 1"/>
          <p:cNvSpPr/>
          <p:nvPr/>
        </p:nvSpPr>
        <p:spPr>
          <a:xfrm>
            <a:off x="457200" y="658368"/>
            <a:ext cx="11247120" cy="658368"/>
          </a:xfrm>
          <a:prstGeom prst="rect">
            <a:avLst/>
          </a:prstGeom>
          <a:noFill/>
          <a:ln/>
        </p:spPr>
        <p:txBody>
          <a:bodyPr wrap="square"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A people led cost base, cushioned by FD interest</a:t>
            </a:r>
            <a:endParaRPr lang="en-US" sz="3200" dirty="0"/>
          </a:p>
        </p:txBody>
      </p:sp>
      <p:sp>
        <p:nvSpPr>
          <p:cNvPr id="4" name="Shape 2"/>
          <p:cNvSpPr/>
          <p:nvPr/>
        </p:nvSpPr>
        <p:spPr>
          <a:xfrm>
            <a:off x="457200" y="1554480"/>
            <a:ext cx="2606040" cy="1143000"/>
          </a:xfrm>
          <a:prstGeom prst="roundRect">
            <a:avLst>
              <a:gd name="adj" fmla="val 7200"/>
            </a:avLst>
          </a:prstGeom>
          <a:solidFill>
            <a:srgbClr val="F1F5F9"/>
          </a:solidFill>
          <a:ln/>
        </p:spPr>
      </p:sp>
      <p:sp>
        <p:nvSpPr>
          <p:cNvPr id="5" name="Text 3"/>
          <p:cNvSpPr/>
          <p:nvPr/>
        </p:nvSpPr>
        <p:spPr>
          <a:xfrm>
            <a:off x="475488" y="1664208"/>
            <a:ext cx="2569464" cy="594360"/>
          </a:xfrm>
          <a:prstGeom prst="rect">
            <a:avLst/>
          </a:prstGeom>
          <a:noFill/>
          <a:ln/>
        </p:spPr>
        <p:txBody>
          <a:bodyPr wrap="square" lIns="0" tIns="0" rIns="0" bIns="0" rtlCol="0" anchor="ctr"/>
          <a:lstStyle/>
          <a:p>
            <a:pPr algn="ctr" indent="0" marL="0">
              <a:buNone/>
            </a:pPr>
            <a:r>
              <a:rPr lang="en-US" sz="2200" b="1" dirty="0">
                <a:solidFill>
                  <a:srgbClr val="0F172A"/>
                </a:solidFill>
                <a:latin typeface="Calibri" pitchFamily="34" charset="0"/>
                <a:ea typeface="Calibri" pitchFamily="34" charset="-122"/>
                <a:cs typeface="Calibri" pitchFamily="34" charset="-120"/>
              </a:rPr>
              <a:t>₹26.1 Cr</a:t>
            </a:r>
            <a:endParaRPr lang="en-US" sz="2200" dirty="0"/>
          </a:p>
        </p:txBody>
      </p:sp>
      <p:sp>
        <p:nvSpPr>
          <p:cNvPr id="6" name="Text 4"/>
          <p:cNvSpPr/>
          <p:nvPr/>
        </p:nvSpPr>
        <p:spPr>
          <a:xfrm>
            <a:off x="512064" y="2240280"/>
            <a:ext cx="2496312" cy="388620"/>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FD corpus (booked)</a:t>
            </a:r>
            <a:endParaRPr lang="en-US" sz="1050" dirty="0"/>
          </a:p>
        </p:txBody>
      </p:sp>
      <p:sp>
        <p:nvSpPr>
          <p:cNvPr id="7" name="Shape 5"/>
          <p:cNvSpPr/>
          <p:nvPr/>
        </p:nvSpPr>
        <p:spPr>
          <a:xfrm>
            <a:off x="3200400" y="1554480"/>
            <a:ext cx="2606040" cy="1143000"/>
          </a:xfrm>
          <a:prstGeom prst="roundRect">
            <a:avLst>
              <a:gd name="adj" fmla="val 7200"/>
            </a:avLst>
          </a:prstGeom>
          <a:solidFill>
            <a:srgbClr val="F1F5F9"/>
          </a:solidFill>
          <a:ln/>
        </p:spPr>
      </p:sp>
      <p:sp>
        <p:nvSpPr>
          <p:cNvPr id="8" name="Text 6"/>
          <p:cNvSpPr/>
          <p:nvPr/>
        </p:nvSpPr>
        <p:spPr>
          <a:xfrm>
            <a:off x="3218688" y="1664208"/>
            <a:ext cx="2569464" cy="594360"/>
          </a:xfrm>
          <a:prstGeom prst="rect">
            <a:avLst/>
          </a:prstGeom>
          <a:noFill/>
          <a:ln/>
        </p:spPr>
        <p:txBody>
          <a:bodyPr wrap="square" lIns="0" tIns="0" rIns="0" bIns="0" rtlCol="0" anchor="ctr"/>
          <a:lstStyle/>
          <a:p>
            <a:pPr algn="ctr" indent="0" marL="0">
              <a:buNone/>
            </a:pPr>
            <a:r>
              <a:rPr lang="en-US" sz="2200" b="1" dirty="0">
                <a:solidFill>
                  <a:srgbClr val="0D9488"/>
                </a:solidFill>
                <a:latin typeface="Calibri" pitchFamily="34" charset="0"/>
                <a:ea typeface="Calibri" pitchFamily="34" charset="-122"/>
                <a:cs typeface="Calibri" pitchFamily="34" charset="-120"/>
              </a:rPr>
              <a:t>95%</a:t>
            </a:r>
            <a:endParaRPr lang="en-US" sz="2200" dirty="0"/>
          </a:p>
        </p:txBody>
      </p:sp>
      <p:sp>
        <p:nvSpPr>
          <p:cNvPr id="9" name="Text 7"/>
          <p:cNvSpPr/>
          <p:nvPr/>
        </p:nvSpPr>
        <p:spPr>
          <a:xfrm>
            <a:off x="3255264" y="2240280"/>
            <a:ext cx="2496312" cy="388620"/>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FY26 income from FD interest</a:t>
            </a:r>
            <a:endParaRPr lang="en-US" sz="1050" dirty="0"/>
          </a:p>
        </p:txBody>
      </p:sp>
      <p:sp>
        <p:nvSpPr>
          <p:cNvPr id="10" name="Shape 8"/>
          <p:cNvSpPr/>
          <p:nvPr/>
        </p:nvSpPr>
        <p:spPr>
          <a:xfrm>
            <a:off x="5943600" y="1554480"/>
            <a:ext cx="2606040" cy="1143000"/>
          </a:xfrm>
          <a:prstGeom prst="roundRect">
            <a:avLst>
              <a:gd name="adj" fmla="val 7200"/>
            </a:avLst>
          </a:prstGeom>
          <a:solidFill>
            <a:srgbClr val="F1F5F9"/>
          </a:solidFill>
          <a:ln/>
        </p:spPr>
      </p:sp>
      <p:sp>
        <p:nvSpPr>
          <p:cNvPr id="11" name="Text 9"/>
          <p:cNvSpPr/>
          <p:nvPr/>
        </p:nvSpPr>
        <p:spPr>
          <a:xfrm>
            <a:off x="5961888" y="1664208"/>
            <a:ext cx="2569464" cy="594360"/>
          </a:xfrm>
          <a:prstGeom prst="rect">
            <a:avLst/>
          </a:prstGeom>
          <a:noFill/>
          <a:ln/>
        </p:spPr>
        <p:txBody>
          <a:bodyPr wrap="square" lIns="0" tIns="0" rIns="0" bIns="0" rtlCol="0" anchor="ctr"/>
          <a:lstStyle/>
          <a:p>
            <a:pPr algn="ctr" indent="0" marL="0">
              <a:buNone/>
            </a:pPr>
            <a:r>
              <a:rPr lang="en-US" sz="2200" b="1" dirty="0">
                <a:solidFill>
                  <a:srgbClr val="E11D48"/>
                </a:solidFill>
                <a:latin typeface="Calibri" pitchFamily="34" charset="0"/>
                <a:ea typeface="Calibri" pitchFamily="34" charset="-122"/>
                <a:cs typeface="Calibri" pitchFamily="34" charset="-120"/>
              </a:rPr>
              <a:t>₹23.9 L</a:t>
            </a:r>
            <a:endParaRPr lang="en-US" sz="2200" dirty="0"/>
          </a:p>
        </p:txBody>
      </p:sp>
      <p:sp>
        <p:nvSpPr>
          <p:cNvPr id="12" name="Text 10"/>
          <p:cNvSpPr/>
          <p:nvPr/>
        </p:nvSpPr>
        <p:spPr>
          <a:xfrm>
            <a:off x="5998464" y="2240280"/>
            <a:ext cx="2496312" cy="388620"/>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net cash burn a month</a:t>
            </a:r>
            <a:endParaRPr lang="en-US" sz="1050" dirty="0"/>
          </a:p>
        </p:txBody>
      </p:sp>
      <p:sp>
        <p:nvSpPr>
          <p:cNvPr id="13" name="Shape 11"/>
          <p:cNvSpPr/>
          <p:nvPr/>
        </p:nvSpPr>
        <p:spPr>
          <a:xfrm>
            <a:off x="8686800" y="1554480"/>
            <a:ext cx="2606040" cy="1143000"/>
          </a:xfrm>
          <a:prstGeom prst="roundRect">
            <a:avLst>
              <a:gd name="adj" fmla="val 7200"/>
            </a:avLst>
          </a:prstGeom>
          <a:solidFill>
            <a:srgbClr val="F1F5F9"/>
          </a:solidFill>
          <a:ln/>
        </p:spPr>
      </p:sp>
      <p:sp>
        <p:nvSpPr>
          <p:cNvPr id="14" name="Text 12"/>
          <p:cNvSpPr/>
          <p:nvPr/>
        </p:nvSpPr>
        <p:spPr>
          <a:xfrm>
            <a:off x="8705088" y="1664208"/>
            <a:ext cx="2569464" cy="594360"/>
          </a:xfrm>
          <a:prstGeom prst="rect">
            <a:avLst/>
          </a:prstGeom>
          <a:noFill/>
          <a:ln/>
        </p:spPr>
        <p:txBody>
          <a:bodyPr wrap="square" lIns="0" tIns="0" rIns="0" bIns="0" rtlCol="0" anchor="ctr"/>
          <a:lstStyle/>
          <a:p>
            <a:pPr algn="ctr" indent="0" marL="0">
              <a:buNone/>
            </a:pPr>
            <a:r>
              <a:rPr lang="en-US" sz="2200" b="1" dirty="0">
                <a:solidFill>
                  <a:srgbClr val="16A34A"/>
                </a:solidFill>
                <a:latin typeface="Calibri" pitchFamily="34" charset="0"/>
                <a:ea typeface="Calibri" pitchFamily="34" charset="-122"/>
                <a:cs typeface="Calibri" pitchFamily="34" charset="-120"/>
              </a:rPr>
              <a:t>₹28.5 L</a:t>
            </a:r>
            <a:endParaRPr lang="en-US" sz="2200" dirty="0"/>
          </a:p>
        </p:txBody>
      </p:sp>
      <p:sp>
        <p:nvSpPr>
          <p:cNvPr id="15" name="Text 13"/>
          <p:cNvSpPr/>
          <p:nvPr/>
        </p:nvSpPr>
        <p:spPr>
          <a:xfrm>
            <a:off x="8741664" y="2240280"/>
            <a:ext cx="2496312" cy="388620"/>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Q1 FY27 sales, 3.5x all of FY26</a:t>
            </a:r>
            <a:endParaRPr lang="en-US" sz="1050" dirty="0"/>
          </a:p>
        </p:txBody>
      </p:sp>
      <p:sp>
        <p:nvSpPr>
          <p:cNvPr id="16" name="Text 14"/>
          <p:cNvSpPr/>
          <p:nvPr/>
        </p:nvSpPr>
        <p:spPr>
          <a:xfrm>
            <a:off x="457200" y="2926080"/>
            <a:ext cx="5120640" cy="365760"/>
          </a:xfrm>
          <a:prstGeom prst="rect">
            <a:avLst/>
          </a:prstGeom>
          <a:noFill/>
          <a:ln/>
        </p:spPr>
        <p:txBody>
          <a:bodyPr wrap="square"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Where every rupee is spent</a:t>
            </a:r>
            <a:endParaRPr lang="en-US" sz="1800" dirty="0"/>
          </a:p>
        </p:txBody>
      </p:sp>
      <p:pic>
        <p:nvPicPr>
          <p:cNvPr id="17" name="Image 0" descr="/tmp/claude-0/-home-user-AOP/882c7cd9-4c83-533a-b587-3f8bdf195bc7/scratchpad/charts/costDonut.png">    </p:cNvPr>
          <p:cNvPicPr>
            <a:picLocks noChangeAspect="1"/>
          </p:cNvPicPr>
          <p:nvPr/>
        </p:nvPicPr>
        <p:blipFill>
          <a:blip r:embed="rId1"/>
          <a:stretch>
            <a:fillRect/>
          </a:stretch>
        </p:blipFill>
        <p:spPr>
          <a:xfrm>
            <a:off x="640080" y="3246120"/>
            <a:ext cx="3108960" cy="2587752"/>
          </a:xfrm>
          <a:prstGeom prst="rect">
            <a:avLst/>
          </a:prstGeom>
        </p:spPr>
      </p:pic>
      <p:sp>
        <p:nvSpPr>
          <p:cNvPr id="18" name="Text 15"/>
          <p:cNvSpPr/>
          <p:nvPr/>
        </p:nvSpPr>
        <p:spPr>
          <a:xfrm>
            <a:off x="4023360" y="3383280"/>
            <a:ext cx="4572000" cy="2468880"/>
          </a:xfrm>
          <a:prstGeom prst="rect">
            <a:avLst/>
          </a:prstGeom>
          <a:noFill/>
          <a:ln/>
        </p:spPr>
        <p:txBody>
          <a:bodyPr wrap="square" rtlCol="0" anchor="ctr"/>
          <a:lstStyle/>
          <a:p>
            <a:pPr marL="342900" indent="-342900">
              <a:lnSpc>
                <a:spcPct val="102000"/>
              </a:lnSpc>
              <a:spcAft>
                <a:spcPts val="900"/>
              </a:spcAft>
              <a:buSzPct val="100000"/>
              <a:buChar char="•"/>
            </a:pPr>
            <a:r>
              <a:rPr lang="en-US" sz="1350" dirty="0">
                <a:solidFill>
                  <a:srgbClr val="0F172A"/>
                </a:solidFill>
                <a:latin typeface="Calibri" pitchFamily="34" charset="0"/>
                <a:ea typeface="Calibri" pitchFamily="34" charset="-122"/>
                <a:cs typeface="Calibri" pitchFamily="34" charset="-120"/>
              </a:rPr>
              <a:t>Employee expense is about 61% of spend</a:t>
            </a:r>
            <a:endParaRPr lang="en-US" sz="1350" dirty="0"/>
          </a:p>
          <a:p>
            <a:pPr marL="342900" indent="-342900">
              <a:lnSpc>
                <a:spcPct val="102000"/>
              </a:lnSpc>
              <a:spcAft>
                <a:spcPts val="900"/>
              </a:spcAft>
              <a:buSzPct val="100000"/>
              <a:buChar char="•"/>
            </a:pPr>
            <a:r>
              <a:rPr lang="en-US" sz="1350" dirty="0">
                <a:solidFill>
                  <a:srgbClr val="0F172A"/>
                </a:solidFill>
                <a:latin typeface="Calibri" pitchFamily="34" charset="0"/>
                <a:ea typeface="Calibri" pitchFamily="34" charset="-122"/>
                <a:cs typeface="Calibri" pitchFamily="34" charset="-120"/>
              </a:rPr>
              <a:t>Cost base rebuilt bottom up to ₹5.34 Cr: adds RC meeting fees, three secretarial (board) meetings, and one time IT and branding</a:t>
            </a:r>
            <a:endParaRPr lang="en-US" sz="1350" dirty="0"/>
          </a:p>
          <a:p>
            <a:pPr marL="342900" indent="-342900">
              <a:lnSpc>
                <a:spcPct val="102000"/>
              </a:lnSpc>
              <a:spcAft>
                <a:spcPts val="900"/>
              </a:spcAft>
              <a:buSzPct val="100000"/>
              <a:buChar char="•"/>
            </a:pPr>
            <a:r>
              <a:rPr lang="en-US" sz="1350" dirty="0">
                <a:solidFill>
                  <a:srgbClr val="0F172A"/>
                </a:solidFill>
                <a:latin typeface="Calibri" pitchFamily="34" charset="0"/>
                <a:ea typeface="Calibri" pitchFamily="34" charset="-122"/>
                <a:cs typeface="Calibri" pitchFamily="34" charset="-120"/>
              </a:rPr>
              <a:t>Insurance dropped from the base case, kept as good to have</a:t>
            </a:r>
            <a:endParaRPr lang="en-US" sz="1350" dirty="0"/>
          </a:p>
          <a:p>
            <a:pPr marL="342900" indent="-342900">
              <a:lnSpc>
                <a:spcPct val="102000"/>
              </a:lnSpc>
              <a:spcAft>
                <a:spcPts val="900"/>
              </a:spcAft>
              <a:buSzPct val="100000"/>
              <a:buChar char="•"/>
            </a:pPr>
            <a:r>
              <a:rPr lang="en-US" sz="1350" dirty="0">
                <a:solidFill>
                  <a:srgbClr val="0F172A"/>
                </a:solidFill>
                <a:latin typeface="Calibri" pitchFamily="34" charset="0"/>
                <a:ea typeface="Calibri" pitchFamily="34" charset="-122"/>
                <a:cs typeface="Calibri" pitchFamily="34" charset="-120"/>
              </a:rPr>
              <a:t>Solvent on the corpus, but not yet self sustaining on operations. That is the gap this plan closes</a:t>
            </a:r>
            <a:endParaRPr lang="en-US" sz="1350" dirty="0"/>
          </a:p>
        </p:txBody>
      </p:sp>
      <p:sp>
        <p:nvSpPr>
          <p:cNvPr id="19" name="Shape 16"/>
          <p:cNvSpPr/>
          <p:nvPr/>
        </p:nvSpPr>
        <p:spPr>
          <a:xfrm>
            <a:off x="8869680" y="3246120"/>
            <a:ext cx="2834640" cy="2606040"/>
          </a:xfrm>
          <a:prstGeom prst="roundRect">
            <a:avLst>
              <a:gd name="adj" fmla="val 3509"/>
            </a:avLst>
          </a:prstGeom>
          <a:solidFill>
            <a:srgbClr val="F1F5F9"/>
          </a:solidFill>
          <a:ln/>
        </p:spPr>
      </p:sp>
      <p:sp>
        <p:nvSpPr>
          <p:cNvPr id="20" name="Text 17"/>
          <p:cNvSpPr/>
          <p:nvPr/>
        </p:nvSpPr>
        <p:spPr>
          <a:xfrm>
            <a:off x="9052560" y="3401568"/>
            <a:ext cx="2468880" cy="320040"/>
          </a:xfrm>
          <a:prstGeom prst="rect">
            <a:avLst/>
          </a:prstGeom>
          <a:noFill/>
          <a:ln/>
        </p:spPr>
        <p:txBody>
          <a:bodyPr wrap="square" rtlCol="0" anchor="ctr"/>
          <a:lstStyle/>
          <a:p>
            <a:pPr indent="0" marL="0">
              <a:buNone/>
            </a:pPr>
            <a:r>
              <a:rPr lang="en-US" sz="1400" b="1" dirty="0">
                <a:solidFill>
                  <a:srgbClr val="0D9488"/>
                </a:solidFill>
                <a:latin typeface="Calibri" pitchFamily="34" charset="0"/>
                <a:ea typeface="Calibri" pitchFamily="34" charset="-122"/>
                <a:cs typeface="Calibri" pitchFamily="34" charset="-120"/>
              </a:rPr>
              <a:t>The core message</a:t>
            </a:r>
            <a:endParaRPr lang="en-US" sz="1400" dirty="0"/>
          </a:p>
        </p:txBody>
      </p:sp>
      <p:sp>
        <p:nvSpPr>
          <p:cNvPr id="21" name="Text 18"/>
          <p:cNvSpPr/>
          <p:nvPr/>
        </p:nvSpPr>
        <p:spPr>
          <a:xfrm>
            <a:off x="9052560" y="3794760"/>
            <a:ext cx="2514600" cy="1920240"/>
          </a:xfrm>
          <a:prstGeom prst="rect">
            <a:avLst/>
          </a:prstGeom>
          <a:noFill/>
          <a:ln/>
        </p:spPr>
        <p:txBody>
          <a:bodyPr wrap="square" rtlCol="0" anchor="t"/>
          <a:lstStyle/>
          <a:p>
            <a:pPr indent="0" marL="0">
              <a:lnSpc>
                <a:spcPct val="112000"/>
              </a:lnSpc>
              <a:buNone/>
            </a:pPr>
            <a:r>
              <a:rPr lang="en-US" sz="1300" dirty="0">
                <a:solidFill>
                  <a:srgbClr val="0F172A"/>
                </a:solidFill>
                <a:latin typeface="Calibri" pitchFamily="34" charset="0"/>
                <a:ea typeface="Calibri" pitchFamily="34" charset="-122"/>
                <a:cs typeface="Calibri" pitchFamily="34" charset="-120"/>
              </a:rPr>
              <a:t>FD interest pays the bills today. Rating revenue has to take over. The BLR licence is the switch, capacity is the constraint.</a:t>
            </a:r>
            <a:endParaRPr lang="en-US" sz="1300" dirty="0"/>
          </a:p>
        </p:txBody>
      </p:sp>
      <p:sp>
        <p:nvSpPr>
          <p:cNvPr id="22" name="Text 19"/>
          <p:cNvSpPr/>
          <p:nvPr/>
        </p:nvSpPr>
        <p:spPr>
          <a:xfrm>
            <a:off x="457200" y="6455664"/>
            <a:ext cx="11274552" cy="274320"/>
          </a:xfrm>
          <a:prstGeom prst="rect">
            <a:avLst/>
          </a:prstGeom>
          <a:noFill/>
          <a:ln/>
        </p:spPr>
        <p:txBody>
          <a:bodyPr wrap="square" rtlCol="0" anchor="ctr"/>
          <a:lstStyle/>
          <a:p>
            <a:pPr algn="l"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23" name="Text 20"/>
          <p:cNvSpPr/>
          <p:nvPr/>
        </p:nvSpPr>
        <p:spPr>
          <a:xfrm>
            <a:off x="5943600" y="6455664"/>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47120" cy="274320"/>
          </a:xfrm>
          <a:prstGeom prst="rect">
            <a:avLst/>
          </a:prstGeom>
          <a:noFill/>
          <a:ln/>
        </p:spPr>
        <p:txBody>
          <a:bodyPr wrap="square"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THE REVENUE ENGINE, SAME IN EVERY SCENARIO</a:t>
            </a:r>
            <a:endParaRPr lang="en-US" sz="1200" dirty="0"/>
          </a:p>
        </p:txBody>
      </p:sp>
      <p:sp>
        <p:nvSpPr>
          <p:cNvPr id="3" name="Text 1"/>
          <p:cNvSpPr/>
          <p:nvPr/>
        </p:nvSpPr>
        <p:spPr>
          <a:xfrm>
            <a:off x="457200" y="658368"/>
            <a:ext cx="11247120" cy="658368"/>
          </a:xfrm>
          <a:prstGeom prst="rect">
            <a:avLst/>
          </a:prstGeom>
          <a:noFill/>
          <a:ln/>
        </p:spPr>
        <p:txBody>
          <a:bodyPr wrap="square"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Two books, one team, real unit economics</a:t>
            </a:r>
            <a:endParaRPr lang="en-US" sz="3200" dirty="0"/>
          </a:p>
        </p:txBody>
      </p:sp>
      <p:sp>
        <p:nvSpPr>
          <p:cNvPr id="4" name="Text 2"/>
          <p:cNvSpPr/>
          <p:nvPr/>
        </p:nvSpPr>
        <p:spPr>
          <a:xfrm>
            <a:off x="457200" y="1508760"/>
            <a:ext cx="530352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Salary steps up from September</a:t>
            </a:r>
            <a:endParaRPr lang="en-US" sz="1400" dirty="0"/>
          </a:p>
        </p:txBody>
      </p:sp>
      <p:pic>
        <p:nvPicPr>
          <p:cNvPr id="5" name="Image 0" descr="/tmp/claude-0/-home-user-AOP/882c7cd9-4c83-533a-b587-3f8bdf195bc7/scratchpad/charts/salBars.png">    </p:cNvPr>
          <p:cNvPicPr>
            <a:picLocks noChangeAspect="1"/>
          </p:cNvPicPr>
          <p:nvPr/>
        </p:nvPicPr>
        <p:blipFill>
          <a:blip r:embed="rId1"/>
          <a:stretch>
            <a:fillRect/>
          </a:stretch>
        </p:blipFill>
        <p:spPr>
          <a:xfrm>
            <a:off x="457200" y="1828800"/>
            <a:ext cx="5212080" cy="2962656"/>
          </a:xfrm>
          <a:prstGeom prst="rect">
            <a:avLst/>
          </a:prstGeom>
        </p:spPr>
      </p:pic>
      <p:sp>
        <p:nvSpPr>
          <p:cNvPr id="6" name="Text 3"/>
          <p:cNvSpPr/>
          <p:nvPr/>
        </p:nvSpPr>
        <p:spPr>
          <a:xfrm>
            <a:off x="6126480" y="1508760"/>
            <a:ext cx="548640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How 20 cases a month get split</a:t>
            </a:r>
            <a:endParaRPr lang="en-US" sz="1400" dirty="0"/>
          </a:p>
        </p:txBody>
      </p:sp>
      <p:pic>
        <p:nvPicPr>
          <p:cNvPr id="7" name="Image 1" descr="/tmp/claude-0/-home-user-AOP/882c7cd9-4c83-533a-b587-3f8bdf195bc7/scratchpad/charts/capBars.png">    </p:cNvPr>
          <p:cNvPicPr>
            <a:picLocks noChangeAspect="1"/>
          </p:cNvPicPr>
          <p:nvPr/>
        </p:nvPicPr>
        <p:blipFill>
          <a:blip r:embed="rId2"/>
          <a:stretch>
            <a:fillRect/>
          </a:stretch>
        </p:blipFill>
        <p:spPr>
          <a:xfrm>
            <a:off x="6126480" y="1828800"/>
            <a:ext cx="5212080" cy="2962656"/>
          </a:xfrm>
          <a:prstGeom prst="rect">
            <a:avLst/>
          </a:prstGeom>
        </p:spPr>
      </p:pic>
      <p:sp>
        <p:nvSpPr>
          <p:cNvPr id="8" name="Shape 4"/>
          <p:cNvSpPr/>
          <p:nvPr/>
        </p:nvSpPr>
        <p:spPr>
          <a:xfrm>
            <a:off x="457200" y="5074920"/>
            <a:ext cx="11274552" cy="1143000"/>
          </a:xfrm>
          <a:prstGeom prst="roundRect">
            <a:avLst>
              <a:gd name="adj" fmla="val 8000"/>
            </a:avLst>
          </a:prstGeom>
          <a:solidFill>
            <a:srgbClr val="0F172A"/>
          </a:solidFill>
          <a:ln/>
        </p:spPr>
      </p:sp>
      <p:sp>
        <p:nvSpPr>
          <p:cNvPr id="9" name="Text 5"/>
          <p:cNvSpPr/>
          <p:nvPr/>
        </p:nvSpPr>
        <p:spPr>
          <a:xfrm>
            <a:off x="640080" y="5230368"/>
            <a:ext cx="2651760" cy="411480"/>
          </a:xfrm>
          <a:prstGeom prst="rect">
            <a:avLst/>
          </a:prstGeom>
          <a:noFill/>
          <a:ln/>
        </p:spPr>
        <p:txBody>
          <a:bodyPr wrap="square" lIns="0" tIns="0" rIns="0" bIns="0" rtlCol="0" anchor="ctr"/>
          <a:lstStyle/>
          <a:p>
            <a:pPr indent="0" marL="0">
              <a:buNone/>
            </a:pPr>
            <a:r>
              <a:rPr lang="en-US" sz="2200" b="1" dirty="0">
                <a:solidFill>
                  <a:srgbClr val="0D9488"/>
                </a:solidFill>
                <a:latin typeface="Calibri" pitchFamily="34" charset="0"/>
                <a:ea typeface="Calibri" pitchFamily="34" charset="-122"/>
                <a:cs typeface="Calibri" pitchFamily="34" charset="-120"/>
              </a:rPr>
              <a:t>₹1.2 L</a:t>
            </a:r>
            <a:endParaRPr lang="en-US" sz="2200" dirty="0"/>
          </a:p>
        </p:txBody>
      </p:sp>
      <p:sp>
        <p:nvSpPr>
          <p:cNvPr id="10" name="Text 6"/>
          <p:cNvSpPr/>
          <p:nvPr/>
        </p:nvSpPr>
        <p:spPr>
          <a:xfrm>
            <a:off x="640080" y="5669280"/>
            <a:ext cx="2651760" cy="457200"/>
          </a:xfrm>
          <a:prstGeom prst="rect">
            <a:avLst/>
          </a:prstGeom>
          <a:noFill/>
          <a:ln/>
        </p:spPr>
        <p:txBody>
          <a:bodyPr wrap="square" lIns="0" tIns="0" rIns="0" bIns="0" rtlCol="0" anchor="t"/>
          <a:lstStyle/>
          <a:p>
            <a:pPr indent="0" marL="0">
              <a:buNone/>
            </a:pPr>
            <a:r>
              <a:rPr lang="en-US" sz="1150" dirty="0">
                <a:solidFill>
                  <a:srgbClr val="CADCFC"/>
                </a:solidFill>
                <a:latin typeface="Calibri" pitchFamily="34" charset="0"/>
                <a:ea typeface="Calibri" pitchFamily="34" charset="-122"/>
                <a:cs typeface="Calibri" pitchFamily="34" charset="-120"/>
              </a:rPr>
              <a:t>per IPO mandate, per quarter</a:t>
            </a:r>
            <a:endParaRPr lang="en-US" sz="1150" dirty="0"/>
          </a:p>
        </p:txBody>
      </p:sp>
      <p:sp>
        <p:nvSpPr>
          <p:cNvPr id="11" name="Text 7"/>
          <p:cNvSpPr/>
          <p:nvPr/>
        </p:nvSpPr>
        <p:spPr>
          <a:xfrm>
            <a:off x="3447288" y="5230368"/>
            <a:ext cx="2651760" cy="411480"/>
          </a:xfrm>
          <a:prstGeom prst="rect">
            <a:avLst/>
          </a:prstGeom>
          <a:noFill/>
          <a:ln/>
        </p:spPr>
        <p:txBody>
          <a:bodyPr wrap="square" lIns="0" tIns="0" rIns="0" bIns="0" rtlCol="0" anchor="ctr"/>
          <a:lstStyle/>
          <a:p>
            <a:pPr indent="0" marL="0">
              <a:buNone/>
            </a:pPr>
            <a:r>
              <a:rPr lang="en-US" sz="2200" b="1" dirty="0">
                <a:solidFill>
                  <a:srgbClr val="0D9488"/>
                </a:solidFill>
                <a:latin typeface="Calibri" pitchFamily="34" charset="0"/>
                <a:ea typeface="Calibri" pitchFamily="34" charset="-122"/>
                <a:cs typeface="Calibri" pitchFamily="34" charset="-120"/>
              </a:rPr>
              <a:t>2.5 bps</a:t>
            </a:r>
            <a:endParaRPr lang="en-US" sz="2200" dirty="0"/>
          </a:p>
        </p:txBody>
      </p:sp>
      <p:sp>
        <p:nvSpPr>
          <p:cNvPr id="12" name="Text 8"/>
          <p:cNvSpPr/>
          <p:nvPr/>
        </p:nvSpPr>
        <p:spPr>
          <a:xfrm>
            <a:off x="3447288" y="5669280"/>
            <a:ext cx="2651760" cy="457200"/>
          </a:xfrm>
          <a:prstGeom prst="rect">
            <a:avLst/>
          </a:prstGeom>
          <a:noFill/>
          <a:ln/>
        </p:spPr>
        <p:txBody>
          <a:bodyPr wrap="square" lIns="0" tIns="0" rIns="0" bIns="0" rtlCol="0" anchor="t"/>
          <a:lstStyle/>
          <a:p>
            <a:pPr indent="0" marL="0">
              <a:buNone/>
            </a:pPr>
            <a:r>
              <a:rPr lang="en-US" sz="1150" dirty="0">
                <a:solidFill>
                  <a:srgbClr val="CADCFC"/>
                </a:solidFill>
                <a:latin typeface="Calibri" pitchFamily="34" charset="0"/>
                <a:ea typeface="Calibri" pitchFamily="34" charset="-122"/>
                <a:cs typeface="Calibri" pitchFamily="34" charset="-120"/>
              </a:rPr>
              <a:t>BLR fee up front on rated debt</a:t>
            </a:r>
            <a:endParaRPr lang="en-US" sz="1150" dirty="0"/>
          </a:p>
        </p:txBody>
      </p:sp>
      <p:sp>
        <p:nvSpPr>
          <p:cNvPr id="13" name="Text 9"/>
          <p:cNvSpPr/>
          <p:nvPr/>
        </p:nvSpPr>
        <p:spPr>
          <a:xfrm>
            <a:off x="6254496" y="5230368"/>
            <a:ext cx="2651760" cy="411480"/>
          </a:xfrm>
          <a:prstGeom prst="rect">
            <a:avLst/>
          </a:prstGeom>
          <a:noFill/>
          <a:ln/>
        </p:spPr>
        <p:txBody>
          <a:bodyPr wrap="square" lIns="0" tIns="0" rIns="0" bIns="0" rtlCol="0" anchor="ctr"/>
          <a:lstStyle/>
          <a:p>
            <a:pPr indent="0" marL="0">
              <a:buNone/>
            </a:pPr>
            <a:r>
              <a:rPr lang="en-US" sz="2200" b="1" dirty="0">
                <a:solidFill>
                  <a:srgbClr val="0D9488"/>
                </a:solidFill>
                <a:latin typeface="Calibri" pitchFamily="34" charset="0"/>
                <a:ea typeface="Calibri" pitchFamily="34" charset="-122"/>
                <a:cs typeface="Calibri" pitchFamily="34" charset="-120"/>
              </a:rPr>
              <a:t>1.5 bps</a:t>
            </a:r>
            <a:endParaRPr lang="en-US" sz="2200" dirty="0"/>
          </a:p>
        </p:txBody>
      </p:sp>
      <p:sp>
        <p:nvSpPr>
          <p:cNvPr id="14" name="Text 10"/>
          <p:cNvSpPr/>
          <p:nvPr/>
        </p:nvSpPr>
        <p:spPr>
          <a:xfrm>
            <a:off x="6254496" y="5669280"/>
            <a:ext cx="2651760" cy="457200"/>
          </a:xfrm>
          <a:prstGeom prst="rect">
            <a:avLst/>
          </a:prstGeom>
          <a:noFill/>
          <a:ln/>
        </p:spPr>
        <p:txBody>
          <a:bodyPr wrap="square" lIns="0" tIns="0" rIns="0" bIns="0" rtlCol="0" anchor="t"/>
          <a:lstStyle/>
          <a:p>
            <a:pPr indent="0" marL="0">
              <a:buNone/>
            </a:pPr>
            <a:r>
              <a:rPr lang="en-US" sz="1150" dirty="0">
                <a:solidFill>
                  <a:srgbClr val="CADCFC"/>
                </a:solidFill>
                <a:latin typeface="Calibri" pitchFamily="34" charset="0"/>
                <a:ea typeface="Calibri" pitchFamily="34" charset="-122"/>
                <a:cs typeface="Calibri" pitchFamily="34" charset="-120"/>
              </a:rPr>
              <a:t>BLR surveillance a year, recurring</a:t>
            </a:r>
            <a:endParaRPr lang="en-US" sz="1150" dirty="0"/>
          </a:p>
        </p:txBody>
      </p:sp>
      <p:sp>
        <p:nvSpPr>
          <p:cNvPr id="15" name="Text 11"/>
          <p:cNvSpPr/>
          <p:nvPr/>
        </p:nvSpPr>
        <p:spPr>
          <a:xfrm>
            <a:off x="9061704" y="5230368"/>
            <a:ext cx="2651760" cy="411480"/>
          </a:xfrm>
          <a:prstGeom prst="rect">
            <a:avLst/>
          </a:prstGeom>
          <a:noFill/>
          <a:ln/>
        </p:spPr>
        <p:txBody>
          <a:bodyPr wrap="square" lIns="0" tIns="0" rIns="0" bIns="0" rtlCol="0" anchor="ctr"/>
          <a:lstStyle/>
          <a:p>
            <a:pPr indent="0" marL="0">
              <a:buNone/>
            </a:pPr>
            <a:r>
              <a:rPr lang="en-US" sz="2200" b="1" dirty="0">
                <a:solidFill>
                  <a:srgbClr val="0D9488"/>
                </a:solidFill>
                <a:latin typeface="Calibri" pitchFamily="34" charset="0"/>
                <a:ea typeface="Calibri" pitchFamily="34" charset="-122"/>
                <a:cs typeface="Calibri" pitchFamily="34" charset="-120"/>
              </a:rPr>
              <a:t>5 executors</a:t>
            </a:r>
            <a:endParaRPr lang="en-US" sz="2200" dirty="0"/>
          </a:p>
        </p:txBody>
      </p:sp>
      <p:sp>
        <p:nvSpPr>
          <p:cNvPr id="16" name="Text 12"/>
          <p:cNvSpPr/>
          <p:nvPr/>
        </p:nvSpPr>
        <p:spPr>
          <a:xfrm>
            <a:off x="9061704" y="5669280"/>
            <a:ext cx="2651760" cy="457200"/>
          </a:xfrm>
          <a:prstGeom prst="rect">
            <a:avLst/>
          </a:prstGeom>
          <a:noFill/>
          <a:ln/>
        </p:spPr>
        <p:txBody>
          <a:bodyPr wrap="square" lIns="0" tIns="0" rIns="0" bIns="0" rtlCol="0" anchor="t"/>
          <a:lstStyle/>
          <a:p>
            <a:pPr indent="0" marL="0">
              <a:buNone/>
            </a:pPr>
            <a:r>
              <a:rPr lang="en-US" sz="1150" dirty="0">
                <a:solidFill>
                  <a:srgbClr val="CADCFC"/>
                </a:solidFill>
                <a:latin typeface="Calibri" pitchFamily="34" charset="0"/>
                <a:ea typeface="Calibri" pitchFamily="34" charset="-122"/>
                <a:cs typeface="Calibri" pitchFamily="34" charset="-120"/>
              </a:rPr>
              <a:t>leaders now in review only</a:t>
            </a:r>
            <a:endParaRPr lang="en-US" sz="1150" dirty="0"/>
          </a:p>
        </p:txBody>
      </p:sp>
      <p:sp>
        <p:nvSpPr>
          <p:cNvPr id="17" name="Text 13"/>
          <p:cNvSpPr/>
          <p:nvPr/>
        </p:nvSpPr>
        <p:spPr>
          <a:xfrm>
            <a:off x="457200" y="6455664"/>
            <a:ext cx="11274552" cy="274320"/>
          </a:xfrm>
          <a:prstGeom prst="rect">
            <a:avLst/>
          </a:prstGeom>
          <a:noFill/>
          <a:ln/>
        </p:spPr>
        <p:txBody>
          <a:bodyPr wrap="square" rtlCol="0" anchor="ctr"/>
          <a:lstStyle/>
          <a:p>
            <a:pPr algn="l"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18" name="Text 14"/>
          <p:cNvSpPr/>
          <p:nvPr/>
        </p:nvSpPr>
        <p:spPr>
          <a:xfrm>
            <a:off x="5943600" y="6455664"/>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503920" cy="640080"/>
          </a:xfrm>
          <a:prstGeom prst="rect">
            <a:avLst/>
          </a:prstGeom>
          <a:noFill/>
          <a:ln/>
        </p:spPr>
        <p:txBody>
          <a:bodyPr wrap="square" rtlCol="0" anchor="ctr"/>
          <a:lstStyle/>
          <a:p>
            <a:pPr indent="0" marL="0">
              <a:buNone/>
            </a:pPr>
            <a:r>
              <a:rPr lang="en-US" sz="2600" b="1" dirty="0">
                <a:solidFill>
                  <a:srgbClr val="0F172A"/>
                </a:solidFill>
                <a:latin typeface="Calibri" pitchFamily="34" charset="0"/>
                <a:ea typeface="Calibri" pitchFamily="34" charset="-122"/>
                <a:cs typeface="Calibri" pitchFamily="34" charset="-120"/>
              </a:rPr>
              <a:t>Scenario 1  ·  BLR licence live by 1 Oct 2026</a:t>
            </a:r>
            <a:endParaRPr lang="en-US" sz="2600" dirty="0"/>
          </a:p>
        </p:txBody>
      </p:sp>
      <p:sp>
        <p:nvSpPr>
          <p:cNvPr id="3" name="Shape 1"/>
          <p:cNvSpPr/>
          <p:nvPr/>
        </p:nvSpPr>
        <p:spPr>
          <a:xfrm>
            <a:off x="9189720" y="457200"/>
            <a:ext cx="2542032" cy="457200"/>
          </a:xfrm>
          <a:prstGeom prst="roundRect">
            <a:avLst>
              <a:gd name="adj" fmla="val 50000"/>
            </a:avLst>
          </a:prstGeom>
          <a:solidFill>
            <a:srgbClr val="16A34A"/>
          </a:solidFill>
          <a:ln/>
        </p:spPr>
      </p:sp>
      <p:sp>
        <p:nvSpPr>
          <p:cNvPr id="4" name="Text 2"/>
          <p:cNvSpPr/>
          <p:nvPr/>
        </p:nvSpPr>
        <p:spPr>
          <a:xfrm>
            <a:off x="9189720" y="457200"/>
            <a:ext cx="254203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Launch and blitz</a:t>
            </a:r>
            <a:endParaRPr lang="en-US" sz="1300" dirty="0"/>
          </a:p>
        </p:txBody>
      </p:sp>
      <p:sp>
        <p:nvSpPr>
          <p:cNvPr id="5" name="Text 3"/>
          <p:cNvSpPr/>
          <p:nvPr/>
        </p:nvSpPr>
        <p:spPr>
          <a:xfrm>
            <a:off x="457200" y="1143000"/>
            <a:ext cx="6766560" cy="274320"/>
          </a:xfrm>
          <a:prstGeom prst="rect">
            <a:avLst/>
          </a:prstGeom>
          <a:noFill/>
          <a:ln/>
        </p:spPr>
        <p:txBody>
          <a:bodyPr wrap="square"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Monthly income build vs expense, to April 2027</a:t>
            </a:r>
            <a:endParaRPr lang="en-US" sz="1200" dirty="0"/>
          </a:p>
        </p:txBody>
      </p:sp>
      <p:pic>
        <p:nvPicPr>
          <p:cNvPr id="6" name="Image 0" descr="/tmp/claude-0/-home-user-AOP/882c7cd9-4c83-533a-b587-3f8bdf195bc7/scratchpad/charts/s1_beChart.png">    </p:cNvPr>
          <p:cNvPicPr>
            <a:picLocks noChangeAspect="1"/>
          </p:cNvPicPr>
          <p:nvPr/>
        </p:nvPicPr>
        <p:blipFill>
          <a:blip r:embed="rId1"/>
          <a:stretch>
            <a:fillRect/>
          </a:stretch>
        </p:blipFill>
        <p:spPr>
          <a:xfrm>
            <a:off x="365760" y="1417320"/>
            <a:ext cx="6903720" cy="3694176"/>
          </a:xfrm>
          <a:prstGeom prst="rect">
            <a:avLst/>
          </a:prstGeom>
        </p:spPr>
      </p:pic>
      <p:sp>
        <p:nvSpPr>
          <p:cNvPr id="7" name="Text 4"/>
          <p:cNvSpPr/>
          <p:nvPr/>
        </p:nvSpPr>
        <p:spPr>
          <a:xfrm>
            <a:off x="457200" y="5257800"/>
            <a:ext cx="6766560" cy="457200"/>
          </a:xfrm>
          <a:prstGeom prst="rect">
            <a:avLst/>
          </a:prstGeom>
          <a:noFill/>
          <a:ln/>
        </p:spPr>
        <p:txBody>
          <a:bodyPr wrap="square" rtlCol="0" anchor="t"/>
          <a:lstStyle/>
          <a:p>
            <a:pPr indent="0" marL="0">
              <a:buNone/>
            </a:pPr>
            <a:r>
              <a:rPr lang="en-US" sz="1200" i="1" dirty="0">
                <a:solidFill>
                  <a:srgbClr val="0D9488"/>
                </a:solidFill>
                <a:latin typeface="Calibri" pitchFamily="34" charset="0"/>
                <a:ea typeface="Calibri" pitchFamily="34" charset="-122"/>
                <a:cs typeface="Calibri" pitchFamily="34" charset="-120"/>
              </a:rPr>
              <a:t>Branding: ₹5 to 10 L buffer at launch, then ₹2 L a month while BLR runs.</a:t>
            </a:r>
            <a:endParaRPr lang="en-US" sz="1200" dirty="0"/>
          </a:p>
        </p:txBody>
      </p:sp>
      <p:sp>
        <p:nvSpPr>
          <p:cNvPr id="8" name="Shape 5"/>
          <p:cNvSpPr/>
          <p:nvPr/>
        </p:nvSpPr>
        <p:spPr>
          <a:xfrm>
            <a:off x="7452360" y="1371600"/>
            <a:ext cx="2103120" cy="786384"/>
          </a:xfrm>
          <a:prstGeom prst="roundRect">
            <a:avLst>
              <a:gd name="adj" fmla="val 10465"/>
            </a:avLst>
          </a:prstGeom>
          <a:solidFill>
            <a:srgbClr val="F1F5F9"/>
          </a:solidFill>
          <a:ln/>
        </p:spPr>
      </p:sp>
      <p:sp>
        <p:nvSpPr>
          <p:cNvPr id="9" name="Text 6"/>
          <p:cNvSpPr/>
          <p:nvPr/>
        </p:nvSpPr>
        <p:spPr>
          <a:xfrm>
            <a:off x="7470648" y="1481328"/>
            <a:ext cx="2066544" cy="408920"/>
          </a:xfrm>
          <a:prstGeom prst="rect">
            <a:avLst/>
          </a:prstGeom>
          <a:noFill/>
          <a:ln/>
        </p:spPr>
        <p:txBody>
          <a:bodyPr wrap="square" lIns="0" tIns="0" rIns="0" bIns="0" rtlCol="0" anchor="ctr"/>
          <a:lstStyle/>
          <a:p>
            <a:pPr algn="ctr" indent="0" marL="0">
              <a:buNone/>
            </a:pPr>
            <a:r>
              <a:rPr lang="en-US" sz="2200" b="1" dirty="0">
                <a:solidFill>
                  <a:srgbClr val="16A34A"/>
                </a:solidFill>
                <a:latin typeface="Calibri" pitchFamily="34" charset="0"/>
                <a:ea typeface="Calibri" pitchFamily="34" charset="-122"/>
                <a:cs typeface="Calibri" pitchFamily="34" charset="-120"/>
              </a:rPr>
              <a:t>Nov 2026</a:t>
            </a:r>
            <a:endParaRPr lang="en-US" sz="2200" dirty="0"/>
          </a:p>
        </p:txBody>
      </p:sp>
      <p:sp>
        <p:nvSpPr>
          <p:cNvPr id="10" name="Text 7"/>
          <p:cNvSpPr/>
          <p:nvPr/>
        </p:nvSpPr>
        <p:spPr>
          <a:xfrm>
            <a:off x="7507224" y="1843430"/>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Break even</a:t>
            </a:r>
            <a:endParaRPr lang="en-US" sz="1050" dirty="0"/>
          </a:p>
        </p:txBody>
      </p:sp>
      <p:sp>
        <p:nvSpPr>
          <p:cNvPr id="11" name="Shape 8"/>
          <p:cNvSpPr/>
          <p:nvPr/>
        </p:nvSpPr>
        <p:spPr>
          <a:xfrm>
            <a:off x="9720072" y="1371600"/>
            <a:ext cx="2103120" cy="786384"/>
          </a:xfrm>
          <a:prstGeom prst="roundRect">
            <a:avLst>
              <a:gd name="adj" fmla="val 10465"/>
            </a:avLst>
          </a:prstGeom>
          <a:solidFill>
            <a:srgbClr val="F1F5F9"/>
          </a:solidFill>
          <a:ln/>
        </p:spPr>
      </p:sp>
      <p:sp>
        <p:nvSpPr>
          <p:cNvPr id="12" name="Text 9"/>
          <p:cNvSpPr/>
          <p:nvPr/>
        </p:nvSpPr>
        <p:spPr>
          <a:xfrm>
            <a:off x="9738360" y="1481328"/>
            <a:ext cx="2066544" cy="408920"/>
          </a:xfrm>
          <a:prstGeom prst="rect">
            <a:avLst/>
          </a:prstGeom>
          <a:noFill/>
          <a:ln/>
        </p:spPr>
        <p:txBody>
          <a:bodyPr wrap="square" lIns="0" tIns="0" rIns="0" bIns="0" rtlCol="0" anchor="ctr"/>
          <a:lstStyle/>
          <a:p>
            <a:pPr algn="ctr" indent="0" marL="0">
              <a:buNone/>
            </a:pPr>
            <a:r>
              <a:rPr lang="en-US" sz="2200" b="1" dirty="0">
                <a:solidFill>
                  <a:srgbClr val="16A34A"/>
                </a:solidFill>
                <a:latin typeface="Calibri" pitchFamily="34" charset="0"/>
                <a:ea typeface="Calibri" pitchFamily="34" charset="-122"/>
                <a:cs typeface="Calibri" pitchFamily="34" charset="-120"/>
              </a:rPr>
              <a:t>+₹0.27 Cr</a:t>
            </a:r>
            <a:endParaRPr lang="en-US" sz="2200" dirty="0"/>
          </a:p>
        </p:txBody>
      </p:sp>
      <p:sp>
        <p:nvSpPr>
          <p:cNvPr id="13" name="Text 10"/>
          <p:cNvSpPr/>
          <p:nvPr/>
        </p:nvSpPr>
        <p:spPr>
          <a:xfrm>
            <a:off x="9774936" y="1843430"/>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Aug26 to Apr27</a:t>
            </a:r>
            <a:endParaRPr lang="en-US" sz="1050" dirty="0"/>
          </a:p>
        </p:txBody>
      </p:sp>
      <p:sp>
        <p:nvSpPr>
          <p:cNvPr id="14" name="Shape 11"/>
          <p:cNvSpPr/>
          <p:nvPr/>
        </p:nvSpPr>
        <p:spPr>
          <a:xfrm>
            <a:off x="7452360" y="2304288"/>
            <a:ext cx="2103120" cy="786384"/>
          </a:xfrm>
          <a:prstGeom prst="roundRect">
            <a:avLst>
              <a:gd name="adj" fmla="val 10465"/>
            </a:avLst>
          </a:prstGeom>
          <a:solidFill>
            <a:srgbClr val="F1F5F9"/>
          </a:solidFill>
          <a:ln/>
        </p:spPr>
      </p:sp>
      <p:sp>
        <p:nvSpPr>
          <p:cNvPr id="15" name="Text 12"/>
          <p:cNvSpPr/>
          <p:nvPr/>
        </p:nvSpPr>
        <p:spPr>
          <a:xfrm>
            <a:off x="7470648" y="2414016"/>
            <a:ext cx="2066544" cy="408920"/>
          </a:xfrm>
          <a:prstGeom prst="rect">
            <a:avLst/>
          </a:prstGeom>
          <a:noFill/>
          <a:ln/>
        </p:spPr>
        <p:txBody>
          <a:bodyPr wrap="square" lIns="0" tIns="0" rIns="0" bIns="0" rtlCol="0" anchor="ctr"/>
          <a:lstStyle/>
          <a:p>
            <a:pPr algn="ctr" indent="0" marL="0">
              <a:buNone/>
            </a:pPr>
            <a:r>
              <a:rPr lang="en-US" sz="2200" b="1" dirty="0">
                <a:solidFill>
                  <a:srgbClr val="16A34A"/>
                </a:solidFill>
                <a:latin typeface="Calibri" pitchFamily="34" charset="0"/>
                <a:ea typeface="Calibri" pitchFamily="34" charset="-122"/>
                <a:cs typeface="Calibri" pitchFamily="34" charset="-120"/>
              </a:rPr>
              <a:t>+₹3.13 Cr</a:t>
            </a:r>
            <a:endParaRPr lang="en-US" sz="2200" dirty="0"/>
          </a:p>
        </p:txBody>
      </p:sp>
      <p:sp>
        <p:nvSpPr>
          <p:cNvPr id="16" name="Text 13"/>
          <p:cNvSpPr/>
          <p:nvPr/>
        </p:nvSpPr>
        <p:spPr>
          <a:xfrm>
            <a:off x="7507224" y="2776118"/>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Apr27 run-rate</a:t>
            </a:r>
            <a:endParaRPr lang="en-US" sz="1050" dirty="0"/>
          </a:p>
        </p:txBody>
      </p:sp>
      <p:sp>
        <p:nvSpPr>
          <p:cNvPr id="17" name="Shape 14"/>
          <p:cNvSpPr/>
          <p:nvPr/>
        </p:nvSpPr>
        <p:spPr>
          <a:xfrm>
            <a:off x="9720072" y="2304288"/>
            <a:ext cx="2103120" cy="786384"/>
          </a:xfrm>
          <a:prstGeom prst="roundRect">
            <a:avLst>
              <a:gd name="adj" fmla="val 10465"/>
            </a:avLst>
          </a:prstGeom>
          <a:solidFill>
            <a:srgbClr val="F1F5F9"/>
          </a:solidFill>
          <a:ln/>
        </p:spPr>
      </p:sp>
      <p:sp>
        <p:nvSpPr>
          <p:cNvPr id="18" name="Text 15"/>
          <p:cNvSpPr/>
          <p:nvPr/>
        </p:nvSpPr>
        <p:spPr>
          <a:xfrm>
            <a:off x="9738360" y="2414016"/>
            <a:ext cx="2066544" cy="408920"/>
          </a:xfrm>
          <a:prstGeom prst="rect">
            <a:avLst/>
          </a:prstGeom>
          <a:noFill/>
          <a:ln/>
        </p:spPr>
        <p:txBody>
          <a:bodyPr wrap="square" lIns="0" tIns="0" rIns="0" bIns="0" rtlCol="0" anchor="ctr"/>
          <a:lstStyle/>
          <a:p>
            <a:pPr algn="ctr" indent="0" marL="0">
              <a:buNone/>
            </a:pPr>
            <a:r>
              <a:rPr lang="en-US" sz="2200" b="1" dirty="0">
                <a:solidFill>
                  <a:srgbClr val="E11D48"/>
                </a:solidFill>
                <a:latin typeface="Calibri" pitchFamily="34" charset="0"/>
                <a:ea typeface="Calibri" pitchFamily="34" charset="-122"/>
                <a:cs typeface="Calibri" pitchFamily="34" charset="-120"/>
              </a:rPr>
              <a:t>−₹0.88 Cr</a:t>
            </a:r>
            <a:endParaRPr lang="en-US" sz="2200" dirty="0"/>
          </a:p>
        </p:txBody>
      </p:sp>
      <p:sp>
        <p:nvSpPr>
          <p:cNvPr id="19" name="Text 16"/>
          <p:cNvSpPr/>
          <p:nvPr/>
        </p:nvSpPr>
        <p:spPr>
          <a:xfrm>
            <a:off x="9774936" y="2776118"/>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Peak cash dip</a:t>
            </a:r>
            <a:endParaRPr lang="en-US" sz="1050" dirty="0"/>
          </a:p>
        </p:txBody>
      </p:sp>
      <p:sp>
        <p:nvSpPr>
          <p:cNvPr id="20" name="Text 17"/>
          <p:cNvSpPr/>
          <p:nvPr/>
        </p:nvSpPr>
        <p:spPr>
          <a:xfrm>
            <a:off x="7452360" y="3200400"/>
            <a:ext cx="429768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month by month play</a:t>
            </a:r>
            <a:endParaRPr lang="en-US" sz="1400" dirty="0"/>
          </a:p>
        </p:txBody>
      </p:sp>
      <p:sp>
        <p:nvSpPr>
          <p:cNvPr id="21" name="Shape 18"/>
          <p:cNvSpPr/>
          <p:nvPr/>
        </p:nvSpPr>
        <p:spPr>
          <a:xfrm>
            <a:off x="7452360" y="3584448"/>
            <a:ext cx="932688" cy="457200"/>
          </a:xfrm>
          <a:prstGeom prst="roundRect">
            <a:avLst>
              <a:gd name="adj" fmla="val 14000"/>
            </a:avLst>
          </a:prstGeom>
          <a:solidFill>
            <a:srgbClr val="16A34A"/>
          </a:solidFill>
          <a:ln/>
        </p:spPr>
      </p:sp>
      <p:sp>
        <p:nvSpPr>
          <p:cNvPr id="22" name="Text 19"/>
          <p:cNvSpPr/>
          <p:nvPr/>
        </p:nvSpPr>
        <p:spPr>
          <a:xfrm>
            <a:off x="7452360" y="3584448"/>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OCT</a:t>
            </a:r>
            <a:endParaRPr lang="en-US" sz="850" dirty="0"/>
          </a:p>
        </p:txBody>
      </p:sp>
      <p:sp>
        <p:nvSpPr>
          <p:cNvPr id="23" name="Text 20"/>
          <p:cNvSpPr/>
          <p:nvPr/>
        </p:nvSpPr>
        <p:spPr>
          <a:xfrm>
            <a:off x="8503920" y="3547872"/>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Licence live, but IPO is at 20 and the team is full. Zero BLR this month by choice. Branding spends heavily, IT upgrade lands.</a:t>
            </a:r>
            <a:endParaRPr lang="en-US" sz="1000" dirty="0"/>
          </a:p>
        </p:txBody>
      </p:sp>
      <p:sp>
        <p:nvSpPr>
          <p:cNvPr id="24" name="Shape 21"/>
          <p:cNvSpPr/>
          <p:nvPr/>
        </p:nvSpPr>
        <p:spPr>
          <a:xfrm>
            <a:off x="7452360" y="4306824"/>
            <a:ext cx="932688" cy="457200"/>
          </a:xfrm>
          <a:prstGeom prst="roundRect">
            <a:avLst>
              <a:gd name="adj" fmla="val 14000"/>
            </a:avLst>
          </a:prstGeom>
          <a:solidFill>
            <a:srgbClr val="16A34A"/>
          </a:solidFill>
          <a:ln/>
        </p:spPr>
      </p:sp>
      <p:sp>
        <p:nvSpPr>
          <p:cNvPr id="25" name="Text 22"/>
          <p:cNvSpPr/>
          <p:nvPr/>
        </p:nvSpPr>
        <p:spPr>
          <a:xfrm>
            <a:off x="7452360" y="4306824"/>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NOV</a:t>
            </a:r>
            <a:endParaRPr lang="en-US" sz="850" dirty="0"/>
          </a:p>
        </p:txBody>
      </p:sp>
      <p:sp>
        <p:nvSpPr>
          <p:cNvPr id="26" name="Text 23"/>
          <p:cNvSpPr/>
          <p:nvPr/>
        </p:nvSpPr>
        <p:spPr>
          <a:xfrm>
            <a:off x="8503920" y="4270248"/>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IPO delivery caught up. BLR steps up to 16 cases a month, full capacity.</a:t>
            </a:r>
            <a:endParaRPr lang="en-US" sz="1000" dirty="0"/>
          </a:p>
        </p:txBody>
      </p:sp>
      <p:sp>
        <p:nvSpPr>
          <p:cNvPr id="27" name="Shape 24"/>
          <p:cNvSpPr/>
          <p:nvPr/>
        </p:nvSpPr>
        <p:spPr>
          <a:xfrm>
            <a:off x="7452360" y="5029200"/>
            <a:ext cx="932688" cy="457200"/>
          </a:xfrm>
          <a:prstGeom prst="roundRect">
            <a:avLst>
              <a:gd name="adj" fmla="val 14000"/>
            </a:avLst>
          </a:prstGeom>
          <a:solidFill>
            <a:srgbClr val="16A34A"/>
          </a:solidFill>
          <a:ln/>
        </p:spPr>
      </p:sp>
      <p:sp>
        <p:nvSpPr>
          <p:cNvPr id="28" name="Text 25"/>
          <p:cNvSpPr/>
          <p:nvPr/>
        </p:nvSpPr>
        <p:spPr>
          <a:xfrm>
            <a:off x="7452360" y="5029200"/>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DEC+</a:t>
            </a:r>
            <a:endParaRPr lang="en-US" sz="850" dirty="0"/>
          </a:p>
        </p:txBody>
      </p:sp>
      <p:sp>
        <p:nvSpPr>
          <p:cNvPr id="29" name="Text 26"/>
          <p:cNvSpPr/>
          <p:nvPr/>
        </p:nvSpPr>
        <p:spPr>
          <a:xfrm>
            <a:off x="8503920" y="4992624"/>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Both engines steady. IPO annuity plus BLR up front and surveillance compound.</a:t>
            </a:r>
            <a:endParaRPr lang="en-US" sz="1000" dirty="0"/>
          </a:p>
        </p:txBody>
      </p:sp>
      <p:sp>
        <p:nvSpPr>
          <p:cNvPr id="30" name="Shape 27"/>
          <p:cNvSpPr/>
          <p:nvPr/>
        </p:nvSpPr>
        <p:spPr>
          <a:xfrm>
            <a:off x="7452360" y="5751576"/>
            <a:ext cx="932688" cy="457200"/>
          </a:xfrm>
          <a:prstGeom prst="roundRect">
            <a:avLst>
              <a:gd name="adj" fmla="val 14000"/>
            </a:avLst>
          </a:prstGeom>
          <a:solidFill>
            <a:srgbClr val="16A34A"/>
          </a:solidFill>
          <a:ln/>
        </p:spPr>
      </p:sp>
      <p:sp>
        <p:nvSpPr>
          <p:cNvPr id="31" name="Text 28"/>
          <p:cNvSpPr/>
          <p:nvPr/>
        </p:nvSpPr>
        <p:spPr>
          <a:xfrm>
            <a:off x="7452360" y="5751576"/>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HIRE</a:t>
            </a:r>
            <a:endParaRPr lang="en-US" sz="850" dirty="0"/>
          </a:p>
        </p:txBody>
      </p:sp>
      <p:sp>
        <p:nvSpPr>
          <p:cNvPr id="32" name="Text 29"/>
          <p:cNvSpPr/>
          <p:nvPr/>
        </p:nvSpPr>
        <p:spPr>
          <a:xfrm>
            <a:off x="8503920" y="5715000"/>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Add the sixth executor only if residual capacity is negative two months running.</a:t>
            </a:r>
            <a:endParaRPr lang="en-US" sz="1000" dirty="0"/>
          </a:p>
        </p:txBody>
      </p:sp>
      <p:sp>
        <p:nvSpPr>
          <p:cNvPr id="33" name="Text 30"/>
          <p:cNvSpPr/>
          <p:nvPr/>
        </p:nvSpPr>
        <p:spPr>
          <a:xfrm>
            <a:off x="457200" y="6455664"/>
            <a:ext cx="11274552" cy="274320"/>
          </a:xfrm>
          <a:prstGeom prst="rect">
            <a:avLst/>
          </a:prstGeom>
          <a:noFill/>
          <a:ln/>
        </p:spPr>
        <p:txBody>
          <a:bodyPr wrap="square" rtlCol="0" anchor="ctr"/>
          <a:lstStyle/>
          <a:p>
            <a:pPr algn="l"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34" name="Text 31"/>
          <p:cNvSpPr/>
          <p:nvPr/>
        </p:nvSpPr>
        <p:spPr>
          <a:xfrm>
            <a:off x="5943600" y="6455664"/>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503920" cy="640080"/>
          </a:xfrm>
          <a:prstGeom prst="rect">
            <a:avLst/>
          </a:prstGeom>
          <a:noFill/>
          <a:ln/>
        </p:spPr>
        <p:txBody>
          <a:bodyPr wrap="square" rtlCol="0" anchor="ctr"/>
          <a:lstStyle/>
          <a:p>
            <a:pPr indent="0" marL="0">
              <a:buNone/>
            </a:pPr>
            <a:r>
              <a:rPr lang="en-US" sz="2600" b="1" dirty="0">
                <a:solidFill>
                  <a:srgbClr val="0F172A"/>
                </a:solidFill>
                <a:latin typeface="Calibri" pitchFamily="34" charset="0"/>
                <a:ea typeface="Calibri" pitchFamily="34" charset="-122"/>
                <a:cs typeface="Calibri" pitchFamily="34" charset="-120"/>
              </a:rPr>
              <a:t>Scenario 2  ·  BLR licence live by 1 Jan 2027</a:t>
            </a:r>
            <a:endParaRPr lang="en-US" sz="2600" dirty="0"/>
          </a:p>
        </p:txBody>
      </p:sp>
      <p:sp>
        <p:nvSpPr>
          <p:cNvPr id="3" name="Shape 1"/>
          <p:cNvSpPr/>
          <p:nvPr/>
        </p:nvSpPr>
        <p:spPr>
          <a:xfrm>
            <a:off x="9189720" y="457200"/>
            <a:ext cx="2542032" cy="457200"/>
          </a:xfrm>
          <a:prstGeom prst="roundRect">
            <a:avLst>
              <a:gd name="adj" fmla="val 50000"/>
            </a:avLst>
          </a:prstGeom>
          <a:solidFill>
            <a:srgbClr val="F59E0B"/>
          </a:solidFill>
          <a:ln/>
        </p:spPr>
      </p:sp>
      <p:sp>
        <p:nvSpPr>
          <p:cNvPr id="4" name="Text 2"/>
          <p:cNvSpPr/>
          <p:nvPr/>
        </p:nvSpPr>
        <p:spPr>
          <a:xfrm>
            <a:off x="9189720" y="457200"/>
            <a:ext cx="254203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Same play, later</a:t>
            </a:r>
            <a:endParaRPr lang="en-US" sz="1300" dirty="0"/>
          </a:p>
        </p:txBody>
      </p:sp>
      <p:sp>
        <p:nvSpPr>
          <p:cNvPr id="5" name="Text 3"/>
          <p:cNvSpPr/>
          <p:nvPr/>
        </p:nvSpPr>
        <p:spPr>
          <a:xfrm>
            <a:off x="457200" y="1143000"/>
            <a:ext cx="6766560" cy="274320"/>
          </a:xfrm>
          <a:prstGeom prst="rect">
            <a:avLst/>
          </a:prstGeom>
          <a:noFill/>
          <a:ln/>
        </p:spPr>
        <p:txBody>
          <a:bodyPr wrap="square"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Monthly income build vs expense, to April 2027</a:t>
            </a:r>
            <a:endParaRPr lang="en-US" sz="1200" dirty="0"/>
          </a:p>
        </p:txBody>
      </p:sp>
      <p:pic>
        <p:nvPicPr>
          <p:cNvPr id="6" name="Image 0" descr="/tmp/claude-0/-home-user-AOP/882c7cd9-4c83-533a-b587-3f8bdf195bc7/scratchpad/charts/s2_beChart.png">    </p:cNvPr>
          <p:cNvPicPr>
            <a:picLocks noChangeAspect="1"/>
          </p:cNvPicPr>
          <p:nvPr/>
        </p:nvPicPr>
        <p:blipFill>
          <a:blip r:embed="rId1"/>
          <a:stretch>
            <a:fillRect/>
          </a:stretch>
        </p:blipFill>
        <p:spPr>
          <a:xfrm>
            <a:off x="365760" y="1417320"/>
            <a:ext cx="6903720" cy="3694176"/>
          </a:xfrm>
          <a:prstGeom prst="rect">
            <a:avLst/>
          </a:prstGeom>
        </p:spPr>
      </p:pic>
      <p:sp>
        <p:nvSpPr>
          <p:cNvPr id="7" name="Text 4"/>
          <p:cNvSpPr/>
          <p:nvPr/>
        </p:nvSpPr>
        <p:spPr>
          <a:xfrm>
            <a:off x="457200" y="5257800"/>
            <a:ext cx="6766560" cy="457200"/>
          </a:xfrm>
          <a:prstGeom prst="rect">
            <a:avLst/>
          </a:prstGeom>
          <a:noFill/>
          <a:ln/>
        </p:spPr>
        <p:txBody>
          <a:bodyPr wrap="square" rtlCol="0" anchor="t"/>
          <a:lstStyle/>
          <a:p>
            <a:pPr indent="0" marL="0">
              <a:buNone/>
            </a:pPr>
            <a:r>
              <a:rPr lang="en-US" sz="1200" i="1" dirty="0">
                <a:solidFill>
                  <a:srgbClr val="0D9488"/>
                </a:solidFill>
                <a:latin typeface="Calibri" pitchFamily="34" charset="0"/>
                <a:ea typeface="Calibri" pitchFamily="34" charset="-122"/>
                <a:cs typeface="Calibri" pitchFamily="34" charset="-120"/>
              </a:rPr>
              <a:t>Branding: ₹5 to 10 L buffer at the January launch, then ₹2 L a month with BLR.</a:t>
            </a:r>
            <a:endParaRPr lang="en-US" sz="1200" dirty="0"/>
          </a:p>
        </p:txBody>
      </p:sp>
      <p:sp>
        <p:nvSpPr>
          <p:cNvPr id="8" name="Shape 5"/>
          <p:cNvSpPr/>
          <p:nvPr/>
        </p:nvSpPr>
        <p:spPr>
          <a:xfrm>
            <a:off x="7452360" y="1371600"/>
            <a:ext cx="2103120" cy="786384"/>
          </a:xfrm>
          <a:prstGeom prst="roundRect">
            <a:avLst>
              <a:gd name="adj" fmla="val 10465"/>
            </a:avLst>
          </a:prstGeom>
          <a:solidFill>
            <a:srgbClr val="F1F5F9"/>
          </a:solidFill>
          <a:ln/>
        </p:spPr>
      </p:sp>
      <p:sp>
        <p:nvSpPr>
          <p:cNvPr id="9" name="Text 6"/>
          <p:cNvSpPr/>
          <p:nvPr/>
        </p:nvSpPr>
        <p:spPr>
          <a:xfrm>
            <a:off x="7470648" y="1481328"/>
            <a:ext cx="2066544" cy="408920"/>
          </a:xfrm>
          <a:prstGeom prst="rect">
            <a:avLst/>
          </a:prstGeom>
          <a:noFill/>
          <a:ln/>
        </p:spPr>
        <p:txBody>
          <a:bodyPr wrap="square" lIns="0" tIns="0" rIns="0" bIns="0" rtlCol="0" anchor="ctr"/>
          <a:lstStyle/>
          <a:p>
            <a:pPr algn="ctr" indent="0" marL="0">
              <a:buNone/>
            </a:pPr>
            <a:r>
              <a:rPr lang="en-US" sz="2200" b="1" dirty="0">
                <a:solidFill>
                  <a:srgbClr val="16A34A"/>
                </a:solidFill>
                <a:latin typeface="Calibri" pitchFamily="34" charset="0"/>
                <a:ea typeface="Calibri" pitchFamily="34" charset="-122"/>
                <a:cs typeface="Calibri" pitchFamily="34" charset="-120"/>
              </a:rPr>
              <a:t>Feb 2027</a:t>
            </a:r>
            <a:endParaRPr lang="en-US" sz="2200" dirty="0"/>
          </a:p>
        </p:txBody>
      </p:sp>
      <p:sp>
        <p:nvSpPr>
          <p:cNvPr id="10" name="Text 7"/>
          <p:cNvSpPr/>
          <p:nvPr/>
        </p:nvSpPr>
        <p:spPr>
          <a:xfrm>
            <a:off x="7507224" y="1843430"/>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Break even</a:t>
            </a:r>
            <a:endParaRPr lang="en-US" sz="1050" dirty="0"/>
          </a:p>
        </p:txBody>
      </p:sp>
      <p:sp>
        <p:nvSpPr>
          <p:cNvPr id="11" name="Shape 8"/>
          <p:cNvSpPr/>
          <p:nvPr/>
        </p:nvSpPr>
        <p:spPr>
          <a:xfrm>
            <a:off x="9720072" y="1371600"/>
            <a:ext cx="2103120" cy="786384"/>
          </a:xfrm>
          <a:prstGeom prst="roundRect">
            <a:avLst>
              <a:gd name="adj" fmla="val 10465"/>
            </a:avLst>
          </a:prstGeom>
          <a:solidFill>
            <a:srgbClr val="F1F5F9"/>
          </a:solidFill>
          <a:ln/>
        </p:spPr>
      </p:sp>
      <p:sp>
        <p:nvSpPr>
          <p:cNvPr id="12" name="Text 9"/>
          <p:cNvSpPr/>
          <p:nvPr/>
        </p:nvSpPr>
        <p:spPr>
          <a:xfrm>
            <a:off x="9738360" y="1481328"/>
            <a:ext cx="2066544" cy="408920"/>
          </a:xfrm>
          <a:prstGeom prst="rect">
            <a:avLst/>
          </a:prstGeom>
          <a:noFill/>
          <a:ln/>
        </p:spPr>
        <p:txBody>
          <a:bodyPr wrap="square" lIns="0" tIns="0" rIns="0" bIns="0" rtlCol="0" anchor="ctr"/>
          <a:lstStyle/>
          <a:p>
            <a:pPr algn="ctr" indent="0" marL="0">
              <a:buNone/>
            </a:pPr>
            <a:r>
              <a:rPr lang="en-US" sz="2200" b="1" dirty="0">
                <a:solidFill>
                  <a:srgbClr val="E11D48"/>
                </a:solidFill>
                <a:latin typeface="Calibri" pitchFamily="34" charset="0"/>
                <a:ea typeface="Calibri" pitchFamily="34" charset="-122"/>
                <a:cs typeface="Calibri" pitchFamily="34" charset="-120"/>
              </a:rPr>
              <a:t>−₹1.11 Cr</a:t>
            </a:r>
            <a:endParaRPr lang="en-US" sz="2200" dirty="0"/>
          </a:p>
        </p:txBody>
      </p:sp>
      <p:sp>
        <p:nvSpPr>
          <p:cNvPr id="13" name="Text 10"/>
          <p:cNvSpPr/>
          <p:nvPr/>
        </p:nvSpPr>
        <p:spPr>
          <a:xfrm>
            <a:off x="9774936" y="1843430"/>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Aug26 to Apr27</a:t>
            </a:r>
            <a:endParaRPr lang="en-US" sz="1050" dirty="0"/>
          </a:p>
        </p:txBody>
      </p:sp>
      <p:sp>
        <p:nvSpPr>
          <p:cNvPr id="14" name="Shape 11"/>
          <p:cNvSpPr/>
          <p:nvPr/>
        </p:nvSpPr>
        <p:spPr>
          <a:xfrm>
            <a:off x="7452360" y="2304288"/>
            <a:ext cx="2103120" cy="786384"/>
          </a:xfrm>
          <a:prstGeom prst="roundRect">
            <a:avLst>
              <a:gd name="adj" fmla="val 10465"/>
            </a:avLst>
          </a:prstGeom>
          <a:solidFill>
            <a:srgbClr val="F1F5F9"/>
          </a:solidFill>
          <a:ln/>
        </p:spPr>
      </p:sp>
      <p:sp>
        <p:nvSpPr>
          <p:cNvPr id="15" name="Text 12"/>
          <p:cNvSpPr/>
          <p:nvPr/>
        </p:nvSpPr>
        <p:spPr>
          <a:xfrm>
            <a:off x="7470648" y="2414016"/>
            <a:ext cx="2066544" cy="408920"/>
          </a:xfrm>
          <a:prstGeom prst="rect">
            <a:avLst/>
          </a:prstGeom>
          <a:noFill/>
          <a:ln/>
        </p:spPr>
        <p:txBody>
          <a:bodyPr wrap="square" lIns="0" tIns="0" rIns="0" bIns="0" rtlCol="0" anchor="ctr"/>
          <a:lstStyle/>
          <a:p>
            <a:pPr algn="ctr" indent="0" marL="0">
              <a:buNone/>
            </a:pPr>
            <a:r>
              <a:rPr lang="en-US" sz="2200" b="1" dirty="0">
                <a:solidFill>
                  <a:srgbClr val="16A34A"/>
                </a:solidFill>
                <a:latin typeface="Calibri" pitchFamily="34" charset="0"/>
                <a:ea typeface="Calibri" pitchFamily="34" charset="-122"/>
                <a:cs typeface="Calibri" pitchFamily="34" charset="-120"/>
              </a:rPr>
              <a:t>+₹2.41 Cr</a:t>
            </a:r>
            <a:endParaRPr lang="en-US" sz="2200" dirty="0"/>
          </a:p>
        </p:txBody>
      </p:sp>
      <p:sp>
        <p:nvSpPr>
          <p:cNvPr id="16" name="Text 13"/>
          <p:cNvSpPr/>
          <p:nvPr/>
        </p:nvSpPr>
        <p:spPr>
          <a:xfrm>
            <a:off x="7507224" y="2776118"/>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Apr27 run-rate</a:t>
            </a:r>
            <a:endParaRPr lang="en-US" sz="1050" dirty="0"/>
          </a:p>
        </p:txBody>
      </p:sp>
      <p:sp>
        <p:nvSpPr>
          <p:cNvPr id="17" name="Shape 14"/>
          <p:cNvSpPr/>
          <p:nvPr/>
        </p:nvSpPr>
        <p:spPr>
          <a:xfrm>
            <a:off x="9720072" y="2304288"/>
            <a:ext cx="2103120" cy="786384"/>
          </a:xfrm>
          <a:prstGeom prst="roundRect">
            <a:avLst>
              <a:gd name="adj" fmla="val 10465"/>
            </a:avLst>
          </a:prstGeom>
          <a:solidFill>
            <a:srgbClr val="F1F5F9"/>
          </a:solidFill>
          <a:ln/>
        </p:spPr>
      </p:sp>
      <p:sp>
        <p:nvSpPr>
          <p:cNvPr id="18" name="Text 15"/>
          <p:cNvSpPr/>
          <p:nvPr/>
        </p:nvSpPr>
        <p:spPr>
          <a:xfrm>
            <a:off x="9738360" y="2414016"/>
            <a:ext cx="2066544" cy="408920"/>
          </a:xfrm>
          <a:prstGeom prst="rect">
            <a:avLst/>
          </a:prstGeom>
          <a:noFill/>
          <a:ln/>
        </p:spPr>
        <p:txBody>
          <a:bodyPr wrap="square" lIns="0" tIns="0" rIns="0" bIns="0" rtlCol="0" anchor="ctr"/>
          <a:lstStyle/>
          <a:p>
            <a:pPr algn="ctr" indent="0" marL="0">
              <a:buNone/>
            </a:pPr>
            <a:r>
              <a:rPr lang="en-US" sz="2200" b="1" dirty="0">
                <a:solidFill>
                  <a:srgbClr val="E11D48"/>
                </a:solidFill>
                <a:latin typeface="Calibri" pitchFamily="34" charset="0"/>
                <a:ea typeface="Calibri" pitchFamily="34" charset="-122"/>
                <a:cs typeface="Calibri" pitchFamily="34" charset="-120"/>
              </a:rPr>
              <a:t>−₹1.60 Cr</a:t>
            </a:r>
            <a:endParaRPr lang="en-US" sz="2200" dirty="0"/>
          </a:p>
        </p:txBody>
      </p:sp>
      <p:sp>
        <p:nvSpPr>
          <p:cNvPr id="19" name="Text 16"/>
          <p:cNvSpPr/>
          <p:nvPr/>
        </p:nvSpPr>
        <p:spPr>
          <a:xfrm>
            <a:off x="9774936" y="2776118"/>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Peak cash dip</a:t>
            </a:r>
            <a:endParaRPr lang="en-US" sz="1050" dirty="0"/>
          </a:p>
        </p:txBody>
      </p:sp>
      <p:sp>
        <p:nvSpPr>
          <p:cNvPr id="20" name="Text 17"/>
          <p:cNvSpPr/>
          <p:nvPr/>
        </p:nvSpPr>
        <p:spPr>
          <a:xfrm>
            <a:off x="7452360" y="3200400"/>
            <a:ext cx="429768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month by month play</a:t>
            </a:r>
            <a:endParaRPr lang="en-US" sz="1400" dirty="0"/>
          </a:p>
        </p:txBody>
      </p:sp>
      <p:sp>
        <p:nvSpPr>
          <p:cNvPr id="21" name="Shape 18"/>
          <p:cNvSpPr/>
          <p:nvPr/>
        </p:nvSpPr>
        <p:spPr>
          <a:xfrm>
            <a:off x="7452360" y="3584448"/>
            <a:ext cx="932688" cy="457200"/>
          </a:xfrm>
          <a:prstGeom prst="roundRect">
            <a:avLst>
              <a:gd name="adj" fmla="val 14000"/>
            </a:avLst>
          </a:prstGeom>
          <a:solidFill>
            <a:srgbClr val="F59E0B"/>
          </a:solidFill>
          <a:ln/>
        </p:spPr>
      </p:sp>
      <p:sp>
        <p:nvSpPr>
          <p:cNvPr id="22" name="Text 19"/>
          <p:cNvSpPr/>
          <p:nvPr/>
        </p:nvSpPr>
        <p:spPr>
          <a:xfrm>
            <a:off x="7452360" y="3584448"/>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AUG-DEC</a:t>
            </a:r>
            <a:endParaRPr lang="en-US" sz="850" dirty="0"/>
          </a:p>
        </p:txBody>
      </p:sp>
      <p:sp>
        <p:nvSpPr>
          <p:cNvPr id="23" name="Text 20"/>
          <p:cNvSpPr/>
          <p:nvPr/>
        </p:nvSpPr>
        <p:spPr>
          <a:xfrm>
            <a:off x="8503920" y="3547872"/>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No licence yet. Grow IPO to 20 and work that book, push rating sales, keep the burn tight.</a:t>
            </a:r>
            <a:endParaRPr lang="en-US" sz="1000" dirty="0"/>
          </a:p>
        </p:txBody>
      </p:sp>
      <p:sp>
        <p:nvSpPr>
          <p:cNvPr id="24" name="Shape 21"/>
          <p:cNvSpPr/>
          <p:nvPr/>
        </p:nvSpPr>
        <p:spPr>
          <a:xfrm>
            <a:off x="7452360" y="4306824"/>
            <a:ext cx="932688" cy="457200"/>
          </a:xfrm>
          <a:prstGeom prst="roundRect">
            <a:avLst>
              <a:gd name="adj" fmla="val 14000"/>
            </a:avLst>
          </a:prstGeom>
          <a:solidFill>
            <a:srgbClr val="F59E0B"/>
          </a:solidFill>
          <a:ln/>
        </p:spPr>
      </p:sp>
      <p:sp>
        <p:nvSpPr>
          <p:cNvPr id="25" name="Text 22"/>
          <p:cNvSpPr/>
          <p:nvPr/>
        </p:nvSpPr>
        <p:spPr>
          <a:xfrm>
            <a:off x="7452360" y="4306824"/>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JAN</a:t>
            </a:r>
            <a:endParaRPr lang="en-US" sz="850" dirty="0"/>
          </a:p>
        </p:txBody>
      </p:sp>
      <p:sp>
        <p:nvSpPr>
          <p:cNvPr id="26" name="Text 23"/>
          <p:cNvSpPr/>
          <p:nvPr/>
        </p:nvSpPr>
        <p:spPr>
          <a:xfrm>
            <a:off x="8503920" y="4270248"/>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Licence live, but the IPO book comes first. Zero BLR this month, branding push, delivery protected.</a:t>
            </a:r>
            <a:endParaRPr lang="en-US" sz="1000" dirty="0"/>
          </a:p>
        </p:txBody>
      </p:sp>
      <p:sp>
        <p:nvSpPr>
          <p:cNvPr id="27" name="Shape 24"/>
          <p:cNvSpPr/>
          <p:nvPr/>
        </p:nvSpPr>
        <p:spPr>
          <a:xfrm>
            <a:off x="7452360" y="5029200"/>
            <a:ext cx="932688" cy="457200"/>
          </a:xfrm>
          <a:prstGeom prst="roundRect">
            <a:avLst>
              <a:gd name="adj" fmla="val 14000"/>
            </a:avLst>
          </a:prstGeom>
          <a:solidFill>
            <a:srgbClr val="F59E0B"/>
          </a:solidFill>
          <a:ln/>
        </p:spPr>
      </p:sp>
      <p:sp>
        <p:nvSpPr>
          <p:cNvPr id="28" name="Text 25"/>
          <p:cNvSpPr/>
          <p:nvPr/>
        </p:nvSpPr>
        <p:spPr>
          <a:xfrm>
            <a:off x="7452360" y="5029200"/>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FEB+</a:t>
            </a:r>
            <a:endParaRPr lang="en-US" sz="850" dirty="0"/>
          </a:p>
        </p:txBody>
      </p:sp>
      <p:sp>
        <p:nvSpPr>
          <p:cNvPr id="29" name="Text 26"/>
          <p:cNvSpPr/>
          <p:nvPr/>
        </p:nvSpPr>
        <p:spPr>
          <a:xfrm>
            <a:off x="8503920" y="4992624"/>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IPO steady, capacity frees up, BLR ramps to 16 a month. Exit run-rate into next year is strong.</a:t>
            </a:r>
            <a:endParaRPr lang="en-US" sz="1000" dirty="0"/>
          </a:p>
        </p:txBody>
      </p:sp>
      <p:sp>
        <p:nvSpPr>
          <p:cNvPr id="30" name="Shape 27"/>
          <p:cNvSpPr/>
          <p:nvPr/>
        </p:nvSpPr>
        <p:spPr>
          <a:xfrm>
            <a:off x="7452360" y="5751576"/>
            <a:ext cx="932688" cy="457200"/>
          </a:xfrm>
          <a:prstGeom prst="roundRect">
            <a:avLst>
              <a:gd name="adj" fmla="val 14000"/>
            </a:avLst>
          </a:prstGeom>
          <a:solidFill>
            <a:srgbClr val="F59E0B"/>
          </a:solidFill>
          <a:ln/>
        </p:spPr>
      </p:sp>
      <p:sp>
        <p:nvSpPr>
          <p:cNvPr id="31" name="Text 28"/>
          <p:cNvSpPr/>
          <p:nvPr/>
        </p:nvSpPr>
        <p:spPr>
          <a:xfrm>
            <a:off x="7452360" y="5751576"/>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HIRE</a:t>
            </a:r>
            <a:endParaRPr lang="en-US" sz="850" dirty="0"/>
          </a:p>
        </p:txBody>
      </p:sp>
      <p:sp>
        <p:nvSpPr>
          <p:cNvPr id="32" name="Text 29"/>
          <p:cNvSpPr/>
          <p:nvPr/>
        </p:nvSpPr>
        <p:spPr>
          <a:xfrm>
            <a:off x="8503920" y="5715000"/>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Same rule, add the sixth executor only when capacity turns negative twice.</a:t>
            </a:r>
            <a:endParaRPr lang="en-US" sz="1000" dirty="0"/>
          </a:p>
        </p:txBody>
      </p:sp>
      <p:sp>
        <p:nvSpPr>
          <p:cNvPr id="33" name="Text 30"/>
          <p:cNvSpPr/>
          <p:nvPr/>
        </p:nvSpPr>
        <p:spPr>
          <a:xfrm>
            <a:off x="457200" y="6455664"/>
            <a:ext cx="11274552" cy="274320"/>
          </a:xfrm>
          <a:prstGeom prst="rect">
            <a:avLst/>
          </a:prstGeom>
          <a:noFill/>
          <a:ln/>
        </p:spPr>
        <p:txBody>
          <a:bodyPr wrap="square" rtlCol="0" anchor="ctr"/>
          <a:lstStyle/>
          <a:p>
            <a:pPr algn="l"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34" name="Text 31"/>
          <p:cNvSpPr/>
          <p:nvPr/>
        </p:nvSpPr>
        <p:spPr>
          <a:xfrm>
            <a:off x="5943600" y="6455664"/>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503920" cy="640080"/>
          </a:xfrm>
          <a:prstGeom prst="rect">
            <a:avLst/>
          </a:prstGeom>
          <a:noFill/>
          <a:ln/>
        </p:spPr>
        <p:txBody>
          <a:bodyPr wrap="square" rtlCol="0" anchor="ctr"/>
          <a:lstStyle/>
          <a:p>
            <a:pPr indent="0" marL="0">
              <a:buNone/>
            </a:pPr>
            <a:r>
              <a:rPr lang="en-US" sz="2600" b="1" dirty="0">
                <a:solidFill>
                  <a:srgbClr val="0F172A"/>
                </a:solidFill>
                <a:latin typeface="Calibri" pitchFamily="34" charset="0"/>
                <a:ea typeface="Calibri" pitchFamily="34" charset="-122"/>
                <a:cs typeface="Calibri" pitchFamily="34" charset="-120"/>
              </a:rPr>
              <a:t>Scenario 3  ·  No BLR licence in FY27</a:t>
            </a:r>
            <a:endParaRPr lang="en-US" sz="2600" dirty="0"/>
          </a:p>
        </p:txBody>
      </p:sp>
      <p:sp>
        <p:nvSpPr>
          <p:cNvPr id="3" name="Shape 1"/>
          <p:cNvSpPr/>
          <p:nvPr/>
        </p:nvSpPr>
        <p:spPr>
          <a:xfrm>
            <a:off x="9189720" y="457200"/>
            <a:ext cx="2542032" cy="457200"/>
          </a:xfrm>
          <a:prstGeom prst="roundRect">
            <a:avLst>
              <a:gd name="adj" fmla="val 50000"/>
            </a:avLst>
          </a:prstGeom>
          <a:solidFill>
            <a:srgbClr val="E11D48"/>
          </a:solidFill>
          <a:ln/>
        </p:spPr>
      </p:sp>
      <p:sp>
        <p:nvSpPr>
          <p:cNvPr id="4" name="Text 2"/>
          <p:cNvSpPr/>
          <p:nvPr/>
        </p:nvSpPr>
        <p:spPr>
          <a:xfrm>
            <a:off x="9189720" y="457200"/>
            <a:ext cx="254203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IPO and operations</a:t>
            </a:r>
            <a:endParaRPr lang="en-US" sz="1300" dirty="0"/>
          </a:p>
        </p:txBody>
      </p:sp>
      <p:sp>
        <p:nvSpPr>
          <p:cNvPr id="5" name="Text 3"/>
          <p:cNvSpPr/>
          <p:nvPr/>
        </p:nvSpPr>
        <p:spPr>
          <a:xfrm>
            <a:off x="457200" y="1143000"/>
            <a:ext cx="6766560" cy="274320"/>
          </a:xfrm>
          <a:prstGeom prst="rect">
            <a:avLst/>
          </a:prstGeom>
          <a:noFill/>
          <a:ln/>
        </p:spPr>
        <p:txBody>
          <a:bodyPr wrap="square"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Monthly income build vs expense, to April 2027</a:t>
            </a:r>
            <a:endParaRPr lang="en-US" sz="1200" dirty="0"/>
          </a:p>
        </p:txBody>
      </p:sp>
      <p:pic>
        <p:nvPicPr>
          <p:cNvPr id="6" name="Image 0" descr="/tmp/claude-0/-home-user-AOP/882c7cd9-4c83-533a-b587-3f8bdf195bc7/scratchpad/charts/s3_beChart.png">    </p:cNvPr>
          <p:cNvPicPr>
            <a:picLocks noChangeAspect="1"/>
          </p:cNvPicPr>
          <p:nvPr/>
        </p:nvPicPr>
        <p:blipFill>
          <a:blip r:embed="rId1"/>
          <a:stretch>
            <a:fillRect/>
          </a:stretch>
        </p:blipFill>
        <p:spPr>
          <a:xfrm>
            <a:off x="365760" y="1417320"/>
            <a:ext cx="6903720" cy="3694176"/>
          </a:xfrm>
          <a:prstGeom prst="rect">
            <a:avLst/>
          </a:prstGeom>
        </p:spPr>
      </p:pic>
      <p:sp>
        <p:nvSpPr>
          <p:cNvPr id="7" name="Text 4"/>
          <p:cNvSpPr/>
          <p:nvPr/>
        </p:nvSpPr>
        <p:spPr>
          <a:xfrm>
            <a:off x="457200" y="5257800"/>
            <a:ext cx="6766560" cy="457200"/>
          </a:xfrm>
          <a:prstGeom prst="rect">
            <a:avLst/>
          </a:prstGeom>
          <a:noFill/>
          <a:ln/>
        </p:spPr>
        <p:txBody>
          <a:bodyPr wrap="square" rtlCol="0" anchor="t"/>
          <a:lstStyle/>
          <a:p>
            <a:pPr indent="0" marL="0">
              <a:buNone/>
            </a:pPr>
            <a:r>
              <a:rPr lang="en-US" sz="1200" i="1" dirty="0">
                <a:solidFill>
                  <a:srgbClr val="0D9488"/>
                </a:solidFill>
                <a:latin typeface="Calibri" pitchFamily="34" charset="0"/>
                <a:ea typeface="Calibri" pitchFamily="34" charset="-122"/>
                <a:cs typeface="Calibri" pitchFamily="34" charset="-120"/>
              </a:rPr>
              <a:t>Branding: focus on IPO brand building, no BLR launch spend this year.</a:t>
            </a:r>
            <a:endParaRPr lang="en-US" sz="1200" dirty="0"/>
          </a:p>
        </p:txBody>
      </p:sp>
      <p:sp>
        <p:nvSpPr>
          <p:cNvPr id="8" name="Shape 5"/>
          <p:cNvSpPr/>
          <p:nvPr/>
        </p:nvSpPr>
        <p:spPr>
          <a:xfrm>
            <a:off x="7452360" y="1371600"/>
            <a:ext cx="2103120" cy="786384"/>
          </a:xfrm>
          <a:prstGeom prst="roundRect">
            <a:avLst>
              <a:gd name="adj" fmla="val 10465"/>
            </a:avLst>
          </a:prstGeom>
          <a:solidFill>
            <a:srgbClr val="F1F5F9"/>
          </a:solidFill>
          <a:ln/>
        </p:spPr>
      </p:sp>
      <p:sp>
        <p:nvSpPr>
          <p:cNvPr id="9" name="Text 6"/>
          <p:cNvSpPr/>
          <p:nvPr/>
        </p:nvSpPr>
        <p:spPr>
          <a:xfrm>
            <a:off x="7470648" y="1481328"/>
            <a:ext cx="2066544" cy="408920"/>
          </a:xfrm>
          <a:prstGeom prst="rect">
            <a:avLst/>
          </a:prstGeom>
          <a:noFill/>
          <a:ln/>
        </p:spPr>
        <p:txBody>
          <a:bodyPr wrap="square" lIns="0" tIns="0" rIns="0" bIns="0" rtlCol="0" anchor="ctr"/>
          <a:lstStyle/>
          <a:p>
            <a:pPr algn="ctr" indent="0" marL="0">
              <a:buNone/>
            </a:pPr>
            <a:r>
              <a:rPr lang="en-US" sz="2200" b="1" dirty="0">
                <a:solidFill>
                  <a:srgbClr val="E11D48"/>
                </a:solidFill>
                <a:latin typeface="Calibri" pitchFamily="34" charset="0"/>
                <a:ea typeface="Calibri" pitchFamily="34" charset="-122"/>
                <a:cs typeface="Calibri" pitchFamily="34" charset="-120"/>
              </a:rPr>
              <a:t>None</a:t>
            </a:r>
            <a:endParaRPr lang="en-US" sz="2200" dirty="0"/>
          </a:p>
        </p:txBody>
      </p:sp>
      <p:sp>
        <p:nvSpPr>
          <p:cNvPr id="10" name="Text 7"/>
          <p:cNvSpPr/>
          <p:nvPr/>
        </p:nvSpPr>
        <p:spPr>
          <a:xfrm>
            <a:off x="7507224" y="1843430"/>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Break even</a:t>
            </a:r>
            <a:endParaRPr lang="en-US" sz="1050" dirty="0"/>
          </a:p>
        </p:txBody>
      </p:sp>
      <p:sp>
        <p:nvSpPr>
          <p:cNvPr id="11" name="Shape 8"/>
          <p:cNvSpPr/>
          <p:nvPr/>
        </p:nvSpPr>
        <p:spPr>
          <a:xfrm>
            <a:off x="9720072" y="1371600"/>
            <a:ext cx="2103120" cy="786384"/>
          </a:xfrm>
          <a:prstGeom prst="roundRect">
            <a:avLst>
              <a:gd name="adj" fmla="val 10465"/>
            </a:avLst>
          </a:prstGeom>
          <a:solidFill>
            <a:srgbClr val="F1F5F9"/>
          </a:solidFill>
          <a:ln/>
        </p:spPr>
      </p:sp>
      <p:sp>
        <p:nvSpPr>
          <p:cNvPr id="12" name="Text 9"/>
          <p:cNvSpPr/>
          <p:nvPr/>
        </p:nvSpPr>
        <p:spPr>
          <a:xfrm>
            <a:off x="9738360" y="1481328"/>
            <a:ext cx="2066544" cy="408920"/>
          </a:xfrm>
          <a:prstGeom prst="rect">
            <a:avLst/>
          </a:prstGeom>
          <a:noFill/>
          <a:ln/>
        </p:spPr>
        <p:txBody>
          <a:bodyPr wrap="square" lIns="0" tIns="0" rIns="0" bIns="0" rtlCol="0" anchor="ctr"/>
          <a:lstStyle/>
          <a:p>
            <a:pPr algn="ctr" indent="0" marL="0">
              <a:buNone/>
            </a:pPr>
            <a:r>
              <a:rPr lang="en-US" sz="2200" b="1" dirty="0">
                <a:solidFill>
                  <a:srgbClr val="E11D48"/>
                </a:solidFill>
                <a:latin typeface="Calibri" pitchFamily="34" charset="0"/>
                <a:ea typeface="Calibri" pitchFamily="34" charset="-122"/>
                <a:cs typeface="Calibri" pitchFamily="34" charset="-120"/>
              </a:rPr>
              <a:t>−₹2.15 Cr</a:t>
            </a:r>
            <a:endParaRPr lang="en-US" sz="2200" dirty="0"/>
          </a:p>
        </p:txBody>
      </p:sp>
      <p:sp>
        <p:nvSpPr>
          <p:cNvPr id="13" name="Text 10"/>
          <p:cNvSpPr/>
          <p:nvPr/>
        </p:nvSpPr>
        <p:spPr>
          <a:xfrm>
            <a:off x="9774936" y="1843430"/>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Aug26 to Apr27</a:t>
            </a:r>
            <a:endParaRPr lang="en-US" sz="1050" dirty="0"/>
          </a:p>
        </p:txBody>
      </p:sp>
      <p:sp>
        <p:nvSpPr>
          <p:cNvPr id="14" name="Shape 11"/>
          <p:cNvSpPr/>
          <p:nvPr/>
        </p:nvSpPr>
        <p:spPr>
          <a:xfrm>
            <a:off x="7452360" y="2304288"/>
            <a:ext cx="2103120" cy="786384"/>
          </a:xfrm>
          <a:prstGeom prst="roundRect">
            <a:avLst>
              <a:gd name="adj" fmla="val 10465"/>
            </a:avLst>
          </a:prstGeom>
          <a:solidFill>
            <a:srgbClr val="F1F5F9"/>
          </a:solidFill>
          <a:ln/>
        </p:spPr>
      </p:sp>
      <p:sp>
        <p:nvSpPr>
          <p:cNvPr id="15" name="Text 12"/>
          <p:cNvSpPr/>
          <p:nvPr/>
        </p:nvSpPr>
        <p:spPr>
          <a:xfrm>
            <a:off x="7470648" y="2414016"/>
            <a:ext cx="2066544" cy="408920"/>
          </a:xfrm>
          <a:prstGeom prst="rect">
            <a:avLst/>
          </a:prstGeom>
          <a:noFill/>
          <a:ln/>
        </p:spPr>
        <p:txBody>
          <a:bodyPr wrap="square" lIns="0" tIns="0" rIns="0" bIns="0" rtlCol="0" anchor="ctr"/>
          <a:lstStyle/>
          <a:p>
            <a:pPr algn="ctr" indent="0" marL="0">
              <a:buNone/>
            </a:pPr>
            <a:r>
              <a:rPr lang="en-US" sz="2200" b="1" dirty="0">
                <a:solidFill>
                  <a:srgbClr val="E11D48"/>
                </a:solidFill>
                <a:latin typeface="Calibri" pitchFamily="34" charset="0"/>
                <a:ea typeface="Calibri" pitchFamily="34" charset="-122"/>
                <a:cs typeface="Calibri" pitchFamily="34" charset="-120"/>
              </a:rPr>
              <a:t>−₹2.08 Cr</a:t>
            </a:r>
            <a:endParaRPr lang="en-US" sz="2200" dirty="0"/>
          </a:p>
        </p:txBody>
      </p:sp>
      <p:sp>
        <p:nvSpPr>
          <p:cNvPr id="16" name="Text 13"/>
          <p:cNvSpPr/>
          <p:nvPr/>
        </p:nvSpPr>
        <p:spPr>
          <a:xfrm>
            <a:off x="7507224" y="2776118"/>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Apr27 run-rate</a:t>
            </a:r>
            <a:endParaRPr lang="en-US" sz="1050" dirty="0"/>
          </a:p>
        </p:txBody>
      </p:sp>
      <p:sp>
        <p:nvSpPr>
          <p:cNvPr id="17" name="Shape 14"/>
          <p:cNvSpPr/>
          <p:nvPr/>
        </p:nvSpPr>
        <p:spPr>
          <a:xfrm>
            <a:off x="9720072" y="2304288"/>
            <a:ext cx="2103120" cy="786384"/>
          </a:xfrm>
          <a:prstGeom prst="roundRect">
            <a:avLst>
              <a:gd name="adj" fmla="val 10465"/>
            </a:avLst>
          </a:prstGeom>
          <a:solidFill>
            <a:srgbClr val="F1F5F9"/>
          </a:solidFill>
          <a:ln/>
        </p:spPr>
      </p:sp>
      <p:sp>
        <p:nvSpPr>
          <p:cNvPr id="18" name="Text 15"/>
          <p:cNvSpPr/>
          <p:nvPr/>
        </p:nvSpPr>
        <p:spPr>
          <a:xfrm>
            <a:off x="9738360" y="2414016"/>
            <a:ext cx="2066544" cy="408920"/>
          </a:xfrm>
          <a:prstGeom prst="rect">
            <a:avLst/>
          </a:prstGeom>
          <a:noFill/>
          <a:ln/>
        </p:spPr>
        <p:txBody>
          <a:bodyPr wrap="square" lIns="0" tIns="0" rIns="0" bIns="0" rtlCol="0" anchor="ctr"/>
          <a:lstStyle/>
          <a:p>
            <a:pPr algn="ctr" indent="0" marL="0">
              <a:buNone/>
            </a:pPr>
            <a:r>
              <a:rPr lang="en-US" sz="2200" b="1" dirty="0">
                <a:solidFill>
                  <a:srgbClr val="E11D48"/>
                </a:solidFill>
                <a:latin typeface="Calibri" pitchFamily="34" charset="0"/>
                <a:ea typeface="Calibri" pitchFamily="34" charset="-122"/>
                <a:cs typeface="Calibri" pitchFamily="34" charset="-120"/>
              </a:rPr>
              <a:t>−₹2.15 Cr</a:t>
            </a:r>
            <a:endParaRPr lang="en-US" sz="2200" dirty="0"/>
          </a:p>
        </p:txBody>
      </p:sp>
      <p:sp>
        <p:nvSpPr>
          <p:cNvPr id="19" name="Text 16"/>
          <p:cNvSpPr/>
          <p:nvPr/>
        </p:nvSpPr>
        <p:spPr>
          <a:xfrm>
            <a:off x="9774936" y="2776118"/>
            <a:ext cx="1993392"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Peak cash dip</a:t>
            </a:r>
            <a:endParaRPr lang="en-US" sz="1050" dirty="0"/>
          </a:p>
        </p:txBody>
      </p:sp>
      <p:sp>
        <p:nvSpPr>
          <p:cNvPr id="20" name="Text 17"/>
          <p:cNvSpPr/>
          <p:nvPr/>
        </p:nvSpPr>
        <p:spPr>
          <a:xfrm>
            <a:off x="7452360" y="3200400"/>
            <a:ext cx="429768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month by month play</a:t>
            </a:r>
            <a:endParaRPr lang="en-US" sz="1400" dirty="0"/>
          </a:p>
        </p:txBody>
      </p:sp>
      <p:sp>
        <p:nvSpPr>
          <p:cNvPr id="21" name="Shape 18"/>
          <p:cNvSpPr/>
          <p:nvPr/>
        </p:nvSpPr>
        <p:spPr>
          <a:xfrm>
            <a:off x="7452360" y="3584448"/>
            <a:ext cx="932688" cy="457200"/>
          </a:xfrm>
          <a:prstGeom prst="roundRect">
            <a:avLst>
              <a:gd name="adj" fmla="val 14000"/>
            </a:avLst>
          </a:prstGeom>
          <a:solidFill>
            <a:srgbClr val="E11D48"/>
          </a:solidFill>
          <a:ln/>
        </p:spPr>
      </p:sp>
      <p:sp>
        <p:nvSpPr>
          <p:cNvPr id="22" name="Text 19"/>
          <p:cNvSpPr/>
          <p:nvPr/>
        </p:nvSpPr>
        <p:spPr>
          <a:xfrm>
            <a:off x="7452360" y="3584448"/>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ALL YEAR</a:t>
            </a:r>
            <a:endParaRPr lang="en-US" sz="850" dirty="0"/>
          </a:p>
        </p:txBody>
      </p:sp>
      <p:sp>
        <p:nvSpPr>
          <p:cNvPr id="23" name="Text 20"/>
          <p:cNvSpPr/>
          <p:nvPr/>
        </p:nvSpPr>
        <p:spPr>
          <a:xfrm>
            <a:off x="8503920" y="3547872"/>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No BLR. Pour the whole team into IPO and rating cases.</a:t>
            </a:r>
            <a:endParaRPr lang="en-US" sz="1000" dirty="0"/>
          </a:p>
        </p:txBody>
      </p:sp>
      <p:sp>
        <p:nvSpPr>
          <p:cNvPr id="24" name="Shape 21"/>
          <p:cNvSpPr/>
          <p:nvPr/>
        </p:nvSpPr>
        <p:spPr>
          <a:xfrm>
            <a:off x="7452360" y="4306824"/>
            <a:ext cx="932688" cy="457200"/>
          </a:xfrm>
          <a:prstGeom prst="roundRect">
            <a:avLst>
              <a:gd name="adj" fmla="val 14000"/>
            </a:avLst>
          </a:prstGeom>
          <a:solidFill>
            <a:srgbClr val="E11D48"/>
          </a:solidFill>
          <a:ln/>
        </p:spPr>
      </p:sp>
      <p:sp>
        <p:nvSpPr>
          <p:cNvPr id="25" name="Text 22"/>
          <p:cNvSpPr/>
          <p:nvPr/>
        </p:nvSpPr>
        <p:spPr>
          <a:xfrm>
            <a:off x="7452360" y="4306824"/>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GROW</a:t>
            </a:r>
            <a:endParaRPr lang="en-US" sz="850" dirty="0"/>
          </a:p>
        </p:txBody>
      </p:sp>
      <p:sp>
        <p:nvSpPr>
          <p:cNvPr id="26" name="Text 23"/>
          <p:cNvSpPr/>
          <p:nvPr/>
        </p:nvSpPr>
        <p:spPr>
          <a:xfrm>
            <a:off x="8503920" y="4270248"/>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Keep winning 10 to 12 cases a month so the IPO and ratings book compounds and income keeps rising.</a:t>
            </a:r>
            <a:endParaRPr lang="en-US" sz="1000" dirty="0"/>
          </a:p>
        </p:txBody>
      </p:sp>
      <p:sp>
        <p:nvSpPr>
          <p:cNvPr id="27" name="Shape 24"/>
          <p:cNvSpPr/>
          <p:nvPr/>
        </p:nvSpPr>
        <p:spPr>
          <a:xfrm>
            <a:off x="7452360" y="5029200"/>
            <a:ext cx="932688" cy="457200"/>
          </a:xfrm>
          <a:prstGeom prst="roundRect">
            <a:avLst>
              <a:gd name="adj" fmla="val 14000"/>
            </a:avLst>
          </a:prstGeom>
          <a:solidFill>
            <a:srgbClr val="E11D48"/>
          </a:solidFill>
          <a:ln/>
        </p:spPr>
      </p:sp>
      <p:sp>
        <p:nvSpPr>
          <p:cNvPr id="28" name="Text 25"/>
          <p:cNvSpPr/>
          <p:nvPr/>
        </p:nvSpPr>
        <p:spPr>
          <a:xfrm>
            <a:off x="7452360" y="5029200"/>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COST</a:t>
            </a:r>
            <a:endParaRPr lang="en-US" sz="850" dirty="0"/>
          </a:p>
        </p:txBody>
      </p:sp>
      <p:sp>
        <p:nvSpPr>
          <p:cNvPr id="29" name="Text 26"/>
          <p:cNvSpPr/>
          <p:nvPr/>
        </p:nvSpPr>
        <p:spPr>
          <a:xfrm>
            <a:off x="8503920" y="4992624"/>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Hold discretionary spend. Do not add the sixth executor this year.</a:t>
            </a:r>
            <a:endParaRPr lang="en-US" sz="1000" dirty="0"/>
          </a:p>
        </p:txBody>
      </p:sp>
      <p:sp>
        <p:nvSpPr>
          <p:cNvPr id="30" name="Shape 27"/>
          <p:cNvSpPr/>
          <p:nvPr/>
        </p:nvSpPr>
        <p:spPr>
          <a:xfrm>
            <a:off x="7452360" y="5751576"/>
            <a:ext cx="932688" cy="457200"/>
          </a:xfrm>
          <a:prstGeom prst="roundRect">
            <a:avLst>
              <a:gd name="adj" fmla="val 14000"/>
            </a:avLst>
          </a:prstGeom>
          <a:solidFill>
            <a:srgbClr val="E11D48"/>
          </a:solidFill>
          <a:ln/>
        </p:spPr>
      </p:sp>
      <p:sp>
        <p:nvSpPr>
          <p:cNvPr id="31" name="Text 28"/>
          <p:cNvSpPr/>
          <p:nvPr/>
        </p:nvSpPr>
        <p:spPr>
          <a:xfrm>
            <a:off x="7452360" y="5751576"/>
            <a:ext cx="932688"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READY</a:t>
            </a:r>
            <a:endParaRPr lang="en-US" sz="850" dirty="0"/>
          </a:p>
        </p:txBody>
      </p:sp>
      <p:sp>
        <p:nvSpPr>
          <p:cNvPr id="32" name="Text 29"/>
          <p:cNvSpPr/>
          <p:nvPr/>
        </p:nvSpPr>
        <p:spPr>
          <a:xfrm>
            <a:off x="8503920" y="5715000"/>
            <a:ext cx="3246120" cy="713232"/>
          </a:xfrm>
          <a:prstGeom prst="rect">
            <a:avLst/>
          </a:prstGeom>
          <a:noFill/>
          <a:ln/>
        </p:spPr>
        <p:txBody>
          <a:bodyPr wrap="square" lIns="0" tIns="0" rIns="0" bIns="0" rtlCol="0" anchor="ctr"/>
          <a:lstStyle/>
          <a:p>
            <a:pPr indent="0" marL="0">
              <a:lnSpc>
                <a:spcPct val="95000"/>
              </a:lnSpc>
              <a:buNone/>
            </a:pPr>
            <a:r>
              <a:rPr lang="en-US" sz="1000" dirty="0">
                <a:solidFill>
                  <a:srgbClr val="0F172A"/>
                </a:solidFill>
                <a:latin typeface="Calibri" pitchFamily="34" charset="0"/>
                <a:ea typeface="Calibri" pitchFamily="34" charset="-122"/>
                <a:cs typeface="Calibri" pitchFamily="34" charset="-120"/>
              </a:rPr>
              <a:t>Keep the team primed so BLR can launch fast the moment it clears.</a:t>
            </a:r>
            <a:endParaRPr lang="en-US" sz="1000" dirty="0"/>
          </a:p>
        </p:txBody>
      </p:sp>
      <p:sp>
        <p:nvSpPr>
          <p:cNvPr id="33" name="Text 30"/>
          <p:cNvSpPr/>
          <p:nvPr/>
        </p:nvSpPr>
        <p:spPr>
          <a:xfrm>
            <a:off x="457200" y="6455664"/>
            <a:ext cx="11274552" cy="274320"/>
          </a:xfrm>
          <a:prstGeom prst="rect">
            <a:avLst/>
          </a:prstGeom>
          <a:noFill/>
          <a:ln/>
        </p:spPr>
        <p:txBody>
          <a:bodyPr wrap="square" rtlCol="0" anchor="ctr"/>
          <a:lstStyle/>
          <a:p>
            <a:pPr algn="l"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34" name="Text 31"/>
          <p:cNvSpPr/>
          <p:nvPr/>
        </p:nvSpPr>
        <p:spPr>
          <a:xfrm>
            <a:off x="5943600" y="6455664"/>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47120" cy="274320"/>
          </a:xfrm>
          <a:prstGeom prst="rect">
            <a:avLst/>
          </a:prstGeom>
          <a:noFill/>
          <a:ln/>
        </p:spPr>
        <p:txBody>
          <a:bodyPr wrap="square"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SCENARIO COMPARISON</a:t>
            </a:r>
            <a:endParaRPr lang="en-US" sz="1200" dirty="0"/>
          </a:p>
        </p:txBody>
      </p:sp>
      <p:sp>
        <p:nvSpPr>
          <p:cNvPr id="3" name="Text 1"/>
          <p:cNvSpPr/>
          <p:nvPr/>
        </p:nvSpPr>
        <p:spPr>
          <a:xfrm>
            <a:off x="457200" y="658368"/>
            <a:ext cx="11247120" cy="658368"/>
          </a:xfrm>
          <a:prstGeom prst="rect">
            <a:avLst/>
          </a:prstGeom>
          <a:noFill/>
          <a:ln/>
        </p:spPr>
        <p:txBody>
          <a:bodyPr wrap="square"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Same team and cost base, only the licence date moves</a:t>
            </a:r>
            <a:endParaRPr lang="en-US" sz="3200" dirty="0"/>
          </a:p>
        </p:txBody>
      </p:sp>
      <p:sp>
        <p:nvSpPr>
          <p:cNvPr id="4" name="Shape 2"/>
          <p:cNvSpPr/>
          <p:nvPr/>
        </p:nvSpPr>
        <p:spPr>
          <a:xfrm>
            <a:off x="4572000" y="1600200"/>
            <a:ext cx="2377440" cy="548640"/>
          </a:xfrm>
          <a:prstGeom prst="roundRect">
            <a:avLst>
              <a:gd name="adj" fmla="val 11667"/>
            </a:avLst>
          </a:prstGeom>
          <a:solidFill>
            <a:srgbClr val="16A34A"/>
          </a:solidFill>
          <a:ln/>
        </p:spPr>
      </p:sp>
      <p:sp>
        <p:nvSpPr>
          <p:cNvPr id="5" name="Text 3"/>
          <p:cNvSpPr/>
          <p:nvPr/>
        </p:nvSpPr>
        <p:spPr>
          <a:xfrm>
            <a:off x="4572000" y="1600200"/>
            <a:ext cx="23774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 BLR by Oct</a:t>
            </a:r>
            <a:endParaRPr lang="en-US" sz="1300" dirty="0"/>
          </a:p>
        </p:txBody>
      </p:sp>
      <p:sp>
        <p:nvSpPr>
          <p:cNvPr id="6" name="Shape 4"/>
          <p:cNvSpPr/>
          <p:nvPr/>
        </p:nvSpPr>
        <p:spPr>
          <a:xfrm>
            <a:off x="7040880" y="1600200"/>
            <a:ext cx="2377440" cy="548640"/>
          </a:xfrm>
          <a:prstGeom prst="roundRect">
            <a:avLst>
              <a:gd name="adj" fmla="val 11667"/>
            </a:avLst>
          </a:prstGeom>
          <a:solidFill>
            <a:srgbClr val="F59E0B"/>
          </a:solidFill>
          <a:ln/>
        </p:spPr>
      </p:sp>
      <p:sp>
        <p:nvSpPr>
          <p:cNvPr id="7" name="Text 5"/>
          <p:cNvSpPr/>
          <p:nvPr/>
        </p:nvSpPr>
        <p:spPr>
          <a:xfrm>
            <a:off x="7040880" y="1600200"/>
            <a:ext cx="23774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S2: BLR by Jan</a:t>
            </a:r>
            <a:endParaRPr lang="en-US" sz="1300" dirty="0"/>
          </a:p>
        </p:txBody>
      </p:sp>
      <p:sp>
        <p:nvSpPr>
          <p:cNvPr id="8" name="Shape 6"/>
          <p:cNvSpPr/>
          <p:nvPr/>
        </p:nvSpPr>
        <p:spPr>
          <a:xfrm>
            <a:off x="9509760" y="1600200"/>
            <a:ext cx="2194560" cy="548640"/>
          </a:xfrm>
          <a:prstGeom prst="roundRect">
            <a:avLst>
              <a:gd name="adj" fmla="val 11667"/>
            </a:avLst>
          </a:prstGeom>
          <a:solidFill>
            <a:srgbClr val="E11D48"/>
          </a:solidFill>
          <a:ln/>
        </p:spPr>
      </p:sp>
      <p:sp>
        <p:nvSpPr>
          <p:cNvPr id="9" name="Text 7"/>
          <p:cNvSpPr/>
          <p:nvPr/>
        </p:nvSpPr>
        <p:spPr>
          <a:xfrm>
            <a:off x="9509760" y="1600200"/>
            <a:ext cx="219456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S3: No BLR</a:t>
            </a:r>
            <a:endParaRPr lang="en-US" sz="1300" dirty="0"/>
          </a:p>
        </p:txBody>
      </p:sp>
      <p:sp>
        <p:nvSpPr>
          <p:cNvPr id="10" name="Text 8"/>
          <p:cNvSpPr/>
          <p:nvPr/>
        </p:nvSpPr>
        <p:spPr>
          <a:xfrm>
            <a:off x="502920" y="2258568"/>
            <a:ext cx="3931920" cy="658368"/>
          </a:xfrm>
          <a:prstGeom prst="rect">
            <a:avLst/>
          </a:prstGeom>
          <a:noFill/>
          <a:ln/>
        </p:spPr>
        <p:txBody>
          <a:bodyPr wrap="square" lIns="0" tIns="0" rIns="0" bIns="0" rtlCol="0" anchor="ctr"/>
          <a:lstStyle/>
          <a:p>
            <a:pPr algn="l" indent="0" marL="0">
              <a:buNone/>
            </a:pPr>
            <a:r>
              <a:rPr lang="en-US" sz="1300" b="1" dirty="0">
                <a:solidFill>
                  <a:srgbClr val="0F172A"/>
                </a:solidFill>
                <a:latin typeface="Calibri" pitchFamily="34" charset="0"/>
                <a:ea typeface="Calibri" pitchFamily="34" charset="-122"/>
                <a:cs typeface="Calibri" pitchFamily="34" charset="-120"/>
              </a:rPr>
              <a:t>Break even month</a:t>
            </a:r>
            <a:endParaRPr lang="en-US" sz="1300" dirty="0"/>
          </a:p>
        </p:txBody>
      </p:sp>
      <p:sp>
        <p:nvSpPr>
          <p:cNvPr id="11" name="Text 9"/>
          <p:cNvSpPr/>
          <p:nvPr/>
        </p:nvSpPr>
        <p:spPr>
          <a:xfrm>
            <a:off x="4617720" y="2258568"/>
            <a:ext cx="2286000" cy="658368"/>
          </a:xfrm>
          <a:prstGeom prst="rect">
            <a:avLst/>
          </a:prstGeom>
          <a:noFill/>
          <a:ln/>
        </p:spPr>
        <p:txBody>
          <a:bodyPr wrap="square" lIns="0" tIns="0" rIns="0" bIns="0" rtlCol="0" anchor="ctr"/>
          <a:lstStyle/>
          <a:p>
            <a:pPr algn="ctr" indent="0" marL="0">
              <a:buNone/>
            </a:pPr>
            <a:r>
              <a:rPr lang="en-US" sz="1300" dirty="0">
                <a:solidFill>
                  <a:srgbClr val="0F172A"/>
                </a:solidFill>
                <a:latin typeface="Calibri" pitchFamily="34" charset="0"/>
                <a:ea typeface="Calibri" pitchFamily="34" charset="-122"/>
                <a:cs typeface="Calibri" pitchFamily="34" charset="-120"/>
              </a:rPr>
              <a:t>Nov 2026</a:t>
            </a:r>
            <a:endParaRPr lang="en-US" sz="1300" dirty="0"/>
          </a:p>
        </p:txBody>
      </p:sp>
      <p:sp>
        <p:nvSpPr>
          <p:cNvPr id="12" name="Text 10"/>
          <p:cNvSpPr/>
          <p:nvPr/>
        </p:nvSpPr>
        <p:spPr>
          <a:xfrm>
            <a:off x="7086600" y="2258568"/>
            <a:ext cx="2286000" cy="658368"/>
          </a:xfrm>
          <a:prstGeom prst="rect">
            <a:avLst/>
          </a:prstGeom>
          <a:noFill/>
          <a:ln/>
        </p:spPr>
        <p:txBody>
          <a:bodyPr wrap="square" lIns="0" tIns="0" rIns="0" bIns="0" rtlCol="0" anchor="ctr"/>
          <a:lstStyle/>
          <a:p>
            <a:pPr algn="ctr" indent="0" marL="0">
              <a:buNone/>
            </a:pPr>
            <a:r>
              <a:rPr lang="en-US" sz="1300" dirty="0">
                <a:solidFill>
                  <a:srgbClr val="0F172A"/>
                </a:solidFill>
                <a:latin typeface="Calibri" pitchFamily="34" charset="0"/>
                <a:ea typeface="Calibri" pitchFamily="34" charset="-122"/>
                <a:cs typeface="Calibri" pitchFamily="34" charset="-120"/>
              </a:rPr>
              <a:t>Feb 2027</a:t>
            </a:r>
            <a:endParaRPr lang="en-US" sz="1300" dirty="0"/>
          </a:p>
        </p:txBody>
      </p:sp>
      <p:sp>
        <p:nvSpPr>
          <p:cNvPr id="13" name="Text 11"/>
          <p:cNvSpPr/>
          <p:nvPr/>
        </p:nvSpPr>
        <p:spPr>
          <a:xfrm>
            <a:off x="9555480" y="2258568"/>
            <a:ext cx="2103120" cy="658368"/>
          </a:xfrm>
          <a:prstGeom prst="rect">
            <a:avLst/>
          </a:prstGeom>
          <a:noFill/>
          <a:ln/>
        </p:spPr>
        <p:txBody>
          <a:bodyPr wrap="square" lIns="0" tIns="0" rIns="0" bIns="0" rtlCol="0" anchor="ctr"/>
          <a:lstStyle/>
          <a:p>
            <a:pPr algn="ctr" indent="0" marL="0">
              <a:buNone/>
            </a:pPr>
            <a:r>
              <a:rPr lang="en-US" sz="1300" dirty="0">
                <a:solidFill>
                  <a:srgbClr val="0F172A"/>
                </a:solidFill>
                <a:latin typeface="Calibri" pitchFamily="34" charset="0"/>
                <a:ea typeface="Calibri" pitchFamily="34" charset="-122"/>
                <a:cs typeface="Calibri" pitchFamily="34" charset="-120"/>
              </a:rPr>
              <a:t>Not this year</a:t>
            </a:r>
            <a:endParaRPr lang="en-US" sz="1300" dirty="0"/>
          </a:p>
        </p:txBody>
      </p:sp>
      <p:sp>
        <p:nvSpPr>
          <p:cNvPr id="14" name="Shape 12"/>
          <p:cNvSpPr/>
          <p:nvPr/>
        </p:nvSpPr>
        <p:spPr>
          <a:xfrm>
            <a:off x="457200" y="2916936"/>
            <a:ext cx="11274552" cy="658368"/>
          </a:xfrm>
          <a:prstGeom prst="rect">
            <a:avLst/>
          </a:prstGeom>
          <a:solidFill>
            <a:srgbClr val="F1F5F9"/>
          </a:solidFill>
          <a:ln/>
        </p:spPr>
      </p:sp>
      <p:sp>
        <p:nvSpPr>
          <p:cNvPr id="15" name="Text 13"/>
          <p:cNvSpPr/>
          <p:nvPr/>
        </p:nvSpPr>
        <p:spPr>
          <a:xfrm>
            <a:off x="502920" y="2916936"/>
            <a:ext cx="3931920" cy="658368"/>
          </a:xfrm>
          <a:prstGeom prst="rect">
            <a:avLst/>
          </a:prstGeom>
          <a:noFill/>
          <a:ln/>
        </p:spPr>
        <p:txBody>
          <a:bodyPr wrap="square" lIns="0" tIns="0" rIns="0" bIns="0" rtlCol="0" anchor="ctr"/>
          <a:lstStyle/>
          <a:p>
            <a:pPr algn="l" indent="0" marL="0">
              <a:buNone/>
            </a:pPr>
            <a:r>
              <a:rPr lang="en-US" sz="1300" b="1" dirty="0">
                <a:solidFill>
                  <a:srgbClr val="0F172A"/>
                </a:solidFill>
                <a:latin typeface="Calibri" pitchFamily="34" charset="0"/>
                <a:ea typeface="Calibri" pitchFamily="34" charset="-122"/>
                <a:cs typeface="Calibri" pitchFamily="34" charset="-120"/>
              </a:rPr>
              <a:t>Aug26 to Apr27 net</a:t>
            </a:r>
            <a:endParaRPr lang="en-US" sz="1300" dirty="0"/>
          </a:p>
        </p:txBody>
      </p:sp>
      <p:sp>
        <p:nvSpPr>
          <p:cNvPr id="16" name="Text 14"/>
          <p:cNvSpPr/>
          <p:nvPr/>
        </p:nvSpPr>
        <p:spPr>
          <a:xfrm>
            <a:off x="4617720" y="2916936"/>
            <a:ext cx="2286000" cy="658368"/>
          </a:xfrm>
          <a:prstGeom prst="rect">
            <a:avLst/>
          </a:prstGeom>
          <a:noFill/>
          <a:ln/>
        </p:spPr>
        <p:txBody>
          <a:bodyPr wrap="square" lIns="0" tIns="0" rIns="0" bIns="0" rtlCol="0" anchor="ctr"/>
          <a:lstStyle/>
          <a:p>
            <a:pPr algn="ctr" indent="0" marL="0">
              <a:buNone/>
            </a:pPr>
            <a:r>
              <a:rPr lang="en-US" sz="1300" dirty="0">
                <a:solidFill>
                  <a:srgbClr val="16A34A"/>
                </a:solidFill>
                <a:latin typeface="Calibri" pitchFamily="34" charset="0"/>
                <a:ea typeface="Calibri" pitchFamily="34" charset="-122"/>
                <a:cs typeface="Calibri" pitchFamily="34" charset="-120"/>
              </a:rPr>
              <a:t>+₹0.27 Cr</a:t>
            </a:r>
            <a:endParaRPr lang="en-US" sz="1300" dirty="0"/>
          </a:p>
        </p:txBody>
      </p:sp>
      <p:sp>
        <p:nvSpPr>
          <p:cNvPr id="17" name="Text 15"/>
          <p:cNvSpPr/>
          <p:nvPr/>
        </p:nvSpPr>
        <p:spPr>
          <a:xfrm>
            <a:off x="7086600" y="2916936"/>
            <a:ext cx="2286000" cy="658368"/>
          </a:xfrm>
          <a:prstGeom prst="rect">
            <a:avLst/>
          </a:prstGeom>
          <a:noFill/>
          <a:ln/>
        </p:spPr>
        <p:txBody>
          <a:bodyPr wrap="square" lIns="0" tIns="0" rIns="0" bIns="0" rtlCol="0" anchor="ctr"/>
          <a:lstStyle/>
          <a:p>
            <a:pPr algn="ctr" indent="0" marL="0">
              <a:buNone/>
            </a:pPr>
            <a:r>
              <a:rPr lang="en-US" sz="1300" dirty="0">
                <a:solidFill>
                  <a:srgbClr val="E11D48"/>
                </a:solidFill>
                <a:latin typeface="Calibri" pitchFamily="34" charset="0"/>
                <a:ea typeface="Calibri" pitchFamily="34" charset="-122"/>
                <a:cs typeface="Calibri" pitchFamily="34" charset="-120"/>
              </a:rPr>
              <a:t>−₹1.11 Cr</a:t>
            </a:r>
            <a:endParaRPr lang="en-US" sz="1300" dirty="0"/>
          </a:p>
        </p:txBody>
      </p:sp>
      <p:sp>
        <p:nvSpPr>
          <p:cNvPr id="18" name="Text 16"/>
          <p:cNvSpPr/>
          <p:nvPr/>
        </p:nvSpPr>
        <p:spPr>
          <a:xfrm>
            <a:off x="9555480" y="2916936"/>
            <a:ext cx="2103120" cy="658368"/>
          </a:xfrm>
          <a:prstGeom prst="rect">
            <a:avLst/>
          </a:prstGeom>
          <a:noFill/>
          <a:ln/>
        </p:spPr>
        <p:txBody>
          <a:bodyPr wrap="square" lIns="0" tIns="0" rIns="0" bIns="0" rtlCol="0" anchor="ctr"/>
          <a:lstStyle/>
          <a:p>
            <a:pPr algn="ctr" indent="0" marL="0">
              <a:buNone/>
            </a:pPr>
            <a:r>
              <a:rPr lang="en-US" sz="1300" dirty="0">
                <a:solidFill>
                  <a:srgbClr val="E11D48"/>
                </a:solidFill>
                <a:latin typeface="Calibri" pitchFamily="34" charset="0"/>
                <a:ea typeface="Calibri" pitchFamily="34" charset="-122"/>
                <a:cs typeface="Calibri" pitchFamily="34" charset="-120"/>
              </a:rPr>
              <a:t>−₹2.15 Cr</a:t>
            </a:r>
            <a:endParaRPr lang="en-US" sz="1300" dirty="0"/>
          </a:p>
        </p:txBody>
      </p:sp>
      <p:sp>
        <p:nvSpPr>
          <p:cNvPr id="19" name="Text 17"/>
          <p:cNvSpPr/>
          <p:nvPr/>
        </p:nvSpPr>
        <p:spPr>
          <a:xfrm>
            <a:off x="502920" y="3575304"/>
            <a:ext cx="3931920" cy="658368"/>
          </a:xfrm>
          <a:prstGeom prst="rect">
            <a:avLst/>
          </a:prstGeom>
          <a:noFill/>
          <a:ln/>
        </p:spPr>
        <p:txBody>
          <a:bodyPr wrap="square" lIns="0" tIns="0" rIns="0" bIns="0" rtlCol="0" anchor="ctr"/>
          <a:lstStyle/>
          <a:p>
            <a:pPr algn="l" indent="0" marL="0">
              <a:buNone/>
            </a:pPr>
            <a:r>
              <a:rPr lang="en-US" sz="1300" b="1" dirty="0">
                <a:solidFill>
                  <a:srgbClr val="0F172A"/>
                </a:solidFill>
                <a:latin typeface="Calibri" pitchFamily="34" charset="0"/>
                <a:ea typeface="Calibri" pitchFamily="34" charset="-122"/>
                <a:cs typeface="Calibri" pitchFamily="34" charset="-120"/>
              </a:rPr>
              <a:t>Apr27 run-rate, annualised</a:t>
            </a:r>
            <a:endParaRPr lang="en-US" sz="1300" dirty="0"/>
          </a:p>
        </p:txBody>
      </p:sp>
      <p:sp>
        <p:nvSpPr>
          <p:cNvPr id="20" name="Text 18"/>
          <p:cNvSpPr/>
          <p:nvPr/>
        </p:nvSpPr>
        <p:spPr>
          <a:xfrm>
            <a:off x="4617720" y="3575304"/>
            <a:ext cx="2286000" cy="658368"/>
          </a:xfrm>
          <a:prstGeom prst="rect">
            <a:avLst/>
          </a:prstGeom>
          <a:noFill/>
          <a:ln/>
        </p:spPr>
        <p:txBody>
          <a:bodyPr wrap="square" lIns="0" tIns="0" rIns="0" bIns="0" rtlCol="0" anchor="ctr"/>
          <a:lstStyle/>
          <a:p>
            <a:pPr algn="ctr" indent="0" marL="0">
              <a:buNone/>
            </a:pPr>
            <a:r>
              <a:rPr lang="en-US" sz="1300" dirty="0">
                <a:solidFill>
                  <a:srgbClr val="16A34A"/>
                </a:solidFill>
                <a:latin typeface="Calibri" pitchFamily="34" charset="0"/>
                <a:ea typeface="Calibri" pitchFamily="34" charset="-122"/>
                <a:cs typeface="Calibri" pitchFamily="34" charset="-120"/>
              </a:rPr>
              <a:t>+₹3.13 Cr</a:t>
            </a:r>
            <a:endParaRPr lang="en-US" sz="1300" dirty="0"/>
          </a:p>
        </p:txBody>
      </p:sp>
      <p:sp>
        <p:nvSpPr>
          <p:cNvPr id="21" name="Text 19"/>
          <p:cNvSpPr/>
          <p:nvPr/>
        </p:nvSpPr>
        <p:spPr>
          <a:xfrm>
            <a:off x="7086600" y="3575304"/>
            <a:ext cx="2286000" cy="658368"/>
          </a:xfrm>
          <a:prstGeom prst="rect">
            <a:avLst/>
          </a:prstGeom>
          <a:noFill/>
          <a:ln/>
        </p:spPr>
        <p:txBody>
          <a:bodyPr wrap="square" lIns="0" tIns="0" rIns="0" bIns="0" rtlCol="0" anchor="ctr"/>
          <a:lstStyle/>
          <a:p>
            <a:pPr algn="ctr" indent="0" marL="0">
              <a:buNone/>
            </a:pPr>
            <a:r>
              <a:rPr lang="en-US" sz="1300" dirty="0">
                <a:solidFill>
                  <a:srgbClr val="16A34A"/>
                </a:solidFill>
                <a:latin typeface="Calibri" pitchFamily="34" charset="0"/>
                <a:ea typeface="Calibri" pitchFamily="34" charset="-122"/>
                <a:cs typeface="Calibri" pitchFamily="34" charset="-120"/>
              </a:rPr>
              <a:t>+₹2.41 Cr</a:t>
            </a:r>
            <a:endParaRPr lang="en-US" sz="1300" dirty="0"/>
          </a:p>
        </p:txBody>
      </p:sp>
      <p:sp>
        <p:nvSpPr>
          <p:cNvPr id="22" name="Text 20"/>
          <p:cNvSpPr/>
          <p:nvPr/>
        </p:nvSpPr>
        <p:spPr>
          <a:xfrm>
            <a:off x="9555480" y="3575304"/>
            <a:ext cx="2103120" cy="658368"/>
          </a:xfrm>
          <a:prstGeom prst="rect">
            <a:avLst/>
          </a:prstGeom>
          <a:noFill/>
          <a:ln/>
        </p:spPr>
        <p:txBody>
          <a:bodyPr wrap="square" lIns="0" tIns="0" rIns="0" bIns="0" rtlCol="0" anchor="ctr"/>
          <a:lstStyle/>
          <a:p>
            <a:pPr algn="ctr" indent="0" marL="0">
              <a:buNone/>
            </a:pPr>
            <a:r>
              <a:rPr lang="en-US" sz="1300" dirty="0">
                <a:solidFill>
                  <a:srgbClr val="E11D48"/>
                </a:solidFill>
                <a:latin typeface="Calibri" pitchFamily="34" charset="0"/>
                <a:ea typeface="Calibri" pitchFamily="34" charset="-122"/>
                <a:cs typeface="Calibri" pitchFamily="34" charset="-120"/>
              </a:rPr>
              <a:t>−₹2.08 Cr</a:t>
            </a:r>
            <a:endParaRPr lang="en-US" sz="1300" dirty="0"/>
          </a:p>
        </p:txBody>
      </p:sp>
      <p:sp>
        <p:nvSpPr>
          <p:cNvPr id="23" name="Shape 21"/>
          <p:cNvSpPr/>
          <p:nvPr/>
        </p:nvSpPr>
        <p:spPr>
          <a:xfrm>
            <a:off x="457200" y="4233672"/>
            <a:ext cx="11274552" cy="658368"/>
          </a:xfrm>
          <a:prstGeom prst="rect">
            <a:avLst/>
          </a:prstGeom>
          <a:solidFill>
            <a:srgbClr val="F1F5F9"/>
          </a:solidFill>
          <a:ln/>
        </p:spPr>
      </p:sp>
      <p:sp>
        <p:nvSpPr>
          <p:cNvPr id="24" name="Text 22"/>
          <p:cNvSpPr/>
          <p:nvPr/>
        </p:nvSpPr>
        <p:spPr>
          <a:xfrm>
            <a:off x="502920" y="4233672"/>
            <a:ext cx="3931920" cy="658368"/>
          </a:xfrm>
          <a:prstGeom prst="rect">
            <a:avLst/>
          </a:prstGeom>
          <a:noFill/>
          <a:ln/>
        </p:spPr>
        <p:txBody>
          <a:bodyPr wrap="square" lIns="0" tIns="0" rIns="0" bIns="0" rtlCol="0" anchor="ctr"/>
          <a:lstStyle/>
          <a:p>
            <a:pPr algn="l" indent="0" marL="0">
              <a:buNone/>
            </a:pPr>
            <a:r>
              <a:rPr lang="en-US" sz="1300" b="1" dirty="0">
                <a:solidFill>
                  <a:srgbClr val="0F172A"/>
                </a:solidFill>
                <a:latin typeface="Calibri" pitchFamily="34" charset="0"/>
                <a:ea typeface="Calibri" pitchFamily="34" charset="-122"/>
                <a:cs typeface="Calibri" pitchFamily="34" charset="-120"/>
              </a:rPr>
              <a:t>Peak cash dip</a:t>
            </a:r>
            <a:endParaRPr lang="en-US" sz="1300" dirty="0"/>
          </a:p>
        </p:txBody>
      </p:sp>
      <p:sp>
        <p:nvSpPr>
          <p:cNvPr id="25" name="Text 23"/>
          <p:cNvSpPr/>
          <p:nvPr/>
        </p:nvSpPr>
        <p:spPr>
          <a:xfrm>
            <a:off x="4617720" y="4233672"/>
            <a:ext cx="2286000" cy="658368"/>
          </a:xfrm>
          <a:prstGeom prst="rect">
            <a:avLst/>
          </a:prstGeom>
          <a:noFill/>
          <a:ln/>
        </p:spPr>
        <p:txBody>
          <a:bodyPr wrap="square" lIns="0" tIns="0" rIns="0" bIns="0" rtlCol="0" anchor="ctr"/>
          <a:lstStyle/>
          <a:p>
            <a:pPr algn="ctr" indent="0" marL="0">
              <a:buNone/>
            </a:pPr>
            <a:r>
              <a:rPr lang="en-US" sz="1300" dirty="0">
                <a:solidFill>
                  <a:srgbClr val="E11D48"/>
                </a:solidFill>
                <a:latin typeface="Calibri" pitchFamily="34" charset="0"/>
                <a:ea typeface="Calibri" pitchFamily="34" charset="-122"/>
                <a:cs typeface="Calibri" pitchFamily="34" charset="-120"/>
              </a:rPr>
              <a:t>−₹0.88 Cr</a:t>
            </a:r>
            <a:endParaRPr lang="en-US" sz="1300" dirty="0"/>
          </a:p>
        </p:txBody>
      </p:sp>
      <p:sp>
        <p:nvSpPr>
          <p:cNvPr id="26" name="Text 24"/>
          <p:cNvSpPr/>
          <p:nvPr/>
        </p:nvSpPr>
        <p:spPr>
          <a:xfrm>
            <a:off x="7086600" y="4233672"/>
            <a:ext cx="2286000" cy="658368"/>
          </a:xfrm>
          <a:prstGeom prst="rect">
            <a:avLst/>
          </a:prstGeom>
          <a:noFill/>
          <a:ln/>
        </p:spPr>
        <p:txBody>
          <a:bodyPr wrap="square" lIns="0" tIns="0" rIns="0" bIns="0" rtlCol="0" anchor="ctr"/>
          <a:lstStyle/>
          <a:p>
            <a:pPr algn="ctr" indent="0" marL="0">
              <a:buNone/>
            </a:pPr>
            <a:r>
              <a:rPr lang="en-US" sz="1300" dirty="0">
                <a:solidFill>
                  <a:srgbClr val="E11D48"/>
                </a:solidFill>
                <a:latin typeface="Calibri" pitchFamily="34" charset="0"/>
                <a:ea typeface="Calibri" pitchFamily="34" charset="-122"/>
                <a:cs typeface="Calibri" pitchFamily="34" charset="-120"/>
              </a:rPr>
              <a:t>−₹1.60 Cr</a:t>
            </a:r>
            <a:endParaRPr lang="en-US" sz="1300" dirty="0"/>
          </a:p>
        </p:txBody>
      </p:sp>
      <p:sp>
        <p:nvSpPr>
          <p:cNvPr id="27" name="Text 25"/>
          <p:cNvSpPr/>
          <p:nvPr/>
        </p:nvSpPr>
        <p:spPr>
          <a:xfrm>
            <a:off x="9555480" y="4233672"/>
            <a:ext cx="2103120" cy="658368"/>
          </a:xfrm>
          <a:prstGeom prst="rect">
            <a:avLst/>
          </a:prstGeom>
          <a:noFill/>
          <a:ln/>
        </p:spPr>
        <p:txBody>
          <a:bodyPr wrap="square" lIns="0" tIns="0" rIns="0" bIns="0" rtlCol="0" anchor="ctr"/>
          <a:lstStyle/>
          <a:p>
            <a:pPr algn="ctr" indent="0" marL="0">
              <a:buNone/>
            </a:pPr>
            <a:r>
              <a:rPr lang="en-US" sz="1300" dirty="0">
                <a:solidFill>
                  <a:srgbClr val="E11D48"/>
                </a:solidFill>
                <a:latin typeface="Calibri" pitchFamily="34" charset="0"/>
                <a:ea typeface="Calibri" pitchFamily="34" charset="-122"/>
                <a:cs typeface="Calibri" pitchFamily="34" charset="-120"/>
              </a:rPr>
              <a:t>−₹2.15 Cr</a:t>
            </a:r>
            <a:endParaRPr lang="en-US" sz="1300" dirty="0"/>
          </a:p>
        </p:txBody>
      </p:sp>
      <p:sp>
        <p:nvSpPr>
          <p:cNvPr id="28" name="Text 26"/>
          <p:cNvSpPr/>
          <p:nvPr/>
        </p:nvSpPr>
        <p:spPr>
          <a:xfrm>
            <a:off x="502920" y="4892040"/>
            <a:ext cx="3931920" cy="658368"/>
          </a:xfrm>
          <a:prstGeom prst="rect">
            <a:avLst/>
          </a:prstGeom>
          <a:noFill/>
          <a:ln/>
        </p:spPr>
        <p:txBody>
          <a:bodyPr wrap="square" lIns="0" tIns="0" rIns="0" bIns="0" rtlCol="0" anchor="ctr"/>
          <a:lstStyle/>
          <a:p>
            <a:pPr algn="l" indent="0" marL="0">
              <a:buNone/>
            </a:pPr>
            <a:r>
              <a:rPr lang="en-US" sz="1300" b="1" dirty="0">
                <a:solidFill>
                  <a:srgbClr val="0F172A"/>
                </a:solidFill>
                <a:latin typeface="Calibri" pitchFamily="34" charset="0"/>
                <a:ea typeface="Calibri" pitchFamily="34" charset="-122"/>
                <a:cs typeface="Calibri" pitchFamily="34" charset="-120"/>
              </a:rPr>
              <a:t>Posture</a:t>
            </a:r>
            <a:endParaRPr lang="en-US" sz="1300" dirty="0"/>
          </a:p>
        </p:txBody>
      </p:sp>
      <p:sp>
        <p:nvSpPr>
          <p:cNvPr id="29" name="Text 27"/>
          <p:cNvSpPr/>
          <p:nvPr/>
        </p:nvSpPr>
        <p:spPr>
          <a:xfrm>
            <a:off x="4617720" y="4892040"/>
            <a:ext cx="2286000" cy="658368"/>
          </a:xfrm>
          <a:prstGeom prst="rect">
            <a:avLst/>
          </a:prstGeom>
          <a:noFill/>
          <a:ln/>
        </p:spPr>
        <p:txBody>
          <a:bodyPr wrap="square" lIns="0" tIns="0" rIns="0" bIns="0" rtlCol="0" anchor="ctr"/>
          <a:lstStyle/>
          <a:p>
            <a:pPr algn="ctr" indent="0" marL="0">
              <a:buNone/>
            </a:pPr>
            <a:r>
              <a:rPr lang="en-US" sz="1300" dirty="0">
                <a:solidFill>
                  <a:srgbClr val="0F172A"/>
                </a:solidFill>
                <a:latin typeface="Calibri" pitchFamily="34" charset="0"/>
                <a:ea typeface="Calibri" pitchFamily="34" charset="-122"/>
                <a:cs typeface="Calibri" pitchFamily="34" charset="-120"/>
              </a:rPr>
              <a:t>Launch and blitz</a:t>
            </a:r>
            <a:endParaRPr lang="en-US" sz="1300" dirty="0"/>
          </a:p>
        </p:txBody>
      </p:sp>
      <p:sp>
        <p:nvSpPr>
          <p:cNvPr id="30" name="Text 28"/>
          <p:cNvSpPr/>
          <p:nvPr/>
        </p:nvSpPr>
        <p:spPr>
          <a:xfrm>
            <a:off x="7086600" y="4892040"/>
            <a:ext cx="2286000" cy="658368"/>
          </a:xfrm>
          <a:prstGeom prst="rect">
            <a:avLst/>
          </a:prstGeom>
          <a:noFill/>
          <a:ln/>
        </p:spPr>
        <p:txBody>
          <a:bodyPr wrap="square" lIns="0" tIns="0" rIns="0" bIns="0" rtlCol="0" anchor="ctr"/>
          <a:lstStyle/>
          <a:p>
            <a:pPr algn="ctr" indent="0" marL="0">
              <a:buNone/>
            </a:pPr>
            <a:r>
              <a:rPr lang="en-US" sz="1300" dirty="0">
                <a:solidFill>
                  <a:srgbClr val="0F172A"/>
                </a:solidFill>
                <a:latin typeface="Calibri" pitchFamily="34" charset="0"/>
                <a:ea typeface="Calibri" pitchFamily="34" charset="-122"/>
                <a:cs typeface="Calibri" pitchFamily="34" charset="-120"/>
              </a:rPr>
              <a:t>Same play, later</a:t>
            </a:r>
            <a:endParaRPr lang="en-US" sz="1300" dirty="0"/>
          </a:p>
        </p:txBody>
      </p:sp>
      <p:sp>
        <p:nvSpPr>
          <p:cNvPr id="31" name="Text 29"/>
          <p:cNvSpPr/>
          <p:nvPr/>
        </p:nvSpPr>
        <p:spPr>
          <a:xfrm>
            <a:off x="9555480" y="4892040"/>
            <a:ext cx="2103120" cy="658368"/>
          </a:xfrm>
          <a:prstGeom prst="rect">
            <a:avLst/>
          </a:prstGeom>
          <a:noFill/>
          <a:ln/>
        </p:spPr>
        <p:txBody>
          <a:bodyPr wrap="square" lIns="0" tIns="0" rIns="0" bIns="0" rtlCol="0" anchor="ctr"/>
          <a:lstStyle/>
          <a:p>
            <a:pPr algn="ctr" indent="0" marL="0">
              <a:buNone/>
            </a:pPr>
            <a:r>
              <a:rPr lang="en-US" sz="1300" dirty="0">
                <a:solidFill>
                  <a:srgbClr val="0F172A"/>
                </a:solidFill>
                <a:latin typeface="Calibri" pitchFamily="34" charset="0"/>
                <a:ea typeface="Calibri" pitchFamily="34" charset="-122"/>
                <a:cs typeface="Calibri" pitchFamily="34" charset="-120"/>
              </a:rPr>
              <a:t>IPO and operations</a:t>
            </a:r>
            <a:endParaRPr lang="en-US" sz="1300" dirty="0"/>
          </a:p>
        </p:txBody>
      </p:sp>
      <p:sp>
        <p:nvSpPr>
          <p:cNvPr id="32" name="Text 30"/>
          <p:cNvSpPr/>
          <p:nvPr/>
        </p:nvSpPr>
        <p:spPr>
          <a:xfrm>
            <a:off x="457200" y="5806440"/>
            <a:ext cx="11274552" cy="548640"/>
          </a:xfrm>
          <a:prstGeom prst="rect">
            <a:avLst/>
          </a:prstGeom>
          <a:noFill/>
          <a:ln/>
        </p:spPr>
        <p:txBody>
          <a:bodyPr wrap="square"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Break even is the first month income covers the full expense line. The launch month runs zero BLR on purpose, so the team clears its existing IPO book first, then BLR ramps to 16 cases the very next month.</a:t>
            </a:r>
            <a:endParaRPr lang="en-US" sz="1200" dirty="0"/>
          </a:p>
        </p:txBody>
      </p:sp>
      <p:sp>
        <p:nvSpPr>
          <p:cNvPr id="33" name="Text 31"/>
          <p:cNvSpPr/>
          <p:nvPr/>
        </p:nvSpPr>
        <p:spPr>
          <a:xfrm>
            <a:off x="457200" y="6455664"/>
            <a:ext cx="11274552" cy="274320"/>
          </a:xfrm>
          <a:prstGeom prst="rect">
            <a:avLst/>
          </a:prstGeom>
          <a:noFill/>
          <a:ln/>
        </p:spPr>
        <p:txBody>
          <a:bodyPr wrap="square" rtlCol="0" anchor="ctr"/>
          <a:lstStyle/>
          <a:p>
            <a:pPr algn="l"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34" name="Text 32"/>
          <p:cNvSpPr/>
          <p:nvPr/>
        </p:nvSpPr>
        <p:spPr>
          <a:xfrm>
            <a:off x="5943600" y="6455664"/>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47120" cy="274320"/>
          </a:xfrm>
          <a:prstGeom prst="rect">
            <a:avLst/>
          </a:prstGeom>
          <a:noFill/>
          <a:ln/>
        </p:spPr>
        <p:txBody>
          <a:bodyPr wrap="square"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DISCIPLINE ON COMMITTED COST</a:t>
            </a:r>
            <a:endParaRPr lang="en-US" sz="1200" dirty="0"/>
          </a:p>
        </p:txBody>
      </p:sp>
      <p:sp>
        <p:nvSpPr>
          <p:cNvPr id="3" name="Text 1"/>
          <p:cNvSpPr/>
          <p:nvPr/>
        </p:nvSpPr>
        <p:spPr>
          <a:xfrm>
            <a:off x="457200" y="658368"/>
            <a:ext cx="11247120" cy="658368"/>
          </a:xfrm>
          <a:prstGeom prst="rect">
            <a:avLst/>
          </a:prstGeom>
          <a:noFill/>
          <a:ln/>
        </p:spPr>
        <p:txBody>
          <a:bodyPr wrap="square"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Good to have, kept out of the base plan</a:t>
            </a:r>
            <a:endParaRPr lang="en-US" sz="32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Deliberately excluded from every number in this plan so the projections stay honest on committed spend. Fund these as profitability allows, once BLR revenue is real.</a:t>
            </a:r>
            <a:endParaRPr lang="en-US" sz="1500" dirty="0"/>
          </a:p>
        </p:txBody>
      </p:sp>
      <p:sp>
        <p:nvSpPr>
          <p:cNvPr id="5" name="Shape 3"/>
          <p:cNvSpPr/>
          <p:nvPr/>
        </p:nvSpPr>
        <p:spPr>
          <a:xfrm>
            <a:off x="457200" y="2286000"/>
            <a:ext cx="3566160" cy="3017520"/>
          </a:xfrm>
          <a:prstGeom prst="roundRect">
            <a:avLst>
              <a:gd name="adj" fmla="val 3636"/>
            </a:avLst>
          </a:prstGeom>
          <a:solidFill>
            <a:srgbClr val="F1F5F9"/>
          </a:solidFill>
          <a:ln/>
        </p:spPr>
      </p:sp>
      <p:sp>
        <p:nvSpPr>
          <p:cNvPr id="6" name="Shape 4"/>
          <p:cNvSpPr/>
          <p:nvPr/>
        </p:nvSpPr>
        <p:spPr>
          <a:xfrm>
            <a:off x="777240" y="2651760"/>
            <a:ext cx="640080" cy="640080"/>
          </a:xfrm>
          <a:prstGeom prst="roundRect">
            <a:avLst>
              <a:gd name="adj" fmla="val 50000"/>
            </a:avLst>
          </a:prstGeom>
          <a:solidFill>
            <a:srgbClr val="0D9488"/>
          </a:solidFill>
          <a:ln/>
        </p:spPr>
      </p:sp>
      <p:sp>
        <p:nvSpPr>
          <p:cNvPr id="7" name="Text 5"/>
          <p:cNvSpPr/>
          <p:nvPr/>
        </p:nvSpPr>
        <p:spPr>
          <a:xfrm>
            <a:off x="777240" y="26517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777240" y="3474720"/>
            <a:ext cx="2926080" cy="640080"/>
          </a:xfrm>
          <a:prstGeom prst="rect">
            <a:avLst/>
          </a:prstGeom>
          <a:noFill/>
          <a:ln/>
        </p:spPr>
        <p:txBody>
          <a:bodyPr wrap="square"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Insurance</a:t>
            </a:r>
            <a:endParaRPr lang="en-US" sz="1700" dirty="0"/>
          </a:p>
        </p:txBody>
      </p:sp>
      <p:sp>
        <p:nvSpPr>
          <p:cNvPr id="9" name="Text 7"/>
          <p:cNvSpPr/>
          <p:nvPr/>
        </p:nvSpPr>
        <p:spPr>
          <a:xfrm>
            <a:off x="777240" y="4114800"/>
            <a:ext cx="2971800" cy="1097280"/>
          </a:xfrm>
          <a:prstGeom prst="rect">
            <a:avLst/>
          </a:prstGeom>
          <a:noFill/>
          <a:ln/>
        </p:spPr>
        <p:txBody>
          <a:bodyPr wrap="square" rtlCol="0" anchor="t"/>
          <a:lstStyle/>
          <a:p>
            <a:pPr indent="0" marL="0">
              <a:lnSpc>
                <a:spcPct val="110000"/>
              </a:lnSpc>
              <a:buNone/>
            </a:pPr>
            <a:r>
              <a:rPr lang="en-US" sz="1300" dirty="0">
                <a:solidFill>
                  <a:srgbClr val="64748B"/>
                </a:solidFill>
                <a:latin typeface="Calibri" pitchFamily="34" charset="0"/>
                <a:ea typeface="Calibri" pitchFamily="34" charset="-122"/>
                <a:cs typeface="Calibri" pitchFamily="34" charset="-120"/>
              </a:rPr>
              <a:t>Group health and office cover, dropped from the base case earlier. Add back once the loss narrows.</a:t>
            </a:r>
            <a:endParaRPr lang="en-US" sz="1300" dirty="0"/>
          </a:p>
        </p:txBody>
      </p:sp>
      <p:sp>
        <p:nvSpPr>
          <p:cNvPr id="10" name="Shape 8"/>
          <p:cNvSpPr/>
          <p:nvPr/>
        </p:nvSpPr>
        <p:spPr>
          <a:xfrm>
            <a:off x="4261104" y="2286000"/>
            <a:ext cx="3566160" cy="3017520"/>
          </a:xfrm>
          <a:prstGeom prst="roundRect">
            <a:avLst>
              <a:gd name="adj" fmla="val 3636"/>
            </a:avLst>
          </a:prstGeom>
          <a:solidFill>
            <a:srgbClr val="F1F5F9"/>
          </a:solidFill>
          <a:ln/>
        </p:spPr>
      </p:sp>
      <p:sp>
        <p:nvSpPr>
          <p:cNvPr id="11" name="Shape 9"/>
          <p:cNvSpPr/>
          <p:nvPr/>
        </p:nvSpPr>
        <p:spPr>
          <a:xfrm>
            <a:off x="4581144" y="2651760"/>
            <a:ext cx="640080" cy="640080"/>
          </a:xfrm>
          <a:prstGeom prst="roundRect">
            <a:avLst>
              <a:gd name="adj" fmla="val 50000"/>
            </a:avLst>
          </a:prstGeom>
          <a:solidFill>
            <a:srgbClr val="F59E0B"/>
          </a:solidFill>
          <a:ln/>
        </p:spPr>
      </p:sp>
      <p:sp>
        <p:nvSpPr>
          <p:cNvPr id="12" name="Text 10"/>
          <p:cNvSpPr/>
          <p:nvPr/>
        </p:nvSpPr>
        <p:spPr>
          <a:xfrm>
            <a:off x="4581144" y="26517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1"/>
          <p:cNvSpPr/>
          <p:nvPr/>
        </p:nvSpPr>
        <p:spPr>
          <a:xfrm>
            <a:off x="4581144" y="3474720"/>
            <a:ext cx="2926080" cy="640080"/>
          </a:xfrm>
          <a:prstGeom prst="rect">
            <a:avLst/>
          </a:prstGeom>
          <a:noFill/>
          <a:ln/>
        </p:spPr>
        <p:txBody>
          <a:bodyPr wrap="square"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Festival celebration and gifts</a:t>
            </a:r>
            <a:endParaRPr lang="en-US" sz="1700" dirty="0"/>
          </a:p>
        </p:txBody>
      </p:sp>
      <p:sp>
        <p:nvSpPr>
          <p:cNvPr id="14" name="Text 12"/>
          <p:cNvSpPr/>
          <p:nvPr/>
        </p:nvSpPr>
        <p:spPr>
          <a:xfrm>
            <a:off x="4581144" y="4114800"/>
            <a:ext cx="2971800" cy="1097280"/>
          </a:xfrm>
          <a:prstGeom prst="rect">
            <a:avLst/>
          </a:prstGeom>
          <a:noFill/>
          <a:ln/>
        </p:spPr>
        <p:txBody>
          <a:bodyPr wrap="square" rtlCol="0" anchor="t"/>
          <a:lstStyle/>
          <a:p>
            <a:pPr indent="0" marL="0">
              <a:lnSpc>
                <a:spcPct val="110000"/>
              </a:lnSpc>
              <a:buNone/>
            </a:pPr>
            <a:r>
              <a:rPr lang="en-US" sz="1300" dirty="0">
                <a:solidFill>
                  <a:srgbClr val="64748B"/>
                </a:solidFill>
                <a:latin typeface="Calibri" pitchFamily="34" charset="0"/>
                <a:ea typeface="Calibri" pitchFamily="34" charset="-122"/>
                <a:cs typeface="Calibri" pitchFamily="34" charset="-120"/>
              </a:rPr>
              <a:t>Team festival spend and client gifting. Small, morale and relationship building, but discretionary.</a:t>
            </a:r>
            <a:endParaRPr lang="en-US" sz="1300" dirty="0"/>
          </a:p>
        </p:txBody>
      </p:sp>
      <p:sp>
        <p:nvSpPr>
          <p:cNvPr id="15" name="Shape 13"/>
          <p:cNvSpPr/>
          <p:nvPr/>
        </p:nvSpPr>
        <p:spPr>
          <a:xfrm>
            <a:off x="8065008" y="2286000"/>
            <a:ext cx="3566160" cy="3017520"/>
          </a:xfrm>
          <a:prstGeom prst="roundRect">
            <a:avLst>
              <a:gd name="adj" fmla="val 3636"/>
            </a:avLst>
          </a:prstGeom>
          <a:solidFill>
            <a:srgbClr val="F1F5F9"/>
          </a:solidFill>
          <a:ln/>
        </p:spPr>
      </p:sp>
      <p:sp>
        <p:nvSpPr>
          <p:cNvPr id="16" name="Shape 14"/>
          <p:cNvSpPr/>
          <p:nvPr/>
        </p:nvSpPr>
        <p:spPr>
          <a:xfrm>
            <a:off x="8385048" y="2651760"/>
            <a:ext cx="640080" cy="640080"/>
          </a:xfrm>
          <a:prstGeom prst="roundRect">
            <a:avLst>
              <a:gd name="adj" fmla="val 50000"/>
            </a:avLst>
          </a:prstGeom>
          <a:solidFill>
            <a:srgbClr val="0284C7"/>
          </a:solidFill>
          <a:ln/>
        </p:spPr>
      </p:sp>
      <p:sp>
        <p:nvSpPr>
          <p:cNvPr id="17" name="Text 15"/>
          <p:cNvSpPr/>
          <p:nvPr/>
        </p:nvSpPr>
        <p:spPr>
          <a:xfrm>
            <a:off x="8385048" y="26517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8" name="Text 16"/>
          <p:cNvSpPr/>
          <p:nvPr/>
        </p:nvSpPr>
        <p:spPr>
          <a:xfrm>
            <a:off x="8385048" y="3474720"/>
            <a:ext cx="2926080" cy="640080"/>
          </a:xfrm>
          <a:prstGeom prst="rect">
            <a:avLst/>
          </a:prstGeom>
          <a:noFill/>
          <a:ln/>
        </p:spPr>
        <p:txBody>
          <a:bodyPr wrap="square"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Employee appraisal</a:t>
            </a:r>
            <a:endParaRPr lang="en-US" sz="1700" dirty="0"/>
          </a:p>
        </p:txBody>
      </p:sp>
      <p:sp>
        <p:nvSpPr>
          <p:cNvPr id="19" name="Text 17"/>
          <p:cNvSpPr/>
          <p:nvPr/>
        </p:nvSpPr>
        <p:spPr>
          <a:xfrm>
            <a:off x="8385048" y="4114800"/>
            <a:ext cx="2971800" cy="1097280"/>
          </a:xfrm>
          <a:prstGeom prst="rect">
            <a:avLst/>
          </a:prstGeom>
          <a:noFill/>
          <a:ln/>
        </p:spPr>
        <p:txBody>
          <a:bodyPr wrap="square" rtlCol="0" anchor="t"/>
          <a:lstStyle/>
          <a:p>
            <a:pPr indent="0" marL="0">
              <a:lnSpc>
                <a:spcPct val="110000"/>
              </a:lnSpc>
              <a:buNone/>
            </a:pPr>
            <a:r>
              <a:rPr lang="en-US" sz="1300" dirty="0">
                <a:solidFill>
                  <a:srgbClr val="64748B"/>
                </a:solidFill>
                <a:latin typeface="Calibri" pitchFamily="34" charset="0"/>
                <a:ea typeface="Calibri" pitchFamily="34" charset="-122"/>
                <a:cs typeface="Calibri" pitchFamily="34" charset="-120"/>
              </a:rPr>
              <a:t>Annual increments and performance rewards. Not in the flat salary run-rate, budget once revenue supports it.</a:t>
            </a:r>
            <a:endParaRPr lang="en-US" sz="1300" dirty="0"/>
          </a:p>
        </p:txBody>
      </p:sp>
      <p:sp>
        <p:nvSpPr>
          <p:cNvPr id="20" name="Text 18"/>
          <p:cNvSpPr/>
          <p:nvPr/>
        </p:nvSpPr>
        <p:spPr>
          <a:xfrm>
            <a:off x="457200" y="6455664"/>
            <a:ext cx="11274552" cy="274320"/>
          </a:xfrm>
          <a:prstGeom prst="rect">
            <a:avLst/>
          </a:prstGeom>
          <a:noFill/>
          <a:ln/>
        </p:spPr>
        <p:txBody>
          <a:bodyPr wrap="square" rtlCol="0" anchor="ctr"/>
          <a:lstStyle/>
          <a:p>
            <a:pPr algn="l"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21" name="Text 19"/>
          <p:cNvSpPr/>
          <p:nvPr/>
        </p:nvSpPr>
        <p:spPr>
          <a:xfrm>
            <a:off x="5943600" y="6455664"/>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72A"/>
          </a:solidFill>
          <a:ln/>
        </p:spPr>
      </p:sp>
      <p:sp>
        <p:nvSpPr>
          <p:cNvPr id="3" name="Text 1"/>
          <p:cNvSpPr/>
          <p:nvPr/>
        </p:nvSpPr>
        <p:spPr>
          <a:xfrm>
            <a:off x="548640" y="640080"/>
            <a:ext cx="10058400" cy="320040"/>
          </a:xfrm>
          <a:prstGeom prst="rect">
            <a:avLst/>
          </a:prstGeom>
          <a:noFill/>
          <a:ln/>
        </p:spPr>
        <p:txBody>
          <a:bodyPr wrap="square" rtlCol="0" anchor="ctr"/>
          <a:lstStyle/>
          <a:p>
            <a:pPr indent="0" marL="0">
              <a:buNone/>
            </a:pPr>
            <a:r>
              <a:rPr lang="en-US" sz="1300" b="1" spc="300" kern="0" dirty="0">
                <a:solidFill>
                  <a:srgbClr val="0D9488"/>
                </a:solidFill>
                <a:latin typeface="Calibri" pitchFamily="34" charset="0"/>
                <a:ea typeface="Calibri" pitchFamily="34" charset="-122"/>
                <a:cs typeface="Calibri" pitchFamily="34" charset="-120"/>
              </a:rPr>
              <a:t>WHAT THIS PLAN NEEDS</a:t>
            </a:r>
            <a:endParaRPr lang="en-US" sz="1300" dirty="0"/>
          </a:p>
        </p:txBody>
      </p:sp>
      <p:sp>
        <p:nvSpPr>
          <p:cNvPr id="4" name="Text 2"/>
          <p:cNvSpPr/>
          <p:nvPr/>
        </p:nvSpPr>
        <p:spPr>
          <a:xfrm>
            <a:off x="548640" y="960120"/>
            <a:ext cx="10972800" cy="685800"/>
          </a:xfrm>
          <a:prstGeom prst="rect">
            <a:avLst/>
          </a:prstGeom>
          <a:noFill/>
          <a:ln/>
        </p:spPr>
        <p:txBody>
          <a:bodyPr wrap="square"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Three decisions carry the year</a:t>
            </a:r>
            <a:endParaRPr lang="en-US" sz="3400" dirty="0"/>
          </a:p>
        </p:txBody>
      </p:sp>
      <p:sp>
        <p:nvSpPr>
          <p:cNvPr id="5" name="Shape 3"/>
          <p:cNvSpPr/>
          <p:nvPr/>
        </p:nvSpPr>
        <p:spPr>
          <a:xfrm>
            <a:off x="548640" y="1965960"/>
            <a:ext cx="731520" cy="731520"/>
          </a:xfrm>
          <a:prstGeom prst="roundRect">
            <a:avLst>
              <a:gd name="adj" fmla="val 50000"/>
            </a:avLst>
          </a:prstGeom>
          <a:solidFill>
            <a:srgbClr val="0D9488"/>
          </a:solidFill>
          <a:ln/>
        </p:spPr>
      </p:sp>
      <p:sp>
        <p:nvSpPr>
          <p:cNvPr id="6" name="Text 4"/>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1</a:t>
            </a:r>
            <a:endParaRPr lang="en-US" sz="2800" dirty="0"/>
          </a:p>
        </p:txBody>
      </p:sp>
      <p:sp>
        <p:nvSpPr>
          <p:cNvPr id="7" name="Text 5"/>
          <p:cNvSpPr/>
          <p:nvPr/>
        </p:nvSpPr>
        <p:spPr>
          <a:xfrm>
            <a:off x="1508760" y="1947672"/>
            <a:ext cx="1005840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Phase IPO delivery now</a:t>
            </a:r>
            <a:endParaRPr lang="en-US" sz="2000" dirty="0"/>
          </a:p>
        </p:txBody>
      </p:sp>
      <p:sp>
        <p:nvSpPr>
          <p:cNvPr id="8" name="Text 6"/>
          <p:cNvSpPr/>
          <p:nvPr/>
        </p:nvSpPr>
        <p:spPr>
          <a:xfrm>
            <a:off x="1508760" y="2368296"/>
            <a:ext cx="9966960" cy="868680"/>
          </a:xfrm>
          <a:prstGeom prst="rect">
            <a:avLst/>
          </a:prstGeom>
          <a:noFill/>
          <a:ln/>
        </p:spPr>
        <p:txBody>
          <a:bodyPr wrap="square" rtlCol="0" anchor="t"/>
          <a:lstStyle/>
          <a:p>
            <a:pPr indent="0" marL="0">
              <a:lnSpc>
                <a:spcPct val="108000"/>
              </a:lnSpc>
              <a:buNone/>
            </a:pPr>
            <a:r>
              <a:rPr lang="en-US" sz="1350" dirty="0">
                <a:solidFill>
                  <a:srgbClr val="CADCFC"/>
                </a:solidFill>
                <a:latin typeface="Calibri" pitchFamily="34" charset="0"/>
                <a:ea typeface="Calibri" pitchFamily="34" charset="-122"/>
                <a:cs typeface="Calibri" pitchFamily="34" charset="-120"/>
              </a:rPr>
              <a:t>Commit an October, November, December delivery calendar with clients before the licence lands, so BLR has a lane the day it goes live. Highest leverage move in the plan.</a:t>
            </a:r>
            <a:endParaRPr lang="en-US" sz="1350" dirty="0"/>
          </a:p>
        </p:txBody>
      </p:sp>
      <p:sp>
        <p:nvSpPr>
          <p:cNvPr id="9" name="Shape 7"/>
          <p:cNvSpPr/>
          <p:nvPr/>
        </p:nvSpPr>
        <p:spPr>
          <a:xfrm>
            <a:off x="548640" y="3383280"/>
            <a:ext cx="731520" cy="731520"/>
          </a:xfrm>
          <a:prstGeom prst="roundRect">
            <a:avLst>
              <a:gd name="adj" fmla="val 50000"/>
            </a:avLst>
          </a:prstGeom>
          <a:solidFill>
            <a:srgbClr val="0D9488"/>
          </a:solidFill>
          <a:ln/>
        </p:spPr>
      </p:sp>
      <p:sp>
        <p:nvSpPr>
          <p:cNvPr id="10" name="Text 8"/>
          <p:cNvSpPr/>
          <p:nvPr/>
        </p:nvSpPr>
        <p:spPr>
          <a:xfrm>
            <a:off x="548640" y="338328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a:t>
            </a:r>
            <a:endParaRPr lang="en-US" sz="2800" dirty="0"/>
          </a:p>
        </p:txBody>
      </p:sp>
      <p:sp>
        <p:nvSpPr>
          <p:cNvPr id="11" name="Text 9"/>
          <p:cNvSpPr/>
          <p:nvPr/>
        </p:nvSpPr>
        <p:spPr>
          <a:xfrm>
            <a:off x="1508760" y="3364992"/>
            <a:ext cx="1005840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Make the analyst hire a rule</a:t>
            </a:r>
            <a:endParaRPr lang="en-US" sz="2000" dirty="0"/>
          </a:p>
        </p:txBody>
      </p:sp>
      <p:sp>
        <p:nvSpPr>
          <p:cNvPr id="12" name="Text 10"/>
          <p:cNvSpPr/>
          <p:nvPr/>
        </p:nvSpPr>
        <p:spPr>
          <a:xfrm>
            <a:off x="1508760" y="3785616"/>
            <a:ext cx="9966960" cy="868680"/>
          </a:xfrm>
          <a:prstGeom prst="rect">
            <a:avLst/>
          </a:prstGeom>
          <a:noFill/>
          <a:ln/>
        </p:spPr>
        <p:txBody>
          <a:bodyPr wrap="square" rtlCol="0" anchor="t"/>
          <a:lstStyle/>
          <a:p>
            <a:pPr indent="0" marL="0">
              <a:lnSpc>
                <a:spcPct val="108000"/>
              </a:lnSpc>
              <a:buNone/>
            </a:pPr>
            <a:r>
              <a:rPr lang="en-US" sz="1350" dirty="0">
                <a:solidFill>
                  <a:srgbClr val="CADCFC"/>
                </a:solidFill>
                <a:latin typeface="Calibri" pitchFamily="34" charset="0"/>
                <a:ea typeface="Calibri" pitchFamily="34" charset="-122"/>
                <a:cs typeface="Calibri" pitchFamily="34" charset="-120"/>
              </a:rPr>
              <a:t>Add the sixth executor the first time residual capacity turns negative two months running, and only in the BLR live scenarios. Not on a hunch.</a:t>
            </a:r>
            <a:endParaRPr lang="en-US" sz="1350" dirty="0"/>
          </a:p>
        </p:txBody>
      </p:sp>
      <p:sp>
        <p:nvSpPr>
          <p:cNvPr id="13" name="Shape 11"/>
          <p:cNvSpPr/>
          <p:nvPr/>
        </p:nvSpPr>
        <p:spPr>
          <a:xfrm>
            <a:off x="548640" y="4800600"/>
            <a:ext cx="731520" cy="731520"/>
          </a:xfrm>
          <a:prstGeom prst="roundRect">
            <a:avLst>
              <a:gd name="adj" fmla="val 50000"/>
            </a:avLst>
          </a:prstGeom>
          <a:solidFill>
            <a:srgbClr val="0D9488"/>
          </a:solidFill>
          <a:ln/>
        </p:spPr>
      </p:sp>
      <p:sp>
        <p:nvSpPr>
          <p:cNvPr id="14" name="Text 12"/>
          <p:cNvSpPr/>
          <p:nvPr/>
        </p:nvSpPr>
        <p:spPr>
          <a:xfrm>
            <a:off x="548640" y="480060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3</a:t>
            </a:r>
            <a:endParaRPr lang="en-US" sz="2800" dirty="0"/>
          </a:p>
        </p:txBody>
      </p:sp>
      <p:sp>
        <p:nvSpPr>
          <p:cNvPr id="15" name="Text 13"/>
          <p:cNvSpPr/>
          <p:nvPr/>
        </p:nvSpPr>
        <p:spPr>
          <a:xfrm>
            <a:off x="1508760" y="4782312"/>
            <a:ext cx="1005840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Execution is the multiplier</a:t>
            </a:r>
            <a:endParaRPr lang="en-US" sz="2000" dirty="0"/>
          </a:p>
        </p:txBody>
      </p:sp>
      <p:sp>
        <p:nvSpPr>
          <p:cNvPr id="16" name="Text 14"/>
          <p:cNvSpPr/>
          <p:nvPr/>
        </p:nvSpPr>
        <p:spPr>
          <a:xfrm>
            <a:off x="1508760" y="5202936"/>
            <a:ext cx="9966960" cy="868680"/>
          </a:xfrm>
          <a:prstGeom prst="rect">
            <a:avLst/>
          </a:prstGeom>
          <a:noFill/>
          <a:ln/>
        </p:spPr>
        <p:txBody>
          <a:bodyPr wrap="square" rtlCol="0" anchor="t"/>
          <a:lstStyle/>
          <a:p>
            <a:pPr indent="0" marL="0">
              <a:lnSpc>
                <a:spcPct val="108000"/>
              </a:lnSpc>
              <a:buNone/>
            </a:pPr>
            <a:r>
              <a:rPr lang="en-US" sz="1350" dirty="0">
                <a:solidFill>
                  <a:srgbClr val="CADCFC"/>
                </a:solidFill>
                <a:latin typeface="Calibri" pitchFamily="34" charset="0"/>
                <a:ea typeface="Calibri" pitchFamily="34" charset="-122"/>
                <a:cs typeface="Calibri" pitchFamily="34" charset="-120"/>
              </a:rPr>
              <a:t>Every number assumes IPO and rating cases are delivered on time and to quality. Done well the team compounds into these figures. Slip, and even the BLR scenarios stop reaching break even.</a:t>
            </a:r>
            <a:endParaRPr lang="en-US" sz="1350" dirty="0"/>
          </a:p>
        </p:txBody>
      </p:sp>
      <p:sp>
        <p:nvSpPr>
          <p:cNvPr id="17" name="Text 15"/>
          <p:cNvSpPr/>
          <p:nvPr/>
        </p:nvSpPr>
        <p:spPr>
          <a:xfrm>
            <a:off x="548640" y="6400800"/>
            <a:ext cx="10972800" cy="320040"/>
          </a:xfrm>
          <a:prstGeom prst="rect">
            <a:avLst/>
          </a:prstGeom>
          <a:noFill/>
          <a:ln/>
        </p:spPr>
        <p:txBody>
          <a:bodyPr wrap="square" rtlCol="0" anchor="ctr"/>
          <a:lstStyle/>
          <a:p>
            <a:pPr indent="0" marL="0">
              <a:buNone/>
            </a:pPr>
            <a:r>
              <a:rPr lang="en-US" sz="1100" dirty="0">
                <a:solidFill>
                  <a:srgbClr val="94A3B8"/>
                </a:solidFill>
                <a:latin typeface="Calibri" pitchFamily="34" charset="0"/>
                <a:ea typeface="Calibri" pitchFamily="34" charset="-122"/>
                <a:cs typeface="Calibri" pitchFamily="34" charset="-120"/>
              </a:rPr>
              <a:t>ACER Credit Rating Pvt. Ltd.   |   FY27 Annual Operating Plan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ACER FY27 Annual Operating Plan</dc:title>
  <dc:subject>PptxGenJS Presentation</dc:subject>
  <dc:creator>ACER Credit Rating Pvt. Ltd.</dc:creator>
  <cp:lastModifiedBy>ACER Credit Rating Pvt. Ltd.</cp:lastModifiedBy>
  <cp:revision>1</cp:revision>
  <dcterms:created xsi:type="dcterms:W3CDTF">2026-07-27T12:35:33Z</dcterms:created>
  <dcterms:modified xsi:type="dcterms:W3CDTF">2026-07-27T12:35:33Z</dcterms:modified>
</cp:coreProperties>
</file>